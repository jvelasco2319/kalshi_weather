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868e6a0a20d4ca6" /><Relationship Type="http://schemas.openxmlformats.org/officeDocument/2006/relationships/extended-properties" Target="/docProps/app.xml" Id="R8e409d59d900472a" /><Relationship Type="http://schemas.openxmlformats.org/officeDocument/2006/relationships/officeDocument" Target="/ppt/presentation.xml" Id="Rd38d5aeae5cd44aa" /></Relationships>
</file>

<file path=ppt/presentation.xml><?xml version="1.0" encoding="utf-8"?>
<p:presentation xmlns:p="http://schemas.openxmlformats.org/presentationml/2006/main">
  <p:sldMasterIdLst>
    <p:sldMasterId xmlns:r="http://schemas.openxmlformats.org/officeDocument/2006/relationships" id="2147483648" r:id="R77aedb311cf54093"/>
  </p:sldMasterIdLst>
  <p:notesMasterIdLst>
    <p:notesMasterId xmlns:r="http://schemas.openxmlformats.org/officeDocument/2006/relationships" r:id="Rbbc9512730b14f68"/>
  </p:notesMasterIdLst>
  <p:sldIdLst>
    <p:sldId xmlns:r="http://schemas.openxmlformats.org/officeDocument/2006/relationships" id="256" r:id="Re11940ecdc6841a1"/>
    <p:sldId xmlns:r="http://schemas.openxmlformats.org/officeDocument/2006/relationships" id="257" r:id="Rf958b3c7cdd048cb"/>
    <p:sldId xmlns:r="http://schemas.openxmlformats.org/officeDocument/2006/relationships" id="258" r:id="Rf189e3217cfe4726"/>
    <p:sldId xmlns:r="http://schemas.openxmlformats.org/officeDocument/2006/relationships" id="259" r:id="R01f6ab4cb1e54f6b"/>
    <p:sldId xmlns:r="http://schemas.openxmlformats.org/officeDocument/2006/relationships" id="260" r:id="R2293216ee7844b68"/>
    <p:sldId xmlns:r="http://schemas.openxmlformats.org/officeDocument/2006/relationships" id="261" r:id="R2824435d92794969"/>
    <p:sldId xmlns:r="http://schemas.openxmlformats.org/officeDocument/2006/relationships" id="262" r:id="Rfd9b6707d676482c"/>
    <p:sldId xmlns:r="http://schemas.openxmlformats.org/officeDocument/2006/relationships" id="263" r:id="Rdef5b498ba574173"/>
    <p:sldId xmlns:r="http://schemas.openxmlformats.org/officeDocument/2006/relationships" id="264" r:id="R3e1511c4298c4594"/>
    <p:sldId xmlns:r="http://schemas.openxmlformats.org/officeDocument/2006/relationships" id="265" r:id="R754897e3391b47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e39a2a93f8418d" /><Relationship Type="http://schemas.openxmlformats.org/officeDocument/2006/relationships/slideMaster" Target="/ppt/slideMasters/slideMaster1.xml" Id="R77aedb311cf54093" /><Relationship Type="http://schemas.openxmlformats.org/officeDocument/2006/relationships/notesMaster" Target="/ppt/notesMasters/notesMaster1.xml" Id="Rbbc9512730b14f68" /><Relationship Type="http://schemas.openxmlformats.org/officeDocument/2006/relationships/presProps" Target="/ppt/presProps.xml" Id="Re7d8a0bfc2c64696" /><Relationship Type="http://schemas.openxmlformats.org/officeDocument/2006/relationships/tableStyles" Target="/ppt/tableStyles.xml" Id="R1797ec94477940ca" /><Relationship Type="http://schemas.openxmlformats.org/officeDocument/2006/relationships/slide" Target="/ppt/slides/slide1.xml" Id="Re11940ecdc6841a1" /><Relationship Type="http://schemas.openxmlformats.org/officeDocument/2006/relationships/slide" Target="/ppt/slides/slide2.xml" Id="Rf958b3c7cdd048cb" /><Relationship Type="http://schemas.openxmlformats.org/officeDocument/2006/relationships/slide" Target="/ppt/slides/slide3.xml" Id="Rf189e3217cfe4726" /><Relationship Type="http://schemas.openxmlformats.org/officeDocument/2006/relationships/slide" Target="/ppt/slides/slide4.xml" Id="R01f6ab4cb1e54f6b" /><Relationship Type="http://schemas.openxmlformats.org/officeDocument/2006/relationships/slide" Target="/ppt/slides/slide5.xml" Id="R2293216ee7844b68" /><Relationship Type="http://schemas.openxmlformats.org/officeDocument/2006/relationships/slide" Target="/ppt/slides/slide6.xml" Id="R2824435d92794969" /><Relationship Type="http://schemas.openxmlformats.org/officeDocument/2006/relationships/slide" Target="/ppt/slides/slide7.xml" Id="Rfd9b6707d676482c" /><Relationship Type="http://schemas.openxmlformats.org/officeDocument/2006/relationships/slide" Target="/ppt/slides/slide8.xml" Id="Rdef5b498ba574173" /><Relationship Type="http://schemas.openxmlformats.org/officeDocument/2006/relationships/slide" Target="/ppt/slides/slide9.xml" Id="R3e1511c4298c4594" /><Relationship Type="http://schemas.openxmlformats.org/officeDocument/2006/relationships/slide" Target="/ppt/slides/slide10.xml" Id="R754897e3391b47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c2e5dd645149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alshi Research">
      <a:dk1>
        <a:srgbClr val="000000"/>
      </a:dk1>
      <a:lt1>
        <a:srgbClr val="FFFFFF"/>
      </a:lt1>
      <a:dk2>
        <a:srgbClr val="0B1320"/>
      </a:dk2>
      <a:lt2>
        <a:srgbClr val="DCE5EF"/>
      </a:lt2>
      <a:accent1>
        <a:srgbClr val="4EA1FF"/>
      </a:accent1>
      <a:accent2>
        <a:srgbClr val="47D7D0"/>
      </a:accent2>
      <a:accent3>
        <a:srgbClr val="4DD28A"/>
      </a:accent3>
      <a:accent4>
        <a:srgbClr val="F4B860"/>
      </a:accent4>
      <a:accent5>
        <a:srgbClr val="FF6B6B"/>
      </a:accent5>
      <a:accent6>
        <a:srgbClr val="9C7CFF"/>
      </a:accent6>
      <a:hlink>
        <a:srgbClr val="4EA1FF"/>
      </a:hlink>
      <a:folHlink>
        <a:srgbClr val="9C7CFF"/>
      </a:folHlink>
    </a:clrScheme>
    <a:fontScheme name="Office">
      <a:majorFont>
        <a:latin typeface="Calibri Light"/>
        <a:ea typeface="Calibri Light"/>
        <a:cs typeface="Calibri Light"/>
      </a:majorFont>
      <a:minorFont>
        <a:latin typeface="Calibri"/>
        <a:ea typeface="Calibri"/>
        <a:cs typeface="Calibri"/>
      </a:minorFont>
    </a:fontScheme>
    <a:fmtScheme name="Kalshi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d9c44653ba4de8" /><Relationship Type="http://schemas.openxmlformats.org/officeDocument/2006/relationships/notesMaster" Target="/ppt/notesMasters/notesMaster1.xml" Id="R8fcb7977efdf45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5b17719a634c52" /><Relationship Type="http://schemas.openxmlformats.org/officeDocument/2006/relationships/notesMaster" Target="/ppt/notesMasters/notesMaster1.xml" Id="Rf6fdfbf27d3f4a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30154785e74766" /><Relationship Type="http://schemas.openxmlformats.org/officeDocument/2006/relationships/notesMaster" Target="/ppt/notesMasters/notesMaster1.xml" Id="R4c09296b2d9a4d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2fb0d4b1834460" /><Relationship Type="http://schemas.openxmlformats.org/officeDocument/2006/relationships/notesMaster" Target="/ppt/notesMasters/notesMaster1.xml" Id="R3770261781e14a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65fd2fbfd04008" /><Relationship Type="http://schemas.openxmlformats.org/officeDocument/2006/relationships/notesMaster" Target="/ppt/notesMasters/notesMaster1.xml" Id="Rb846abcba5a043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7db9d7742548bd" /><Relationship Type="http://schemas.openxmlformats.org/officeDocument/2006/relationships/notesMaster" Target="/ppt/notesMasters/notesMaster1.xml" Id="R736466e4e22547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022b28c1e145ba" /><Relationship Type="http://schemas.openxmlformats.org/officeDocument/2006/relationships/notesMaster" Target="/ppt/notesMasters/notesMaster1.xml" Id="R7a4e6384ce1d4a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0f0e566f0d433a" /><Relationship Type="http://schemas.openxmlformats.org/officeDocument/2006/relationships/notesMaster" Target="/ppt/notesMasters/notesMaster1.xml" Id="Rc229cf10e76a4c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bfa18ec8a74492" /><Relationship Type="http://schemas.openxmlformats.org/officeDocument/2006/relationships/notesMaster" Target="/ppt/notesMasters/notesMaster1.xml" Id="R0df934589f5a46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3dd88869a74ea9" /><Relationship Type="http://schemas.openxmlformats.org/officeDocument/2006/relationships/notesMaster" Target="/ppt/notesMasters/notesMaster1.xml" Id="R3e2f3908309243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simple walkthrough for a friend and research collaborator.</a:t>
            </a:r>
          </a:p>
          <a:p xmlns:a="http://schemas.openxmlformats.org/drawingml/2006/main">
            <a:r>
              <a:t>Sources: C:\Users\darks\Documents\Codex\kalshi\_weather\_llm\GOALS.md; docs\NAVIER_STOKES_ARCHITECTURE_CROSSCHECK.md; runs\campaigns_v4_1\v4-1-offline-20260927T004742447Z\recovery-state.json.</a:t>
            </a:r>
          </a:p>
          <a:p xmlns:a="http://schemas.openxmlformats.org/drawingml/2006/main">
            <a:r>
              <a:t>All returns in this deck are historical simulations. No live or paper orders were authorized.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GOALS.md; docs\NAVIER_STOKES_ARCHITECTURE_CROSSCHECK.md.</a:t>
            </a:r>
          </a:p>
          <a:p xmlns:a="http://schemas.openxmlformats.org/drawingml/2006/main">
            <a:r>
              <a:t>The ≥10% target is expected net return per trade, not a promise of realized profit.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docs\NAVIER_STOKES_ARCHITECTURE_CROSSCHECK.md; GOALS.md.</a:t>
            </a:r>
          </a:p>
          <a:p xmlns:a="http://schemas.openxmlformats.org/drawingml/2006/main">
            <a:r>
              <a:t>V1 produced 3 research families, 3 candidates and 15 local model calls, but only the first epoch was productive.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GOALS.md; docs\NAVIER_STOKES_ARCHITECTURE_CROSSCHECK.md.</a:t>
            </a:r>
          </a:p>
          <a:p xmlns:a="http://schemas.openxmlformats.org/drawingml/2006/main">
            <a:r>
              <a:t>V2 completed 4 productive epochs, evaluated 40 candidates using 98 calls, and its best development return was approximately -0.289% across 122 assumed-fill trades.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docs\V3_IMPLEMENTATION_CONTRACT.md; docs\V3_FROZEN_DATASET.md; reports\v3-final-campaign-analysis.md.</a:t>
            </a:r>
          </a:p>
          <a:p xmlns:a="http://schemas.openxmlformats.org/drawingml/2006/main">
            <a:r>
              <a:t>V3 completed 6 epochs and tested 60 candidates. The registered conclusion was NO_IMPROVEMENT_WITHIN_REGISTERED_BUDGET.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reports\v4-openai-architecture-alignment.md; docs\V4_12_HOUR_CAMPAIGN_CONTRACT.md; configs\v4_offline_campaign.json; reports\v4-runtime-launch-audit.md.</a:t>
            </a:r>
          </a:p>
          <a:p xmlns:a="http://schemas.openxmlformats.org/drawingml/2006/main">
            <a:r>
              <a:t>V4 used a frozen 3,072-plan factorial across four model tracks, three decision times and execution controls. It stopped in epoch 7 after 82 candidates when a nomination response did not match the registered format.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docs\V4_1_CONTINUATION_AMENDMENT.md; runs\campaigns_v4_1\v4-1-offline-20260927T004742447Z\continuation-import-reference.json; runs\campaigns_v4_1\v4-1-offline-20260927T004742447Z\recovery-state.json.</a:t>
            </a:r>
          </a:p>
          <a:p xmlns:a="http://schemas.openxmlformats.org/drawingml/2006/main">
            <a:r>
              <a:t>V4.1 preserved the V4 work, calls, token use, frozen artifacts and deadline. It reached 20 epochs and 240 candidates, then stopped after three malformed synthesis responses. No valid terminal summary was committed.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runs\campaigns_v4_1\v4-1-offline-20260927T004742447Z\recovery-state.json and candidate evaluation artifacts.</a:t>
            </a:r>
          </a:p>
          <a:p xmlns:a="http://schemas.openxmlformats.org/drawingml/2006/main">
            <a:r>
              <a:t>Counts: 240 candidates evaluated; 135 positive raw development returns; 108 above 10% aggregate raw return; 4 positive bootstrap lower bounds; 0 promotion passes, 0 critic accepts and 0 robust-positive candidates.</a:t>
            </a:r>
          </a:p>
          <a:p xmlns:a="http://schemas.openxmlformats.org/drawingml/2006/main">
            <a:r>
              <a:t>Chart is an editable native PowerPoint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runs\campaigns_v4_1\v4-1-offline-20260927T004742447Z\recovery-state.json; the primary candidate evaluation, fold_metrics and ledger artifacts for plan a779fd17e7b160650c8f.</a:t>
            </a:r>
          </a:p>
          <a:p xmlns:a="http://schemas.openxmlformats.org/drawingml/2006/main">
            <a:r>
              <a:t>Leading plan: ensemble_probability colony; HRRR+GEFS summary; temperature-only features; quantile brackets; isotonic calibration; pooled regime; 18:00 UTC; maximum 4°F interval width; 5–80 cent entry band; 15-minute quote age; 5-cent spread; both sides; 10% entry threshold.</a:t>
            </a:r>
          </a:p>
          <a:p xmlns:a="http://schemas.openxmlformats.org/drawingml/2006/main">
            <a:r>
              <a:t>Simulation: 13 trades; $4.70 entry outlay; $3.30 net; 70.2% capital-weighted return; 46.9% mean return per trade; 30.4% one-sided 95% bootstrap lower bound; 58.7% stress return; 54.9% after removing the best day.</a:t>
            </a:r>
          </a:p>
          <a:p xmlns:a="http://schemas.openxmlformats.org/drawingml/2006/main">
            <a:r>
              <a:t>Fold returns shown: +141.0%, +122.2%, +74.8%, -100.0%, -100.0%, with trade counts 2, 1, 5, 2, 3.</a:t>
            </a:r>
          </a:p>
          <a:p xmlns:a="http://schemas.openxmlformats.org/drawingml/2006/main">
            <a:r>
              <a:t>Every candidate failed observed-fill verification because historical observed ask/bid, quote timestamp, spread, volume and quote-age fields were unavailable. Exact historical fee bindings were also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campaign based on the V4.1 findings.</a:t>
            </a:r>
          </a:p>
          <a:p xmlns:a="http://schemas.openxmlformats.org/drawingml/2006/main">
            <a:r>
              <a:t>Primary gaps to resolve: observed executable quotes, exact historical fees and rebates, exact settlement binding, independent validation of the frozen probability model, and more independent event dates/regimes.</a:t>
            </a:r>
          </a:p>
          <a:p xmlns:a="http://schemas.openxmlformats.org/drawingml/2006/main">
            <a:r>
              <a:t>The protected holdout remains one-time and unopened until all registered gates pass. No live or paper orders are proposed by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ff8d8d42f644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5f04924ba9408e" /><Relationship Type="http://schemas.openxmlformats.org/officeDocument/2006/relationships/slideLayout" Target="/ppt/slideLayouts/slideLayout1.xml" Id="R61db6792af1744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db6792af1744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alshi Research">
      <a:dk1>
        <a:srgbClr val="000000"/>
      </a:dk1>
      <a:lt1>
        <a:srgbClr val="FFFFFF"/>
      </a:lt1>
      <a:dk2>
        <a:srgbClr val="0B1320"/>
      </a:dk2>
      <a:lt2>
        <a:srgbClr val="DCE5EF"/>
      </a:lt2>
      <a:accent1>
        <a:srgbClr val="4EA1FF"/>
      </a:accent1>
      <a:accent2>
        <a:srgbClr val="47D7D0"/>
      </a:accent2>
      <a:accent3>
        <a:srgbClr val="4DD28A"/>
      </a:accent3>
      <a:accent4>
        <a:srgbClr val="F4B860"/>
      </a:accent4>
      <a:accent5>
        <a:srgbClr val="FF6B6B"/>
      </a:accent5>
      <a:accent6>
        <a:srgbClr val="9C7CFF"/>
      </a:accent6>
      <a:hlink>
        <a:srgbClr val="4EA1FF"/>
      </a:hlink>
      <a:folHlink>
        <a:srgbClr val="9C7CFF"/>
      </a:folHlink>
    </a:clrScheme>
    <a:fontScheme name="Office">
      <a:majorFont>
        <a:latin typeface="Calibri Light"/>
        <a:ea typeface="Calibri Light"/>
        <a:cs typeface="Calibri Light"/>
      </a:majorFont>
      <a:minorFont>
        <a:latin typeface="Calibri"/>
        <a:ea typeface="Calibri"/>
        <a:cs typeface="Calibri"/>
      </a:minorFont>
    </a:fontScheme>
    <a:fmtScheme name="Kalshi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d13b21c68f45ad" /><Relationship Type="http://schemas.openxmlformats.org/officeDocument/2006/relationships/notesSlide" Target="/ppt/notesSlides/notesSlide1.xml" Id="R6b1b46b33fab40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5dc563b6ec4960" /><Relationship Type="http://schemas.openxmlformats.org/officeDocument/2006/relationships/notesSlide" Target="/ppt/notesSlides/notesSlide2.xml" Id="Re934b8dd6c8541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91bce0da64455d" /><Relationship Type="http://schemas.openxmlformats.org/officeDocument/2006/relationships/notesSlide" Target="/ppt/notesSlides/notesSlide3.xml" Id="Rcd87c860acb74f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6485d32b0e4ab7" /><Relationship Type="http://schemas.openxmlformats.org/officeDocument/2006/relationships/notesSlide" Target="/ppt/notesSlides/notesSlide4.xml" Id="R0e9bdb0af86142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30354ffc6e446c" /><Relationship Type="http://schemas.openxmlformats.org/officeDocument/2006/relationships/notesSlide" Target="/ppt/notesSlides/notesSlide5.xml" Id="Rcec41dd5bd6e4b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9e09c4797f46cd" /><Relationship Type="http://schemas.openxmlformats.org/officeDocument/2006/relationships/notesSlide" Target="/ppt/notesSlides/notesSlide6.xml" Id="R1de69923fe4d4a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7e72ed699e4e78" /><Relationship Type="http://schemas.openxmlformats.org/officeDocument/2006/relationships/notesSlide" Target="/ppt/notesSlides/notesSlide7.xml" Id="Rb7ecbe31a49b48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8b3604b4134295" /><Relationship Type="http://schemas.openxmlformats.org/officeDocument/2006/relationships/chart" Target="/ppt/slides/charts/chart1.xml" Id="R3450c3ce7c49440f" /><Relationship Type="http://schemas.openxmlformats.org/officeDocument/2006/relationships/notesSlide" Target="/ppt/notesSlides/notesSlide8.xml" Id="R773e21bb6dc646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206a3ec35149f5" /><Relationship Type="http://schemas.openxmlformats.org/officeDocument/2006/relationships/notesSlide" Target="/ppt/notesSlides/notesSlide9.xml" Id="R417980372f9643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83197323fd4475" /><Relationship Type="http://schemas.openxmlformats.org/officeDocument/2006/relationships/notesSlide" Target="/ppt/notesSlides/notesSlide10.xml" Id="Rece9aba6b13946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Candidates</c:v>
          </c:tx>
          <c:spPr>
            <a:solidFill xmlns:a="http://schemas.openxmlformats.org/drawingml/2006/main">
              <a:srgbClr val="4EA1FF"/>
            </a:solidFill>
          </c:spPr>
          <c:dPt>
            <c:idx val="0"/>
            <c:invertIfNegative val="0"/>
            <c:spPr>
              <a:solidFill xmlns:a="http://schemas.openxmlformats.org/drawingml/2006/main">
                <a:srgbClr val="4EA1FF"/>
              </a:solidFill>
            </c:spPr>
          </c:dPt>
          <c:dPt>
            <c:idx val="1"/>
            <c:invertIfNegative val="0"/>
            <c:spPr>
              <a:solidFill xmlns:a="http://schemas.openxmlformats.org/drawingml/2006/main">
                <a:srgbClr val="4DD28A"/>
              </a:solidFill>
            </c:spPr>
          </c:dPt>
          <c:dPt>
            <c:idx val="2"/>
            <c:invertIfNegative val="0"/>
            <c:spPr>
              <a:solidFill xmlns:a="http://schemas.openxmlformats.org/drawingml/2006/main">
                <a:srgbClr val="47D7D0"/>
              </a:solidFill>
            </c:spPr>
          </c:dPt>
          <c:dPt>
            <c:idx val="3"/>
            <c:invertIfNegative val="0"/>
            <c:spPr>
              <a:solidFill xmlns:a="http://schemas.openxmlformats.org/drawingml/2006/main">
                <a:srgbClr val="F4B860"/>
              </a:solidFill>
            </c:spPr>
          </c:dPt>
          <c:dPt>
            <c:idx val="4"/>
            <c:invertIfNegative val="0"/>
            <c:spPr>
              <a:solidFill xmlns:a="http://schemas.openxmlformats.org/drawingml/2006/main">
                <a:srgbClr val="FF6B6B"/>
              </a:solidFill>
            </c:spPr>
          </c:dPt>
          <c:cat>
            <c:strRef>
              <c:f>'Chart Data'!$A$2:$A$6</c:f>
              <c:strCache>
                <c:ptCount val="5"/>
                <c:pt idx="0">
                  <c:v>Tested</c:v>
                </c:pt>
                <c:pt idx="1">
                  <c:v>Positive</c:v>
                </c:pt>
                <c:pt idx="2">
                  <c:v>&gt;10%</c:v>
                </c:pt>
                <c:pt idx="3">
                  <c:v>Positive bound</c:v>
                </c:pt>
                <c:pt idx="4">
                  <c:v>Passed</c:v>
                </c:pt>
              </c:strCache>
            </c:strRef>
          </c:cat>
          <c:val>
            <c:numRef>
              <c:f>'Chart Data'!$B$2:$B$6</c:f>
              <c:numCache>
                <c:formatCode>General</c:formatCode>
                <c:ptCount val="5"/>
                <c:pt idx="0">
                  <c:v>240</c:v>
                </c:pt>
                <c:pt idx="1">
                  <c:v>135</c:v>
                </c:pt>
                <c:pt idx="2">
                  <c:v>108</c:v>
                </c:pt>
                <c:pt idx="3">
                  <c:v>4</c:v>
                </c:pt>
                <c:pt idx="4">
                  <c:v>0</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F5F7FA"/>
                  </a:solidFill>
                  <a:latin typeface="Arial"/>
                  <a:ea typeface="Arial"/>
                  <a:cs typeface="Aria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b="1">
                <a:solidFill>
                  <a:srgbClr val="F5F7FA"/>
                </a:solidFill>
                <a:latin typeface="Arial"/>
                <a:ea typeface="Arial"/>
                <a:cs typeface="Arial"/>
              </a:defRPr>
            </a:pPr>
          </a:p>
        </c:txPr>
        <c:crossAx val="48650112"/>
        <c:crossBetween val="between"/>
      </c:valAx>
      <c:spPr>
        <a:solidFill xmlns:a="http://schemas.openxmlformats.org/drawingml/2006/main">
          <a:srgbClr val="0B1320"/>
        </a:solidFill>
        <a:ln xmlns:a="http://schemas.openxmlformats.org/drawingml/2006/main" w="0">
          <a:noFill/>
        </a:ln>
      </c:spPr>
    </c:plotArea>
    <c:plotVisOnly val="1"/>
  </c:chart>
  <c:spPr>
    <a:solidFill xmlns:a="http://schemas.openxmlformats.org/drawingml/2006/main">
      <a:srgbClr val="0B132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gradFill xmlns:a="http://schemas.openxmlformats.org/drawingml/2006/main">
          <a:gsLst>
            <a:gs pos="0">
              <a:srgbClr val="0B1320"/>
            </a:gs>
            <a:gs pos="62000">
              <a:srgbClr val="0E1A2B"/>
            </a:gs>
            <a:gs pos="100000">
              <a:srgbClr val="112942"/>
            </a:gs>
          </a:gsLst>
          <a:lin ang="9600000"/>
        </a:gra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969B9A1-E651-47D8-9155-29C0718F78F2}"/>
              </a:ext>
            </a:extLst>
          </p:cNvPr>
          <p:cNvSpPr>
            <a:spLocks xmlns:a="http://schemas.openxmlformats.org/drawingml/2006/main" noGrp="1"/>
          </p:cNvSpPr>
          <p:nvPr/>
        </p:nvSpPr>
        <p:spPr>
          <a:xfrm xmlns:a="http://schemas.openxmlformats.org/drawingml/2006/main">
            <a:off x="609600" y="476250"/>
            <a:ext cx="2571750" cy="342900"/>
          </a:xfrm>
          <a:prstGeom xmlns:a="http://schemas.openxmlformats.org/drawingml/2006/main" prst="roundRect">
            <a:avLst>
              <a:gd name="adj" fmla="val 50000"/>
            </a:avLst>
          </a:prstGeom>
          <a:solidFill xmlns:a="http://schemas.openxmlformats.org/drawingml/2006/main">
            <a:srgbClr val="47D7D0">
              <a:alpha val="13333"/>
            </a:srgbClr>
          </a:solidFill>
          <a:ln xmlns:a="http://schemas.openxmlformats.org/drawingml/2006/main" w="9525">
            <a:solidFill>
              <a:srgbClr val="47D7D0"/>
            </a:solidFill>
            <a:prstDash val="solid"/>
          </a:ln>
        </p:spPr>
      </p:sp>
      <p:sp>
        <p:nvSpPr>
          <p:cNvPr id="2" name="">
            <a:extLst xmlns:a="http://schemas.openxmlformats.org/drawingml/2006/main">
              <a:ext uri="{FF2B5EF4-FFF2-40B4-BE49-F238E27FC236}">
                <a16:creationId xmlns:a16="http://schemas.microsoft.com/office/drawing/2014/main" id="{F95B9D9E-7A33-43E9-BB7D-3445272A8462}"/>
              </a:ext>
            </a:extLst>
          </p:cNvPr>
          <p:cNvSpPr>
            <a:spLocks xmlns:a="http://schemas.openxmlformats.org/drawingml/2006/main" noGrp="1"/>
          </p:cNvSpPr>
          <p:nvPr/>
        </p:nvSpPr>
        <p:spPr>
          <a:xfrm xmlns:a="http://schemas.openxmlformats.org/drawingml/2006/main">
            <a:off x="609600" y="4857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6"/>
          </a:bodyPr>
          <a:lstStyle xmlns:a="http://schemas.openxmlformats.org/drawingml/2006/main"/>
          <a:p xmlns:a="http://schemas.openxmlformats.org/drawingml/2006/main">
            <a:pPr algn="ctr">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OFFLINE RESEARCH • NO ORDERS</a:t>
            </a:r>
          </a:p>
        </p:txBody>
      </p:sp>
      <p:sp>
        <p:nvSpPr>
          <p:cNvPr id="3" name="">
            <a:extLst xmlns:a="http://schemas.openxmlformats.org/drawingml/2006/main">
              <a:ext uri="{FF2B5EF4-FFF2-40B4-BE49-F238E27FC236}">
                <a16:creationId xmlns:a16="http://schemas.microsoft.com/office/drawing/2014/main" id="{370E57F5-49E8-491D-9B20-44082A2D588C}"/>
              </a:ext>
            </a:extLst>
          </p:cNvPr>
          <p:cNvSpPr>
            <a:spLocks xmlns:a="http://schemas.openxmlformats.org/drawingml/2006/main" noGrp="1"/>
          </p:cNvSpPr>
          <p:nvPr/>
        </p:nvSpPr>
        <p:spPr>
          <a:xfrm xmlns:a="http://schemas.openxmlformats.org/drawingml/2006/main">
            <a:off x="609600" y="1181100"/>
            <a:ext cx="4714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61"/>
          </a:bodyPr>
          <a:lstStyle xmlns:a="http://schemas.openxmlformats.org/drawingml/2006/main"/>
          <a:p xmlns:a="http://schemas.openxmlformats.org/drawingml/2006/main">
            <a:pPr algn="l">
              <a:lnSpc>
                <a:spcPct val="95000"/>
              </a:lnSpc>
              <a:buNone/>
              <a:defRPr sz="4500" b="1">
                <a:solidFill>
                  <a:srgbClr val="F5F7FA"/>
                </a:solidFill>
                <a:latin typeface="Arial"/>
                <a:ea typeface="Arial"/>
                <a:cs typeface="Arial"/>
              </a:defRPr>
            </a:pPr>
            <a:r>
              <a:rPr sz="4500" b="1">
                <a:solidFill>
                  <a:srgbClr val="F5F7FA"/>
                </a:solidFill>
                <a:latin typeface="Arial"/>
                <a:ea typeface="Arial"/>
                <a:cs typeface="Arial"/>
              </a:rPr>
              <a:t>Our Kalshi</a:t>
            </a:r>
          </a:p>
          <a:p xmlns:a="http://schemas.openxmlformats.org/drawingml/2006/main">
            <a:pPr algn="l">
              <a:lnSpc>
                <a:spcPct val="95000"/>
              </a:lnSpc>
              <a:buNone/>
              <a:defRPr sz="4500" b="1">
                <a:solidFill>
                  <a:srgbClr val="F5F7FA"/>
                </a:solidFill>
                <a:latin typeface="Arial"/>
                <a:ea typeface="Arial"/>
                <a:cs typeface="Arial"/>
              </a:defRPr>
            </a:pPr>
            <a:r>
              <a:rPr sz="4500" b="1">
                <a:solidFill>
                  <a:srgbClr val="F5F7FA"/>
                </a:solidFill>
                <a:latin typeface="Arial"/>
                <a:ea typeface="Arial"/>
                <a:cs typeface="Arial"/>
              </a:rPr>
              <a:t>Weather Research</a:t>
            </a:r>
          </a:p>
        </p:txBody>
      </p:sp>
      <p:sp>
        <p:nvSpPr>
          <p:cNvPr id="4" name="">
            <a:extLst xmlns:a="http://schemas.openxmlformats.org/drawingml/2006/main">
              <a:ext uri="{FF2B5EF4-FFF2-40B4-BE49-F238E27FC236}">
                <a16:creationId xmlns:a16="http://schemas.microsoft.com/office/drawing/2014/main" id="{C33F0900-26D0-4C52-9C36-AF45BDBFE628}"/>
              </a:ext>
            </a:extLst>
          </p:cNvPr>
          <p:cNvSpPr>
            <a:spLocks xmlns:a="http://schemas.openxmlformats.org/drawingml/2006/main" noGrp="1"/>
          </p:cNvSpPr>
          <p:nvPr/>
        </p:nvSpPr>
        <p:spPr>
          <a:xfrm xmlns:a="http://schemas.openxmlformats.org/drawingml/2006/main">
            <a:off x="628650" y="3028950"/>
            <a:ext cx="4095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0">
                <a:solidFill>
                  <a:srgbClr val="AEBBCD"/>
                </a:solidFill>
                <a:latin typeface="Arial"/>
                <a:ea typeface="Arial"/>
                <a:cs typeface="Arial"/>
              </a:defRPr>
            </a:pPr>
            <a:r>
              <a:rPr sz="1950" b="0">
                <a:solidFill>
                  <a:srgbClr val="AEBBCD"/>
                </a:solidFill>
                <a:latin typeface="Arial"/>
                <a:ea typeface="Arial"/>
                <a:cs typeface="Arial"/>
              </a:rPr>
              <a:t>How a three-recipe pilot became a 240-candidate research campaign</a:t>
            </a:r>
          </a:p>
        </p:txBody>
      </p:sp>
      <p:sp>
        <p:nvSpPr>
          <p:cNvPr id="5" name="">
            <a:extLst xmlns:a="http://schemas.openxmlformats.org/drawingml/2006/main">
              <a:ext uri="{FF2B5EF4-FFF2-40B4-BE49-F238E27FC236}">
                <a16:creationId xmlns:a16="http://schemas.microsoft.com/office/drawing/2014/main" id="{5BEC8A8B-1831-488F-930A-D247D5922DFE}"/>
              </a:ext>
            </a:extLst>
          </p:cNvPr>
          <p:cNvSpPr>
            <a:spLocks xmlns:a="http://schemas.openxmlformats.org/drawingml/2006/main" noGrp="1"/>
          </p:cNvSpPr>
          <p:nvPr/>
        </p:nvSpPr>
        <p:spPr>
          <a:xfrm xmlns:a="http://schemas.openxmlformats.org/drawingml/2006/main">
            <a:off x="628650" y="55245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47D7D0"/>
                </a:solidFill>
                <a:latin typeface="Arial"/>
                <a:ea typeface="Arial"/>
                <a:cs typeface="Arial"/>
              </a:defRPr>
            </a:pPr>
            <a:r>
              <a:rPr sz="1500" b="1">
                <a:solidFill>
                  <a:srgbClr val="47D7D0"/>
                </a:solidFill>
                <a:latin typeface="Arial"/>
                <a:ea typeface="Arial"/>
                <a:cs typeface="Arial"/>
              </a:rPr>
              <a:t>LAX daily high temperature markets</a:t>
            </a:r>
          </a:p>
        </p:txBody>
      </p:sp>
      <p:sp>
        <p:nvSpPr>
          <p:cNvPr id="6" name="">
            <a:extLst xmlns:a="http://schemas.openxmlformats.org/drawingml/2006/main">
              <a:ext uri="{FF2B5EF4-FFF2-40B4-BE49-F238E27FC236}">
                <a16:creationId xmlns:a16="http://schemas.microsoft.com/office/drawing/2014/main" id="{B5761B91-88E6-45B0-B747-3CDB0551E7F7}"/>
              </a:ext>
            </a:extLst>
          </p:cNvPr>
          <p:cNvSpPr>
            <a:spLocks xmlns:a="http://schemas.openxmlformats.org/drawingml/2006/main" noGrp="1"/>
          </p:cNvSpPr>
          <p:nvPr/>
        </p:nvSpPr>
        <p:spPr>
          <a:xfrm xmlns:a="http://schemas.openxmlformats.org/drawingml/2006/main">
            <a:off x="5715000" y="2247900"/>
            <a:ext cx="723900" cy="72390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7" name="">
            <a:extLst xmlns:a="http://schemas.openxmlformats.org/drawingml/2006/main">
              <a:ext uri="{FF2B5EF4-FFF2-40B4-BE49-F238E27FC236}">
                <a16:creationId xmlns:a16="http://schemas.microsoft.com/office/drawing/2014/main" id="{7BCF67C8-BB28-4535-9436-E5B2D342907B}"/>
              </a:ext>
            </a:extLst>
          </p:cNvPr>
          <p:cNvSpPr>
            <a:spLocks xmlns:a="http://schemas.openxmlformats.org/drawingml/2006/main" noGrp="1"/>
          </p:cNvSpPr>
          <p:nvPr/>
        </p:nvSpPr>
        <p:spPr>
          <a:xfrm xmlns:a="http://schemas.openxmlformats.org/drawingml/2006/main">
            <a:off x="571500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320"/>
                </a:solidFill>
                <a:latin typeface="Arial"/>
                <a:ea typeface="Arial"/>
                <a:cs typeface="Arial"/>
              </a:defRPr>
            </a:pPr>
            <a:r>
              <a:rPr sz="1650" b="1">
                <a:solidFill>
                  <a:srgbClr val="0B1320"/>
                </a:solidFill>
                <a:latin typeface="Arial"/>
                <a:ea typeface="Arial"/>
                <a:cs typeface="Arial"/>
              </a:rPr>
              <a:t>V1</a:t>
            </a:r>
          </a:p>
        </p:txBody>
      </p:sp>
      <p:sp>
        <p:nvSpPr>
          <p:cNvPr id="8" name="">
            <a:extLst xmlns:a="http://schemas.openxmlformats.org/drawingml/2006/main">
              <a:ext uri="{FF2B5EF4-FFF2-40B4-BE49-F238E27FC236}">
                <a16:creationId xmlns:a16="http://schemas.microsoft.com/office/drawing/2014/main" id="{5E980195-655C-4925-BA6A-A06ABFBC6568}"/>
              </a:ext>
            </a:extLst>
          </p:cNvPr>
          <p:cNvSpPr>
            <a:spLocks xmlns:a="http://schemas.openxmlformats.org/drawingml/2006/main" noGrp="1"/>
          </p:cNvSpPr>
          <p:nvPr/>
        </p:nvSpPr>
        <p:spPr>
          <a:xfrm xmlns:a="http://schemas.openxmlformats.org/drawingml/2006/main">
            <a:off x="558165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3</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9" name="">
            <a:extLst xmlns:a="http://schemas.openxmlformats.org/drawingml/2006/main">
              <a:ext uri="{FF2B5EF4-FFF2-40B4-BE49-F238E27FC236}">
                <a16:creationId xmlns:a16="http://schemas.microsoft.com/office/drawing/2014/main" id="{78A37BD9-A52B-41F6-885B-50893746411B}"/>
              </a:ext>
            </a:extLst>
          </p:cNvPr>
          <p:cNvSpPr>
            <a:spLocks xmlns:a="http://schemas.openxmlformats.org/drawingml/2006/main" noGrp="1"/>
          </p:cNvSpPr>
          <p:nvPr/>
        </p:nvSpPr>
        <p:spPr>
          <a:xfrm xmlns:a="http://schemas.openxmlformats.org/drawingml/2006/main">
            <a:off x="6543675" y="2466975"/>
            <a:ext cx="552450" cy="2857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6C2E61-2436-448B-A3EB-08ECF5F2D7FB}"/>
              </a:ext>
            </a:extLst>
          </p:cNvPr>
          <p:cNvSpPr>
            <a:spLocks xmlns:a="http://schemas.openxmlformats.org/drawingml/2006/main" noGrp="1"/>
          </p:cNvSpPr>
          <p:nvPr/>
        </p:nvSpPr>
        <p:spPr>
          <a:xfrm xmlns:a="http://schemas.openxmlformats.org/drawingml/2006/main">
            <a:off x="7029450" y="2247900"/>
            <a:ext cx="723900" cy="72390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11" name="">
            <a:extLst xmlns:a="http://schemas.openxmlformats.org/drawingml/2006/main">
              <a:ext uri="{FF2B5EF4-FFF2-40B4-BE49-F238E27FC236}">
                <a16:creationId xmlns:a16="http://schemas.microsoft.com/office/drawing/2014/main" id="{DB709A4A-42ED-440B-8629-B9D0B85066D3}"/>
              </a:ext>
            </a:extLst>
          </p:cNvPr>
          <p:cNvSpPr>
            <a:spLocks xmlns:a="http://schemas.openxmlformats.org/drawingml/2006/main" noGrp="1"/>
          </p:cNvSpPr>
          <p:nvPr/>
        </p:nvSpPr>
        <p:spPr>
          <a:xfrm xmlns:a="http://schemas.openxmlformats.org/drawingml/2006/main">
            <a:off x="702945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320"/>
                </a:solidFill>
                <a:latin typeface="Arial"/>
                <a:ea typeface="Arial"/>
                <a:cs typeface="Arial"/>
              </a:defRPr>
            </a:pPr>
            <a:r>
              <a:rPr sz="1650" b="1">
                <a:solidFill>
                  <a:srgbClr val="0B1320"/>
                </a:solidFill>
                <a:latin typeface="Arial"/>
                <a:ea typeface="Arial"/>
                <a:cs typeface="Arial"/>
              </a:rPr>
              <a:t>V2</a:t>
            </a:r>
          </a:p>
        </p:txBody>
      </p:sp>
      <p:sp>
        <p:nvSpPr>
          <p:cNvPr id="12" name="">
            <a:extLst xmlns:a="http://schemas.openxmlformats.org/drawingml/2006/main">
              <a:ext uri="{FF2B5EF4-FFF2-40B4-BE49-F238E27FC236}">
                <a16:creationId xmlns:a16="http://schemas.microsoft.com/office/drawing/2014/main" id="{DD76907A-D524-4394-BC11-6AEE15FE72BE}"/>
              </a:ext>
            </a:extLst>
          </p:cNvPr>
          <p:cNvSpPr>
            <a:spLocks xmlns:a="http://schemas.openxmlformats.org/drawingml/2006/main" noGrp="1"/>
          </p:cNvSpPr>
          <p:nvPr/>
        </p:nvSpPr>
        <p:spPr>
          <a:xfrm xmlns:a="http://schemas.openxmlformats.org/drawingml/2006/main">
            <a:off x="689610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40</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13" name="">
            <a:extLst xmlns:a="http://schemas.openxmlformats.org/drawingml/2006/main">
              <a:ext uri="{FF2B5EF4-FFF2-40B4-BE49-F238E27FC236}">
                <a16:creationId xmlns:a16="http://schemas.microsoft.com/office/drawing/2014/main" id="{565AA5F8-32C3-4287-94D2-A136310DAB5D}"/>
              </a:ext>
            </a:extLst>
          </p:cNvPr>
          <p:cNvSpPr>
            <a:spLocks xmlns:a="http://schemas.openxmlformats.org/drawingml/2006/main" noGrp="1"/>
          </p:cNvSpPr>
          <p:nvPr/>
        </p:nvSpPr>
        <p:spPr>
          <a:xfrm xmlns:a="http://schemas.openxmlformats.org/drawingml/2006/main">
            <a:off x="7858125" y="2466975"/>
            <a:ext cx="552450" cy="2857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996312B-68FD-46EB-BC80-C4EAAF00B4E8}"/>
              </a:ext>
            </a:extLst>
          </p:cNvPr>
          <p:cNvSpPr>
            <a:spLocks xmlns:a="http://schemas.openxmlformats.org/drawingml/2006/main" noGrp="1"/>
          </p:cNvSpPr>
          <p:nvPr/>
        </p:nvSpPr>
        <p:spPr>
          <a:xfrm xmlns:a="http://schemas.openxmlformats.org/drawingml/2006/main">
            <a:off x="8343900" y="2247900"/>
            <a:ext cx="723900" cy="72390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15" name="">
            <a:extLst xmlns:a="http://schemas.openxmlformats.org/drawingml/2006/main">
              <a:ext uri="{FF2B5EF4-FFF2-40B4-BE49-F238E27FC236}">
                <a16:creationId xmlns:a16="http://schemas.microsoft.com/office/drawing/2014/main" id="{666A1381-71ED-4D95-99BD-B730783BB5C1}"/>
              </a:ext>
            </a:extLst>
          </p:cNvPr>
          <p:cNvSpPr>
            <a:spLocks xmlns:a="http://schemas.openxmlformats.org/drawingml/2006/main" noGrp="1"/>
          </p:cNvSpPr>
          <p:nvPr/>
        </p:nvSpPr>
        <p:spPr>
          <a:xfrm xmlns:a="http://schemas.openxmlformats.org/drawingml/2006/main">
            <a:off x="834390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320"/>
                </a:solidFill>
                <a:latin typeface="Arial"/>
                <a:ea typeface="Arial"/>
                <a:cs typeface="Arial"/>
              </a:defRPr>
            </a:pPr>
            <a:r>
              <a:rPr sz="1650" b="1">
                <a:solidFill>
                  <a:srgbClr val="0B1320"/>
                </a:solidFill>
                <a:latin typeface="Arial"/>
                <a:ea typeface="Arial"/>
                <a:cs typeface="Arial"/>
              </a:rPr>
              <a:t>V3</a:t>
            </a:r>
          </a:p>
        </p:txBody>
      </p:sp>
      <p:sp>
        <p:nvSpPr>
          <p:cNvPr id="16" name="">
            <a:extLst xmlns:a="http://schemas.openxmlformats.org/drawingml/2006/main">
              <a:ext uri="{FF2B5EF4-FFF2-40B4-BE49-F238E27FC236}">
                <a16:creationId xmlns:a16="http://schemas.microsoft.com/office/drawing/2014/main" id="{7112B18E-EC73-4639-BEA8-088E3574B872}"/>
              </a:ext>
            </a:extLst>
          </p:cNvPr>
          <p:cNvSpPr>
            <a:spLocks xmlns:a="http://schemas.openxmlformats.org/drawingml/2006/main" noGrp="1"/>
          </p:cNvSpPr>
          <p:nvPr/>
        </p:nvSpPr>
        <p:spPr>
          <a:xfrm xmlns:a="http://schemas.openxmlformats.org/drawingml/2006/main">
            <a:off x="821055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60</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17" name="">
            <a:extLst xmlns:a="http://schemas.openxmlformats.org/drawingml/2006/main">
              <a:ext uri="{FF2B5EF4-FFF2-40B4-BE49-F238E27FC236}">
                <a16:creationId xmlns:a16="http://schemas.microsoft.com/office/drawing/2014/main" id="{815CA168-5FE3-4E9B-9550-5E6A8E7FDD85}"/>
              </a:ext>
            </a:extLst>
          </p:cNvPr>
          <p:cNvSpPr>
            <a:spLocks xmlns:a="http://schemas.openxmlformats.org/drawingml/2006/main" noGrp="1"/>
          </p:cNvSpPr>
          <p:nvPr/>
        </p:nvSpPr>
        <p:spPr>
          <a:xfrm xmlns:a="http://schemas.openxmlformats.org/drawingml/2006/main">
            <a:off x="9172575" y="2466975"/>
            <a:ext cx="552450" cy="2857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BA1857-C13C-44A8-A98A-6E86F1924C0A}"/>
              </a:ext>
            </a:extLst>
          </p:cNvPr>
          <p:cNvSpPr>
            <a:spLocks xmlns:a="http://schemas.openxmlformats.org/drawingml/2006/main" noGrp="1"/>
          </p:cNvSpPr>
          <p:nvPr/>
        </p:nvSpPr>
        <p:spPr>
          <a:xfrm xmlns:a="http://schemas.openxmlformats.org/drawingml/2006/main">
            <a:off x="9658350" y="2247900"/>
            <a:ext cx="723900" cy="72390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19" name="">
            <a:extLst xmlns:a="http://schemas.openxmlformats.org/drawingml/2006/main">
              <a:ext uri="{FF2B5EF4-FFF2-40B4-BE49-F238E27FC236}">
                <a16:creationId xmlns:a16="http://schemas.microsoft.com/office/drawing/2014/main" id="{D8682CE1-01AD-493D-BDFB-970F17C0C509}"/>
              </a:ext>
            </a:extLst>
          </p:cNvPr>
          <p:cNvSpPr>
            <a:spLocks xmlns:a="http://schemas.openxmlformats.org/drawingml/2006/main" noGrp="1"/>
          </p:cNvSpPr>
          <p:nvPr/>
        </p:nvSpPr>
        <p:spPr>
          <a:xfrm xmlns:a="http://schemas.openxmlformats.org/drawingml/2006/main">
            <a:off x="965835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320"/>
                </a:solidFill>
                <a:latin typeface="Arial"/>
                <a:ea typeface="Arial"/>
                <a:cs typeface="Arial"/>
              </a:defRPr>
            </a:pPr>
            <a:r>
              <a:rPr sz="1650" b="1">
                <a:solidFill>
                  <a:srgbClr val="0B1320"/>
                </a:solidFill>
                <a:latin typeface="Arial"/>
                <a:ea typeface="Arial"/>
                <a:cs typeface="Arial"/>
              </a:rPr>
              <a:t>V4</a:t>
            </a:r>
          </a:p>
        </p:txBody>
      </p:sp>
      <p:sp>
        <p:nvSpPr>
          <p:cNvPr id="20" name="">
            <a:extLst xmlns:a="http://schemas.openxmlformats.org/drawingml/2006/main">
              <a:ext uri="{FF2B5EF4-FFF2-40B4-BE49-F238E27FC236}">
                <a16:creationId xmlns:a16="http://schemas.microsoft.com/office/drawing/2014/main" id="{20D08B13-8961-4104-8803-A0943EE2D8E7}"/>
              </a:ext>
            </a:extLst>
          </p:cNvPr>
          <p:cNvSpPr>
            <a:spLocks xmlns:a="http://schemas.openxmlformats.org/drawingml/2006/main" noGrp="1"/>
          </p:cNvSpPr>
          <p:nvPr/>
        </p:nvSpPr>
        <p:spPr>
          <a:xfrm xmlns:a="http://schemas.openxmlformats.org/drawingml/2006/main">
            <a:off x="952500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82</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21" name="">
            <a:extLst xmlns:a="http://schemas.openxmlformats.org/drawingml/2006/main">
              <a:ext uri="{FF2B5EF4-FFF2-40B4-BE49-F238E27FC236}">
                <a16:creationId xmlns:a16="http://schemas.microsoft.com/office/drawing/2014/main" id="{B0723DAF-FDD9-4FD9-BF36-EA4033B0AEA5}"/>
              </a:ext>
            </a:extLst>
          </p:cNvPr>
          <p:cNvSpPr>
            <a:spLocks xmlns:a="http://schemas.openxmlformats.org/drawingml/2006/main" noGrp="1"/>
          </p:cNvSpPr>
          <p:nvPr/>
        </p:nvSpPr>
        <p:spPr>
          <a:xfrm xmlns:a="http://schemas.openxmlformats.org/drawingml/2006/main">
            <a:off x="10487025" y="2466975"/>
            <a:ext cx="552450" cy="2857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AB45441-88A9-4AA1-A858-4A2CC3057507}"/>
              </a:ext>
            </a:extLst>
          </p:cNvPr>
          <p:cNvSpPr>
            <a:spLocks xmlns:a="http://schemas.openxmlformats.org/drawingml/2006/main" noGrp="1"/>
          </p:cNvSpPr>
          <p:nvPr/>
        </p:nvSpPr>
        <p:spPr>
          <a:xfrm xmlns:a="http://schemas.openxmlformats.org/drawingml/2006/main">
            <a:off x="10972800" y="2247900"/>
            <a:ext cx="723900" cy="7239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23" name="">
            <a:extLst xmlns:a="http://schemas.openxmlformats.org/drawingml/2006/main">
              <a:ext uri="{FF2B5EF4-FFF2-40B4-BE49-F238E27FC236}">
                <a16:creationId xmlns:a16="http://schemas.microsoft.com/office/drawing/2014/main" id="{52849ADF-4E1C-4579-8ADD-8C0139649A94}"/>
              </a:ext>
            </a:extLst>
          </p:cNvPr>
          <p:cNvSpPr>
            <a:spLocks xmlns:a="http://schemas.openxmlformats.org/drawingml/2006/main" noGrp="1"/>
          </p:cNvSpPr>
          <p:nvPr/>
        </p:nvSpPr>
        <p:spPr>
          <a:xfrm xmlns:a="http://schemas.openxmlformats.org/drawingml/2006/main">
            <a:off x="10972800" y="2247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0B1320"/>
                </a:solidFill>
                <a:latin typeface="Arial"/>
                <a:ea typeface="Arial"/>
                <a:cs typeface="Arial"/>
              </a:defRPr>
            </a:pPr>
            <a:r>
              <a:rPr sz="1350" b="1">
                <a:solidFill>
                  <a:srgbClr val="0B1320"/>
                </a:solidFill>
                <a:latin typeface="Arial"/>
                <a:ea typeface="Arial"/>
                <a:cs typeface="Arial"/>
              </a:rPr>
              <a:t>V4.1</a:t>
            </a:r>
          </a:p>
        </p:txBody>
      </p:sp>
      <p:sp>
        <p:nvSpPr>
          <p:cNvPr id="24" name="">
            <a:extLst xmlns:a="http://schemas.openxmlformats.org/drawingml/2006/main">
              <a:ext uri="{FF2B5EF4-FFF2-40B4-BE49-F238E27FC236}">
                <a16:creationId xmlns:a16="http://schemas.microsoft.com/office/drawing/2014/main" id="{8D68CF67-F7E6-4A17-94CB-3DFD9E1DAA1F}"/>
              </a:ext>
            </a:extLst>
          </p:cNvPr>
          <p:cNvSpPr>
            <a:spLocks xmlns:a="http://schemas.openxmlformats.org/drawingml/2006/main" noGrp="1"/>
          </p:cNvSpPr>
          <p:nvPr/>
        </p:nvSpPr>
        <p:spPr>
          <a:xfrm xmlns:a="http://schemas.openxmlformats.org/drawingml/2006/main">
            <a:off x="10839450" y="3143250"/>
            <a:ext cx="990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240</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trials</a:t>
            </a:r>
          </a:p>
        </p:txBody>
      </p:sp>
      <p:sp>
        <p:nvSpPr>
          <p:cNvPr id="25" name="">
            <a:extLst xmlns:a="http://schemas.openxmlformats.org/drawingml/2006/main">
              <a:ext uri="{FF2B5EF4-FFF2-40B4-BE49-F238E27FC236}">
                <a16:creationId xmlns:a16="http://schemas.microsoft.com/office/drawing/2014/main" id="{CC67B756-6158-4B4A-9843-2159B5B1C90E}"/>
              </a:ext>
            </a:extLst>
          </p:cNvPr>
          <p:cNvSpPr>
            <a:spLocks xmlns:a="http://schemas.openxmlformats.org/drawingml/2006/main" noGrp="1"/>
          </p:cNvSpPr>
          <p:nvPr/>
        </p:nvSpPr>
        <p:spPr>
          <a:xfrm xmlns:a="http://schemas.openxmlformats.org/drawingml/2006/main">
            <a:off x="5715000" y="443865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00" b="1">
                <a:solidFill>
                  <a:srgbClr val="F5F7FA"/>
                </a:solidFill>
                <a:latin typeface="Arial"/>
                <a:ea typeface="Arial"/>
                <a:cs typeface="Arial"/>
              </a:defRPr>
            </a:pPr>
            <a:r>
              <a:rPr sz="2100" b="1">
                <a:solidFill>
                  <a:srgbClr val="F5F7FA"/>
                </a:solidFill>
                <a:latin typeface="Arial"/>
                <a:ea typeface="Arial"/>
                <a:cs typeface="Arial"/>
              </a:rPr>
              <a:t>Each version fixed the biggest weakness exposed by the last one.</a:t>
            </a:r>
          </a:p>
        </p:txBody>
      </p:sp>
      <p:sp>
        <p:nvSpPr>
          <p:cNvPr id="26" name="">
            <a:extLst xmlns:a="http://schemas.openxmlformats.org/drawingml/2006/main">
              <a:ext uri="{FF2B5EF4-FFF2-40B4-BE49-F238E27FC236}">
                <a16:creationId xmlns:a16="http://schemas.microsoft.com/office/drawing/2014/main" id="{6A8870A0-D54A-428A-A196-D42EA42E6B0E}"/>
              </a:ext>
            </a:extLst>
          </p:cNvPr>
          <p:cNvSpPr>
            <a:spLocks xmlns:a="http://schemas.openxmlformats.org/drawingml/2006/main" noGrp="1"/>
          </p:cNvSpPr>
          <p:nvPr/>
        </p:nvSpPr>
        <p:spPr>
          <a:xfrm xmlns:a="http://schemas.openxmlformats.org/drawingml/2006/main">
            <a:off x="5734050" y="5219700"/>
            <a:ext cx="5295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a:solidFill>
                  <a:srgbClr val="F4B860"/>
                </a:solidFill>
                <a:latin typeface="Arial"/>
                <a:ea typeface="Arial"/>
                <a:cs typeface="Arial"/>
              </a:defRPr>
            </a:pPr>
            <a:r>
              <a:rPr sz="1575" b="0">
                <a:solidFill>
                  <a:srgbClr val="F4B860"/>
                </a:solidFill>
                <a:latin typeface="Arial"/>
                <a:ea typeface="Arial"/>
                <a:cs typeface="Arial"/>
              </a:rPr>
              <a:t>Promising signal found. Profitable strategy not yet verified.</a:t>
            </a:r>
          </a:p>
        </p:txBody>
      </p:sp>
    </p:spTree>
    <p:extLst>
      <p:ext uri="{BB962C8B-B14F-4D97-AF65-F5344CB8AC3E}">
        <p14:creationId xmlns:p14="http://schemas.microsoft.com/office/powerpoint/2010/main" val="275577044"/>
      </p:ext>
    </p:extLst>
  </p:cSld>
</p:sld>
</file>

<file path=ppt/slides/slide2.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2DC3AB2-342C-4D90-8EFB-2823F6E792B3}"/>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STARTING POINT</a:t>
            </a:r>
          </a:p>
        </p:txBody>
      </p:sp>
      <p:sp>
        <p:nvSpPr>
          <p:cNvPr id="2" name="">
            <a:extLst xmlns:a="http://schemas.openxmlformats.org/drawingml/2006/main">
              <a:ext uri="{FF2B5EF4-FFF2-40B4-BE49-F238E27FC236}">
                <a16:creationId xmlns:a16="http://schemas.microsoft.com/office/drawing/2014/main" id="{44BFAA85-077B-46F5-B763-05C9B605F6F9}"/>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The original goal</a:t>
            </a:r>
          </a:p>
        </p:txBody>
      </p:sp>
      <p:sp>
        <p:nvSpPr>
          <p:cNvPr id="3" name="">
            <a:extLst xmlns:a="http://schemas.openxmlformats.org/drawingml/2006/main">
              <a:ext uri="{FF2B5EF4-FFF2-40B4-BE49-F238E27FC236}">
                <a16:creationId xmlns:a16="http://schemas.microsoft.com/office/drawing/2014/main" id="{E0FD61D2-8BDB-4840-BB65-09DC401428E7}"/>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0ABB8A71-195A-47FF-AB2C-CCDA8D917366}"/>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FF65A65F-4B6F-4F7E-A735-2A3FC98BFE9F}"/>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56C0305-D3DE-485D-BBB4-30B34F844459}"/>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E3D8BC0A-AF4B-4755-9037-F19F152D150E}"/>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Find ≥10% expected net return per trade</a:t>
            </a:r>
          </a:p>
        </p:txBody>
      </p:sp>
      <p:sp>
        <p:nvSpPr>
          <p:cNvPr id="8" name="">
            <a:extLst xmlns:a="http://schemas.openxmlformats.org/drawingml/2006/main">
              <a:ext uri="{FF2B5EF4-FFF2-40B4-BE49-F238E27FC236}">
                <a16:creationId xmlns:a16="http://schemas.microsoft.com/office/drawing/2014/main" id="{81CB4309-B3AB-4A5F-A5B2-094FD747D511}"/>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C205985C-0235-454B-93DD-AB6B87EC09B8}"/>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Use historical weather + Kalshi data</a:t>
            </a:r>
          </a:p>
        </p:txBody>
      </p:sp>
      <p:sp>
        <p:nvSpPr>
          <p:cNvPr id="10" name="">
            <a:extLst xmlns:a="http://schemas.openxmlformats.org/drawingml/2006/main">
              <a:ext uri="{FF2B5EF4-FFF2-40B4-BE49-F238E27FC236}">
                <a16:creationId xmlns:a16="http://schemas.microsoft.com/office/drawing/2014/main" id="{A6A0E0A6-52BA-4C08-970F-D7FD432398A6}"/>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15FA5164-E183-4BDE-A496-44287B11D22E}"/>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Keep the entire workflow offline</a:t>
            </a:r>
          </a:p>
        </p:txBody>
      </p:sp>
      <p:sp>
        <p:nvSpPr>
          <p:cNvPr id="12" name="">
            <a:extLst xmlns:a="http://schemas.openxmlformats.org/drawingml/2006/main">
              <a:ext uri="{FF2B5EF4-FFF2-40B4-BE49-F238E27FC236}">
                <a16:creationId xmlns:a16="http://schemas.microsoft.com/office/drawing/2014/main" id="{9F63DB8D-F959-4AB5-BD9E-49493258F524}"/>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51CC02E5-03BD-43AA-A0D8-05748FE96DBB}"/>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Turn research into a repeatable loop that proposes, tests, criticizes and improves ideas.</a:t>
            </a:r>
          </a:p>
        </p:txBody>
      </p:sp>
      <p:sp>
        <p:nvSpPr>
          <p:cNvPr id="14" name="">
            <a:extLst xmlns:a="http://schemas.openxmlformats.org/drawingml/2006/main">
              <a:ext uri="{FF2B5EF4-FFF2-40B4-BE49-F238E27FC236}">
                <a16:creationId xmlns:a16="http://schemas.microsoft.com/office/drawing/2014/main" id="{EC3A63D7-56C5-4F60-857B-44C18E1CC67C}"/>
              </a:ext>
            </a:extLst>
          </p:cNvPr>
          <p:cNvSpPr>
            <a:spLocks xmlns:a="http://schemas.openxmlformats.org/drawingml/2006/main" noGrp="1"/>
          </p:cNvSpPr>
          <p:nvPr/>
        </p:nvSpPr>
        <p:spPr>
          <a:xfrm xmlns:a="http://schemas.openxmlformats.org/drawingml/2006/main">
            <a:off x="5429250" y="2190750"/>
            <a:ext cx="609600" cy="60960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5" name="">
            <a:extLst xmlns:a="http://schemas.openxmlformats.org/drawingml/2006/main">
              <a:ext uri="{FF2B5EF4-FFF2-40B4-BE49-F238E27FC236}">
                <a16:creationId xmlns:a16="http://schemas.microsoft.com/office/drawing/2014/main" id="{0D47A106-F8B6-409F-B0D4-61E568A6468F}"/>
              </a:ext>
            </a:extLst>
          </p:cNvPr>
          <p:cNvSpPr>
            <a:spLocks xmlns:a="http://schemas.openxmlformats.org/drawingml/2006/main" noGrp="1"/>
          </p:cNvSpPr>
          <p:nvPr/>
        </p:nvSpPr>
        <p:spPr>
          <a:xfrm xmlns:a="http://schemas.openxmlformats.org/drawingml/2006/main">
            <a:off x="5429250" y="21907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0B1320"/>
                </a:solidFill>
                <a:latin typeface="Arial"/>
                <a:ea typeface="Arial"/>
                <a:cs typeface="Arial"/>
              </a:defRPr>
            </a:pPr>
            <a:r>
              <a:rPr sz="1800" b="1">
                <a:solidFill>
                  <a:srgbClr val="0B1320"/>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F4D1B96F-519C-4768-8C05-5022AB44C595}"/>
              </a:ext>
            </a:extLst>
          </p:cNvPr>
          <p:cNvSpPr>
            <a:spLocks xmlns:a="http://schemas.openxmlformats.org/drawingml/2006/main" noGrp="1"/>
          </p:cNvSpPr>
          <p:nvPr/>
        </p:nvSpPr>
        <p:spPr>
          <a:xfrm xmlns:a="http://schemas.openxmlformats.org/drawingml/2006/main">
            <a:off x="5143500" y="3048000"/>
            <a:ext cx="118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WEATHER</a:t>
            </a:r>
          </a:p>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MODELS</a:t>
            </a:r>
          </a:p>
        </p:txBody>
      </p:sp>
      <p:sp>
        <p:nvSpPr>
          <p:cNvPr id="17" name="">
            <a:extLst xmlns:a="http://schemas.openxmlformats.org/drawingml/2006/main">
              <a:ext uri="{FF2B5EF4-FFF2-40B4-BE49-F238E27FC236}">
                <a16:creationId xmlns:a16="http://schemas.microsoft.com/office/drawing/2014/main" id="{FD3191E0-EDE5-4013-B183-57E15AE9CC4F}"/>
              </a:ext>
            </a:extLst>
          </p:cNvPr>
          <p:cNvSpPr>
            <a:spLocks xmlns:a="http://schemas.openxmlformats.org/drawingml/2006/main" noGrp="1"/>
          </p:cNvSpPr>
          <p:nvPr/>
        </p:nvSpPr>
        <p:spPr>
          <a:xfrm xmlns:a="http://schemas.openxmlformats.org/drawingml/2006/main">
            <a:off x="5181600" y="3733800"/>
            <a:ext cx="1104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AEBBCD"/>
                </a:solidFill>
                <a:latin typeface="Arial"/>
                <a:ea typeface="Arial"/>
                <a:cs typeface="Arial"/>
              </a:defRPr>
            </a:pPr>
            <a:r>
              <a:rPr sz="1200" b="0">
                <a:solidFill>
                  <a:srgbClr val="AEBBCD"/>
                </a:solidFill>
                <a:latin typeface="Arial"/>
                <a:ea typeface="Arial"/>
                <a:cs typeface="Arial"/>
              </a:rPr>
              <a:t>HRRR + GEFS</a:t>
            </a:r>
          </a:p>
        </p:txBody>
      </p:sp>
      <p:sp>
        <p:nvSpPr>
          <p:cNvPr id="18" name="">
            <a:extLst xmlns:a="http://schemas.openxmlformats.org/drawingml/2006/main">
              <a:ext uri="{FF2B5EF4-FFF2-40B4-BE49-F238E27FC236}">
                <a16:creationId xmlns:a16="http://schemas.microsoft.com/office/drawing/2014/main" id="{9DC79DEE-09FB-46A2-AB30-856507CBFAAB}"/>
              </a:ext>
            </a:extLst>
          </p:cNvPr>
          <p:cNvSpPr>
            <a:spLocks xmlns:a="http://schemas.openxmlformats.org/drawingml/2006/main" noGrp="1"/>
          </p:cNvSpPr>
          <p:nvPr/>
        </p:nvSpPr>
        <p:spPr>
          <a:xfrm xmlns:a="http://schemas.openxmlformats.org/drawingml/2006/main">
            <a:off x="6143625" y="2362200"/>
            <a:ext cx="552450" cy="26670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2B97CBB-2933-42B2-8527-DF2BA1C2E75D}"/>
              </a:ext>
            </a:extLst>
          </p:cNvPr>
          <p:cNvSpPr>
            <a:spLocks xmlns:a="http://schemas.openxmlformats.org/drawingml/2006/main" noGrp="1"/>
          </p:cNvSpPr>
          <p:nvPr/>
        </p:nvSpPr>
        <p:spPr>
          <a:xfrm xmlns:a="http://schemas.openxmlformats.org/drawingml/2006/main">
            <a:off x="6924675" y="2190750"/>
            <a:ext cx="609600" cy="60960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0" name="">
            <a:extLst xmlns:a="http://schemas.openxmlformats.org/drawingml/2006/main">
              <a:ext uri="{FF2B5EF4-FFF2-40B4-BE49-F238E27FC236}">
                <a16:creationId xmlns:a16="http://schemas.microsoft.com/office/drawing/2014/main" id="{2F180B0F-73CB-4189-88F5-FD75FAEF82E6}"/>
              </a:ext>
            </a:extLst>
          </p:cNvPr>
          <p:cNvSpPr>
            <a:spLocks xmlns:a="http://schemas.openxmlformats.org/drawingml/2006/main" noGrp="1"/>
          </p:cNvSpPr>
          <p:nvPr/>
        </p:nvSpPr>
        <p:spPr>
          <a:xfrm xmlns:a="http://schemas.openxmlformats.org/drawingml/2006/main">
            <a:off x="6924675" y="21907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0B1320"/>
                </a:solidFill>
                <a:latin typeface="Arial"/>
                <a:ea typeface="Arial"/>
                <a:cs typeface="Arial"/>
              </a:defRPr>
            </a:pPr>
            <a:r>
              <a:rPr sz="1800" b="1">
                <a:solidFill>
                  <a:srgbClr val="0B1320"/>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2AABF4D4-1666-4369-ACDB-898B272C0B8A}"/>
              </a:ext>
            </a:extLst>
          </p:cNvPr>
          <p:cNvSpPr>
            <a:spLocks xmlns:a="http://schemas.openxmlformats.org/drawingml/2006/main" noGrp="1"/>
          </p:cNvSpPr>
          <p:nvPr/>
        </p:nvSpPr>
        <p:spPr>
          <a:xfrm xmlns:a="http://schemas.openxmlformats.org/drawingml/2006/main">
            <a:off x="6638925" y="3048000"/>
            <a:ext cx="118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497"/>
          </a:bodyPr>
          <a:lstStyle xmlns:a="http://schemas.openxmlformats.org/drawingml/2006/main"/>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CALIBRATED</a:t>
            </a:r>
          </a:p>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PROBABILITY</a:t>
            </a:r>
          </a:p>
        </p:txBody>
      </p:sp>
      <p:sp>
        <p:nvSpPr>
          <p:cNvPr id="22" name="">
            <a:extLst xmlns:a="http://schemas.openxmlformats.org/drawingml/2006/main">
              <a:ext uri="{FF2B5EF4-FFF2-40B4-BE49-F238E27FC236}">
                <a16:creationId xmlns:a16="http://schemas.microsoft.com/office/drawing/2014/main" id="{17A12941-EE33-4BFF-88F1-419F6255268D}"/>
              </a:ext>
            </a:extLst>
          </p:cNvPr>
          <p:cNvSpPr>
            <a:spLocks xmlns:a="http://schemas.openxmlformats.org/drawingml/2006/main" noGrp="1"/>
          </p:cNvSpPr>
          <p:nvPr/>
        </p:nvSpPr>
        <p:spPr>
          <a:xfrm xmlns:a="http://schemas.openxmlformats.org/drawingml/2006/main">
            <a:off x="6677025" y="3733800"/>
            <a:ext cx="1104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AEBBCD"/>
                </a:solidFill>
                <a:latin typeface="Arial"/>
                <a:ea typeface="Arial"/>
                <a:cs typeface="Arial"/>
              </a:defRPr>
            </a:pPr>
            <a:r>
              <a:rPr sz="1200" b="0">
                <a:solidFill>
                  <a:srgbClr val="AEBBCD"/>
                </a:solidFill>
                <a:latin typeface="Arial"/>
                <a:ea typeface="Arial"/>
                <a:cs typeface="Arial"/>
              </a:rPr>
              <a:t>What is the chance?</a:t>
            </a:r>
          </a:p>
        </p:txBody>
      </p:sp>
      <p:sp>
        <p:nvSpPr>
          <p:cNvPr id="23" name="">
            <a:extLst xmlns:a="http://schemas.openxmlformats.org/drawingml/2006/main">
              <a:ext uri="{FF2B5EF4-FFF2-40B4-BE49-F238E27FC236}">
                <a16:creationId xmlns:a16="http://schemas.microsoft.com/office/drawing/2014/main" id="{58AC4852-4588-4D85-9A2C-808D277D0033}"/>
              </a:ext>
            </a:extLst>
          </p:cNvPr>
          <p:cNvSpPr>
            <a:spLocks xmlns:a="http://schemas.openxmlformats.org/drawingml/2006/main" noGrp="1"/>
          </p:cNvSpPr>
          <p:nvPr/>
        </p:nvSpPr>
        <p:spPr>
          <a:xfrm xmlns:a="http://schemas.openxmlformats.org/drawingml/2006/main">
            <a:off x="7639050" y="2362200"/>
            <a:ext cx="552450" cy="26670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F64A256-2589-45AA-8248-161DAFE8089C}"/>
              </a:ext>
            </a:extLst>
          </p:cNvPr>
          <p:cNvSpPr>
            <a:spLocks xmlns:a="http://schemas.openxmlformats.org/drawingml/2006/main" noGrp="1"/>
          </p:cNvSpPr>
          <p:nvPr/>
        </p:nvSpPr>
        <p:spPr>
          <a:xfrm xmlns:a="http://schemas.openxmlformats.org/drawingml/2006/main">
            <a:off x="8420100" y="2190750"/>
            <a:ext cx="609600" cy="60960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25" name="">
            <a:extLst xmlns:a="http://schemas.openxmlformats.org/drawingml/2006/main">
              <a:ext uri="{FF2B5EF4-FFF2-40B4-BE49-F238E27FC236}">
                <a16:creationId xmlns:a16="http://schemas.microsoft.com/office/drawing/2014/main" id="{137561E3-F0A1-48BE-82B3-4DEC96C5965C}"/>
              </a:ext>
            </a:extLst>
          </p:cNvPr>
          <p:cNvSpPr>
            <a:spLocks xmlns:a="http://schemas.openxmlformats.org/drawingml/2006/main" noGrp="1"/>
          </p:cNvSpPr>
          <p:nvPr/>
        </p:nvSpPr>
        <p:spPr>
          <a:xfrm xmlns:a="http://schemas.openxmlformats.org/drawingml/2006/main">
            <a:off x="8420100" y="21907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0B1320"/>
                </a:solidFill>
                <a:latin typeface="Arial"/>
                <a:ea typeface="Arial"/>
                <a:cs typeface="Arial"/>
              </a:defRPr>
            </a:pPr>
            <a:r>
              <a:rPr sz="1800" b="1">
                <a:solidFill>
                  <a:srgbClr val="0B1320"/>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5C9DEFCC-7738-4C30-BF73-85034C6DCB51}"/>
              </a:ext>
            </a:extLst>
          </p:cNvPr>
          <p:cNvSpPr>
            <a:spLocks xmlns:a="http://schemas.openxmlformats.org/drawingml/2006/main" noGrp="1"/>
          </p:cNvSpPr>
          <p:nvPr/>
        </p:nvSpPr>
        <p:spPr>
          <a:xfrm xmlns:a="http://schemas.openxmlformats.org/drawingml/2006/main">
            <a:off x="8134350" y="3048000"/>
            <a:ext cx="118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KALSHI</a:t>
            </a:r>
          </a:p>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PRICE</a:t>
            </a:r>
          </a:p>
        </p:txBody>
      </p:sp>
      <p:sp>
        <p:nvSpPr>
          <p:cNvPr id="27" name="">
            <a:extLst xmlns:a="http://schemas.openxmlformats.org/drawingml/2006/main">
              <a:ext uri="{FF2B5EF4-FFF2-40B4-BE49-F238E27FC236}">
                <a16:creationId xmlns:a16="http://schemas.microsoft.com/office/drawing/2014/main" id="{2EABB881-F695-4D55-B42C-3719D6E4F154}"/>
              </a:ext>
            </a:extLst>
          </p:cNvPr>
          <p:cNvSpPr>
            <a:spLocks xmlns:a="http://schemas.openxmlformats.org/drawingml/2006/main" noGrp="1"/>
          </p:cNvSpPr>
          <p:nvPr/>
        </p:nvSpPr>
        <p:spPr>
          <a:xfrm xmlns:a="http://schemas.openxmlformats.org/drawingml/2006/main">
            <a:off x="8172450" y="3733800"/>
            <a:ext cx="1104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AEBBCD"/>
                </a:solidFill>
                <a:latin typeface="Arial"/>
                <a:ea typeface="Arial"/>
                <a:cs typeface="Arial"/>
              </a:defRPr>
            </a:pPr>
            <a:r>
              <a:rPr sz="1200" b="0">
                <a:solidFill>
                  <a:srgbClr val="AEBBCD"/>
                </a:solidFill>
                <a:latin typeface="Arial"/>
                <a:ea typeface="Arial"/>
                <a:cs typeface="Arial"/>
              </a:rPr>
              <a:t>What does market imply?</a:t>
            </a:r>
          </a:p>
        </p:txBody>
      </p:sp>
      <p:sp>
        <p:nvSpPr>
          <p:cNvPr id="28" name="">
            <a:extLst xmlns:a="http://schemas.openxmlformats.org/drawingml/2006/main">
              <a:ext uri="{FF2B5EF4-FFF2-40B4-BE49-F238E27FC236}">
                <a16:creationId xmlns:a16="http://schemas.microsoft.com/office/drawing/2014/main" id="{005B042E-F75E-4FAE-ADF5-A0D2360DFF55}"/>
              </a:ext>
            </a:extLst>
          </p:cNvPr>
          <p:cNvSpPr>
            <a:spLocks xmlns:a="http://schemas.openxmlformats.org/drawingml/2006/main" noGrp="1"/>
          </p:cNvSpPr>
          <p:nvPr/>
        </p:nvSpPr>
        <p:spPr>
          <a:xfrm xmlns:a="http://schemas.openxmlformats.org/drawingml/2006/main">
            <a:off x="9134475" y="2362200"/>
            <a:ext cx="552450" cy="26670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10A22D6-B93F-447E-A918-D39D6F2D55D2}"/>
              </a:ext>
            </a:extLst>
          </p:cNvPr>
          <p:cNvSpPr>
            <a:spLocks xmlns:a="http://schemas.openxmlformats.org/drawingml/2006/main" noGrp="1"/>
          </p:cNvSpPr>
          <p:nvPr/>
        </p:nvSpPr>
        <p:spPr>
          <a:xfrm xmlns:a="http://schemas.openxmlformats.org/drawingml/2006/main">
            <a:off x="9915525" y="2190750"/>
            <a:ext cx="609600" cy="6096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30" name="">
            <a:extLst xmlns:a="http://schemas.openxmlformats.org/drawingml/2006/main">
              <a:ext uri="{FF2B5EF4-FFF2-40B4-BE49-F238E27FC236}">
                <a16:creationId xmlns:a16="http://schemas.microsoft.com/office/drawing/2014/main" id="{7F0EEB01-A17B-4E31-9C00-EC9D9FDBF058}"/>
              </a:ext>
            </a:extLst>
          </p:cNvPr>
          <p:cNvSpPr>
            <a:spLocks xmlns:a="http://schemas.openxmlformats.org/drawingml/2006/main" noGrp="1"/>
          </p:cNvSpPr>
          <p:nvPr/>
        </p:nvSpPr>
        <p:spPr>
          <a:xfrm xmlns:a="http://schemas.openxmlformats.org/drawingml/2006/main">
            <a:off x="9915525" y="21907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0B1320"/>
                </a:solidFill>
                <a:latin typeface="Arial"/>
                <a:ea typeface="Arial"/>
                <a:cs typeface="Arial"/>
              </a:defRPr>
            </a:pPr>
            <a:r>
              <a:rPr sz="1800" b="1">
                <a:solidFill>
                  <a:srgbClr val="0B1320"/>
                </a:solidFill>
                <a:latin typeface="Arial"/>
                <a:ea typeface="Arial"/>
                <a:cs typeface="Arial"/>
              </a:rPr>
              <a:t>4</a:t>
            </a:r>
          </a:p>
        </p:txBody>
      </p:sp>
      <p:sp>
        <p:nvSpPr>
          <p:cNvPr id="31" name="">
            <a:extLst xmlns:a="http://schemas.openxmlformats.org/drawingml/2006/main">
              <a:ext uri="{FF2B5EF4-FFF2-40B4-BE49-F238E27FC236}">
                <a16:creationId xmlns:a16="http://schemas.microsoft.com/office/drawing/2014/main" id="{CE24EE8F-74A2-4744-8533-F21675AEBA00}"/>
              </a:ext>
            </a:extLst>
          </p:cNvPr>
          <p:cNvSpPr>
            <a:spLocks xmlns:a="http://schemas.openxmlformats.org/drawingml/2006/main" noGrp="1"/>
          </p:cNvSpPr>
          <p:nvPr/>
        </p:nvSpPr>
        <p:spPr>
          <a:xfrm xmlns:a="http://schemas.openxmlformats.org/drawingml/2006/main">
            <a:off x="9629775" y="3048000"/>
            <a:ext cx="1181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SIMULATED</a:t>
            </a:r>
          </a:p>
          <a:p xmlns:a="http://schemas.openxmlformats.org/drawingml/2006/main">
            <a:pPr algn="ctr">
              <a:lnSpc>
                <a:spcPct val="100000"/>
              </a:lnSpc>
              <a:buNone/>
              <a:defRPr sz="1425" b="1">
                <a:solidFill>
                  <a:srgbClr val="F5F7FA"/>
                </a:solidFill>
                <a:latin typeface="Arial"/>
                <a:ea typeface="Arial"/>
                <a:cs typeface="Arial"/>
              </a:defRPr>
            </a:pPr>
            <a:r>
              <a:rPr sz="1425" b="1">
                <a:solidFill>
                  <a:srgbClr val="F5F7FA"/>
                </a:solidFill>
                <a:latin typeface="Arial"/>
                <a:ea typeface="Arial"/>
                <a:cs typeface="Arial"/>
              </a:rPr>
              <a:t>TRADE</a:t>
            </a:r>
          </a:p>
        </p:txBody>
      </p:sp>
      <p:sp>
        <p:nvSpPr>
          <p:cNvPr id="32" name="">
            <a:extLst xmlns:a="http://schemas.openxmlformats.org/drawingml/2006/main">
              <a:ext uri="{FF2B5EF4-FFF2-40B4-BE49-F238E27FC236}">
                <a16:creationId xmlns:a16="http://schemas.microsoft.com/office/drawing/2014/main" id="{4470DD8D-E2D5-4C4E-AE10-A41B967C7141}"/>
              </a:ext>
            </a:extLst>
          </p:cNvPr>
          <p:cNvSpPr>
            <a:spLocks xmlns:a="http://schemas.openxmlformats.org/drawingml/2006/main" noGrp="1"/>
          </p:cNvSpPr>
          <p:nvPr/>
        </p:nvSpPr>
        <p:spPr>
          <a:xfrm xmlns:a="http://schemas.openxmlformats.org/drawingml/2006/main">
            <a:off x="9667875" y="3733800"/>
            <a:ext cx="1104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AEBBCD"/>
                </a:solidFill>
                <a:latin typeface="Arial"/>
                <a:ea typeface="Arial"/>
                <a:cs typeface="Arial"/>
              </a:defRPr>
            </a:pPr>
            <a:r>
              <a:rPr sz="1200" b="0">
                <a:solidFill>
                  <a:srgbClr val="AEBBCD"/>
                </a:solidFill>
                <a:latin typeface="Arial"/>
                <a:ea typeface="Arial"/>
                <a:cs typeface="Arial"/>
              </a:rPr>
              <a:t>Only if edge survives</a:t>
            </a:r>
          </a:p>
        </p:txBody>
      </p:sp>
      <p:sp>
        <p:nvSpPr>
          <p:cNvPr id="33" name="">
            <a:extLst xmlns:a="http://schemas.openxmlformats.org/drawingml/2006/main">
              <a:ext uri="{FF2B5EF4-FFF2-40B4-BE49-F238E27FC236}">
                <a16:creationId xmlns:a16="http://schemas.microsoft.com/office/drawing/2014/main" id="{5A4D79C3-A6F8-437D-97C0-9D1D798EB702}"/>
              </a:ext>
            </a:extLst>
          </p:cNvPr>
          <p:cNvSpPr>
            <a:spLocks xmlns:a="http://schemas.openxmlformats.org/drawingml/2006/main" noGrp="1"/>
          </p:cNvSpPr>
          <p:nvPr/>
        </p:nvSpPr>
        <p:spPr>
          <a:xfrm xmlns:a="http://schemas.openxmlformats.org/drawingml/2006/main">
            <a:off x="5743575" y="4762500"/>
            <a:ext cx="4857750" cy="762000"/>
          </a:xfrm>
          <a:prstGeom xmlns:a="http://schemas.openxmlformats.org/drawingml/2006/main" prst="roundRect">
            <a:avLst>
              <a:gd name="adj" fmla="val 22500"/>
            </a:avLst>
          </a:prstGeom>
          <a:solidFill xmlns:a="http://schemas.openxmlformats.org/drawingml/2006/main">
            <a:srgbClr val="132940"/>
          </a:solidFill>
          <a:ln xmlns:a="http://schemas.openxmlformats.org/drawingml/2006/main" w="14288">
            <a:solidFill>
              <a:srgbClr val="4EA1FF"/>
            </a:solidFill>
            <a:prstDash val="solid"/>
          </a:ln>
        </p:spPr>
      </p:sp>
      <p:sp>
        <p:nvSpPr>
          <p:cNvPr id="34" name="">
            <a:extLst xmlns:a="http://schemas.openxmlformats.org/drawingml/2006/main">
              <a:ext uri="{FF2B5EF4-FFF2-40B4-BE49-F238E27FC236}">
                <a16:creationId xmlns:a16="http://schemas.microsoft.com/office/drawing/2014/main" id="{8D1AE774-C860-4036-A31A-1146B0824794}"/>
              </a:ext>
            </a:extLst>
          </p:cNvPr>
          <p:cNvSpPr>
            <a:spLocks xmlns:a="http://schemas.openxmlformats.org/drawingml/2006/main" noGrp="1"/>
          </p:cNvSpPr>
          <p:nvPr/>
        </p:nvSpPr>
        <p:spPr>
          <a:xfrm xmlns:a="http://schemas.openxmlformats.org/drawingml/2006/main">
            <a:off x="5934075" y="48577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OpenAI-inspired pattern</a:t>
            </a:r>
          </a:p>
        </p:txBody>
      </p:sp>
      <p:sp>
        <p:nvSpPr>
          <p:cNvPr id="35" name="">
            <a:extLst xmlns:a="http://schemas.openxmlformats.org/drawingml/2006/main">
              <a:ext uri="{FF2B5EF4-FFF2-40B4-BE49-F238E27FC236}">
                <a16:creationId xmlns:a16="http://schemas.microsoft.com/office/drawing/2014/main" id="{8DCA77E8-9302-4A29-A17D-48EB32ECA5DC}"/>
              </a:ext>
            </a:extLst>
          </p:cNvPr>
          <p:cNvSpPr>
            <a:spLocks xmlns:a="http://schemas.openxmlformats.org/drawingml/2006/main" noGrp="1"/>
          </p:cNvSpPr>
          <p:nvPr/>
        </p:nvSpPr>
        <p:spPr>
          <a:xfrm xmlns:a="http://schemas.openxmlformats.org/drawingml/2006/main">
            <a:off x="5934075" y="5105400"/>
            <a:ext cx="443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68857"/>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many ideas → deterministic tests → adversarial review → next iteration</a:t>
            </a:r>
          </a:p>
        </p:txBody>
      </p:sp>
    </p:spTree>
    <p:extLst>
      <p:ext uri="{BB962C8B-B14F-4D97-AF65-F5344CB8AC3E}">
        <p14:creationId xmlns:p14="http://schemas.microsoft.com/office/powerpoint/2010/main" val="1601985089"/>
      </p:ext>
    </p:extLst>
  </p:cSld>
</p:sld>
</file>

<file path=ppt/slides/slide3.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8A30B45-A7B3-4EF1-BAE5-4F94DA80395A}"/>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VERSION 1</a:t>
            </a:r>
          </a:p>
        </p:txBody>
      </p:sp>
      <p:sp>
        <p:nvSpPr>
          <p:cNvPr id="2" name="">
            <a:extLst xmlns:a="http://schemas.openxmlformats.org/drawingml/2006/main">
              <a:ext uri="{FF2B5EF4-FFF2-40B4-BE49-F238E27FC236}">
                <a16:creationId xmlns:a16="http://schemas.microsoft.com/office/drawing/2014/main" id="{A26F9A87-B22C-47BB-B0FA-746E210EDE3B}"/>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V1: safe, but barely iterative</a:t>
            </a:r>
          </a:p>
        </p:txBody>
      </p:sp>
      <p:sp>
        <p:nvSpPr>
          <p:cNvPr id="3" name="">
            <a:extLst xmlns:a="http://schemas.openxmlformats.org/drawingml/2006/main">
              <a:ext uri="{FF2B5EF4-FFF2-40B4-BE49-F238E27FC236}">
                <a16:creationId xmlns:a16="http://schemas.microsoft.com/office/drawing/2014/main" id="{85F2CC01-2678-4147-962D-B14274ACEFD7}"/>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A946FCF8-B113-4DA4-BFE8-E94BEECF070E}"/>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CCCEA1A9-0475-4495-8AE0-A26EEBBA8835}"/>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C84BB0F6-673E-44C3-8045-D8787790C9BC}"/>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0386BB29-A0E1-4213-816B-4B39B6EB6841}"/>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 research families</a:t>
            </a:r>
          </a:p>
        </p:txBody>
      </p:sp>
      <p:sp>
        <p:nvSpPr>
          <p:cNvPr id="8" name="">
            <a:extLst xmlns:a="http://schemas.openxmlformats.org/drawingml/2006/main">
              <a:ext uri="{FF2B5EF4-FFF2-40B4-BE49-F238E27FC236}">
                <a16:creationId xmlns:a16="http://schemas.microsoft.com/office/drawing/2014/main" id="{D24661D3-61A0-4177-A5B8-00CD4C104414}"/>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AE3E8B39-3A78-4738-BC74-48ED72D053CF}"/>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 candidates</a:t>
            </a:r>
          </a:p>
        </p:txBody>
      </p:sp>
      <p:sp>
        <p:nvSpPr>
          <p:cNvPr id="10" name="">
            <a:extLst xmlns:a="http://schemas.openxmlformats.org/drawingml/2006/main">
              <a:ext uri="{FF2B5EF4-FFF2-40B4-BE49-F238E27FC236}">
                <a16:creationId xmlns:a16="http://schemas.microsoft.com/office/drawing/2014/main" id="{268BBAD9-1FAA-4DD8-B186-340BC88F2E29}"/>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727CCFC-B6B0-4C82-A245-3F0873B0008A}"/>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1 productive epoch</a:t>
            </a:r>
          </a:p>
        </p:txBody>
      </p:sp>
      <p:sp>
        <p:nvSpPr>
          <p:cNvPr id="12" name="">
            <a:extLst xmlns:a="http://schemas.openxmlformats.org/drawingml/2006/main">
              <a:ext uri="{FF2B5EF4-FFF2-40B4-BE49-F238E27FC236}">
                <a16:creationId xmlns:a16="http://schemas.microsoft.com/office/drawing/2014/main" id="{6CE72C2E-BE7D-4A5B-A1CB-1215A7E44112}"/>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0513C9A9-1760-434F-A942-A59D3F18AEA0}"/>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Later epochs produced no new experiments. The safeguards worked, but the research loop stalled.</a:t>
            </a:r>
          </a:p>
        </p:txBody>
      </p:sp>
      <p:sp>
        <p:nvSpPr>
          <p:cNvPr id="14" name="">
            <a:extLst xmlns:a="http://schemas.openxmlformats.org/drawingml/2006/main">
              <a:ext uri="{FF2B5EF4-FFF2-40B4-BE49-F238E27FC236}">
                <a16:creationId xmlns:a16="http://schemas.microsoft.com/office/drawing/2014/main" id="{5876CC6E-D841-4306-82EC-67AFCDB14B6E}"/>
              </a:ext>
            </a:extLst>
          </p:cNvPr>
          <p:cNvSpPr>
            <a:spLocks xmlns:a="http://schemas.openxmlformats.org/drawingml/2006/main" noGrp="1"/>
          </p:cNvSpPr>
          <p:nvPr/>
        </p:nvSpPr>
        <p:spPr>
          <a:xfrm xmlns:a="http://schemas.openxmlformats.org/drawingml/2006/main">
            <a:off x="9906000" y="2809875"/>
            <a:ext cx="1238250" cy="1238250"/>
          </a:xfrm>
          <a:prstGeom xmlns:a="http://schemas.openxmlformats.org/drawingml/2006/main" prst="roundRect">
            <a:avLst>
              <a:gd name="adj" fmla="val 50000"/>
            </a:avLst>
          </a:prstGeom>
          <a:solidFill xmlns:a="http://schemas.openxmlformats.org/drawingml/2006/main">
            <a:srgbClr val="321D29"/>
          </a:solidFill>
          <a:ln xmlns:a="http://schemas.openxmlformats.org/drawingml/2006/main" w="19050">
            <a:solidFill>
              <a:srgbClr val="FF6B6B"/>
            </a:solidFill>
            <a:prstDash val="solid"/>
          </a:ln>
        </p:spPr>
      </p:sp>
      <p:sp>
        <p:nvSpPr>
          <p:cNvPr id="15" name="">
            <a:extLst xmlns:a="http://schemas.openxmlformats.org/drawingml/2006/main">
              <a:ext uri="{FF2B5EF4-FFF2-40B4-BE49-F238E27FC236}">
                <a16:creationId xmlns:a16="http://schemas.microsoft.com/office/drawing/2014/main" id="{515F4E84-6439-4D09-BAD0-6323F0B4894F}"/>
              </a:ext>
            </a:extLst>
          </p:cNvPr>
          <p:cNvSpPr>
            <a:spLocks xmlns:a="http://schemas.openxmlformats.org/drawingml/2006/main" noGrp="1"/>
          </p:cNvSpPr>
          <p:nvPr/>
        </p:nvSpPr>
        <p:spPr>
          <a:xfrm xmlns:a="http://schemas.openxmlformats.org/drawingml/2006/main">
            <a:off x="10001250" y="2971800"/>
            <a:ext cx="104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6B6B"/>
                </a:solidFill>
                <a:latin typeface="Arial"/>
                <a:ea typeface="Arial"/>
                <a:cs typeface="Arial"/>
              </a:defRPr>
            </a:pPr>
            <a:r>
              <a:rPr sz="1425" b="1">
                <a:solidFill>
                  <a:srgbClr val="FF6B6B"/>
                </a:solidFill>
                <a:latin typeface="Arial"/>
                <a:ea typeface="Arial"/>
                <a:cs typeface="Arial"/>
              </a:rPr>
              <a:t>NO NEW</a:t>
            </a:r>
          </a:p>
          <a:p xmlns:a="http://schemas.openxmlformats.org/drawingml/2006/main">
            <a:pPr algn="ctr">
              <a:lnSpc>
                <a:spcPct val="100000"/>
              </a:lnSpc>
              <a:buNone/>
              <a:defRPr sz="1425" b="1">
                <a:solidFill>
                  <a:srgbClr val="FF6B6B"/>
                </a:solidFill>
                <a:latin typeface="Arial"/>
                <a:ea typeface="Arial"/>
                <a:cs typeface="Arial"/>
              </a:defRPr>
            </a:pPr>
            <a:r>
              <a:rPr sz="1425" b="1">
                <a:solidFill>
                  <a:srgbClr val="FF6B6B"/>
                </a:solidFill>
                <a:latin typeface="Arial"/>
                <a:ea typeface="Arial"/>
                <a:cs typeface="Arial"/>
              </a:rPr>
              <a:t>EXPERIMENTS</a:t>
            </a:r>
          </a:p>
        </p:txBody>
      </p:sp>
      <p:sp>
        <p:nvSpPr>
          <p:cNvPr id="16" name="">
            <a:extLst xmlns:a="http://schemas.openxmlformats.org/drawingml/2006/main">
              <a:ext uri="{FF2B5EF4-FFF2-40B4-BE49-F238E27FC236}">
                <a16:creationId xmlns:a16="http://schemas.microsoft.com/office/drawing/2014/main" id="{D73C392F-BBCA-4DFC-8D26-36CCC7800A0F}"/>
              </a:ext>
            </a:extLst>
          </p:cNvPr>
          <p:cNvSpPr>
            <a:spLocks xmlns:a="http://schemas.openxmlformats.org/drawingml/2006/main" noGrp="1"/>
          </p:cNvSpPr>
          <p:nvPr/>
        </p:nvSpPr>
        <p:spPr>
          <a:xfrm xmlns:a="http://schemas.openxmlformats.org/drawingml/2006/main">
            <a:off x="5619750" y="2000250"/>
            <a:ext cx="2000250" cy="685800"/>
          </a:xfrm>
          <a:prstGeom xmlns:a="http://schemas.openxmlformats.org/drawingml/2006/main" prst="roundRect">
            <a:avLst>
              <a:gd name="adj" fmla="val 25000"/>
            </a:avLst>
          </a:prstGeom>
          <a:solidFill xmlns:a="http://schemas.openxmlformats.org/drawingml/2006/main">
            <a:srgbClr val="16263A"/>
          </a:solidFill>
          <a:ln xmlns:a="http://schemas.openxmlformats.org/drawingml/2006/main" w="19050">
            <a:solidFill>
              <a:srgbClr val="4EA1FF"/>
            </a:solidFill>
            <a:prstDash val="solid"/>
          </a:ln>
        </p:spPr>
      </p:sp>
      <p:sp>
        <p:nvSpPr>
          <p:cNvPr id="17" name="">
            <a:extLst xmlns:a="http://schemas.openxmlformats.org/drawingml/2006/main">
              <a:ext uri="{FF2B5EF4-FFF2-40B4-BE49-F238E27FC236}">
                <a16:creationId xmlns:a16="http://schemas.microsoft.com/office/drawing/2014/main" id="{2307B48E-C3BC-4A5E-9502-F170F6B931C0}"/>
              </a:ext>
            </a:extLst>
          </p:cNvPr>
          <p:cNvSpPr>
            <a:spLocks xmlns:a="http://schemas.openxmlformats.org/drawingml/2006/main" noGrp="1"/>
          </p:cNvSpPr>
          <p:nvPr/>
        </p:nvSpPr>
        <p:spPr>
          <a:xfrm xmlns:a="http://schemas.openxmlformats.org/drawingml/2006/main">
            <a:off x="5781675" y="2076450"/>
            <a:ext cx="1676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5F7FA"/>
                </a:solidFill>
                <a:latin typeface="Arial"/>
                <a:ea typeface="Arial"/>
                <a:cs typeface="Arial"/>
              </a:defRPr>
            </a:pPr>
            <a:r>
              <a:rPr sz="1575" b="1">
                <a:solidFill>
                  <a:srgbClr val="F5F7FA"/>
                </a:solidFill>
                <a:latin typeface="Arial"/>
                <a:ea typeface="Arial"/>
                <a:cs typeface="Arial"/>
              </a:rPr>
              <a:t>Weather bias</a:t>
            </a:r>
          </a:p>
        </p:txBody>
      </p:sp>
      <p:sp>
        <p:nvSpPr>
          <p:cNvPr id="18" name="">
            <a:extLst xmlns:a="http://schemas.openxmlformats.org/drawingml/2006/main">
              <a:ext uri="{FF2B5EF4-FFF2-40B4-BE49-F238E27FC236}">
                <a16:creationId xmlns:a16="http://schemas.microsoft.com/office/drawing/2014/main" id="{28C1B6DE-D9CE-4300-B593-C91FD58DD45D}"/>
              </a:ext>
            </a:extLst>
          </p:cNvPr>
          <p:cNvSpPr>
            <a:spLocks xmlns:a="http://schemas.openxmlformats.org/drawingml/2006/main" noGrp="1"/>
          </p:cNvSpPr>
          <p:nvPr/>
        </p:nvSpPr>
        <p:spPr>
          <a:xfrm xmlns:a="http://schemas.openxmlformats.org/drawingml/2006/main">
            <a:off x="8420100" y="2114550"/>
            <a:ext cx="457200" cy="4572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19" name="">
            <a:extLst xmlns:a="http://schemas.openxmlformats.org/drawingml/2006/main">
              <a:ext uri="{FF2B5EF4-FFF2-40B4-BE49-F238E27FC236}">
                <a16:creationId xmlns:a16="http://schemas.microsoft.com/office/drawing/2014/main" id="{09736F16-3E68-4EEA-920D-4BABF773B6EF}"/>
              </a:ext>
            </a:extLst>
          </p:cNvPr>
          <p:cNvSpPr>
            <a:spLocks xmlns:a="http://schemas.openxmlformats.org/drawingml/2006/main" noGrp="1"/>
          </p:cNvSpPr>
          <p:nvPr/>
        </p:nvSpPr>
        <p:spPr>
          <a:xfrm xmlns:a="http://schemas.openxmlformats.org/drawingml/2006/main">
            <a:off x="8420100" y="21145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0B1320"/>
                </a:solidFill>
                <a:latin typeface="Arial"/>
                <a:ea typeface="Arial"/>
                <a:cs typeface="Arial"/>
              </a:defRPr>
            </a:pPr>
            <a:r>
              <a:rPr sz="1350" b="1">
                <a:solidFill>
                  <a:srgbClr val="0B1320"/>
                </a:solidFill>
                <a:latin typeface="Arial"/>
                <a:ea typeface="Arial"/>
                <a:cs typeface="Arial"/>
              </a:rPr>
              <a:t>1</a:t>
            </a:r>
          </a:p>
        </p:txBody>
      </p:sp>
      <p:cxnSp>
        <p:nvCxnSpPr>
          <p:cNvPr id="64" name=""/>
          <p:cNvCxnSpPr>
            <a:stCxn xmlns:a="http://schemas.openxmlformats.org/drawingml/2006/main" id="16" idx="3"/>
            <a:endCxn xmlns:a="http://schemas.openxmlformats.org/drawingml/2006/main" id="18" idx="2"/>
          </p:cNvCxnSpPr>
          <p:nvPr/>
        </p:nvCxnSpPr>
        <p:spPr>
          <a:xfrm xmlns:a="http://schemas.openxmlformats.org/drawingml/2006/main">
            <a:off x="7620000" y="2343150"/>
            <a:ext cx="800100" cy="0"/>
          </a:xfrm>
          <a:prstGeom xmlns:a="http://schemas.openxmlformats.org/drawingml/2006/main" prst="straightConnector1">
            <a:avLst/>
          </a:prstGeom>
          <a:ln xmlns:a="http://schemas.openxmlformats.org/drawingml/2006/main" w="19050">
            <a:solidFill>
              <a:srgbClr val="31445D"/>
            </a:solidFill>
            <a:prstDash val="solid"/>
            <a:headEnd type="arrow" w="sm" len="sm"/>
          </a:ln>
        </p:spPr>
      </p:cxnSp>
      <p:cxnSp>
        <p:nvCxnSpPr>
          <p:cNvPr id="65" name=""/>
          <p:cNvCxnSpPr>
            <a:stCxn xmlns:a="http://schemas.openxmlformats.org/drawingml/2006/main" id="18" idx="6"/>
            <a:endCxn xmlns:a="http://schemas.openxmlformats.org/drawingml/2006/main" id="14" idx="1"/>
          </p:cNvCxnSpPr>
          <p:nvPr/>
        </p:nvCxnSpPr>
        <p:spPr>
          <a:xfrm xmlns:a="http://schemas.openxmlformats.org/drawingml/2006/main">
            <a:off x="8877300" y="2343150"/>
            <a:ext cx="1028700" cy="1085850"/>
          </a:xfrm>
          <a:prstGeom xmlns:a="http://schemas.openxmlformats.org/drawingml/2006/main" prst="straightConnector1">
            <a:avLst/>
          </a:prstGeom>
          <a:ln xmlns:a="http://schemas.openxmlformats.org/drawingml/2006/main" w="19050">
            <a:solidFill>
              <a:srgbClr val="31445D"/>
            </a:solidFill>
            <a:prstDash val="solid"/>
            <a:headEnd type="arrow" w="sm" len="sm"/>
          </a:ln>
        </p:spPr>
      </p:cxnSp>
      <p:sp>
        <p:nvSpPr>
          <p:cNvPr id="22" name="">
            <a:extLst xmlns:a="http://schemas.openxmlformats.org/drawingml/2006/main">
              <a:ext uri="{FF2B5EF4-FFF2-40B4-BE49-F238E27FC236}">
                <a16:creationId xmlns:a16="http://schemas.microsoft.com/office/drawing/2014/main" id="{C5D42330-6293-4628-BD6C-D6B84B27F9AD}"/>
              </a:ext>
            </a:extLst>
          </p:cNvPr>
          <p:cNvSpPr>
            <a:spLocks xmlns:a="http://schemas.openxmlformats.org/drawingml/2006/main" noGrp="1"/>
          </p:cNvSpPr>
          <p:nvPr/>
        </p:nvSpPr>
        <p:spPr>
          <a:xfrm xmlns:a="http://schemas.openxmlformats.org/drawingml/2006/main">
            <a:off x="5619750" y="3048000"/>
            <a:ext cx="2000250" cy="685800"/>
          </a:xfrm>
          <a:prstGeom xmlns:a="http://schemas.openxmlformats.org/drawingml/2006/main" prst="roundRect">
            <a:avLst>
              <a:gd name="adj" fmla="val 25000"/>
            </a:avLst>
          </a:prstGeom>
          <a:solidFill xmlns:a="http://schemas.openxmlformats.org/drawingml/2006/main">
            <a:srgbClr val="16263A"/>
          </a:solidFill>
          <a:ln xmlns:a="http://schemas.openxmlformats.org/drawingml/2006/main" w="19050">
            <a:solidFill>
              <a:srgbClr val="47D7D0"/>
            </a:solidFill>
            <a:prstDash val="solid"/>
          </a:ln>
        </p:spPr>
      </p:sp>
      <p:sp>
        <p:nvSpPr>
          <p:cNvPr id="23" name="">
            <a:extLst xmlns:a="http://schemas.openxmlformats.org/drawingml/2006/main">
              <a:ext uri="{FF2B5EF4-FFF2-40B4-BE49-F238E27FC236}">
                <a16:creationId xmlns:a16="http://schemas.microsoft.com/office/drawing/2014/main" id="{EE10811F-A62B-4032-A395-8AD489C8D0B3}"/>
              </a:ext>
            </a:extLst>
          </p:cNvPr>
          <p:cNvSpPr>
            <a:spLocks xmlns:a="http://schemas.openxmlformats.org/drawingml/2006/main" noGrp="1"/>
          </p:cNvSpPr>
          <p:nvPr/>
        </p:nvSpPr>
        <p:spPr>
          <a:xfrm xmlns:a="http://schemas.openxmlformats.org/drawingml/2006/main">
            <a:off x="5781675" y="3124200"/>
            <a:ext cx="1676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5F7FA"/>
                </a:solidFill>
                <a:latin typeface="Arial"/>
                <a:ea typeface="Arial"/>
                <a:cs typeface="Arial"/>
              </a:defRPr>
            </a:pPr>
            <a:r>
              <a:rPr sz="1575" b="1">
                <a:solidFill>
                  <a:srgbClr val="F5F7FA"/>
                </a:solidFill>
                <a:latin typeface="Arial"/>
                <a:ea typeface="Arial"/>
                <a:cs typeface="Arial"/>
              </a:rPr>
              <a:t>Market residual</a:t>
            </a:r>
          </a:p>
        </p:txBody>
      </p:sp>
      <p:sp>
        <p:nvSpPr>
          <p:cNvPr id="24" name="">
            <a:extLst xmlns:a="http://schemas.openxmlformats.org/drawingml/2006/main">
              <a:ext uri="{FF2B5EF4-FFF2-40B4-BE49-F238E27FC236}">
                <a16:creationId xmlns:a16="http://schemas.microsoft.com/office/drawing/2014/main" id="{C5461C5A-F1E1-438C-9EF1-10A8DABA8F75}"/>
              </a:ext>
            </a:extLst>
          </p:cNvPr>
          <p:cNvSpPr>
            <a:spLocks xmlns:a="http://schemas.openxmlformats.org/drawingml/2006/main" noGrp="1"/>
          </p:cNvSpPr>
          <p:nvPr/>
        </p:nvSpPr>
        <p:spPr>
          <a:xfrm xmlns:a="http://schemas.openxmlformats.org/drawingml/2006/main">
            <a:off x="8420100" y="3162300"/>
            <a:ext cx="457200" cy="45720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25" name="">
            <a:extLst xmlns:a="http://schemas.openxmlformats.org/drawingml/2006/main">
              <a:ext uri="{FF2B5EF4-FFF2-40B4-BE49-F238E27FC236}">
                <a16:creationId xmlns:a16="http://schemas.microsoft.com/office/drawing/2014/main" id="{60BF67E3-6255-49B8-89E7-89007971107E}"/>
              </a:ext>
            </a:extLst>
          </p:cNvPr>
          <p:cNvSpPr>
            <a:spLocks xmlns:a="http://schemas.openxmlformats.org/drawingml/2006/main" noGrp="1"/>
          </p:cNvSpPr>
          <p:nvPr/>
        </p:nvSpPr>
        <p:spPr>
          <a:xfrm xmlns:a="http://schemas.openxmlformats.org/drawingml/2006/main">
            <a:off x="8420100" y="31623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cxnSp>
        <p:nvCxnSpPr>
          <p:cNvPr id="70" name=""/>
          <p:cNvCxnSpPr>
            <a:stCxn xmlns:a="http://schemas.openxmlformats.org/drawingml/2006/main" id="22" idx="3"/>
            <a:endCxn xmlns:a="http://schemas.openxmlformats.org/drawingml/2006/main" id="24" idx="2"/>
          </p:cNvCxnSpPr>
          <p:nvPr/>
        </p:nvCxnSpPr>
        <p:spPr>
          <a:xfrm xmlns:a="http://schemas.openxmlformats.org/drawingml/2006/main">
            <a:off x="7620000" y="3390900"/>
            <a:ext cx="800100" cy="0"/>
          </a:xfrm>
          <a:prstGeom xmlns:a="http://schemas.openxmlformats.org/drawingml/2006/main" prst="straightConnector1">
            <a:avLst/>
          </a:prstGeom>
          <a:ln xmlns:a="http://schemas.openxmlformats.org/drawingml/2006/main" w="19050">
            <a:solidFill>
              <a:srgbClr val="31445D"/>
            </a:solidFill>
            <a:prstDash val="solid"/>
            <a:headEnd type="arrow" w="sm" len="sm"/>
          </a:ln>
        </p:spPr>
      </p:cxnSp>
      <p:cxnSp>
        <p:nvCxnSpPr>
          <p:cNvPr id="71" name=""/>
          <p:cNvCxnSpPr>
            <a:stCxn xmlns:a="http://schemas.openxmlformats.org/drawingml/2006/main" id="24" idx="6"/>
            <a:endCxn xmlns:a="http://schemas.openxmlformats.org/drawingml/2006/main" id="14" idx="1"/>
          </p:cNvCxnSpPr>
          <p:nvPr/>
        </p:nvCxnSpPr>
        <p:spPr>
          <a:xfrm xmlns:a="http://schemas.openxmlformats.org/drawingml/2006/main">
            <a:off x="8877300" y="3390900"/>
            <a:ext cx="1028700" cy="38100"/>
          </a:xfrm>
          <a:prstGeom xmlns:a="http://schemas.openxmlformats.org/drawingml/2006/main" prst="straightConnector1">
            <a:avLst/>
          </a:prstGeom>
          <a:ln xmlns:a="http://schemas.openxmlformats.org/drawingml/2006/main" w="19050">
            <a:solidFill>
              <a:srgbClr val="62748B"/>
            </a:solidFill>
            <a:prstDash val="dash"/>
            <a:headEnd type="arrow" w="sm" len="sm"/>
          </a:ln>
        </p:spPr>
      </p:cxnSp>
      <p:sp>
        <p:nvSpPr>
          <p:cNvPr id="28" name="">
            <a:extLst xmlns:a="http://schemas.openxmlformats.org/drawingml/2006/main">
              <a:ext uri="{FF2B5EF4-FFF2-40B4-BE49-F238E27FC236}">
                <a16:creationId xmlns:a16="http://schemas.microsoft.com/office/drawing/2014/main" id="{3EA79DE2-FD28-42D1-B538-930AD1743AE0}"/>
              </a:ext>
            </a:extLst>
          </p:cNvPr>
          <p:cNvSpPr>
            <a:spLocks xmlns:a="http://schemas.openxmlformats.org/drawingml/2006/main" noGrp="1"/>
          </p:cNvSpPr>
          <p:nvPr/>
        </p:nvSpPr>
        <p:spPr>
          <a:xfrm xmlns:a="http://schemas.openxmlformats.org/drawingml/2006/main">
            <a:off x="5619750" y="4095750"/>
            <a:ext cx="2000250" cy="685800"/>
          </a:xfrm>
          <a:prstGeom xmlns:a="http://schemas.openxmlformats.org/drawingml/2006/main" prst="roundRect">
            <a:avLst>
              <a:gd name="adj" fmla="val 25000"/>
            </a:avLst>
          </a:prstGeom>
          <a:solidFill xmlns:a="http://schemas.openxmlformats.org/drawingml/2006/main">
            <a:srgbClr val="16263A"/>
          </a:solidFill>
          <a:ln xmlns:a="http://schemas.openxmlformats.org/drawingml/2006/main" w="19050">
            <a:solidFill>
              <a:srgbClr val="F4B860"/>
            </a:solidFill>
            <a:prstDash val="solid"/>
          </a:ln>
        </p:spPr>
      </p:sp>
      <p:sp>
        <p:nvSpPr>
          <p:cNvPr id="29" name="">
            <a:extLst xmlns:a="http://schemas.openxmlformats.org/drawingml/2006/main">
              <a:ext uri="{FF2B5EF4-FFF2-40B4-BE49-F238E27FC236}">
                <a16:creationId xmlns:a16="http://schemas.microsoft.com/office/drawing/2014/main" id="{509C5861-BE76-45E8-9CBB-289DDFB17D38}"/>
              </a:ext>
            </a:extLst>
          </p:cNvPr>
          <p:cNvSpPr>
            <a:spLocks xmlns:a="http://schemas.openxmlformats.org/drawingml/2006/main" noGrp="1"/>
          </p:cNvSpPr>
          <p:nvPr/>
        </p:nvSpPr>
        <p:spPr>
          <a:xfrm xmlns:a="http://schemas.openxmlformats.org/drawingml/2006/main">
            <a:off x="5781675" y="4171950"/>
            <a:ext cx="1676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5F7FA"/>
                </a:solidFill>
                <a:latin typeface="Arial"/>
                <a:ea typeface="Arial"/>
                <a:cs typeface="Arial"/>
              </a:defRPr>
            </a:pPr>
            <a:r>
              <a:rPr sz="1575" b="1">
                <a:solidFill>
                  <a:srgbClr val="F5F7FA"/>
                </a:solidFill>
                <a:latin typeface="Arial"/>
                <a:ea typeface="Arial"/>
                <a:cs typeface="Arial"/>
              </a:rPr>
              <a:t>Selective entry</a:t>
            </a:r>
          </a:p>
        </p:txBody>
      </p:sp>
      <p:sp>
        <p:nvSpPr>
          <p:cNvPr id="30" name="">
            <a:extLst xmlns:a="http://schemas.openxmlformats.org/drawingml/2006/main">
              <a:ext uri="{FF2B5EF4-FFF2-40B4-BE49-F238E27FC236}">
                <a16:creationId xmlns:a16="http://schemas.microsoft.com/office/drawing/2014/main" id="{553C1840-2755-43FD-92BC-B549C7DA0B33}"/>
              </a:ext>
            </a:extLst>
          </p:cNvPr>
          <p:cNvSpPr>
            <a:spLocks xmlns:a="http://schemas.openxmlformats.org/drawingml/2006/main" noGrp="1"/>
          </p:cNvSpPr>
          <p:nvPr/>
        </p:nvSpPr>
        <p:spPr>
          <a:xfrm xmlns:a="http://schemas.openxmlformats.org/drawingml/2006/main">
            <a:off x="8420100" y="4210050"/>
            <a:ext cx="457200" cy="45720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31" name="">
            <a:extLst xmlns:a="http://schemas.openxmlformats.org/drawingml/2006/main">
              <a:ext uri="{FF2B5EF4-FFF2-40B4-BE49-F238E27FC236}">
                <a16:creationId xmlns:a16="http://schemas.microsoft.com/office/drawing/2014/main" id="{350043B7-8573-4699-A55D-C88866B5FFC5}"/>
              </a:ext>
            </a:extLst>
          </p:cNvPr>
          <p:cNvSpPr>
            <a:spLocks xmlns:a="http://schemas.openxmlformats.org/drawingml/2006/main" noGrp="1"/>
          </p:cNvSpPr>
          <p:nvPr/>
        </p:nvSpPr>
        <p:spPr>
          <a:xfrm xmlns:a="http://schemas.openxmlformats.org/drawingml/2006/main">
            <a:off x="8420100" y="42100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cxnSp>
        <p:nvCxnSpPr>
          <p:cNvPr id="76" name=""/>
          <p:cNvCxnSpPr>
            <a:stCxn xmlns:a="http://schemas.openxmlformats.org/drawingml/2006/main" id="28" idx="3"/>
            <a:endCxn xmlns:a="http://schemas.openxmlformats.org/drawingml/2006/main" id="30" idx="2"/>
          </p:cNvCxnSpPr>
          <p:nvPr/>
        </p:nvCxnSpPr>
        <p:spPr>
          <a:xfrm xmlns:a="http://schemas.openxmlformats.org/drawingml/2006/main">
            <a:off x="7620000" y="4438650"/>
            <a:ext cx="800100" cy="0"/>
          </a:xfrm>
          <a:prstGeom xmlns:a="http://schemas.openxmlformats.org/drawingml/2006/main" prst="straightConnector1">
            <a:avLst/>
          </a:prstGeom>
          <a:ln xmlns:a="http://schemas.openxmlformats.org/drawingml/2006/main" w="19050">
            <a:solidFill>
              <a:srgbClr val="31445D"/>
            </a:solidFill>
            <a:prstDash val="solid"/>
            <a:headEnd type="arrow" w="sm" len="sm"/>
          </a:ln>
        </p:spPr>
      </p:cxnSp>
      <p:cxnSp>
        <p:nvCxnSpPr>
          <p:cNvPr id="77" name=""/>
          <p:cNvCxnSpPr>
            <a:stCxn xmlns:a="http://schemas.openxmlformats.org/drawingml/2006/main" id="30" idx="6"/>
            <a:endCxn xmlns:a="http://schemas.openxmlformats.org/drawingml/2006/main" id="14" idx="1"/>
          </p:cNvCxnSpPr>
          <p:nvPr/>
        </p:nvCxnSpPr>
        <p:spPr>
          <a:xfrm xmlns:a="http://schemas.openxmlformats.org/drawingml/2006/main" flipV="1">
            <a:off x="8877300" y="3429000"/>
            <a:ext cx="1028700" cy="1009650"/>
          </a:xfrm>
          <a:prstGeom xmlns:a="http://schemas.openxmlformats.org/drawingml/2006/main" prst="straightConnector1">
            <a:avLst/>
          </a:prstGeom>
          <a:ln xmlns:a="http://schemas.openxmlformats.org/drawingml/2006/main" w="19050">
            <a:solidFill>
              <a:srgbClr val="62748B"/>
            </a:solidFill>
            <a:prstDash val="dash"/>
            <a:headEnd type="arrow" w="sm" len="sm"/>
          </a:ln>
        </p:spPr>
      </p:cxnSp>
      <p:sp>
        <p:nvSpPr>
          <p:cNvPr id="34" name="">
            <a:extLst xmlns:a="http://schemas.openxmlformats.org/drawingml/2006/main">
              <a:ext uri="{FF2B5EF4-FFF2-40B4-BE49-F238E27FC236}">
                <a16:creationId xmlns:a16="http://schemas.microsoft.com/office/drawing/2014/main" id="{CAA317A8-4E4E-4A53-852D-5565D92B1838}"/>
              </a:ext>
            </a:extLst>
          </p:cNvPr>
          <p:cNvSpPr>
            <a:spLocks xmlns:a="http://schemas.openxmlformats.org/drawingml/2006/main" noGrp="1"/>
          </p:cNvSpPr>
          <p:nvPr/>
        </p:nvSpPr>
        <p:spPr>
          <a:xfrm xmlns:a="http://schemas.openxmlformats.org/drawingml/2006/main">
            <a:off x="5657850" y="5981700"/>
            <a:ext cx="4876800" cy="0"/>
          </a:xfrm>
          <a:prstGeom xmlns:a="http://schemas.openxmlformats.org/drawingml/2006/main" prst="line">
            <a:avLst/>
          </a:prstGeom>
          <a:noFill xmlns:a="http://schemas.openxmlformats.org/drawingml/2006/main"/>
          <a:ln xmlns:a="http://schemas.openxmlformats.org/drawingml/2006/main" w="38100">
            <a:solidFill>
              <a:srgbClr val="31445D"/>
            </a:solidFill>
            <a:prstDash val="solid"/>
          </a:ln>
        </p:spPr>
      </p:sp>
      <p:sp>
        <p:nvSpPr>
          <p:cNvPr id="35" name="">
            <a:extLst xmlns:a="http://schemas.openxmlformats.org/drawingml/2006/main">
              <a:ext uri="{FF2B5EF4-FFF2-40B4-BE49-F238E27FC236}">
                <a16:creationId xmlns:a16="http://schemas.microsoft.com/office/drawing/2014/main" id="{22E1D7E0-85EF-456F-8740-D78E2A8ADBF4}"/>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6" name="">
            <a:extLst xmlns:a="http://schemas.openxmlformats.org/drawingml/2006/main">
              <a:ext uri="{FF2B5EF4-FFF2-40B4-BE49-F238E27FC236}">
                <a16:creationId xmlns:a16="http://schemas.microsoft.com/office/drawing/2014/main" id="{3EE7489D-9D18-44AF-AAE2-9F5C7FDF7965}"/>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V1</a:t>
            </a:r>
          </a:p>
        </p:txBody>
      </p:sp>
      <p:sp>
        <p:nvSpPr>
          <p:cNvPr id="37" name="">
            <a:extLst xmlns:a="http://schemas.openxmlformats.org/drawingml/2006/main">
              <a:ext uri="{FF2B5EF4-FFF2-40B4-BE49-F238E27FC236}">
                <a16:creationId xmlns:a16="http://schemas.microsoft.com/office/drawing/2014/main" id="{6231C757-08EC-4386-AA62-190B0B0AA7FD}"/>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38" name="">
            <a:extLst xmlns:a="http://schemas.openxmlformats.org/drawingml/2006/main">
              <a:ext uri="{FF2B5EF4-FFF2-40B4-BE49-F238E27FC236}">
                <a16:creationId xmlns:a16="http://schemas.microsoft.com/office/drawing/2014/main" id="{8A2A8222-3EB7-4BFD-8AAB-1CEA3CA05B6F}"/>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V2</a:t>
            </a:r>
          </a:p>
        </p:txBody>
      </p:sp>
      <p:sp>
        <p:nvSpPr>
          <p:cNvPr id="39" name="">
            <a:extLst xmlns:a="http://schemas.openxmlformats.org/drawingml/2006/main">
              <a:ext uri="{FF2B5EF4-FFF2-40B4-BE49-F238E27FC236}">
                <a16:creationId xmlns:a16="http://schemas.microsoft.com/office/drawing/2014/main" id="{7C32471E-D4E8-4279-8679-296134B7E631}"/>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40" name="">
            <a:extLst xmlns:a="http://schemas.openxmlformats.org/drawingml/2006/main">
              <a:ext uri="{FF2B5EF4-FFF2-40B4-BE49-F238E27FC236}">
                <a16:creationId xmlns:a16="http://schemas.microsoft.com/office/drawing/2014/main" id="{7503DFD0-6D96-4122-A9CC-FCE3C5AAFB23}"/>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V3</a:t>
            </a:r>
          </a:p>
        </p:txBody>
      </p:sp>
      <p:sp>
        <p:nvSpPr>
          <p:cNvPr id="41" name="">
            <a:extLst xmlns:a="http://schemas.openxmlformats.org/drawingml/2006/main">
              <a:ext uri="{FF2B5EF4-FFF2-40B4-BE49-F238E27FC236}">
                <a16:creationId xmlns:a16="http://schemas.microsoft.com/office/drawing/2014/main" id="{1104BCC7-0019-4554-B614-19A813E73478}"/>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42" name="">
            <a:extLst xmlns:a="http://schemas.openxmlformats.org/drawingml/2006/main">
              <a:ext uri="{FF2B5EF4-FFF2-40B4-BE49-F238E27FC236}">
                <a16:creationId xmlns:a16="http://schemas.microsoft.com/office/drawing/2014/main" id="{DDFBE4EB-C770-477A-9789-BC584326AFC4}"/>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a:t>
            </a:r>
          </a:p>
        </p:txBody>
      </p:sp>
      <p:sp>
        <p:nvSpPr>
          <p:cNvPr id="43" name="">
            <a:extLst xmlns:a="http://schemas.openxmlformats.org/drawingml/2006/main">
              <a:ext uri="{FF2B5EF4-FFF2-40B4-BE49-F238E27FC236}">
                <a16:creationId xmlns:a16="http://schemas.microsoft.com/office/drawing/2014/main" id="{32993FF4-27CB-4C53-89C2-03F7A1E9B0A9}"/>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44" name="">
            <a:extLst xmlns:a="http://schemas.openxmlformats.org/drawingml/2006/main">
              <a:ext uri="{FF2B5EF4-FFF2-40B4-BE49-F238E27FC236}">
                <a16:creationId xmlns:a16="http://schemas.microsoft.com/office/drawing/2014/main" id="{5E302C05-FB63-482C-A073-2435488646D7}"/>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V4.1</a:t>
            </a:r>
          </a:p>
        </p:txBody>
      </p:sp>
    </p:spTree>
    <p:extLst>
      <p:ext uri="{BB962C8B-B14F-4D97-AF65-F5344CB8AC3E}">
        <p14:creationId xmlns:p14="http://schemas.microsoft.com/office/powerpoint/2010/main" val="653147859"/>
      </p:ext>
    </p:extLst>
  </p:cSld>
</p:sld>
</file>

<file path=ppt/slides/slide4.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FED2D7F-0D7C-4182-AD5E-887CC2CFD8B5}"/>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SWARM REDESIGN</a:t>
            </a:r>
          </a:p>
        </p:txBody>
      </p:sp>
      <p:sp>
        <p:nvSpPr>
          <p:cNvPr id="2" name="">
            <a:extLst xmlns:a="http://schemas.openxmlformats.org/drawingml/2006/main">
              <a:ext uri="{FF2B5EF4-FFF2-40B4-BE49-F238E27FC236}">
                <a16:creationId xmlns:a16="http://schemas.microsoft.com/office/drawing/2014/main" id="{6F0E6B58-C545-447A-8CD9-6C9B4AD2D9A5}"/>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V2: make the swarm iterate</a:t>
            </a:r>
          </a:p>
        </p:txBody>
      </p:sp>
      <p:sp>
        <p:nvSpPr>
          <p:cNvPr id="3" name="">
            <a:extLst xmlns:a="http://schemas.openxmlformats.org/drawingml/2006/main">
              <a:ext uri="{FF2B5EF4-FFF2-40B4-BE49-F238E27FC236}">
                <a16:creationId xmlns:a16="http://schemas.microsoft.com/office/drawing/2014/main" id="{57A04FB8-2585-4B11-9974-DB07BB26F87A}"/>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BC657DF2-959B-4C14-A61E-6CCF4620D23E}"/>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0CDAD2FE-FB27-4788-B8D3-C8FF8D37BA62}"/>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06B1122D-B5ED-44EE-A140-1B5042955085}"/>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248B2400-7D70-4E6A-B918-094B733F3C53}"/>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6 specialized colonies</a:t>
            </a:r>
          </a:p>
        </p:txBody>
      </p:sp>
      <p:sp>
        <p:nvSpPr>
          <p:cNvPr id="8" name="">
            <a:extLst xmlns:a="http://schemas.openxmlformats.org/drawingml/2006/main">
              <a:ext uri="{FF2B5EF4-FFF2-40B4-BE49-F238E27FC236}">
                <a16:creationId xmlns:a16="http://schemas.microsoft.com/office/drawing/2014/main" id="{E3024D0B-812A-4008-8766-53D10B886C8C}"/>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70DF5772-13BC-4B3E-8023-68C700AE8DF7}"/>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40 candidates • 4 productive epochs</a:t>
            </a:r>
          </a:p>
        </p:txBody>
      </p:sp>
      <p:sp>
        <p:nvSpPr>
          <p:cNvPr id="10" name="">
            <a:extLst xmlns:a="http://schemas.openxmlformats.org/drawingml/2006/main">
              <a:ext uri="{FF2B5EF4-FFF2-40B4-BE49-F238E27FC236}">
                <a16:creationId xmlns:a16="http://schemas.microsoft.com/office/drawing/2014/main" id="{764ACA99-5383-48CE-B005-54CB04D6D8FB}"/>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8B2E1F8-1185-4295-91E3-0FEFF814BF7B}"/>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Best result: −0.29%</a:t>
            </a:r>
          </a:p>
        </p:txBody>
      </p:sp>
      <p:sp>
        <p:nvSpPr>
          <p:cNvPr id="12" name="">
            <a:extLst xmlns:a="http://schemas.openxmlformats.org/drawingml/2006/main">
              <a:ext uri="{FF2B5EF4-FFF2-40B4-BE49-F238E27FC236}">
                <a16:creationId xmlns:a16="http://schemas.microsoft.com/office/drawing/2014/main" id="{6E7C86CB-C0F1-4F16-8C32-63043CE89BBF}"/>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87C93A36-098F-4819-9BA4-0803D67BFA7B}"/>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The architecture now iterated, but it still did not find an economic edge.</a:t>
            </a:r>
          </a:p>
        </p:txBody>
      </p:sp>
      <p:sp>
        <p:nvSpPr>
          <p:cNvPr id="14" name="">
            <a:extLst xmlns:a="http://schemas.openxmlformats.org/drawingml/2006/main">
              <a:ext uri="{FF2B5EF4-FFF2-40B4-BE49-F238E27FC236}">
                <a16:creationId xmlns:a16="http://schemas.microsoft.com/office/drawing/2014/main" id="{09FA2398-A58A-43CD-A62A-37133A9307DF}"/>
              </a:ext>
            </a:extLst>
          </p:cNvPr>
          <p:cNvSpPr>
            <a:spLocks xmlns:a="http://schemas.openxmlformats.org/drawingml/2006/main" noGrp="1"/>
          </p:cNvSpPr>
          <p:nvPr/>
        </p:nvSpPr>
        <p:spPr>
          <a:xfrm xmlns:a="http://schemas.openxmlformats.org/drawingml/2006/main">
            <a:off x="7972425" y="2724150"/>
            <a:ext cx="1162050" cy="1162050"/>
          </a:xfrm>
          <a:prstGeom xmlns:a="http://schemas.openxmlformats.org/drawingml/2006/main" prst="ellipse">
            <a:avLst/>
          </a:prstGeom>
          <a:solidFill xmlns:a="http://schemas.openxmlformats.org/drawingml/2006/main">
            <a:srgbClr val="16263A"/>
          </a:solidFill>
          <a:ln xmlns:a="http://schemas.openxmlformats.org/drawingml/2006/main" w="28575">
            <a:solidFill>
              <a:srgbClr val="4DD28A"/>
            </a:solidFill>
            <a:prstDash val="solid"/>
          </a:ln>
        </p:spPr>
      </p:sp>
      <p:sp>
        <p:nvSpPr>
          <p:cNvPr id="15" name="">
            <a:extLst xmlns:a="http://schemas.openxmlformats.org/drawingml/2006/main">
              <a:ext uri="{FF2B5EF4-FFF2-40B4-BE49-F238E27FC236}">
                <a16:creationId xmlns:a16="http://schemas.microsoft.com/office/drawing/2014/main" id="{C184C71F-CF45-4CD8-8A00-DEA87AAB175A}"/>
              </a:ext>
            </a:extLst>
          </p:cNvPr>
          <p:cNvSpPr>
            <a:spLocks xmlns:a="http://schemas.openxmlformats.org/drawingml/2006/main" noGrp="1"/>
          </p:cNvSpPr>
          <p:nvPr/>
        </p:nvSpPr>
        <p:spPr>
          <a:xfrm xmlns:a="http://schemas.openxmlformats.org/drawingml/2006/main">
            <a:off x="7972425" y="2724150"/>
            <a:ext cx="11620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SYNTHESIZE</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 CRITIC</a:t>
            </a:r>
          </a:p>
        </p:txBody>
      </p:sp>
      <p:sp>
        <p:nvSpPr>
          <p:cNvPr id="16" name="">
            <a:extLst xmlns:a="http://schemas.openxmlformats.org/drawingml/2006/main">
              <a:ext uri="{FF2B5EF4-FFF2-40B4-BE49-F238E27FC236}">
                <a16:creationId xmlns:a16="http://schemas.microsoft.com/office/drawing/2014/main" id="{B2DFB55F-87F2-4A6A-A47E-340229FBB06E}"/>
              </a:ext>
            </a:extLst>
          </p:cNvPr>
          <p:cNvSpPr>
            <a:spLocks xmlns:a="http://schemas.openxmlformats.org/drawingml/2006/main" noGrp="1"/>
          </p:cNvSpPr>
          <p:nvPr/>
        </p:nvSpPr>
        <p:spPr>
          <a:xfrm xmlns:a="http://schemas.openxmlformats.org/drawingml/2006/main">
            <a:off x="6553200" y="1905000"/>
            <a:ext cx="838200" cy="83820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7" name="">
            <a:extLst xmlns:a="http://schemas.openxmlformats.org/drawingml/2006/main">
              <a:ext uri="{FF2B5EF4-FFF2-40B4-BE49-F238E27FC236}">
                <a16:creationId xmlns:a16="http://schemas.microsoft.com/office/drawing/2014/main" id="{05CA388A-5AE4-4773-ADB3-280666FF15DD}"/>
              </a:ext>
            </a:extLst>
          </p:cNvPr>
          <p:cNvSpPr>
            <a:spLocks xmlns:a="http://schemas.openxmlformats.org/drawingml/2006/main" noGrp="1"/>
          </p:cNvSpPr>
          <p:nvPr/>
        </p:nvSpPr>
        <p:spPr>
          <a:xfrm xmlns:a="http://schemas.openxmlformats.org/drawingml/2006/main">
            <a:off x="6553200" y="1905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Forecast</a:t>
            </a:r>
          </a:p>
        </p:txBody>
      </p:sp>
      <p:cxnSp>
        <p:nvCxnSpPr>
          <p:cNvPr id="52" name=""/>
          <p:cNvCxnSpPr>
            <a:stCxn xmlns:a="http://schemas.openxmlformats.org/drawingml/2006/main" id="16" idx="5"/>
            <a:endCxn xmlns:a="http://schemas.openxmlformats.org/drawingml/2006/main" id="14" idx="1"/>
          </p:cNvCxnSpPr>
          <p:nvPr/>
        </p:nvCxnSpPr>
        <p:spPr>
          <a:xfrm xmlns:a="http://schemas.openxmlformats.org/drawingml/2006/main">
            <a:off x="7268648" y="2620448"/>
            <a:ext cx="873955" cy="273880"/>
          </a:xfrm>
          <a:prstGeom xmlns:a="http://schemas.openxmlformats.org/drawingml/2006/main" prst="straightConnector1">
            <a:avLst/>
          </a:prstGeom>
          <a:ln xmlns:a="http://schemas.openxmlformats.org/drawingml/2006/main" w="14288">
            <a:solidFill>
              <a:srgbClr val="31445D"/>
            </a:solidFill>
            <a:prstDash val="solid"/>
          </a:ln>
        </p:spPr>
      </p:cxnSp>
      <p:sp>
        <p:nvSpPr>
          <p:cNvPr id="19" name="">
            <a:extLst xmlns:a="http://schemas.openxmlformats.org/drawingml/2006/main">
              <a:ext uri="{FF2B5EF4-FFF2-40B4-BE49-F238E27FC236}">
                <a16:creationId xmlns:a16="http://schemas.microsoft.com/office/drawing/2014/main" id="{6F950F20-EACB-4512-BCFC-8CF8C0815DF7}"/>
              </a:ext>
            </a:extLst>
          </p:cNvPr>
          <p:cNvSpPr>
            <a:spLocks xmlns:a="http://schemas.openxmlformats.org/drawingml/2006/main" noGrp="1"/>
          </p:cNvSpPr>
          <p:nvPr/>
        </p:nvSpPr>
        <p:spPr>
          <a:xfrm xmlns:a="http://schemas.openxmlformats.org/drawingml/2006/main">
            <a:off x="8229600" y="1581150"/>
            <a:ext cx="838200" cy="83820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0" name="">
            <a:extLst xmlns:a="http://schemas.openxmlformats.org/drawingml/2006/main">
              <a:ext uri="{FF2B5EF4-FFF2-40B4-BE49-F238E27FC236}">
                <a16:creationId xmlns:a16="http://schemas.microsoft.com/office/drawing/2014/main" id="{7D3118E4-D2A2-4CC3-98A8-31F86182473C}"/>
              </a:ext>
            </a:extLst>
          </p:cNvPr>
          <p:cNvSpPr>
            <a:spLocks xmlns:a="http://schemas.openxmlformats.org/drawingml/2006/main" noGrp="1"/>
          </p:cNvSpPr>
          <p:nvPr/>
        </p:nvSpPr>
        <p:spPr>
          <a:xfrm xmlns:a="http://schemas.openxmlformats.org/drawingml/2006/main">
            <a:off x="8229600" y="158115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Calibration</a:t>
            </a:r>
          </a:p>
        </p:txBody>
      </p:sp>
      <p:cxnSp>
        <p:nvCxnSpPr>
          <p:cNvPr id="55" name=""/>
          <p:cNvCxnSpPr>
            <a:stCxn xmlns:a="http://schemas.openxmlformats.org/drawingml/2006/main" id="19" idx="4"/>
            <a:endCxn xmlns:a="http://schemas.openxmlformats.org/drawingml/2006/main" id="14" idx="0"/>
          </p:cNvCxnSpPr>
          <p:nvPr/>
        </p:nvCxnSpPr>
        <p:spPr>
          <a:xfrm xmlns:a="http://schemas.openxmlformats.org/drawingml/2006/main" flipH="1">
            <a:off x="8553450" y="2419350"/>
            <a:ext cx="95250" cy="304800"/>
          </a:xfrm>
          <a:prstGeom xmlns:a="http://schemas.openxmlformats.org/drawingml/2006/main" prst="straightConnector1">
            <a:avLst/>
          </a:prstGeom>
          <a:ln xmlns:a="http://schemas.openxmlformats.org/drawingml/2006/main" w="14288">
            <a:solidFill>
              <a:srgbClr val="31445D"/>
            </a:solidFill>
            <a:prstDash val="solid"/>
          </a:ln>
        </p:spPr>
      </p:cxnSp>
      <p:sp>
        <p:nvSpPr>
          <p:cNvPr id="22" name="">
            <a:extLst xmlns:a="http://schemas.openxmlformats.org/drawingml/2006/main">
              <a:ext uri="{FF2B5EF4-FFF2-40B4-BE49-F238E27FC236}">
                <a16:creationId xmlns:a16="http://schemas.microsoft.com/office/drawing/2014/main" id="{D4F84EA7-7A8B-4C00-97C1-1EECFCA68A2A}"/>
              </a:ext>
            </a:extLst>
          </p:cNvPr>
          <p:cNvSpPr>
            <a:spLocks xmlns:a="http://schemas.openxmlformats.org/drawingml/2006/main" noGrp="1"/>
          </p:cNvSpPr>
          <p:nvPr/>
        </p:nvSpPr>
        <p:spPr>
          <a:xfrm xmlns:a="http://schemas.openxmlformats.org/drawingml/2006/main">
            <a:off x="9810750" y="2038350"/>
            <a:ext cx="838200" cy="83820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23" name="">
            <a:extLst xmlns:a="http://schemas.openxmlformats.org/drawingml/2006/main">
              <a:ext uri="{FF2B5EF4-FFF2-40B4-BE49-F238E27FC236}">
                <a16:creationId xmlns:a16="http://schemas.microsoft.com/office/drawing/2014/main" id="{B23A599E-5EFB-4E16-BA33-882BE776C05E}"/>
              </a:ext>
            </a:extLst>
          </p:cNvPr>
          <p:cNvSpPr>
            <a:spLocks xmlns:a="http://schemas.openxmlformats.org/drawingml/2006/main" noGrp="1"/>
          </p:cNvSpPr>
          <p:nvPr/>
        </p:nvSpPr>
        <p:spPr>
          <a:xfrm xmlns:a="http://schemas.openxmlformats.org/drawingml/2006/main">
            <a:off x="9810750" y="203835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Market</a:t>
            </a:r>
          </a:p>
        </p:txBody>
      </p:sp>
      <p:cxnSp>
        <p:nvCxnSpPr>
          <p:cNvPr id="58" name=""/>
          <p:cNvCxnSpPr>
            <a:stCxn xmlns:a="http://schemas.openxmlformats.org/drawingml/2006/main" id="22" idx="2"/>
            <a:endCxn xmlns:a="http://schemas.openxmlformats.org/drawingml/2006/main" id="14" idx="7"/>
          </p:cNvCxnSpPr>
          <p:nvPr/>
        </p:nvCxnSpPr>
        <p:spPr>
          <a:xfrm xmlns:a="http://schemas.openxmlformats.org/drawingml/2006/main" flipH="1">
            <a:off x="8964297" y="2457450"/>
            <a:ext cx="846453" cy="436878"/>
          </a:xfrm>
          <a:prstGeom xmlns:a="http://schemas.openxmlformats.org/drawingml/2006/main" prst="straightConnector1">
            <a:avLst/>
          </a:prstGeom>
          <a:ln xmlns:a="http://schemas.openxmlformats.org/drawingml/2006/main" w="14288">
            <a:solidFill>
              <a:srgbClr val="31445D"/>
            </a:solidFill>
            <a:prstDash val="solid"/>
          </a:ln>
        </p:spPr>
      </p:cxnSp>
      <p:sp>
        <p:nvSpPr>
          <p:cNvPr id="25" name="">
            <a:extLst xmlns:a="http://schemas.openxmlformats.org/drawingml/2006/main">
              <a:ext uri="{FF2B5EF4-FFF2-40B4-BE49-F238E27FC236}">
                <a16:creationId xmlns:a16="http://schemas.microsoft.com/office/drawing/2014/main" id="{D77A42C4-3B41-4914-9686-F2C9CEC2E13C}"/>
              </a:ext>
            </a:extLst>
          </p:cNvPr>
          <p:cNvSpPr>
            <a:spLocks xmlns:a="http://schemas.openxmlformats.org/drawingml/2006/main" noGrp="1"/>
          </p:cNvSpPr>
          <p:nvPr/>
        </p:nvSpPr>
        <p:spPr>
          <a:xfrm xmlns:a="http://schemas.openxmlformats.org/drawingml/2006/main">
            <a:off x="9810750" y="3810000"/>
            <a:ext cx="838200" cy="83820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26" name="">
            <a:extLst xmlns:a="http://schemas.openxmlformats.org/drawingml/2006/main">
              <a:ext uri="{FF2B5EF4-FFF2-40B4-BE49-F238E27FC236}">
                <a16:creationId xmlns:a16="http://schemas.microsoft.com/office/drawing/2014/main" id="{3BF5C030-C9C1-4938-85BC-F9114FF4E0BC}"/>
              </a:ext>
            </a:extLst>
          </p:cNvPr>
          <p:cNvSpPr>
            <a:spLocks xmlns:a="http://schemas.openxmlformats.org/drawingml/2006/main" noGrp="1"/>
          </p:cNvSpPr>
          <p:nvPr/>
        </p:nvSpPr>
        <p:spPr>
          <a:xfrm xmlns:a="http://schemas.openxmlformats.org/drawingml/2006/main">
            <a:off x="9810750" y="3810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Execution</a:t>
            </a:r>
          </a:p>
        </p:txBody>
      </p:sp>
      <p:cxnSp>
        <p:nvCxnSpPr>
          <p:cNvPr id="61" name=""/>
          <p:cNvCxnSpPr>
            <a:stCxn xmlns:a="http://schemas.openxmlformats.org/drawingml/2006/main" id="25" idx="2"/>
            <a:endCxn xmlns:a="http://schemas.openxmlformats.org/drawingml/2006/main" id="14" idx="5"/>
          </p:cNvCxnSpPr>
          <p:nvPr/>
        </p:nvCxnSpPr>
        <p:spPr>
          <a:xfrm xmlns:a="http://schemas.openxmlformats.org/drawingml/2006/main" flipH="1" flipV="1">
            <a:off x="8964297" y="3716022"/>
            <a:ext cx="846453" cy="513078"/>
          </a:xfrm>
          <a:prstGeom xmlns:a="http://schemas.openxmlformats.org/drawingml/2006/main" prst="straightConnector1">
            <a:avLst/>
          </a:prstGeom>
          <a:ln xmlns:a="http://schemas.openxmlformats.org/drawingml/2006/main" w="14288">
            <a:solidFill>
              <a:srgbClr val="31445D"/>
            </a:solidFill>
            <a:prstDash val="solid"/>
          </a:ln>
        </p:spPr>
      </p:cxnSp>
      <p:sp>
        <p:nvSpPr>
          <p:cNvPr id="28" name="">
            <a:extLst xmlns:a="http://schemas.openxmlformats.org/drawingml/2006/main">
              <a:ext uri="{FF2B5EF4-FFF2-40B4-BE49-F238E27FC236}">
                <a16:creationId xmlns:a16="http://schemas.microsoft.com/office/drawing/2014/main" id="{4F78B4A4-C3A8-41B8-AF10-35C7266DBD2B}"/>
              </a:ext>
            </a:extLst>
          </p:cNvPr>
          <p:cNvSpPr>
            <a:spLocks xmlns:a="http://schemas.openxmlformats.org/drawingml/2006/main" noGrp="1"/>
          </p:cNvSpPr>
          <p:nvPr/>
        </p:nvSpPr>
        <p:spPr>
          <a:xfrm xmlns:a="http://schemas.openxmlformats.org/drawingml/2006/main">
            <a:off x="8229600" y="4305300"/>
            <a:ext cx="838200" cy="83820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29" name="">
            <a:extLst xmlns:a="http://schemas.openxmlformats.org/drawingml/2006/main">
              <a:ext uri="{FF2B5EF4-FFF2-40B4-BE49-F238E27FC236}">
                <a16:creationId xmlns:a16="http://schemas.microsoft.com/office/drawing/2014/main" id="{1C5FE667-488E-4F96-8B5C-E1E6B47CCB35}"/>
              </a:ext>
            </a:extLst>
          </p:cNvPr>
          <p:cNvSpPr>
            <a:spLocks xmlns:a="http://schemas.openxmlformats.org/drawingml/2006/main" noGrp="1"/>
          </p:cNvSpPr>
          <p:nvPr/>
        </p:nvSpPr>
        <p:spPr>
          <a:xfrm xmlns:a="http://schemas.openxmlformats.org/drawingml/2006/main">
            <a:off x="8229600" y="43053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Regimes</a:t>
            </a:r>
          </a:p>
        </p:txBody>
      </p:sp>
      <p:cxnSp>
        <p:nvCxnSpPr>
          <p:cNvPr id="64" name=""/>
          <p:cNvCxnSpPr>
            <a:stCxn xmlns:a="http://schemas.openxmlformats.org/drawingml/2006/main" id="28" idx="0"/>
            <a:endCxn xmlns:a="http://schemas.openxmlformats.org/drawingml/2006/main" id="14" idx="4"/>
          </p:cNvCxnSpPr>
          <p:nvPr/>
        </p:nvCxnSpPr>
        <p:spPr>
          <a:xfrm xmlns:a="http://schemas.openxmlformats.org/drawingml/2006/main" flipH="1" flipV="1">
            <a:off x="8553450" y="3886200"/>
            <a:ext cx="95250" cy="419100"/>
          </a:xfrm>
          <a:prstGeom xmlns:a="http://schemas.openxmlformats.org/drawingml/2006/main" prst="straightConnector1">
            <a:avLst/>
          </a:prstGeom>
          <a:ln xmlns:a="http://schemas.openxmlformats.org/drawingml/2006/main" w="14288">
            <a:solidFill>
              <a:srgbClr val="31445D"/>
            </a:solidFill>
            <a:prstDash val="solid"/>
          </a:ln>
        </p:spPr>
      </p:cxnSp>
      <p:sp>
        <p:nvSpPr>
          <p:cNvPr id="31" name="">
            <a:extLst xmlns:a="http://schemas.openxmlformats.org/drawingml/2006/main">
              <a:ext uri="{FF2B5EF4-FFF2-40B4-BE49-F238E27FC236}">
                <a16:creationId xmlns:a16="http://schemas.microsoft.com/office/drawing/2014/main" id="{3EC6F352-BA02-470E-B8C6-604F2FF91123}"/>
              </a:ext>
            </a:extLst>
          </p:cNvPr>
          <p:cNvSpPr>
            <a:spLocks xmlns:a="http://schemas.openxmlformats.org/drawingml/2006/main" noGrp="1"/>
          </p:cNvSpPr>
          <p:nvPr/>
        </p:nvSpPr>
        <p:spPr>
          <a:xfrm xmlns:a="http://schemas.openxmlformats.org/drawingml/2006/main">
            <a:off x="6553200" y="3810000"/>
            <a:ext cx="838200" cy="838200"/>
          </a:xfrm>
          <a:prstGeom xmlns:a="http://schemas.openxmlformats.org/drawingml/2006/main" prst="ellipse">
            <a:avLst/>
          </a:prstGeom>
          <a:solidFill xmlns:a="http://schemas.openxmlformats.org/drawingml/2006/main">
            <a:srgbClr val="FF6B6B"/>
          </a:solidFill>
          <a:ln xmlns:a="http://schemas.openxmlformats.org/drawingml/2006/main" w="19050">
            <a:solidFill>
              <a:srgbClr val="FF6B6B"/>
            </a:solidFill>
            <a:prstDash val="solid"/>
          </a:ln>
        </p:spPr>
      </p:sp>
      <p:sp>
        <p:nvSpPr>
          <p:cNvPr id="32" name="">
            <a:extLst xmlns:a="http://schemas.openxmlformats.org/drawingml/2006/main">
              <a:ext uri="{FF2B5EF4-FFF2-40B4-BE49-F238E27FC236}">
                <a16:creationId xmlns:a16="http://schemas.microsoft.com/office/drawing/2014/main" id="{CBB507AE-6A24-4F32-B360-BCB608B89E09}"/>
              </a:ext>
            </a:extLst>
          </p:cNvPr>
          <p:cNvSpPr>
            <a:spLocks xmlns:a="http://schemas.openxmlformats.org/drawingml/2006/main" noGrp="1"/>
          </p:cNvSpPr>
          <p:nvPr/>
        </p:nvSpPr>
        <p:spPr>
          <a:xfrm xmlns:a="http://schemas.openxmlformats.org/drawingml/2006/main">
            <a:off x="6553200" y="3810000"/>
            <a:ext cx="838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 b="1">
                <a:solidFill>
                  <a:srgbClr val="0B1320"/>
                </a:solidFill>
                <a:latin typeface="Arial"/>
                <a:ea typeface="Arial"/>
                <a:cs typeface="Arial"/>
              </a:defRPr>
            </a:pPr>
            <a:r>
              <a:rPr sz="1125" b="1">
                <a:solidFill>
                  <a:srgbClr val="0B1320"/>
                </a:solidFill>
                <a:latin typeface="Arial"/>
                <a:ea typeface="Arial"/>
                <a:cs typeface="Arial"/>
              </a:rPr>
              <a:t>Adversary</a:t>
            </a:r>
          </a:p>
        </p:txBody>
      </p:sp>
      <p:cxnSp>
        <p:nvCxnSpPr>
          <p:cNvPr id="67" name=""/>
          <p:cNvCxnSpPr>
            <a:stCxn xmlns:a="http://schemas.openxmlformats.org/drawingml/2006/main" id="31" idx="7"/>
            <a:endCxn xmlns:a="http://schemas.openxmlformats.org/drawingml/2006/main" id="14" idx="3"/>
          </p:cNvCxnSpPr>
          <p:nvPr/>
        </p:nvCxnSpPr>
        <p:spPr>
          <a:xfrm xmlns:a="http://schemas.openxmlformats.org/drawingml/2006/main" flipV="1">
            <a:off x="7268648" y="3716022"/>
            <a:ext cx="873955" cy="216730"/>
          </a:xfrm>
          <a:prstGeom xmlns:a="http://schemas.openxmlformats.org/drawingml/2006/main" prst="straightConnector1">
            <a:avLst/>
          </a:prstGeom>
          <a:ln xmlns:a="http://schemas.openxmlformats.org/drawingml/2006/main" w="14288">
            <a:solidFill>
              <a:srgbClr val="31445D"/>
            </a:solidFill>
            <a:prstDash val="solid"/>
          </a:ln>
        </p:spPr>
      </p:cxnSp>
      <p:sp>
        <p:nvSpPr>
          <p:cNvPr id="34" name="">
            <a:extLst xmlns:a="http://schemas.openxmlformats.org/drawingml/2006/main">
              <a:ext uri="{FF2B5EF4-FFF2-40B4-BE49-F238E27FC236}">
                <a16:creationId xmlns:a16="http://schemas.microsoft.com/office/drawing/2014/main" id="{9BC9AACF-B567-47DD-8490-C12D7CE7D82B}"/>
              </a:ext>
            </a:extLst>
          </p:cNvPr>
          <p:cNvSpPr>
            <a:spLocks xmlns:a="http://schemas.openxmlformats.org/drawingml/2006/main" noGrp="1"/>
          </p:cNvSpPr>
          <p:nvPr/>
        </p:nvSpPr>
        <p:spPr>
          <a:xfrm xmlns:a="http://schemas.openxmlformats.org/drawingml/2006/main">
            <a:off x="6486525" y="5219700"/>
            <a:ext cx="431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AEBBCD"/>
                </a:solidFill>
                <a:latin typeface="Arial"/>
                <a:ea typeface="Arial"/>
                <a:cs typeface="Arial"/>
              </a:defRPr>
            </a:pPr>
            <a:r>
              <a:rPr sz="1425" b="1">
                <a:solidFill>
                  <a:srgbClr val="AEBBCD"/>
                </a:solidFill>
                <a:latin typeface="Arial"/>
                <a:ea typeface="Arial"/>
                <a:cs typeface="Arial"/>
              </a:rPr>
              <a:t>propose → test → challenge → follow up</a:t>
            </a:r>
          </a:p>
        </p:txBody>
      </p:sp>
    </p:spTree>
    <p:extLst>
      <p:ext uri="{BB962C8B-B14F-4D97-AF65-F5344CB8AC3E}">
        <p14:creationId xmlns:p14="http://schemas.microsoft.com/office/powerpoint/2010/main" val="1486480449"/>
      </p:ext>
    </p:extLst>
  </p:cSld>
</p:sld>
</file>

<file path=ppt/slides/slide5.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8A96E57-E68F-40A9-AAC8-AFF49C05B2FE}"/>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VERSION 3</a:t>
            </a:r>
          </a:p>
        </p:txBody>
      </p:sp>
      <p:sp>
        <p:nvSpPr>
          <p:cNvPr id="2" name="">
            <a:extLst xmlns:a="http://schemas.openxmlformats.org/drawingml/2006/main">
              <a:ext uri="{FF2B5EF4-FFF2-40B4-BE49-F238E27FC236}">
                <a16:creationId xmlns:a16="http://schemas.microsoft.com/office/drawing/2014/main" id="{40E44F02-EBFF-4DA7-9A1E-4EE65186D3BD}"/>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V3: improve the evidence</a:t>
            </a:r>
          </a:p>
        </p:txBody>
      </p:sp>
      <p:sp>
        <p:nvSpPr>
          <p:cNvPr id="3" name="">
            <a:extLst xmlns:a="http://schemas.openxmlformats.org/drawingml/2006/main">
              <a:ext uri="{FF2B5EF4-FFF2-40B4-BE49-F238E27FC236}">
                <a16:creationId xmlns:a16="http://schemas.microsoft.com/office/drawing/2014/main" id="{172A16E1-DD1B-4FDF-B175-A9CE9B4C9A80}"/>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7B461FBD-4253-4911-B4CE-D3C95D9E13E6}"/>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C7281CD8-7964-4372-81E8-6C6A4F295966}"/>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051FD204-3D6C-4335-BC83-BC3F12B5F6E6}"/>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06E9D6F8-CC8B-4FD8-A1A0-C0B5C6868903}"/>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543 historical days converted</a:t>
            </a:r>
          </a:p>
        </p:txBody>
      </p:sp>
      <p:sp>
        <p:nvSpPr>
          <p:cNvPr id="8" name="">
            <a:extLst xmlns:a="http://schemas.openxmlformats.org/drawingml/2006/main">
              <a:ext uri="{FF2B5EF4-FFF2-40B4-BE49-F238E27FC236}">
                <a16:creationId xmlns:a16="http://schemas.microsoft.com/office/drawing/2014/main" id="{A96DFDA9-B0D0-4FFA-9096-4BCC65C6FF53}"/>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C8356C40-0B58-4C0C-9CCA-E41CBF7C6D29}"/>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Minute Kalshi + HRRR + GEFS + settlement</a:t>
            </a:r>
          </a:p>
        </p:txBody>
      </p:sp>
      <p:sp>
        <p:nvSpPr>
          <p:cNvPr id="10" name="">
            <a:extLst xmlns:a="http://schemas.openxmlformats.org/drawingml/2006/main">
              <a:ext uri="{FF2B5EF4-FFF2-40B4-BE49-F238E27FC236}">
                <a16:creationId xmlns:a16="http://schemas.microsoft.com/office/drawing/2014/main" id="{45694912-FD06-4AF4-98B5-6D22CC213BF3}"/>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AB8A11AC-5910-4590-A5ED-3BE971D339AA}"/>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60 candidates • 0 eligible trades</a:t>
            </a:r>
          </a:p>
        </p:txBody>
      </p:sp>
      <p:sp>
        <p:nvSpPr>
          <p:cNvPr id="12" name="">
            <a:extLst xmlns:a="http://schemas.openxmlformats.org/drawingml/2006/main">
              <a:ext uri="{FF2B5EF4-FFF2-40B4-BE49-F238E27FC236}">
                <a16:creationId xmlns:a16="http://schemas.microsoft.com/office/drawing/2014/main" id="{1F9D26E5-A0F2-436C-A41F-949CC370F8B5}"/>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8E148338-E09D-4B11-8C32-49E982C56F0B}"/>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907"/>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Forecast scores improved, but no candidate reached a tradable opportunity under the registered rules.</a:t>
            </a:r>
          </a:p>
        </p:txBody>
      </p:sp>
      <p:sp>
        <p:nvSpPr>
          <p:cNvPr id="14" name="">
            <a:extLst xmlns:a="http://schemas.openxmlformats.org/drawingml/2006/main">
              <a:ext uri="{FF2B5EF4-FFF2-40B4-BE49-F238E27FC236}">
                <a16:creationId xmlns:a16="http://schemas.microsoft.com/office/drawing/2014/main" id="{53985D63-972C-4771-A71F-F917C35346B6}"/>
              </a:ext>
            </a:extLst>
          </p:cNvPr>
          <p:cNvSpPr>
            <a:spLocks xmlns:a="http://schemas.openxmlformats.org/drawingml/2006/main" noGrp="1"/>
          </p:cNvSpPr>
          <p:nvPr/>
        </p:nvSpPr>
        <p:spPr>
          <a:xfrm xmlns:a="http://schemas.openxmlformats.org/drawingml/2006/main">
            <a:off x="5581650" y="1952625"/>
            <a:ext cx="2381250" cy="590550"/>
          </a:xfrm>
          <a:prstGeom xmlns:a="http://schemas.openxmlformats.org/drawingml/2006/main" prst="roundRect">
            <a:avLst>
              <a:gd name="adj" fmla="val 22581"/>
            </a:avLst>
          </a:prstGeom>
          <a:solidFill xmlns:a="http://schemas.openxmlformats.org/drawingml/2006/main">
            <a:srgbClr val="16263A"/>
          </a:solidFill>
          <a:ln xmlns:a="http://schemas.openxmlformats.org/drawingml/2006/main" w="19050">
            <a:solidFill>
              <a:srgbClr val="4DD28A"/>
            </a:solidFill>
            <a:prstDash val="solid"/>
          </a:ln>
        </p:spPr>
      </p:sp>
      <p:sp>
        <p:nvSpPr>
          <p:cNvPr id="15" name="">
            <a:extLst xmlns:a="http://schemas.openxmlformats.org/drawingml/2006/main">
              <a:ext uri="{FF2B5EF4-FFF2-40B4-BE49-F238E27FC236}">
                <a16:creationId xmlns:a16="http://schemas.microsoft.com/office/drawing/2014/main" id="{DB2E276C-A4BB-45FB-9D1B-9B75B96CD7D2}"/>
              </a:ext>
            </a:extLst>
          </p:cNvPr>
          <p:cNvSpPr>
            <a:spLocks xmlns:a="http://schemas.openxmlformats.org/drawingml/2006/main" noGrp="1"/>
          </p:cNvSpPr>
          <p:nvPr/>
        </p:nvSpPr>
        <p:spPr>
          <a:xfrm xmlns:a="http://schemas.openxmlformats.org/drawingml/2006/main">
            <a:off x="5772150" y="202882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Exact settlement</a:t>
            </a:r>
          </a:p>
        </p:txBody>
      </p:sp>
      <p:sp>
        <p:nvSpPr>
          <p:cNvPr id="16" name="">
            <a:extLst xmlns:a="http://schemas.openxmlformats.org/drawingml/2006/main">
              <a:ext uri="{FF2B5EF4-FFF2-40B4-BE49-F238E27FC236}">
                <a16:creationId xmlns:a16="http://schemas.microsoft.com/office/drawing/2014/main" id="{79B27612-8683-4E92-811F-1C93EAF5109C}"/>
              </a:ext>
            </a:extLst>
          </p:cNvPr>
          <p:cNvSpPr>
            <a:spLocks xmlns:a="http://schemas.openxmlformats.org/drawingml/2006/main" noGrp="1"/>
          </p:cNvSpPr>
          <p:nvPr/>
        </p:nvSpPr>
        <p:spPr>
          <a:xfrm xmlns:a="http://schemas.openxmlformats.org/drawingml/2006/main">
            <a:off x="5695950" y="2686050"/>
            <a:ext cx="2381250" cy="590550"/>
          </a:xfrm>
          <a:prstGeom xmlns:a="http://schemas.openxmlformats.org/drawingml/2006/main" prst="roundRect">
            <a:avLst>
              <a:gd name="adj" fmla="val 22581"/>
            </a:avLst>
          </a:prstGeom>
          <a:solidFill xmlns:a="http://schemas.openxmlformats.org/drawingml/2006/main">
            <a:srgbClr val="16263A"/>
          </a:solidFill>
          <a:ln xmlns:a="http://schemas.openxmlformats.org/drawingml/2006/main" w="19050">
            <a:solidFill>
              <a:srgbClr val="47D7D0"/>
            </a:solidFill>
            <a:prstDash val="solid"/>
          </a:ln>
        </p:spPr>
      </p:sp>
      <p:sp>
        <p:nvSpPr>
          <p:cNvPr id="17" name="">
            <a:extLst xmlns:a="http://schemas.openxmlformats.org/drawingml/2006/main">
              <a:ext uri="{FF2B5EF4-FFF2-40B4-BE49-F238E27FC236}">
                <a16:creationId xmlns:a16="http://schemas.microsoft.com/office/drawing/2014/main" id="{6FED6F68-DF5B-4DE7-938D-294838986B7B}"/>
              </a:ext>
            </a:extLst>
          </p:cNvPr>
          <p:cNvSpPr>
            <a:spLocks xmlns:a="http://schemas.openxmlformats.org/drawingml/2006/main" noGrp="1"/>
          </p:cNvSpPr>
          <p:nvPr/>
        </p:nvSpPr>
        <p:spPr>
          <a:xfrm xmlns:a="http://schemas.openxmlformats.org/drawingml/2006/main">
            <a:off x="5886450" y="2762250"/>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Local observations</a:t>
            </a:r>
          </a:p>
        </p:txBody>
      </p:sp>
      <p:sp>
        <p:nvSpPr>
          <p:cNvPr id="18" name="">
            <a:extLst xmlns:a="http://schemas.openxmlformats.org/drawingml/2006/main">
              <a:ext uri="{FF2B5EF4-FFF2-40B4-BE49-F238E27FC236}">
                <a16:creationId xmlns:a16="http://schemas.microsoft.com/office/drawing/2014/main" id="{91D8C029-5F33-4013-BC7B-4CFC854D82B8}"/>
              </a:ext>
            </a:extLst>
          </p:cNvPr>
          <p:cNvSpPr>
            <a:spLocks xmlns:a="http://schemas.openxmlformats.org/drawingml/2006/main" noGrp="1"/>
          </p:cNvSpPr>
          <p:nvPr/>
        </p:nvSpPr>
        <p:spPr>
          <a:xfrm xmlns:a="http://schemas.openxmlformats.org/drawingml/2006/main">
            <a:off x="5810250" y="3419475"/>
            <a:ext cx="2381250" cy="590550"/>
          </a:xfrm>
          <a:prstGeom xmlns:a="http://schemas.openxmlformats.org/drawingml/2006/main" prst="roundRect">
            <a:avLst>
              <a:gd name="adj" fmla="val 22581"/>
            </a:avLst>
          </a:prstGeom>
          <a:solidFill xmlns:a="http://schemas.openxmlformats.org/drawingml/2006/main">
            <a:srgbClr val="16263A"/>
          </a:solidFill>
          <a:ln xmlns:a="http://schemas.openxmlformats.org/drawingml/2006/main" w="19050">
            <a:solidFill>
              <a:srgbClr val="4EA1FF"/>
            </a:solidFill>
            <a:prstDash val="solid"/>
          </a:ln>
        </p:spPr>
      </p:sp>
      <p:sp>
        <p:nvSpPr>
          <p:cNvPr id="19" name="">
            <a:extLst xmlns:a="http://schemas.openxmlformats.org/drawingml/2006/main">
              <a:ext uri="{FF2B5EF4-FFF2-40B4-BE49-F238E27FC236}">
                <a16:creationId xmlns:a16="http://schemas.microsoft.com/office/drawing/2014/main" id="{FA28D841-D1FF-4AC2-AB48-D13264AAC527}"/>
              </a:ext>
            </a:extLst>
          </p:cNvPr>
          <p:cNvSpPr>
            <a:spLocks xmlns:a="http://schemas.openxmlformats.org/drawingml/2006/main" noGrp="1"/>
          </p:cNvSpPr>
          <p:nvPr/>
        </p:nvSpPr>
        <p:spPr>
          <a:xfrm xmlns:a="http://schemas.openxmlformats.org/drawingml/2006/main">
            <a:off x="6000750" y="3495675"/>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HRRR + GEFS</a:t>
            </a:r>
          </a:p>
        </p:txBody>
      </p:sp>
      <p:sp>
        <p:nvSpPr>
          <p:cNvPr id="20" name="">
            <a:extLst xmlns:a="http://schemas.openxmlformats.org/drawingml/2006/main">
              <a:ext uri="{FF2B5EF4-FFF2-40B4-BE49-F238E27FC236}">
                <a16:creationId xmlns:a16="http://schemas.microsoft.com/office/drawing/2014/main" id="{27465B0A-3E02-43A7-B146-9BA041A780DA}"/>
              </a:ext>
            </a:extLst>
          </p:cNvPr>
          <p:cNvSpPr>
            <a:spLocks xmlns:a="http://schemas.openxmlformats.org/drawingml/2006/main" noGrp="1"/>
          </p:cNvSpPr>
          <p:nvPr/>
        </p:nvSpPr>
        <p:spPr>
          <a:xfrm xmlns:a="http://schemas.openxmlformats.org/drawingml/2006/main">
            <a:off x="5924550" y="4152900"/>
            <a:ext cx="2381250" cy="590550"/>
          </a:xfrm>
          <a:prstGeom xmlns:a="http://schemas.openxmlformats.org/drawingml/2006/main" prst="roundRect">
            <a:avLst>
              <a:gd name="adj" fmla="val 22581"/>
            </a:avLst>
          </a:prstGeom>
          <a:solidFill xmlns:a="http://schemas.openxmlformats.org/drawingml/2006/main">
            <a:srgbClr val="16263A"/>
          </a:solidFill>
          <a:ln xmlns:a="http://schemas.openxmlformats.org/drawingml/2006/main" w="19050">
            <a:solidFill>
              <a:srgbClr val="F4B860"/>
            </a:solidFill>
            <a:prstDash val="solid"/>
          </a:ln>
        </p:spPr>
      </p:sp>
      <p:sp>
        <p:nvSpPr>
          <p:cNvPr id="21" name="">
            <a:extLst xmlns:a="http://schemas.openxmlformats.org/drawingml/2006/main">
              <a:ext uri="{FF2B5EF4-FFF2-40B4-BE49-F238E27FC236}">
                <a16:creationId xmlns:a16="http://schemas.microsoft.com/office/drawing/2014/main" id="{29A5BDE9-A80D-4F23-A8A4-353761978C80}"/>
              </a:ext>
            </a:extLst>
          </p:cNvPr>
          <p:cNvSpPr>
            <a:spLocks xmlns:a="http://schemas.openxmlformats.org/drawingml/2006/main" noGrp="1"/>
          </p:cNvSpPr>
          <p:nvPr/>
        </p:nvSpPr>
        <p:spPr>
          <a:xfrm xmlns:a="http://schemas.openxmlformats.org/drawingml/2006/main">
            <a:off x="6115050" y="4229100"/>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Minute Kalshi</a:t>
            </a:r>
          </a:p>
        </p:txBody>
      </p:sp>
      <p:sp>
        <p:nvSpPr>
          <p:cNvPr id="22" name="">
            <a:extLst xmlns:a="http://schemas.openxmlformats.org/drawingml/2006/main">
              <a:ext uri="{FF2B5EF4-FFF2-40B4-BE49-F238E27FC236}">
                <a16:creationId xmlns:a16="http://schemas.microsoft.com/office/drawing/2014/main" id="{612C2605-F91D-4BC9-BC01-13D7D2C4C729}"/>
              </a:ext>
            </a:extLst>
          </p:cNvPr>
          <p:cNvSpPr>
            <a:spLocks xmlns:a="http://schemas.openxmlformats.org/drawingml/2006/main" noGrp="1"/>
          </p:cNvSpPr>
          <p:nvPr/>
        </p:nvSpPr>
        <p:spPr>
          <a:xfrm xmlns:a="http://schemas.openxmlformats.org/drawingml/2006/main">
            <a:off x="8582025" y="3105150"/>
            <a:ext cx="762000" cy="400050"/>
          </a:xfrm>
          <a:prstGeom xmlns:a="http://schemas.openxmlformats.org/drawingml/2006/main" prst="rightArrow">
            <a:avLst/>
          </a:prstGeom>
          <a:solidFill xmlns:a="http://schemas.openxmlformats.org/drawingml/2006/main">
            <a:srgbClr val="3144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E0BADC8-AEB6-48FF-8AB8-F8F42EC64CCC}"/>
              </a:ext>
            </a:extLst>
          </p:cNvPr>
          <p:cNvSpPr>
            <a:spLocks xmlns:a="http://schemas.openxmlformats.org/drawingml/2006/main" noGrp="1"/>
          </p:cNvSpPr>
          <p:nvPr/>
        </p:nvSpPr>
        <p:spPr>
          <a:xfrm xmlns:a="http://schemas.openxmlformats.org/drawingml/2006/main">
            <a:off x="9572625" y="2343150"/>
            <a:ext cx="1428750" cy="1952625"/>
          </a:xfrm>
          <a:prstGeom xmlns:a="http://schemas.openxmlformats.org/drawingml/2006/main" prst="roundRect">
            <a:avLst>
              <a:gd name="adj" fmla="val 16000"/>
            </a:avLst>
          </a:prstGeom>
          <a:solidFill xmlns:a="http://schemas.openxmlformats.org/drawingml/2006/main">
            <a:srgbClr val="18263A"/>
          </a:solidFill>
          <a:ln xmlns:a="http://schemas.openxmlformats.org/drawingml/2006/main" w="19050">
            <a:solidFill>
              <a:srgbClr val="62748B"/>
            </a:solidFill>
            <a:prstDash val="solid"/>
          </a:ln>
        </p:spPr>
      </p:sp>
      <p:sp>
        <p:nvSpPr>
          <p:cNvPr id="24" name="">
            <a:extLst xmlns:a="http://schemas.openxmlformats.org/drawingml/2006/main">
              <a:ext uri="{FF2B5EF4-FFF2-40B4-BE49-F238E27FC236}">
                <a16:creationId xmlns:a16="http://schemas.microsoft.com/office/drawing/2014/main" id="{B7C74DF4-A6CF-4018-A59A-04DB0B0F5065}"/>
              </a:ext>
            </a:extLst>
          </p:cNvPr>
          <p:cNvSpPr>
            <a:spLocks xmlns:a="http://schemas.openxmlformats.org/drawingml/2006/main" noGrp="1"/>
          </p:cNvSpPr>
          <p:nvPr/>
        </p:nvSpPr>
        <p:spPr>
          <a:xfrm xmlns:a="http://schemas.openxmlformats.org/drawingml/2006/main">
            <a:off x="9744075" y="2562225"/>
            <a:ext cx="1085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AEBBCD"/>
                </a:solidFill>
                <a:latin typeface="Arial"/>
                <a:ea typeface="Arial"/>
                <a:cs typeface="Arial"/>
              </a:defRPr>
            </a:pPr>
            <a:r>
              <a:rPr sz="1425" b="1">
                <a:solidFill>
                  <a:srgbClr val="AEBBCD"/>
                </a:solidFill>
                <a:latin typeface="Arial"/>
                <a:ea typeface="Arial"/>
                <a:cs typeface="Arial"/>
              </a:rPr>
              <a:t>ELIGIBILITY</a:t>
            </a:r>
          </a:p>
          <a:p xmlns:a="http://schemas.openxmlformats.org/drawingml/2006/main">
            <a:pPr algn="ctr">
              <a:lnSpc>
                <a:spcPct val="100000"/>
              </a:lnSpc>
              <a:buNone/>
              <a:defRPr sz="1425" b="1">
                <a:solidFill>
                  <a:srgbClr val="AEBBCD"/>
                </a:solidFill>
                <a:latin typeface="Arial"/>
                <a:ea typeface="Arial"/>
                <a:cs typeface="Arial"/>
              </a:defRPr>
            </a:pPr>
            <a:r>
              <a:rPr sz="1425" b="1">
                <a:solidFill>
                  <a:srgbClr val="AEBBCD"/>
                </a:solidFill>
                <a:latin typeface="Arial"/>
                <a:ea typeface="Arial"/>
                <a:cs typeface="Arial"/>
              </a:rPr>
              <a:t>FUNNEL</a:t>
            </a:r>
          </a:p>
        </p:txBody>
      </p:sp>
      <p:sp>
        <p:nvSpPr>
          <p:cNvPr id="25" name="">
            <a:extLst xmlns:a="http://schemas.openxmlformats.org/drawingml/2006/main">
              <a:ext uri="{FF2B5EF4-FFF2-40B4-BE49-F238E27FC236}">
                <a16:creationId xmlns:a16="http://schemas.microsoft.com/office/drawing/2014/main" id="{5B505CB4-8406-430C-AD7E-2EDB9EE7C8BB}"/>
              </a:ext>
            </a:extLst>
          </p:cNvPr>
          <p:cNvSpPr>
            <a:spLocks xmlns:a="http://schemas.openxmlformats.org/drawingml/2006/main" noGrp="1"/>
          </p:cNvSpPr>
          <p:nvPr/>
        </p:nvSpPr>
        <p:spPr>
          <a:xfrm xmlns:a="http://schemas.openxmlformats.org/drawingml/2006/main">
            <a:off x="9810750" y="3257550"/>
            <a:ext cx="952500" cy="0"/>
          </a:xfrm>
          <a:prstGeom xmlns:a="http://schemas.openxmlformats.org/drawingml/2006/main" prst="line">
            <a:avLst/>
          </a:prstGeom>
          <a:noFill xmlns:a="http://schemas.openxmlformats.org/drawingml/2006/main"/>
          <a:ln xmlns:a="http://schemas.openxmlformats.org/drawingml/2006/main" w="19050">
            <a:solidFill>
              <a:srgbClr val="31445D"/>
            </a:solidFill>
            <a:prstDash val="solid"/>
          </a:ln>
        </p:spPr>
      </p:sp>
      <p:sp>
        <p:nvSpPr>
          <p:cNvPr id="26" name="">
            <a:extLst xmlns:a="http://schemas.openxmlformats.org/drawingml/2006/main">
              <a:ext uri="{FF2B5EF4-FFF2-40B4-BE49-F238E27FC236}">
                <a16:creationId xmlns:a16="http://schemas.microsoft.com/office/drawing/2014/main" id="{43BD9741-002F-460A-93FF-DB93AB390954}"/>
              </a:ext>
            </a:extLst>
          </p:cNvPr>
          <p:cNvSpPr>
            <a:spLocks xmlns:a="http://schemas.openxmlformats.org/drawingml/2006/main" noGrp="1"/>
          </p:cNvSpPr>
          <p:nvPr/>
        </p:nvSpPr>
        <p:spPr>
          <a:xfrm xmlns:a="http://schemas.openxmlformats.org/drawingml/2006/main">
            <a:off x="9820275" y="335280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222"/>
          </a:bodyPr>
          <a:lstStyle xmlns:a="http://schemas.openxmlformats.org/drawingml/2006/main"/>
          <a:p xmlns:a="http://schemas.openxmlformats.org/drawingml/2006/main">
            <a:pPr algn="ctr">
              <a:lnSpc>
                <a:spcPct val="100000"/>
              </a:lnSpc>
              <a:buNone/>
              <a:defRPr sz="2700" b="1">
                <a:solidFill>
                  <a:srgbClr val="F5F7FA"/>
                </a:solidFill>
                <a:latin typeface="Arial"/>
                <a:ea typeface="Arial"/>
                <a:cs typeface="Arial"/>
              </a:defRPr>
            </a:pPr>
            <a:r>
              <a:rPr sz="2700" b="1">
                <a:solidFill>
                  <a:srgbClr val="F5F7FA"/>
                </a:solidFill>
                <a:latin typeface="Arial"/>
                <a:ea typeface="Arial"/>
                <a:cs typeface="Arial"/>
              </a:rPr>
              <a:t>60</a:t>
            </a:r>
          </a:p>
        </p:txBody>
      </p:sp>
      <p:sp>
        <p:nvSpPr>
          <p:cNvPr id="27" name="">
            <a:extLst xmlns:a="http://schemas.openxmlformats.org/drawingml/2006/main">
              <a:ext uri="{FF2B5EF4-FFF2-40B4-BE49-F238E27FC236}">
                <a16:creationId xmlns:a16="http://schemas.microsoft.com/office/drawing/2014/main" id="{084112E0-CC6B-4249-BBEA-9E0684BE586B}"/>
              </a:ext>
            </a:extLst>
          </p:cNvPr>
          <p:cNvSpPr>
            <a:spLocks xmlns:a="http://schemas.openxmlformats.org/drawingml/2006/main" noGrp="1"/>
          </p:cNvSpPr>
          <p:nvPr/>
        </p:nvSpPr>
        <p:spPr>
          <a:xfrm xmlns:a="http://schemas.openxmlformats.org/drawingml/2006/main">
            <a:off x="9972675" y="37909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9286"/>
          </a:bodyPr>
          <a:lstStyle xmlns:a="http://schemas.openxmlformats.org/drawingml/2006/main"/>
          <a:p xmlns:a="http://schemas.openxmlformats.org/drawingml/2006/main">
            <a:pPr algn="ctr">
              <a:lnSpc>
                <a:spcPct val="100000"/>
              </a:lnSpc>
              <a:buNone/>
              <a:defRPr sz="2100" b="1">
                <a:solidFill>
                  <a:srgbClr val="FF6B6B"/>
                </a:solidFill>
                <a:latin typeface="Arial"/>
                <a:ea typeface="Arial"/>
                <a:cs typeface="Arial"/>
              </a:defRPr>
            </a:pPr>
            <a:r>
              <a:rPr sz="2100" b="1">
                <a:solidFill>
                  <a:srgbClr val="FF6B6B"/>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B0F42931-6F7E-4C74-8BC0-C17B7C61D66E}"/>
              </a:ext>
            </a:extLst>
          </p:cNvPr>
          <p:cNvSpPr>
            <a:spLocks xmlns:a="http://schemas.openxmlformats.org/drawingml/2006/main" noGrp="1"/>
          </p:cNvSpPr>
          <p:nvPr/>
        </p:nvSpPr>
        <p:spPr>
          <a:xfrm xmlns:a="http://schemas.openxmlformats.org/drawingml/2006/main">
            <a:off x="9982200" y="4248150"/>
            <a:ext cx="628650" cy="628650"/>
          </a:xfrm>
          <a:prstGeom xmlns:a="http://schemas.openxmlformats.org/drawingml/2006/main" prst="ellipse">
            <a:avLst/>
          </a:prstGeom>
          <a:solidFill xmlns:a="http://schemas.openxmlformats.org/drawingml/2006/main">
            <a:srgbClr val="FF6B6B"/>
          </a:solidFill>
          <a:ln xmlns:a="http://schemas.openxmlformats.org/drawingml/2006/main" w="19050">
            <a:solidFill>
              <a:srgbClr val="FF6B6B"/>
            </a:solidFill>
            <a:prstDash val="solid"/>
          </a:ln>
        </p:spPr>
      </p:sp>
      <p:sp>
        <p:nvSpPr>
          <p:cNvPr id="29" name="">
            <a:extLst xmlns:a="http://schemas.openxmlformats.org/drawingml/2006/main">
              <a:ext uri="{FF2B5EF4-FFF2-40B4-BE49-F238E27FC236}">
                <a16:creationId xmlns:a16="http://schemas.microsoft.com/office/drawing/2014/main" id="{D4404464-1BE8-48D6-AE84-36233F67D90C}"/>
              </a:ext>
            </a:extLst>
          </p:cNvPr>
          <p:cNvSpPr>
            <a:spLocks xmlns:a="http://schemas.openxmlformats.org/drawingml/2006/main" noGrp="1"/>
          </p:cNvSpPr>
          <p:nvPr/>
        </p:nvSpPr>
        <p:spPr>
          <a:xfrm xmlns:a="http://schemas.openxmlformats.org/drawingml/2006/main">
            <a:off x="9982200" y="42481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400" b="1">
                <a:solidFill>
                  <a:srgbClr val="0B1320"/>
                </a:solidFill>
                <a:latin typeface="Arial"/>
                <a:ea typeface="Arial"/>
                <a:cs typeface="Arial"/>
              </a:defRPr>
            </a:pPr>
            <a:r>
              <a:rPr sz="2400" b="1">
                <a:solidFill>
                  <a:srgbClr val="0B1320"/>
                </a:solidFill>
                <a:latin typeface="Arial"/>
                <a:ea typeface="Arial"/>
                <a:cs typeface="Arial"/>
              </a:rPr>
              <a:t>0</a:t>
            </a:r>
          </a:p>
        </p:txBody>
      </p:sp>
      <p:sp>
        <p:nvSpPr>
          <p:cNvPr id="30" name="">
            <a:extLst xmlns:a="http://schemas.openxmlformats.org/drawingml/2006/main">
              <a:ext uri="{FF2B5EF4-FFF2-40B4-BE49-F238E27FC236}">
                <a16:creationId xmlns:a16="http://schemas.microsoft.com/office/drawing/2014/main" id="{1E97DDB1-6D9D-49D3-BB1D-1223D6938CCD}"/>
              </a:ext>
            </a:extLst>
          </p:cNvPr>
          <p:cNvSpPr>
            <a:spLocks xmlns:a="http://schemas.openxmlformats.org/drawingml/2006/main" noGrp="1"/>
          </p:cNvSpPr>
          <p:nvPr/>
        </p:nvSpPr>
        <p:spPr>
          <a:xfrm xmlns:a="http://schemas.openxmlformats.org/drawingml/2006/main">
            <a:off x="9582150" y="49530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eligible trades</a:t>
            </a:r>
          </a:p>
        </p:txBody>
      </p:sp>
      <p:sp>
        <p:nvSpPr>
          <p:cNvPr id="31" name="">
            <a:extLst xmlns:a="http://schemas.openxmlformats.org/drawingml/2006/main">
              <a:ext uri="{FF2B5EF4-FFF2-40B4-BE49-F238E27FC236}">
                <a16:creationId xmlns:a16="http://schemas.microsoft.com/office/drawing/2014/main" id="{68087FED-9E49-4EEF-B96E-1CB60CD3AAE5}"/>
              </a:ext>
            </a:extLst>
          </p:cNvPr>
          <p:cNvSpPr>
            <a:spLocks xmlns:a="http://schemas.openxmlformats.org/drawingml/2006/main" noGrp="1"/>
          </p:cNvSpPr>
          <p:nvPr/>
        </p:nvSpPr>
        <p:spPr>
          <a:xfrm xmlns:a="http://schemas.openxmlformats.org/drawingml/2006/main">
            <a:off x="5657850" y="5981700"/>
            <a:ext cx="4876800" cy="0"/>
          </a:xfrm>
          <a:prstGeom xmlns:a="http://schemas.openxmlformats.org/drawingml/2006/main" prst="line">
            <a:avLst/>
          </a:prstGeom>
          <a:noFill xmlns:a="http://schemas.openxmlformats.org/drawingml/2006/main"/>
          <a:ln xmlns:a="http://schemas.openxmlformats.org/drawingml/2006/main" w="38100">
            <a:solidFill>
              <a:srgbClr val="31445D"/>
            </a:solidFill>
            <a:prstDash val="solid"/>
          </a:ln>
        </p:spPr>
      </p:sp>
      <p:sp>
        <p:nvSpPr>
          <p:cNvPr id="32" name="">
            <a:extLst xmlns:a="http://schemas.openxmlformats.org/drawingml/2006/main">
              <a:ext uri="{FF2B5EF4-FFF2-40B4-BE49-F238E27FC236}">
                <a16:creationId xmlns:a16="http://schemas.microsoft.com/office/drawing/2014/main" id="{859E70E9-A2B8-47FD-9921-D34789FA46A6}"/>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3" name="">
            <a:extLst xmlns:a="http://schemas.openxmlformats.org/drawingml/2006/main">
              <a:ext uri="{FF2B5EF4-FFF2-40B4-BE49-F238E27FC236}">
                <a16:creationId xmlns:a16="http://schemas.microsoft.com/office/drawing/2014/main" id="{A3391DC0-6205-456A-95B9-F8F94EF0385C}"/>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V1</a:t>
            </a:r>
          </a:p>
        </p:txBody>
      </p:sp>
      <p:sp>
        <p:nvSpPr>
          <p:cNvPr id="34" name="">
            <a:extLst xmlns:a="http://schemas.openxmlformats.org/drawingml/2006/main">
              <a:ext uri="{FF2B5EF4-FFF2-40B4-BE49-F238E27FC236}">
                <a16:creationId xmlns:a16="http://schemas.microsoft.com/office/drawing/2014/main" id="{87F5A81B-F3D9-4126-93AB-A28B773F9128}"/>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5" name="">
            <a:extLst xmlns:a="http://schemas.openxmlformats.org/drawingml/2006/main">
              <a:ext uri="{FF2B5EF4-FFF2-40B4-BE49-F238E27FC236}">
                <a16:creationId xmlns:a16="http://schemas.microsoft.com/office/drawing/2014/main" id="{DAB6048C-6CA4-496B-8B6F-A13987C1F7A1}"/>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V2</a:t>
            </a:r>
          </a:p>
        </p:txBody>
      </p:sp>
      <p:sp>
        <p:nvSpPr>
          <p:cNvPr id="36" name="">
            <a:extLst xmlns:a="http://schemas.openxmlformats.org/drawingml/2006/main">
              <a:ext uri="{FF2B5EF4-FFF2-40B4-BE49-F238E27FC236}">
                <a16:creationId xmlns:a16="http://schemas.microsoft.com/office/drawing/2014/main" id="{E5D2BBD4-65DD-4974-9111-AB5C45B7C1DA}"/>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7" name="">
            <a:extLst xmlns:a="http://schemas.openxmlformats.org/drawingml/2006/main">
              <a:ext uri="{FF2B5EF4-FFF2-40B4-BE49-F238E27FC236}">
                <a16:creationId xmlns:a16="http://schemas.microsoft.com/office/drawing/2014/main" id="{18912324-774E-44D3-AC3C-A2A754892793}"/>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V3</a:t>
            </a:r>
          </a:p>
        </p:txBody>
      </p:sp>
      <p:sp>
        <p:nvSpPr>
          <p:cNvPr id="38" name="">
            <a:extLst xmlns:a="http://schemas.openxmlformats.org/drawingml/2006/main">
              <a:ext uri="{FF2B5EF4-FFF2-40B4-BE49-F238E27FC236}">
                <a16:creationId xmlns:a16="http://schemas.microsoft.com/office/drawing/2014/main" id="{5F5B48C9-B5CD-4552-BB8E-4A166E07CE91}"/>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39" name="">
            <a:extLst xmlns:a="http://schemas.openxmlformats.org/drawingml/2006/main">
              <a:ext uri="{FF2B5EF4-FFF2-40B4-BE49-F238E27FC236}">
                <a16:creationId xmlns:a16="http://schemas.microsoft.com/office/drawing/2014/main" id="{863A6014-492E-4B5B-AE66-A6264C6EB458}"/>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a:t>
            </a:r>
          </a:p>
        </p:txBody>
      </p:sp>
      <p:sp>
        <p:nvSpPr>
          <p:cNvPr id="40" name="">
            <a:extLst xmlns:a="http://schemas.openxmlformats.org/drawingml/2006/main">
              <a:ext uri="{FF2B5EF4-FFF2-40B4-BE49-F238E27FC236}">
                <a16:creationId xmlns:a16="http://schemas.microsoft.com/office/drawing/2014/main" id="{655CB355-A9F5-457A-B157-67DF8302BFFE}"/>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ellipse">
            <a:avLst/>
          </a:prstGeom>
          <a:solidFill xmlns:a="http://schemas.openxmlformats.org/drawingml/2006/main">
            <a:srgbClr val="16263A"/>
          </a:solidFill>
          <a:ln xmlns:a="http://schemas.openxmlformats.org/drawingml/2006/main" w="19050">
            <a:solidFill>
              <a:srgbClr val="31445D"/>
            </a:solidFill>
            <a:prstDash val="solid"/>
          </a:ln>
        </p:spPr>
      </p:sp>
      <p:sp>
        <p:nvSpPr>
          <p:cNvPr id="41" name="">
            <a:extLst xmlns:a="http://schemas.openxmlformats.org/drawingml/2006/main">
              <a:ext uri="{FF2B5EF4-FFF2-40B4-BE49-F238E27FC236}">
                <a16:creationId xmlns:a16="http://schemas.microsoft.com/office/drawing/2014/main" id="{A76E3F13-13FF-4D6E-B031-54A25B0BE177}"/>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V4.1</a:t>
            </a:r>
          </a:p>
        </p:txBody>
      </p:sp>
    </p:spTree>
    <p:extLst>
      <p:ext uri="{BB962C8B-B14F-4D97-AF65-F5344CB8AC3E}">
        <p14:creationId xmlns:p14="http://schemas.microsoft.com/office/powerpoint/2010/main" val="120336882"/>
      </p:ext>
    </p:extLst>
  </p:cSld>
</p:sld>
</file>

<file path=ppt/slides/slide6.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DAA98086-284E-48D6-BFE1-2B552C4A66C9}"/>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SEARCH EXPANSION</a:t>
            </a:r>
          </a:p>
        </p:txBody>
      </p:sp>
      <p:sp>
        <p:nvSpPr>
          <p:cNvPr id="2" name="">
            <a:extLst xmlns:a="http://schemas.openxmlformats.org/drawingml/2006/main">
              <a:ext uri="{FF2B5EF4-FFF2-40B4-BE49-F238E27FC236}">
                <a16:creationId xmlns:a16="http://schemas.microsoft.com/office/drawing/2014/main" id="{6865D2BB-6015-4D2F-8555-89B72E159251}"/>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V4: search the opportunity space</a:t>
            </a:r>
          </a:p>
        </p:txBody>
      </p:sp>
      <p:sp>
        <p:nvSpPr>
          <p:cNvPr id="3" name="">
            <a:extLst xmlns:a="http://schemas.openxmlformats.org/drawingml/2006/main">
              <a:ext uri="{FF2B5EF4-FFF2-40B4-BE49-F238E27FC236}">
                <a16:creationId xmlns:a16="http://schemas.microsoft.com/office/drawing/2014/main" id="{DD3BD240-C7A9-45CD-B906-6E08F1F0E59B}"/>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88F64F65-D3C6-4377-A0B8-608FEC8E491F}"/>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9F5A6A77-0440-46B8-8BF8-21D180EF0277}"/>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EB814A6A-0C2A-4275-B45F-A1C2CEDF9075}"/>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A2432A40-A245-42D5-8BA7-3C57597404B5}"/>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3,072 frozen research plans</a:t>
            </a:r>
          </a:p>
        </p:txBody>
      </p:sp>
      <p:sp>
        <p:nvSpPr>
          <p:cNvPr id="8" name="">
            <a:extLst xmlns:a="http://schemas.openxmlformats.org/drawingml/2006/main">
              <a:ext uri="{FF2B5EF4-FFF2-40B4-BE49-F238E27FC236}">
                <a16:creationId xmlns:a16="http://schemas.microsoft.com/office/drawing/2014/main" id="{BE0929B0-A75A-421B-BD59-44120D3D3A9D}"/>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48FD362D-24FE-4A36-B568-87324323DE12}"/>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3 decision times • 4 model tracks</a:t>
            </a:r>
          </a:p>
        </p:txBody>
      </p:sp>
      <p:sp>
        <p:nvSpPr>
          <p:cNvPr id="10" name="">
            <a:extLst xmlns:a="http://schemas.openxmlformats.org/drawingml/2006/main">
              <a:ext uri="{FF2B5EF4-FFF2-40B4-BE49-F238E27FC236}">
                <a16:creationId xmlns:a16="http://schemas.microsoft.com/office/drawing/2014/main" id="{2F413C06-E6B7-4EA4-9CE6-568C8275257A}"/>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49DD938B-C225-4902-A09E-86FF6D23CF4E}"/>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82 candidates tested</a:t>
            </a:r>
          </a:p>
        </p:txBody>
      </p:sp>
      <p:sp>
        <p:nvSpPr>
          <p:cNvPr id="12" name="">
            <a:extLst xmlns:a="http://schemas.openxmlformats.org/drawingml/2006/main">
              <a:ext uri="{FF2B5EF4-FFF2-40B4-BE49-F238E27FC236}">
                <a16:creationId xmlns:a16="http://schemas.microsoft.com/office/drawing/2014/main" id="{B31DF8FF-1A32-45D4-B62B-58D286147853}"/>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3AFFD656-A83A-4C80-A735-1D39BCA1D0A3}"/>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267"/>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The local model returned an invalid nomination format. A format failure stopped the campaign, not a scientific conclusion.</a:t>
            </a:r>
          </a:p>
        </p:txBody>
      </p:sp>
      <p:sp>
        <p:nvSpPr>
          <p:cNvPr id="14" name="">
            <a:extLst xmlns:a="http://schemas.openxmlformats.org/drawingml/2006/main">
              <a:ext uri="{FF2B5EF4-FFF2-40B4-BE49-F238E27FC236}">
                <a16:creationId xmlns:a16="http://schemas.microsoft.com/office/drawing/2014/main" id="{64EA0C1F-3136-4A81-8F81-7D04D0E52AD5}"/>
              </a:ext>
            </a:extLst>
          </p:cNvPr>
          <p:cNvSpPr>
            <a:spLocks xmlns:a="http://schemas.openxmlformats.org/drawingml/2006/main" noGrp="1"/>
          </p:cNvSpPr>
          <p:nvPr/>
        </p:nvSpPr>
        <p:spPr>
          <a:xfrm xmlns:a="http://schemas.openxmlformats.org/drawingml/2006/main">
            <a:off x="7086600" y="17240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7D7D0"/>
                </a:solidFill>
                <a:latin typeface="Arial"/>
                <a:ea typeface="Arial"/>
                <a:cs typeface="Arial"/>
              </a:defRPr>
            </a:pPr>
            <a:r>
              <a:rPr sz="1275" b="1">
                <a:solidFill>
                  <a:srgbClr val="47D7D0"/>
                </a:solidFill>
                <a:latin typeface="Arial"/>
                <a:ea typeface="Arial"/>
                <a:cs typeface="Arial"/>
              </a:rPr>
              <a:t>13:30</a:t>
            </a:r>
          </a:p>
        </p:txBody>
      </p:sp>
      <p:sp>
        <p:nvSpPr>
          <p:cNvPr id="15" name="">
            <a:extLst xmlns:a="http://schemas.openxmlformats.org/drawingml/2006/main">
              <a:ext uri="{FF2B5EF4-FFF2-40B4-BE49-F238E27FC236}">
                <a16:creationId xmlns:a16="http://schemas.microsoft.com/office/drawing/2014/main" id="{2E87C67D-543D-4635-BC6D-01F762C4EA92}"/>
              </a:ext>
            </a:extLst>
          </p:cNvPr>
          <p:cNvSpPr>
            <a:spLocks xmlns:a="http://schemas.openxmlformats.org/drawingml/2006/main" noGrp="1"/>
          </p:cNvSpPr>
          <p:nvPr/>
        </p:nvSpPr>
        <p:spPr>
          <a:xfrm xmlns:a="http://schemas.openxmlformats.org/drawingml/2006/main">
            <a:off x="8467725" y="17240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7D7D0"/>
                </a:solidFill>
                <a:latin typeface="Arial"/>
                <a:ea typeface="Arial"/>
                <a:cs typeface="Arial"/>
              </a:defRPr>
            </a:pPr>
            <a:r>
              <a:rPr sz="1275" b="1">
                <a:solidFill>
                  <a:srgbClr val="47D7D0"/>
                </a:solidFill>
                <a:latin typeface="Arial"/>
                <a:ea typeface="Arial"/>
                <a:cs typeface="Arial"/>
              </a:rPr>
              <a:t>15:00</a:t>
            </a:r>
          </a:p>
        </p:txBody>
      </p:sp>
      <p:sp>
        <p:nvSpPr>
          <p:cNvPr id="16" name="">
            <a:extLst xmlns:a="http://schemas.openxmlformats.org/drawingml/2006/main">
              <a:ext uri="{FF2B5EF4-FFF2-40B4-BE49-F238E27FC236}">
                <a16:creationId xmlns:a16="http://schemas.microsoft.com/office/drawing/2014/main" id="{C275D546-C4C3-461D-ABE2-5A1BA7012A2D}"/>
              </a:ext>
            </a:extLst>
          </p:cNvPr>
          <p:cNvSpPr>
            <a:spLocks xmlns:a="http://schemas.openxmlformats.org/drawingml/2006/main" noGrp="1"/>
          </p:cNvSpPr>
          <p:nvPr/>
        </p:nvSpPr>
        <p:spPr>
          <a:xfrm xmlns:a="http://schemas.openxmlformats.org/drawingml/2006/main">
            <a:off x="9848850" y="17240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7D7D0"/>
                </a:solidFill>
                <a:latin typeface="Arial"/>
                <a:ea typeface="Arial"/>
                <a:cs typeface="Arial"/>
              </a:defRPr>
            </a:pPr>
            <a:r>
              <a:rPr sz="1275" b="1">
                <a:solidFill>
                  <a:srgbClr val="47D7D0"/>
                </a:solidFill>
                <a:latin typeface="Arial"/>
                <a:ea typeface="Arial"/>
                <a:cs typeface="Arial"/>
              </a:rPr>
              <a:t>18:00</a:t>
            </a:r>
          </a:p>
        </p:txBody>
      </p:sp>
      <p:sp>
        <p:nvSpPr>
          <p:cNvPr id="17" name="">
            <a:extLst xmlns:a="http://schemas.openxmlformats.org/drawingml/2006/main">
              <a:ext uri="{FF2B5EF4-FFF2-40B4-BE49-F238E27FC236}">
                <a16:creationId xmlns:a16="http://schemas.microsoft.com/office/drawing/2014/main" id="{6E125382-17BF-4106-873E-7AD800CDB792}"/>
              </a:ext>
            </a:extLst>
          </p:cNvPr>
          <p:cNvSpPr>
            <a:spLocks xmlns:a="http://schemas.openxmlformats.org/drawingml/2006/main" noGrp="1"/>
          </p:cNvSpPr>
          <p:nvPr/>
        </p:nvSpPr>
        <p:spPr>
          <a:xfrm xmlns:a="http://schemas.openxmlformats.org/drawingml/2006/main">
            <a:off x="5286375" y="22193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Baseline</a:t>
            </a:r>
          </a:p>
        </p:txBody>
      </p:sp>
      <p:sp>
        <p:nvSpPr>
          <p:cNvPr id="18" name="">
            <a:extLst xmlns:a="http://schemas.openxmlformats.org/drawingml/2006/main">
              <a:ext uri="{FF2B5EF4-FFF2-40B4-BE49-F238E27FC236}">
                <a16:creationId xmlns:a16="http://schemas.microsoft.com/office/drawing/2014/main" id="{13CAFCC1-1E6D-4153-893E-7C1189F04BA9}"/>
              </a:ext>
            </a:extLst>
          </p:cNvPr>
          <p:cNvSpPr>
            <a:spLocks xmlns:a="http://schemas.openxmlformats.org/drawingml/2006/main" noGrp="1"/>
          </p:cNvSpPr>
          <p:nvPr/>
        </p:nvSpPr>
        <p:spPr>
          <a:xfrm xmlns:a="http://schemas.openxmlformats.org/drawingml/2006/main">
            <a:off x="7343775" y="2133600"/>
            <a:ext cx="438150" cy="4381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9" name="">
            <a:extLst xmlns:a="http://schemas.openxmlformats.org/drawingml/2006/main">
              <a:ext uri="{FF2B5EF4-FFF2-40B4-BE49-F238E27FC236}">
                <a16:creationId xmlns:a16="http://schemas.microsoft.com/office/drawing/2014/main" id="{81D7CB60-988F-449F-BA9F-8DEABFA7E107}"/>
              </a:ext>
            </a:extLst>
          </p:cNvPr>
          <p:cNvSpPr>
            <a:spLocks xmlns:a="http://schemas.openxmlformats.org/drawingml/2006/main" noGrp="1"/>
          </p:cNvSpPr>
          <p:nvPr/>
        </p:nvSpPr>
        <p:spPr>
          <a:xfrm xmlns:a="http://schemas.openxmlformats.org/drawingml/2006/main">
            <a:off x="7343775" y="21336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E54DBEE-BD6C-4BBA-AEDE-3B8788D0E82B}"/>
              </a:ext>
            </a:extLst>
          </p:cNvPr>
          <p:cNvSpPr>
            <a:spLocks xmlns:a="http://schemas.openxmlformats.org/drawingml/2006/main" noGrp="1"/>
          </p:cNvSpPr>
          <p:nvPr/>
        </p:nvSpPr>
        <p:spPr>
          <a:xfrm xmlns:a="http://schemas.openxmlformats.org/drawingml/2006/main">
            <a:off x="8724900" y="2133600"/>
            <a:ext cx="438150" cy="4381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21" name="">
            <a:extLst xmlns:a="http://schemas.openxmlformats.org/drawingml/2006/main">
              <a:ext uri="{FF2B5EF4-FFF2-40B4-BE49-F238E27FC236}">
                <a16:creationId xmlns:a16="http://schemas.microsoft.com/office/drawing/2014/main" id="{4BAB3D2D-B3DC-4831-A125-68D84B5AAC29}"/>
              </a:ext>
            </a:extLst>
          </p:cNvPr>
          <p:cNvSpPr>
            <a:spLocks xmlns:a="http://schemas.openxmlformats.org/drawingml/2006/main" noGrp="1"/>
          </p:cNvSpPr>
          <p:nvPr/>
        </p:nvSpPr>
        <p:spPr>
          <a:xfrm xmlns:a="http://schemas.openxmlformats.org/drawingml/2006/main">
            <a:off x="8724900" y="21336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EFE2A622-A1D4-4922-9852-40DD49041A5D}"/>
              </a:ext>
            </a:extLst>
          </p:cNvPr>
          <p:cNvSpPr>
            <a:spLocks xmlns:a="http://schemas.openxmlformats.org/drawingml/2006/main" noGrp="1"/>
          </p:cNvSpPr>
          <p:nvPr/>
        </p:nvSpPr>
        <p:spPr>
          <a:xfrm xmlns:a="http://schemas.openxmlformats.org/drawingml/2006/main">
            <a:off x="10106025" y="2133600"/>
            <a:ext cx="438150" cy="4381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23" name="">
            <a:extLst xmlns:a="http://schemas.openxmlformats.org/drawingml/2006/main">
              <a:ext uri="{FF2B5EF4-FFF2-40B4-BE49-F238E27FC236}">
                <a16:creationId xmlns:a16="http://schemas.microsoft.com/office/drawing/2014/main" id="{EBA93153-E8D1-4DF7-BFAE-812C910F8AF0}"/>
              </a:ext>
            </a:extLst>
          </p:cNvPr>
          <p:cNvSpPr>
            <a:spLocks xmlns:a="http://schemas.openxmlformats.org/drawingml/2006/main" noGrp="1"/>
          </p:cNvSpPr>
          <p:nvPr/>
        </p:nvSpPr>
        <p:spPr>
          <a:xfrm xmlns:a="http://schemas.openxmlformats.org/drawingml/2006/main">
            <a:off x="10106025" y="21336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65071826-88D6-4EA6-AD30-65F4A883B5C5}"/>
              </a:ext>
            </a:extLst>
          </p:cNvPr>
          <p:cNvSpPr>
            <a:spLocks xmlns:a="http://schemas.openxmlformats.org/drawingml/2006/main" noGrp="1"/>
          </p:cNvSpPr>
          <p:nvPr/>
        </p:nvSpPr>
        <p:spPr>
          <a:xfrm xmlns:a="http://schemas.openxmlformats.org/drawingml/2006/main">
            <a:off x="5286375" y="29051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Bias</a:t>
            </a:r>
          </a:p>
        </p:txBody>
      </p:sp>
      <p:sp>
        <p:nvSpPr>
          <p:cNvPr id="25" name="">
            <a:extLst xmlns:a="http://schemas.openxmlformats.org/drawingml/2006/main">
              <a:ext uri="{FF2B5EF4-FFF2-40B4-BE49-F238E27FC236}">
                <a16:creationId xmlns:a16="http://schemas.microsoft.com/office/drawing/2014/main" id="{FC9F99E1-01E3-4CAE-A327-A32FE7F90ED0}"/>
              </a:ext>
            </a:extLst>
          </p:cNvPr>
          <p:cNvSpPr>
            <a:spLocks xmlns:a="http://schemas.openxmlformats.org/drawingml/2006/main" noGrp="1"/>
          </p:cNvSpPr>
          <p:nvPr/>
        </p:nvSpPr>
        <p:spPr>
          <a:xfrm xmlns:a="http://schemas.openxmlformats.org/drawingml/2006/main">
            <a:off x="7343775" y="2819400"/>
            <a:ext cx="438150" cy="43815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6" name="">
            <a:extLst xmlns:a="http://schemas.openxmlformats.org/drawingml/2006/main">
              <a:ext uri="{FF2B5EF4-FFF2-40B4-BE49-F238E27FC236}">
                <a16:creationId xmlns:a16="http://schemas.microsoft.com/office/drawing/2014/main" id="{F30F3931-B5E4-419D-B2FF-865E141DD3EE}"/>
              </a:ext>
            </a:extLst>
          </p:cNvPr>
          <p:cNvSpPr>
            <a:spLocks xmlns:a="http://schemas.openxmlformats.org/drawingml/2006/main" noGrp="1"/>
          </p:cNvSpPr>
          <p:nvPr/>
        </p:nvSpPr>
        <p:spPr>
          <a:xfrm xmlns:a="http://schemas.openxmlformats.org/drawingml/2006/main">
            <a:off x="7343775" y="28194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7" name="">
            <a:extLst xmlns:a="http://schemas.openxmlformats.org/drawingml/2006/main">
              <a:ext uri="{FF2B5EF4-FFF2-40B4-BE49-F238E27FC236}">
                <a16:creationId xmlns:a16="http://schemas.microsoft.com/office/drawing/2014/main" id="{1A070E29-162A-4F08-90DD-9893122EA2D4}"/>
              </a:ext>
            </a:extLst>
          </p:cNvPr>
          <p:cNvSpPr>
            <a:spLocks xmlns:a="http://schemas.openxmlformats.org/drawingml/2006/main" noGrp="1"/>
          </p:cNvSpPr>
          <p:nvPr/>
        </p:nvSpPr>
        <p:spPr>
          <a:xfrm xmlns:a="http://schemas.openxmlformats.org/drawingml/2006/main">
            <a:off x="8724900" y="2819400"/>
            <a:ext cx="438150" cy="43815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28" name="">
            <a:extLst xmlns:a="http://schemas.openxmlformats.org/drawingml/2006/main">
              <a:ext uri="{FF2B5EF4-FFF2-40B4-BE49-F238E27FC236}">
                <a16:creationId xmlns:a16="http://schemas.microsoft.com/office/drawing/2014/main" id="{2F6971C2-DC6E-44A1-8D17-9FB8CC9BBBDB}"/>
              </a:ext>
            </a:extLst>
          </p:cNvPr>
          <p:cNvSpPr>
            <a:spLocks xmlns:a="http://schemas.openxmlformats.org/drawingml/2006/main" noGrp="1"/>
          </p:cNvSpPr>
          <p:nvPr/>
        </p:nvSpPr>
        <p:spPr>
          <a:xfrm xmlns:a="http://schemas.openxmlformats.org/drawingml/2006/main">
            <a:off x="8724900" y="28194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BEE9E722-2B4A-4647-BB48-82080DA417A0}"/>
              </a:ext>
            </a:extLst>
          </p:cNvPr>
          <p:cNvSpPr>
            <a:spLocks xmlns:a="http://schemas.openxmlformats.org/drawingml/2006/main" noGrp="1"/>
          </p:cNvSpPr>
          <p:nvPr/>
        </p:nvSpPr>
        <p:spPr>
          <a:xfrm xmlns:a="http://schemas.openxmlformats.org/drawingml/2006/main">
            <a:off x="10106025" y="2819400"/>
            <a:ext cx="438150" cy="438150"/>
          </a:xfrm>
          <a:prstGeom xmlns:a="http://schemas.openxmlformats.org/drawingml/2006/main" prst="ellipse">
            <a:avLst/>
          </a:prstGeom>
          <a:solidFill xmlns:a="http://schemas.openxmlformats.org/drawingml/2006/main">
            <a:srgbClr val="47D7D0"/>
          </a:solidFill>
          <a:ln xmlns:a="http://schemas.openxmlformats.org/drawingml/2006/main" w="19050">
            <a:solidFill>
              <a:srgbClr val="47D7D0"/>
            </a:solidFill>
            <a:prstDash val="solid"/>
          </a:ln>
        </p:spPr>
      </p:sp>
      <p:sp>
        <p:nvSpPr>
          <p:cNvPr id="30" name="">
            <a:extLst xmlns:a="http://schemas.openxmlformats.org/drawingml/2006/main">
              <a:ext uri="{FF2B5EF4-FFF2-40B4-BE49-F238E27FC236}">
                <a16:creationId xmlns:a16="http://schemas.microsoft.com/office/drawing/2014/main" id="{CC75B709-C716-4FFA-8F76-097790CF487A}"/>
              </a:ext>
            </a:extLst>
          </p:cNvPr>
          <p:cNvSpPr>
            <a:spLocks xmlns:a="http://schemas.openxmlformats.org/drawingml/2006/main" noGrp="1"/>
          </p:cNvSpPr>
          <p:nvPr/>
        </p:nvSpPr>
        <p:spPr>
          <a:xfrm xmlns:a="http://schemas.openxmlformats.org/drawingml/2006/main">
            <a:off x="10106025" y="28194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1FD6E1DB-EBFF-4D0D-805A-C95E63858943}"/>
              </a:ext>
            </a:extLst>
          </p:cNvPr>
          <p:cNvSpPr>
            <a:spLocks xmlns:a="http://schemas.openxmlformats.org/drawingml/2006/main" noGrp="1"/>
          </p:cNvSpPr>
          <p:nvPr/>
        </p:nvSpPr>
        <p:spPr>
          <a:xfrm xmlns:a="http://schemas.openxmlformats.org/drawingml/2006/main">
            <a:off x="5286375" y="35909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Probabilities</a:t>
            </a:r>
          </a:p>
        </p:txBody>
      </p:sp>
      <p:sp>
        <p:nvSpPr>
          <p:cNvPr id="32" name="">
            <a:extLst xmlns:a="http://schemas.openxmlformats.org/drawingml/2006/main">
              <a:ext uri="{FF2B5EF4-FFF2-40B4-BE49-F238E27FC236}">
                <a16:creationId xmlns:a16="http://schemas.microsoft.com/office/drawing/2014/main" id="{442750C5-7DD5-4178-BB13-AEE746E7511F}"/>
              </a:ext>
            </a:extLst>
          </p:cNvPr>
          <p:cNvSpPr>
            <a:spLocks xmlns:a="http://schemas.openxmlformats.org/drawingml/2006/main" noGrp="1"/>
          </p:cNvSpPr>
          <p:nvPr/>
        </p:nvSpPr>
        <p:spPr>
          <a:xfrm xmlns:a="http://schemas.openxmlformats.org/drawingml/2006/main">
            <a:off x="7343775" y="3505200"/>
            <a:ext cx="438150" cy="43815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33" name="">
            <a:extLst xmlns:a="http://schemas.openxmlformats.org/drawingml/2006/main">
              <a:ext uri="{FF2B5EF4-FFF2-40B4-BE49-F238E27FC236}">
                <a16:creationId xmlns:a16="http://schemas.microsoft.com/office/drawing/2014/main" id="{AAAAB994-E59A-4539-A06B-E89BB4138674}"/>
              </a:ext>
            </a:extLst>
          </p:cNvPr>
          <p:cNvSpPr>
            <a:spLocks xmlns:a="http://schemas.openxmlformats.org/drawingml/2006/main" noGrp="1"/>
          </p:cNvSpPr>
          <p:nvPr/>
        </p:nvSpPr>
        <p:spPr>
          <a:xfrm xmlns:a="http://schemas.openxmlformats.org/drawingml/2006/main">
            <a:off x="7343775" y="35052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174577BA-F53A-4ED4-A713-B206046F3614}"/>
              </a:ext>
            </a:extLst>
          </p:cNvPr>
          <p:cNvSpPr>
            <a:spLocks xmlns:a="http://schemas.openxmlformats.org/drawingml/2006/main" noGrp="1"/>
          </p:cNvSpPr>
          <p:nvPr/>
        </p:nvSpPr>
        <p:spPr>
          <a:xfrm xmlns:a="http://schemas.openxmlformats.org/drawingml/2006/main">
            <a:off x="8724900" y="3505200"/>
            <a:ext cx="438150" cy="43815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35" name="">
            <a:extLst xmlns:a="http://schemas.openxmlformats.org/drawingml/2006/main">
              <a:ext uri="{FF2B5EF4-FFF2-40B4-BE49-F238E27FC236}">
                <a16:creationId xmlns:a16="http://schemas.microsoft.com/office/drawing/2014/main" id="{3CF57215-8D04-4386-AAA1-6B2F7A44CAF4}"/>
              </a:ext>
            </a:extLst>
          </p:cNvPr>
          <p:cNvSpPr>
            <a:spLocks xmlns:a="http://schemas.openxmlformats.org/drawingml/2006/main" noGrp="1"/>
          </p:cNvSpPr>
          <p:nvPr/>
        </p:nvSpPr>
        <p:spPr>
          <a:xfrm xmlns:a="http://schemas.openxmlformats.org/drawingml/2006/main">
            <a:off x="8724900" y="35052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9554AECD-3970-491B-890D-CFBD3CF2AE53}"/>
              </a:ext>
            </a:extLst>
          </p:cNvPr>
          <p:cNvSpPr>
            <a:spLocks xmlns:a="http://schemas.openxmlformats.org/drawingml/2006/main" noGrp="1"/>
          </p:cNvSpPr>
          <p:nvPr/>
        </p:nvSpPr>
        <p:spPr>
          <a:xfrm xmlns:a="http://schemas.openxmlformats.org/drawingml/2006/main">
            <a:off x="10106025" y="3505200"/>
            <a:ext cx="438150" cy="438150"/>
          </a:xfrm>
          <a:prstGeom xmlns:a="http://schemas.openxmlformats.org/drawingml/2006/main" prst="ellipse">
            <a:avLst/>
          </a:prstGeom>
          <a:solidFill xmlns:a="http://schemas.openxmlformats.org/drawingml/2006/main">
            <a:srgbClr val="F4B860"/>
          </a:solidFill>
          <a:ln xmlns:a="http://schemas.openxmlformats.org/drawingml/2006/main" w="19050">
            <a:solidFill>
              <a:srgbClr val="F4B860"/>
            </a:solidFill>
            <a:prstDash val="solid"/>
          </a:ln>
        </p:spPr>
      </p:sp>
      <p:sp>
        <p:nvSpPr>
          <p:cNvPr id="37" name="">
            <a:extLst xmlns:a="http://schemas.openxmlformats.org/drawingml/2006/main">
              <a:ext uri="{FF2B5EF4-FFF2-40B4-BE49-F238E27FC236}">
                <a16:creationId xmlns:a16="http://schemas.microsoft.com/office/drawing/2014/main" id="{2D1C32CF-FAD7-4DCE-B11F-CCE04036B9A2}"/>
              </a:ext>
            </a:extLst>
          </p:cNvPr>
          <p:cNvSpPr>
            <a:spLocks xmlns:a="http://schemas.openxmlformats.org/drawingml/2006/main" noGrp="1"/>
          </p:cNvSpPr>
          <p:nvPr/>
        </p:nvSpPr>
        <p:spPr>
          <a:xfrm xmlns:a="http://schemas.openxmlformats.org/drawingml/2006/main">
            <a:off x="10106025" y="35052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38" name="">
            <a:extLst xmlns:a="http://schemas.openxmlformats.org/drawingml/2006/main">
              <a:ext uri="{FF2B5EF4-FFF2-40B4-BE49-F238E27FC236}">
                <a16:creationId xmlns:a16="http://schemas.microsoft.com/office/drawing/2014/main" id="{D88C528F-2D15-466A-8543-B891E415227F}"/>
              </a:ext>
            </a:extLst>
          </p:cNvPr>
          <p:cNvSpPr>
            <a:spLocks xmlns:a="http://schemas.openxmlformats.org/drawingml/2006/main" noGrp="1"/>
          </p:cNvSpPr>
          <p:nvPr/>
        </p:nvSpPr>
        <p:spPr>
          <a:xfrm xmlns:a="http://schemas.openxmlformats.org/drawingml/2006/main">
            <a:off x="5286375" y="42767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Regimes</a:t>
            </a:r>
          </a:p>
        </p:txBody>
      </p:sp>
      <p:sp>
        <p:nvSpPr>
          <p:cNvPr id="39" name="">
            <a:extLst xmlns:a="http://schemas.openxmlformats.org/drawingml/2006/main">
              <a:ext uri="{FF2B5EF4-FFF2-40B4-BE49-F238E27FC236}">
                <a16:creationId xmlns:a16="http://schemas.microsoft.com/office/drawing/2014/main" id="{F42BE877-2BD3-4A36-9755-3F4A2CB41103}"/>
              </a:ext>
            </a:extLst>
          </p:cNvPr>
          <p:cNvSpPr>
            <a:spLocks xmlns:a="http://schemas.openxmlformats.org/drawingml/2006/main" noGrp="1"/>
          </p:cNvSpPr>
          <p:nvPr/>
        </p:nvSpPr>
        <p:spPr>
          <a:xfrm xmlns:a="http://schemas.openxmlformats.org/drawingml/2006/main">
            <a:off x="7343775" y="4191000"/>
            <a:ext cx="438150" cy="43815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40" name="">
            <a:extLst xmlns:a="http://schemas.openxmlformats.org/drawingml/2006/main">
              <a:ext uri="{FF2B5EF4-FFF2-40B4-BE49-F238E27FC236}">
                <a16:creationId xmlns:a16="http://schemas.microsoft.com/office/drawing/2014/main" id="{D63D8245-740C-4189-865F-17D0BBC72688}"/>
              </a:ext>
            </a:extLst>
          </p:cNvPr>
          <p:cNvSpPr>
            <a:spLocks xmlns:a="http://schemas.openxmlformats.org/drawingml/2006/main" noGrp="1"/>
          </p:cNvSpPr>
          <p:nvPr/>
        </p:nvSpPr>
        <p:spPr>
          <a:xfrm xmlns:a="http://schemas.openxmlformats.org/drawingml/2006/main">
            <a:off x="7343775" y="4191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41" name="">
            <a:extLst xmlns:a="http://schemas.openxmlformats.org/drawingml/2006/main">
              <a:ext uri="{FF2B5EF4-FFF2-40B4-BE49-F238E27FC236}">
                <a16:creationId xmlns:a16="http://schemas.microsoft.com/office/drawing/2014/main" id="{15778C09-13E6-4E84-BFBC-A82E95A75317}"/>
              </a:ext>
            </a:extLst>
          </p:cNvPr>
          <p:cNvSpPr>
            <a:spLocks xmlns:a="http://schemas.openxmlformats.org/drawingml/2006/main" noGrp="1"/>
          </p:cNvSpPr>
          <p:nvPr/>
        </p:nvSpPr>
        <p:spPr>
          <a:xfrm xmlns:a="http://schemas.openxmlformats.org/drawingml/2006/main">
            <a:off x="8724900" y="4191000"/>
            <a:ext cx="438150" cy="43815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42" name="">
            <a:extLst xmlns:a="http://schemas.openxmlformats.org/drawingml/2006/main">
              <a:ext uri="{FF2B5EF4-FFF2-40B4-BE49-F238E27FC236}">
                <a16:creationId xmlns:a16="http://schemas.microsoft.com/office/drawing/2014/main" id="{25931FC9-2CD9-401C-A16E-C96773478376}"/>
              </a:ext>
            </a:extLst>
          </p:cNvPr>
          <p:cNvSpPr>
            <a:spLocks xmlns:a="http://schemas.openxmlformats.org/drawingml/2006/main" noGrp="1"/>
          </p:cNvSpPr>
          <p:nvPr/>
        </p:nvSpPr>
        <p:spPr>
          <a:xfrm xmlns:a="http://schemas.openxmlformats.org/drawingml/2006/main">
            <a:off x="8724900" y="4191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43" name="">
            <a:extLst xmlns:a="http://schemas.openxmlformats.org/drawingml/2006/main">
              <a:ext uri="{FF2B5EF4-FFF2-40B4-BE49-F238E27FC236}">
                <a16:creationId xmlns:a16="http://schemas.microsoft.com/office/drawing/2014/main" id="{A72769C2-5E76-4B89-A95A-76C29D92FC95}"/>
              </a:ext>
            </a:extLst>
          </p:cNvPr>
          <p:cNvSpPr>
            <a:spLocks xmlns:a="http://schemas.openxmlformats.org/drawingml/2006/main" noGrp="1"/>
          </p:cNvSpPr>
          <p:nvPr/>
        </p:nvSpPr>
        <p:spPr>
          <a:xfrm xmlns:a="http://schemas.openxmlformats.org/drawingml/2006/main">
            <a:off x="10106025" y="4191000"/>
            <a:ext cx="438150" cy="438150"/>
          </a:xfrm>
          <a:prstGeom xmlns:a="http://schemas.openxmlformats.org/drawingml/2006/main" prst="ellipse">
            <a:avLst/>
          </a:prstGeom>
          <a:solidFill xmlns:a="http://schemas.openxmlformats.org/drawingml/2006/main">
            <a:srgbClr val="9C7CFF"/>
          </a:solidFill>
          <a:ln xmlns:a="http://schemas.openxmlformats.org/drawingml/2006/main" w="19050">
            <a:solidFill>
              <a:srgbClr val="9C7CFF"/>
            </a:solidFill>
            <a:prstDash val="solid"/>
          </a:ln>
        </p:spPr>
      </p:sp>
      <p:sp>
        <p:nvSpPr>
          <p:cNvPr id="44" name="">
            <a:extLst xmlns:a="http://schemas.openxmlformats.org/drawingml/2006/main">
              <a:ext uri="{FF2B5EF4-FFF2-40B4-BE49-F238E27FC236}">
                <a16:creationId xmlns:a16="http://schemas.microsoft.com/office/drawing/2014/main" id="{D278BC58-D422-4537-96F7-EC124E7D464D}"/>
              </a:ext>
            </a:extLst>
          </p:cNvPr>
          <p:cNvSpPr>
            <a:spLocks xmlns:a="http://schemas.openxmlformats.org/drawingml/2006/main" noGrp="1"/>
          </p:cNvSpPr>
          <p:nvPr/>
        </p:nvSpPr>
        <p:spPr>
          <a:xfrm xmlns:a="http://schemas.openxmlformats.org/drawingml/2006/main">
            <a:off x="10106025" y="4191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45" name="">
            <a:extLst xmlns:a="http://schemas.openxmlformats.org/drawingml/2006/main">
              <a:ext uri="{FF2B5EF4-FFF2-40B4-BE49-F238E27FC236}">
                <a16:creationId xmlns:a16="http://schemas.microsoft.com/office/drawing/2014/main" id="{5E05E4A5-669D-4D13-819A-D15621F77DCA}"/>
              </a:ext>
            </a:extLst>
          </p:cNvPr>
          <p:cNvSpPr>
            <a:spLocks xmlns:a="http://schemas.openxmlformats.org/drawingml/2006/main" noGrp="1"/>
          </p:cNvSpPr>
          <p:nvPr/>
        </p:nvSpPr>
        <p:spPr>
          <a:xfrm xmlns:a="http://schemas.openxmlformats.org/drawingml/2006/main">
            <a:off x="6924675" y="4733925"/>
            <a:ext cx="4286250" cy="552450"/>
          </a:xfrm>
          <a:prstGeom xmlns:a="http://schemas.openxmlformats.org/drawingml/2006/main" prst="roundRect">
            <a:avLst>
              <a:gd name="adj" fmla="val 31034"/>
            </a:avLst>
          </a:prstGeom>
          <a:solidFill xmlns:a="http://schemas.openxmlformats.org/drawingml/2006/main">
            <a:srgbClr val="142941"/>
          </a:solidFill>
          <a:ln xmlns:a="http://schemas.openxmlformats.org/drawingml/2006/main" w="14288">
            <a:solidFill>
              <a:srgbClr val="4EA1FF"/>
            </a:solidFill>
            <a:prstDash val="solid"/>
          </a:ln>
        </p:spPr>
      </p:sp>
      <p:sp>
        <p:nvSpPr>
          <p:cNvPr id="46" name="">
            <a:extLst xmlns:a="http://schemas.openxmlformats.org/drawingml/2006/main">
              <a:ext uri="{FF2B5EF4-FFF2-40B4-BE49-F238E27FC236}">
                <a16:creationId xmlns:a16="http://schemas.microsoft.com/office/drawing/2014/main" id="{D114E044-284D-479D-A3BC-C4E8FD3FC7C8}"/>
              </a:ext>
            </a:extLst>
          </p:cNvPr>
          <p:cNvSpPr>
            <a:spLocks xmlns:a="http://schemas.openxmlformats.org/drawingml/2006/main" noGrp="1"/>
          </p:cNvSpPr>
          <p:nvPr/>
        </p:nvSpPr>
        <p:spPr>
          <a:xfrm xmlns:a="http://schemas.openxmlformats.org/drawingml/2006/main">
            <a:off x="7134225" y="4848225"/>
            <a:ext cx="3867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price • spread • age • width • side • threshold</a:t>
            </a:r>
          </a:p>
        </p:txBody>
      </p:sp>
      <p:sp>
        <p:nvSpPr>
          <p:cNvPr id="47" name="">
            <a:extLst xmlns:a="http://schemas.openxmlformats.org/drawingml/2006/main">
              <a:ext uri="{FF2B5EF4-FFF2-40B4-BE49-F238E27FC236}">
                <a16:creationId xmlns:a16="http://schemas.microsoft.com/office/drawing/2014/main" id="{1AE9813D-6CE4-4A67-9F1C-F8A218BCF99F}"/>
              </a:ext>
            </a:extLst>
          </p:cNvPr>
          <p:cNvSpPr>
            <a:spLocks xmlns:a="http://schemas.openxmlformats.org/drawingml/2006/main" noGrp="1"/>
          </p:cNvSpPr>
          <p:nvPr/>
        </p:nvSpPr>
        <p:spPr>
          <a:xfrm xmlns:a="http://schemas.openxmlformats.org/drawingml/2006/main">
            <a:off x="7905750" y="5391150"/>
            <a:ext cx="2333625" cy="342900"/>
          </a:xfrm>
          <a:prstGeom xmlns:a="http://schemas.openxmlformats.org/drawingml/2006/main" prst="roundRect">
            <a:avLst>
              <a:gd name="adj" fmla="val 50000"/>
            </a:avLst>
          </a:prstGeom>
          <a:solidFill xmlns:a="http://schemas.openxmlformats.org/drawingml/2006/main">
            <a:srgbClr val="4EA1FF">
              <a:alpha val="13333"/>
            </a:srgbClr>
          </a:solidFill>
          <a:ln xmlns:a="http://schemas.openxmlformats.org/drawingml/2006/main" w="9525">
            <a:solidFill>
              <a:srgbClr val="4EA1FF"/>
            </a:solidFill>
            <a:prstDash val="solid"/>
          </a:ln>
        </p:spPr>
      </p:sp>
      <p:sp>
        <p:nvSpPr>
          <p:cNvPr id="48" name="">
            <a:extLst xmlns:a="http://schemas.openxmlformats.org/drawingml/2006/main">
              <a:ext uri="{FF2B5EF4-FFF2-40B4-BE49-F238E27FC236}">
                <a16:creationId xmlns:a16="http://schemas.microsoft.com/office/drawing/2014/main" id="{FB8DEB8B-185B-45C8-8CDA-715FCC7C71A7}"/>
              </a:ext>
            </a:extLst>
          </p:cNvPr>
          <p:cNvSpPr>
            <a:spLocks xmlns:a="http://schemas.openxmlformats.org/drawingml/2006/main" noGrp="1"/>
          </p:cNvSpPr>
          <p:nvPr/>
        </p:nvSpPr>
        <p:spPr>
          <a:xfrm xmlns:a="http://schemas.openxmlformats.org/drawingml/2006/main">
            <a:off x="7905750" y="540067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4EA1FF"/>
                </a:solidFill>
                <a:latin typeface="Arial"/>
                <a:ea typeface="Arial"/>
                <a:cs typeface="Arial"/>
              </a:defRPr>
            </a:pPr>
            <a:r>
              <a:rPr sz="1200" b="1">
                <a:solidFill>
                  <a:srgbClr val="4EA1FF"/>
                </a:solidFill>
                <a:latin typeface="Arial"/>
                <a:ea typeface="Arial"/>
                <a:cs typeface="Arial"/>
              </a:rPr>
              <a:t>3,072 PLAN COMBINATIONS</a:t>
            </a:r>
          </a:p>
        </p:txBody>
      </p:sp>
    </p:spTree>
    <p:extLst>
      <p:ext uri="{BB962C8B-B14F-4D97-AF65-F5344CB8AC3E}">
        <p14:creationId xmlns:p14="http://schemas.microsoft.com/office/powerpoint/2010/main" val="692915949"/>
      </p:ext>
    </p:extLst>
  </p:cSld>
</p:sld>
</file>

<file path=ppt/slides/slide7.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FEBC997-0B38-4B4A-861B-9B6D401EA4BB}"/>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VERSION 4.1</a:t>
            </a:r>
          </a:p>
        </p:txBody>
      </p:sp>
      <p:sp>
        <p:nvSpPr>
          <p:cNvPr id="2" name="">
            <a:extLst xmlns:a="http://schemas.openxmlformats.org/drawingml/2006/main">
              <a:ext uri="{FF2B5EF4-FFF2-40B4-BE49-F238E27FC236}">
                <a16:creationId xmlns:a16="http://schemas.microsoft.com/office/drawing/2014/main" id="{4FCABAF4-F8C9-40E6-8BA2-428A27D5A53B}"/>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V4.1: continue without resetting</a:t>
            </a:r>
          </a:p>
        </p:txBody>
      </p:sp>
      <p:sp>
        <p:nvSpPr>
          <p:cNvPr id="3" name="">
            <a:extLst xmlns:a="http://schemas.openxmlformats.org/drawingml/2006/main">
              <a:ext uri="{FF2B5EF4-FFF2-40B4-BE49-F238E27FC236}">
                <a16:creationId xmlns:a16="http://schemas.microsoft.com/office/drawing/2014/main" id="{831F9074-3D35-409B-8CE7-2BDE83308069}"/>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3018483B-F826-46BB-9AFB-6091EB456BD9}"/>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A91767B0-A48B-42E5-AC29-74DC3A84C948}"/>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7256939F-B26B-40D0-A478-6D7B98130E6E}"/>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4FC1494E-74BA-4A77-8839-9C465837320A}"/>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Preserved 82 candidates + original deadline</a:t>
            </a:r>
          </a:p>
        </p:txBody>
      </p:sp>
      <p:sp>
        <p:nvSpPr>
          <p:cNvPr id="8" name="">
            <a:extLst xmlns:a="http://schemas.openxmlformats.org/drawingml/2006/main">
              <a:ext uri="{FF2B5EF4-FFF2-40B4-BE49-F238E27FC236}">
                <a16:creationId xmlns:a16="http://schemas.microsoft.com/office/drawing/2014/main" id="{8C545577-6D32-4AD5-9295-5A4950FC0AE5}"/>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2952167B-BE06-4E63-BFAC-EB00BA410509}"/>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Reached 240 candidates • 20 epochs</a:t>
            </a:r>
          </a:p>
        </p:txBody>
      </p:sp>
      <p:sp>
        <p:nvSpPr>
          <p:cNvPr id="10" name="">
            <a:extLst xmlns:a="http://schemas.openxmlformats.org/drawingml/2006/main">
              <a:ext uri="{FF2B5EF4-FFF2-40B4-BE49-F238E27FC236}">
                <a16:creationId xmlns:a16="http://schemas.microsoft.com/office/drawing/2014/main" id="{F0446B52-2203-435F-9FE3-1FCA07EB556C}"/>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B88D8DF2-A5BF-409D-B625-2A8406AB73D7}"/>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Stopped at malformed synthesis JSON</a:t>
            </a:r>
          </a:p>
        </p:txBody>
      </p:sp>
      <p:sp>
        <p:nvSpPr>
          <p:cNvPr id="12" name="">
            <a:extLst xmlns:a="http://schemas.openxmlformats.org/drawingml/2006/main">
              <a:ext uri="{FF2B5EF4-FFF2-40B4-BE49-F238E27FC236}">
                <a16:creationId xmlns:a16="http://schemas.microsoft.com/office/drawing/2014/main" id="{BD0E47C9-63DE-4ACE-AD35-FB827885C794}"/>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058DE7A0-C09A-4816-AF42-A30CDA712E5F}"/>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476"/>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The evidence survived the restart, but the campaign ended incomplete rather than issuing a final scientific result.</a:t>
            </a:r>
          </a:p>
        </p:txBody>
      </p:sp>
      <p:sp>
        <p:nvSpPr>
          <p:cNvPr id="14" name="">
            <a:extLst xmlns:a="http://schemas.openxmlformats.org/drawingml/2006/main">
              <a:ext uri="{FF2B5EF4-FFF2-40B4-BE49-F238E27FC236}">
                <a16:creationId xmlns:a16="http://schemas.microsoft.com/office/drawing/2014/main" id="{66629FAA-D684-4E9D-AC37-35ABE35F1987}"/>
              </a:ext>
            </a:extLst>
          </p:cNvPr>
          <p:cNvSpPr>
            <a:spLocks xmlns:a="http://schemas.openxmlformats.org/drawingml/2006/main" noGrp="1"/>
          </p:cNvSpPr>
          <p:nvPr/>
        </p:nvSpPr>
        <p:spPr>
          <a:xfrm xmlns:a="http://schemas.openxmlformats.org/drawingml/2006/main">
            <a:off x="5715000" y="3219450"/>
            <a:ext cx="4933950" cy="0"/>
          </a:xfrm>
          <a:prstGeom xmlns:a="http://schemas.openxmlformats.org/drawingml/2006/main" prst="line">
            <a:avLst/>
          </a:prstGeom>
          <a:noFill xmlns:a="http://schemas.openxmlformats.org/drawingml/2006/main"/>
          <a:ln xmlns:a="http://schemas.openxmlformats.org/drawingml/2006/main" w="66675">
            <a:solidFill>
              <a:srgbClr val="31445D"/>
            </a:solidFill>
            <a:prstDash val="solid"/>
          </a:ln>
        </p:spPr>
      </p:sp>
      <p:sp>
        <p:nvSpPr>
          <p:cNvPr id="15" name="">
            <a:extLst xmlns:a="http://schemas.openxmlformats.org/drawingml/2006/main">
              <a:ext uri="{FF2B5EF4-FFF2-40B4-BE49-F238E27FC236}">
                <a16:creationId xmlns:a16="http://schemas.microsoft.com/office/drawing/2014/main" id="{74568075-60AD-455C-A2C3-A9B67F9E4223}"/>
              </a:ext>
            </a:extLst>
          </p:cNvPr>
          <p:cNvSpPr>
            <a:spLocks xmlns:a="http://schemas.openxmlformats.org/drawingml/2006/main" noGrp="1"/>
          </p:cNvSpPr>
          <p:nvPr/>
        </p:nvSpPr>
        <p:spPr>
          <a:xfrm xmlns:a="http://schemas.openxmlformats.org/drawingml/2006/main">
            <a:off x="5543550" y="2857500"/>
            <a:ext cx="781050" cy="7810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16" name="">
            <a:extLst xmlns:a="http://schemas.openxmlformats.org/drawingml/2006/main">
              <a:ext uri="{FF2B5EF4-FFF2-40B4-BE49-F238E27FC236}">
                <a16:creationId xmlns:a16="http://schemas.microsoft.com/office/drawing/2014/main" id="{962F96BB-DFFE-4519-A771-39CDD9D042DB}"/>
              </a:ext>
            </a:extLst>
          </p:cNvPr>
          <p:cNvSpPr>
            <a:spLocks xmlns:a="http://schemas.openxmlformats.org/drawingml/2006/main" noGrp="1"/>
          </p:cNvSpPr>
          <p:nvPr/>
        </p:nvSpPr>
        <p:spPr>
          <a:xfrm xmlns:a="http://schemas.openxmlformats.org/drawingml/2006/main">
            <a:off x="5543550" y="285750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a:solidFill>
                  <a:srgbClr val="0B1320"/>
                </a:solidFill>
                <a:latin typeface="Arial"/>
                <a:ea typeface="Arial"/>
                <a:cs typeface="Arial"/>
              </a:defRPr>
            </a:pPr>
            <a:r>
              <a:rPr sz="2175" b="1">
                <a:solidFill>
                  <a:srgbClr val="0B1320"/>
                </a:solidFill>
                <a:latin typeface="Arial"/>
                <a:ea typeface="Arial"/>
                <a:cs typeface="Arial"/>
              </a:rPr>
              <a:t>82</a:t>
            </a:r>
          </a:p>
        </p:txBody>
      </p:sp>
      <p:sp>
        <p:nvSpPr>
          <p:cNvPr id="17" name="">
            <a:extLst xmlns:a="http://schemas.openxmlformats.org/drawingml/2006/main">
              <a:ext uri="{FF2B5EF4-FFF2-40B4-BE49-F238E27FC236}">
                <a16:creationId xmlns:a16="http://schemas.microsoft.com/office/drawing/2014/main" id="{E3969CC4-78FF-443B-B6B5-68A77F606444}"/>
              </a:ext>
            </a:extLst>
          </p:cNvPr>
          <p:cNvSpPr>
            <a:spLocks xmlns:a="http://schemas.openxmlformats.org/drawingml/2006/main" noGrp="1"/>
          </p:cNvSpPr>
          <p:nvPr/>
        </p:nvSpPr>
        <p:spPr>
          <a:xfrm xmlns:a="http://schemas.openxmlformats.org/drawingml/2006/main">
            <a:off x="5324475" y="37719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V4 checkpoint</a:t>
            </a:r>
          </a:p>
        </p:txBody>
      </p:sp>
      <p:sp>
        <p:nvSpPr>
          <p:cNvPr id="18" name="">
            <a:extLst xmlns:a="http://schemas.openxmlformats.org/drawingml/2006/main">
              <a:ext uri="{FF2B5EF4-FFF2-40B4-BE49-F238E27FC236}">
                <a16:creationId xmlns:a16="http://schemas.microsoft.com/office/drawing/2014/main" id="{6C4FFEB5-A279-457D-9D5F-9F3642CAFE39}"/>
              </a:ext>
            </a:extLst>
          </p:cNvPr>
          <p:cNvSpPr>
            <a:spLocks xmlns:a="http://schemas.openxmlformats.org/drawingml/2006/main" noGrp="1"/>
          </p:cNvSpPr>
          <p:nvPr/>
        </p:nvSpPr>
        <p:spPr>
          <a:xfrm xmlns:a="http://schemas.openxmlformats.org/drawingml/2006/main">
            <a:off x="7124700" y="2505075"/>
            <a:ext cx="1809750" cy="1428750"/>
          </a:xfrm>
          <a:prstGeom xmlns:a="http://schemas.openxmlformats.org/drawingml/2006/main" prst="roundRect">
            <a:avLst>
              <a:gd name="adj" fmla="val 14667"/>
            </a:avLst>
          </a:prstGeom>
          <a:solidFill xmlns:a="http://schemas.openxmlformats.org/drawingml/2006/main">
            <a:srgbClr val="142941"/>
          </a:solidFill>
          <a:ln xmlns:a="http://schemas.openxmlformats.org/drawingml/2006/main" w="19050">
            <a:solidFill>
              <a:srgbClr val="47D7D0"/>
            </a:solidFill>
            <a:prstDash val="solid"/>
          </a:ln>
        </p:spPr>
      </p:sp>
      <p:sp>
        <p:nvSpPr>
          <p:cNvPr id="19" name="">
            <a:extLst xmlns:a="http://schemas.openxmlformats.org/drawingml/2006/main">
              <a:ext uri="{FF2B5EF4-FFF2-40B4-BE49-F238E27FC236}">
                <a16:creationId xmlns:a16="http://schemas.microsoft.com/office/drawing/2014/main" id="{55B4F447-022B-4E71-AA1C-0B5C6030CA8A}"/>
              </a:ext>
            </a:extLst>
          </p:cNvPr>
          <p:cNvSpPr>
            <a:spLocks xmlns:a="http://schemas.openxmlformats.org/drawingml/2006/main" noGrp="1"/>
          </p:cNvSpPr>
          <p:nvPr/>
        </p:nvSpPr>
        <p:spPr>
          <a:xfrm xmlns:a="http://schemas.openxmlformats.org/drawingml/2006/main">
            <a:off x="7286625" y="2686050"/>
            <a:ext cx="1485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CONTINUATION</a:t>
            </a:r>
          </a:p>
        </p:txBody>
      </p:sp>
      <p:sp>
        <p:nvSpPr>
          <p:cNvPr id="20" name="">
            <a:extLst xmlns:a="http://schemas.openxmlformats.org/drawingml/2006/main">
              <a:ext uri="{FF2B5EF4-FFF2-40B4-BE49-F238E27FC236}">
                <a16:creationId xmlns:a16="http://schemas.microsoft.com/office/drawing/2014/main" id="{C2A06026-8959-4EAF-A6FC-02A8F85F0F83}"/>
              </a:ext>
            </a:extLst>
          </p:cNvPr>
          <p:cNvSpPr>
            <a:spLocks xmlns:a="http://schemas.openxmlformats.org/drawingml/2006/main" noGrp="1"/>
          </p:cNvSpPr>
          <p:nvPr/>
        </p:nvSpPr>
        <p:spPr>
          <a:xfrm xmlns:a="http://schemas.openxmlformats.org/drawingml/2006/main">
            <a:off x="7334250" y="3038475"/>
            <a:ext cx="1390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697"/>
          </a:bodyPr>
          <a:lstStyle xmlns:a="http://schemas.openxmlformats.org/drawingml/2006/main"/>
          <a:p xmlns:a="http://schemas.openxmlformats.org/drawingml/2006/main">
            <a:pPr algn="ctr">
              <a:lnSpc>
                <a:spcPct val="100000"/>
              </a:lnSpc>
              <a:buNone/>
              <a:defRPr sz="1650" b="1">
                <a:solidFill>
                  <a:srgbClr val="F5F7FA"/>
                </a:solidFill>
                <a:latin typeface="Arial"/>
                <a:ea typeface="Arial"/>
                <a:cs typeface="Arial"/>
              </a:defRPr>
            </a:pPr>
            <a:r>
              <a:rPr sz="1650" b="1">
                <a:solidFill>
                  <a:srgbClr val="F5F7FA"/>
                </a:solidFill>
                <a:latin typeface="Arial"/>
                <a:ea typeface="Arial"/>
                <a:cs typeface="Arial"/>
              </a:rPr>
              <a:t>same data</a:t>
            </a:r>
          </a:p>
          <a:p xmlns:a="http://schemas.openxmlformats.org/drawingml/2006/main">
            <a:pPr algn="ctr">
              <a:lnSpc>
                <a:spcPct val="100000"/>
              </a:lnSpc>
              <a:buNone/>
              <a:defRPr sz="1650" b="1">
                <a:solidFill>
                  <a:srgbClr val="F5F7FA"/>
                </a:solidFill>
                <a:latin typeface="Arial"/>
                <a:ea typeface="Arial"/>
                <a:cs typeface="Arial"/>
              </a:defRPr>
            </a:pPr>
            <a:r>
              <a:rPr sz="1650" b="1">
                <a:solidFill>
                  <a:srgbClr val="F5F7FA"/>
                </a:solidFill>
                <a:latin typeface="Arial"/>
                <a:ea typeface="Arial"/>
                <a:cs typeface="Arial"/>
              </a:rPr>
              <a:t>same budget</a:t>
            </a:r>
          </a:p>
          <a:p xmlns:a="http://schemas.openxmlformats.org/drawingml/2006/main">
            <a:pPr algn="ctr">
              <a:lnSpc>
                <a:spcPct val="100000"/>
              </a:lnSpc>
              <a:buNone/>
              <a:defRPr sz="1650" b="1">
                <a:solidFill>
                  <a:srgbClr val="F5F7FA"/>
                </a:solidFill>
                <a:latin typeface="Arial"/>
                <a:ea typeface="Arial"/>
                <a:cs typeface="Arial"/>
              </a:defRPr>
            </a:pPr>
            <a:r>
              <a:rPr sz="1650" b="1">
                <a:solidFill>
                  <a:srgbClr val="F5F7FA"/>
                </a:solidFill>
                <a:latin typeface="Arial"/>
                <a:ea typeface="Arial"/>
                <a:cs typeface="Arial"/>
              </a:rPr>
              <a:t>same clock</a:t>
            </a:r>
          </a:p>
        </p:txBody>
      </p:sp>
      <p:sp>
        <p:nvSpPr>
          <p:cNvPr id="21" name="">
            <a:extLst xmlns:a="http://schemas.openxmlformats.org/drawingml/2006/main">
              <a:ext uri="{FF2B5EF4-FFF2-40B4-BE49-F238E27FC236}">
                <a16:creationId xmlns:a16="http://schemas.microsoft.com/office/drawing/2014/main" id="{20B1E4D0-0EC8-4C8E-ADC0-E784315FA06F}"/>
              </a:ext>
            </a:extLst>
          </p:cNvPr>
          <p:cNvSpPr>
            <a:spLocks xmlns:a="http://schemas.openxmlformats.org/drawingml/2006/main" noGrp="1"/>
          </p:cNvSpPr>
          <p:nvPr/>
        </p:nvSpPr>
        <p:spPr>
          <a:xfrm xmlns:a="http://schemas.openxmlformats.org/drawingml/2006/main">
            <a:off x="9715500" y="2857500"/>
            <a:ext cx="781050" cy="781050"/>
          </a:xfrm>
          <a:prstGeom xmlns:a="http://schemas.openxmlformats.org/drawingml/2006/main" prst="ellipse">
            <a:avLst/>
          </a:prstGeom>
          <a:solidFill xmlns:a="http://schemas.openxmlformats.org/drawingml/2006/main">
            <a:srgbClr val="4DD28A"/>
          </a:solidFill>
          <a:ln xmlns:a="http://schemas.openxmlformats.org/drawingml/2006/main" w="19050">
            <a:solidFill>
              <a:srgbClr val="4DD28A"/>
            </a:solidFill>
            <a:prstDash val="solid"/>
          </a:ln>
        </p:spPr>
      </p:sp>
      <p:sp>
        <p:nvSpPr>
          <p:cNvPr id="22" name="">
            <a:extLst xmlns:a="http://schemas.openxmlformats.org/drawingml/2006/main">
              <a:ext uri="{FF2B5EF4-FFF2-40B4-BE49-F238E27FC236}">
                <a16:creationId xmlns:a16="http://schemas.microsoft.com/office/drawing/2014/main" id="{BDE4C5AF-DAB9-4232-9F9A-B5757F9C0861}"/>
              </a:ext>
            </a:extLst>
          </p:cNvPr>
          <p:cNvSpPr>
            <a:spLocks xmlns:a="http://schemas.openxmlformats.org/drawingml/2006/main" noGrp="1"/>
          </p:cNvSpPr>
          <p:nvPr/>
        </p:nvSpPr>
        <p:spPr>
          <a:xfrm xmlns:a="http://schemas.openxmlformats.org/drawingml/2006/main">
            <a:off x="9715500" y="285750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a:solidFill>
                  <a:srgbClr val="0B1320"/>
                </a:solidFill>
                <a:latin typeface="Arial"/>
                <a:ea typeface="Arial"/>
                <a:cs typeface="Arial"/>
              </a:defRPr>
            </a:pPr>
            <a:r>
              <a:rPr sz="2175" b="1">
                <a:solidFill>
                  <a:srgbClr val="0B1320"/>
                </a:solidFill>
                <a:latin typeface="Arial"/>
                <a:ea typeface="Arial"/>
                <a:cs typeface="Arial"/>
              </a:rPr>
              <a:t>240</a:t>
            </a:r>
          </a:p>
        </p:txBody>
      </p:sp>
      <p:sp>
        <p:nvSpPr>
          <p:cNvPr id="23" name="">
            <a:extLst xmlns:a="http://schemas.openxmlformats.org/drawingml/2006/main">
              <a:ext uri="{FF2B5EF4-FFF2-40B4-BE49-F238E27FC236}">
                <a16:creationId xmlns:a16="http://schemas.microsoft.com/office/drawing/2014/main" id="{93F9DA5E-A2B1-4F71-9AFD-AA2A64DA8183}"/>
              </a:ext>
            </a:extLst>
          </p:cNvPr>
          <p:cNvSpPr>
            <a:spLocks xmlns:a="http://schemas.openxmlformats.org/drawingml/2006/main" noGrp="1"/>
          </p:cNvSpPr>
          <p:nvPr/>
        </p:nvSpPr>
        <p:spPr>
          <a:xfrm xmlns:a="http://schemas.openxmlformats.org/drawingml/2006/main">
            <a:off x="9496425" y="37719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V4.1 reached</a:t>
            </a:r>
          </a:p>
        </p:txBody>
      </p:sp>
      <p:sp>
        <p:nvSpPr>
          <p:cNvPr id="24" name="">
            <a:extLst xmlns:a="http://schemas.openxmlformats.org/drawingml/2006/main">
              <a:ext uri="{FF2B5EF4-FFF2-40B4-BE49-F238E27FC236}">
                <a16:creationId xmlns:a16="http://schemas.microsoft.com/office/drawing/2014/main" id="{2410C22C-96C3-4653-9BD7-9EA87BAB23A9}"/>
              </a:ext>
            </a:extLst>
          </p:cNvPr>
          <p:cNvSpPr>
            <a:spLocks xmlns:a="http://schemas.openxmlformats.org/drawingml/2006/main" noGrp="1"/>
          </p:cNvSpPr>
          <p:nvPr/>
        </p:nvSpPr>
        <p:spPr>
          <a:xfrm xmlns:a="http://schemas.openxmlformats.org/drawingml/2006/main">
            <a:off x="7315200" y="4457700"/>
            <a:ext cx="2914650" cy="628650"/>
          </a:xfrm>
          <a:prstGeom xmlns:a="http://schemas.openxmlformats.org/drawingml/2006/main" prst="roundRect">
            <a:avLst>
              <a:gd name="adj" fmla="val 24242"/>
            </a:avLst>
          </a:prstGeom>
          <a:solidFill xmlns:a="http://schemas.openxmlformats.org/drawingml/2006/main">
            <a:srgbClr val="321D29"/>
          </a:solidFill>
          <a:ln xmlns:a="http://schemas.openxmlformats.org/drawingml/2006/main" w="19050">
            <a:solidFill>
              <a:srgbClr val="FF6B6B"/>
            </a:solidFill>
            <a:prstDash val="solid"/>
          </a:ln>
        </p:spPr>
      </p:sp>
      <p:sp>
        <p:nvSpPr>
          <p:cNvPr id="25" name="">
            <a:extLst xmlns:a="http://schemas.openxmlformats.org/drawingml/2006/main">
              <a:ext uri="{FF2B5EF4-FFF2-40B4-BE49-F238E27FC236}">
                <a16:creationId xmlns:a16="http://schemas.microsoft.com/office/drawing/2014/main" id="{85A134A5-0529-4878-B006-9FA0823B928D}"/>
              </a:ext>
            </a:extLst>
          </p:cNvPr>
          <p:cNvSpPr>
            <a:spLocks xmlns:a="http://schemas.openxmlformats.org/drawingml/2006/main" noGrp="1"/>
          </p:cNvSpPr>
          <p:nvPr/>
        </p:nvSpPr>
        <p:spPr>
          <a:xfrm xmlns:a="http://schemas.openxmlformats.org/drawingml/2006/main">
            <a:off x="7496175" y="4600575"/>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1439"/>
          </a:bodyPr>
          <a:lstStyle xmlns:a="http://schemas.openxmlformats.org/drawingml/2006/main"/>
          <a:p xmlns:a="http://schemas.openxmlformats.org/drawingml/2006/main">
            <a:pPr algn="ctr">
              <a:lnSpc>
                <a:spcPct val="100000"/>
              </a:lnSpc>
              <a:buNone/>
              <a:defRPr sz="1425" b="1">
                <a:solidFill>
                  <a:srgbClr val="FF6B6B"/>
                </a:solidFill>
                <a:latin typeface="Arial"/>
                <a:ea typeface="Arial"/>
                <a:cs typeface="Arial"/>
              </a:defRPr>
            </a:pPr>
            <a:r>
              <a:rPr sz="1425" b="1">
                <a:solidFill>
                  <a:srgbClr val="FF6B6B"/>
                </a:solidFill>
                <a:latin typeface="Arial"/>
                <a:ea typeface="Arial"/>
                <a:cs typeface="Arial"/>
              </a:rPr>
              <a:t>SYNTHESIS FORMAT FAILED 3×</a:t>
            </a:r>
          </a:p>
        </p:txBody>
      </p:sp>
      <p:sp>
        <p:nvSpPr>
          <p:cNvPr id="26" name="">
            <a:extLst xmlns:a="http://schemas.openxmlformats.org/drawingml/2006/main">
              <a:ext uri="{FF2B5EF4-FFF2-40B4-BE49-F238E27FC236}">
                <a16:creationId xmlns:a16="http://schemas.microsoft.com/office/drawing/2014/main" id="{FF1A546B-EF80-4FDA-B96F-44EDA2D2FD3B}"/>
              </a:ext>
            </a:extLst>
          </p:cNvPr>
          <p:cNvSpPr>
            <a:spLocks xmlns:a="http://schemas.openxmlformats.org/drawingml/2006/main" noGrp="1"/>
          </p:cNvSpPr>
          <p:nvPr/>
        </p:nvSpPr>
        <p:spPr>
          <a:xfrm xmlns:a="http://schemas.openxmlformats.org/drawingml/2006/main">
            <a:off x="5657850" y="5981700"/>
            <a:ext cx="4876800" cy="0"/>
          </a:xfrm>
          <a:prstGeom xmlns:a="http://schemas.openxmlformats.org/drawingml/2006/main" prst="line">
            <a:avLst/>
          </a:prstGeom>
          <a:noFill xmlns:a="http://schemas.openxmlformats.org/drawingml/2006/main"/>
          <a:ln xmlns:a="http://schemas.openxmlformats.org/drawingml/2006/main" w="38100">
            <a:solidFill>
              <a:srgbClr val="31445D"/>
            </a:solidFill>
            <a:prstDash val="solid"/>
          </a:ln>
        </p:spPr>
      </p:sp>
      <p:sp>
        <p:nvSpPr>
          <p:cNvPr id="27" name="">
            <a:extLst xmlns:a="http://schemas.openxmlformats.org/drawingml/2006/main">
              <a:ext uri="{FF2B5EF4-FFF2-40B4-BE49-F238E27FC236}">
                <a16:creationId xmlns:a16="http://schemas.microsoft.com/office/drawing/2014/main" id="{0C1A574C-C2A5-4EE1-B5D4-6B43AD06A34F}"/>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28" name="">
            <a:extLst xmlns:a="http://schemas.openxmlformats.org/drawingml/2006/main">
              <a:ext uri="{FF2B5EF4-FFF2-40B4-BE49-F238E27FC236}">
                <a16:creationId xmlns:a16="http://schemas.microsoft.com/office/drawing/2014/main" id="{1E203990-599A-4A75-9401-0F78BC623665}"/>
              </a:ext>
            </a:extLst>
          </p:cNvPr>
          <p:cNvSpPr>
            <a:spLocks xmlns:a="http://schemas.openxmlformats.org/drawingml/2006/main" noGrp="1"/>
          </p:cNvSpPr>
          <p:nvPr/>
        </p:nvSpPr>
        <p:spPr>
          <a:xfrm xmlns:a="http://schemas.openxmlformats.org/drawingml/2006/main">
            <a:off x="54768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V1</a:t>
            </a:r>
          </a:p>
        </p:txBody>
      </p:sp>
      <p:sp>
        <p:nvSpPr>
          <p:cNvPr id="29" name="">
            <a:extLst xmlns:a="http://schemas.openxmlformats.org/drawingml/2006/main">
              <a:ext uri="{FF2B5EF4-FFF2-40B4-BE49-F238E27FC236}">
                <a16:creationId xmlns:a16="http://schemas.microsoft.com/office/drawing/2014/main" id="{E20882B2-BA17-431B-866F-E5ADE42FB6E5}"/>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0" name="">
            <a:extLst xmlns:a="http://schemas.openxmlformats.org/drawingml/2006/main">
              <a:ext uri="{FF2B5EF4-FFF2-40B4-BE49-F238E27FC236}">
                <a16:creationId xmlns:a16="http://schemas.microsoft.com/office/drawing/2014/main" id="{6D21E812-8A42-4C2D-9024-36D219AE478E}"/>
              </a:ext>
            </a:extLst>
          </p:cNvPr>
          <p:cNvSpPr>
            <a:spLocks xmlns:a="http://schemas.openxmlformats.org/drawingml/2006/main" noGrp="1"/>
          </p:cNvSpPr>
          <p:nvPr/>
        </p:nvSpPr>
        <p:spPr>
          <a:xfrm xmlns:a="http://schemas.openxmlformats.org/drawingml/2006/main">
            <a:off x="66960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V2</a:t>
            </a:r>
          </a:p>
        </p:txBody>
      </p:sp>
      <p:sp>
        <p:nvSpPr>
          <p:cNvPr id="31" name="">
            <a:extLst xmlns:a="http://schemas.openxmlformats.org/drawingml/2006/main">
              <a:ext uri="{FF2B5EF4-FFF2-40B4-BE49-F238E27FC236}">
                <a16:creationId xmlns:a16="http://schemas.microsoft.com/office/drawing/2014/main" id="{0FD94258-0F91-4CC3-A746-EDD3133498A4}"/>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2" name="">
            <a:extLst xmlns:a="http://schemas.openxmlformats.org/drawingml/2006/main">
              <a:ext uri="{FF2B5EF4-FFF2-40B4-BE49-F238E27FC236}">
                <a16:creationId xmlns:a16="http://schemas.microsoft.com/office/drawing/2014/main" id="{35F1C35E-0BD8-42F2-8EAD-241EC3A57BF5}"/>
              </a:ext>
            </a:extLst>
          </p:cNvPr>
          <p:cNvSpPr>
            <a:spLocks xmlns:a="http://schemas.openxmlformats.org/drawingml/2006/main" noGrp="1"/>
          </p:cNvSpPr>
          <p:nvPr/>
        </p:nvSpPr>
        <p:spPr>
          <a:xfrm xmlns:a="http://schemas.openxmlformats.org/drawingml/2006/main">
            <a:off x="79152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V3</a:t>
            </a:r>
          </a:p>
        </p:txBody>
      </p:sp>
      <p:sp>
        <p:nvSpPr>
          <p:cNvPr id="33" name="">
            <a:extLst xmlns:a="http://schemas.openxmlformats.org/drawingml/2006/main">
              <a:ext uri="{FF2B5EF4-FFF2-40B4-BE49-F238E27FC236}">
                <a16:creationId xmlns:a16="http://schemas.microsoft.com/office/drawing/2014/main" id="{7D80EBC6-076F-4C2F-968D-AA974D884ACD}"/>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4" name="">
            <a:extLst xmlns:a="http://schemas.openxmlformats.org/drawingml/2006/main">
              <a:ext uri="{FF2B5EF4-FFF2-40B4-BE49-F238E27FC236}">
                <a16:creationId xmlns:a16="http://schemas.microsoft.com/office/drawing/2014/main" id="{4D91D7A4-4D5B-4C7D-AB4B-4FB78E13ED51}"/>
              </a:ext>
            </a:extLst>
          </p:cNvPr>
          <p:cNvSpPr>
            <a:spLocks xmlns:a="http://schemas.openxmlformats.org/drawingml/2006/main" noGrp="1"/>
          </p:cNvSpPr>
          <p:nvPr/>
        </p:nvSpPr>
        <p:spPr>
          <a:xfrm xmlns:a="http://schemas.openxmlformats.org/drawingml/2006/main">
            <a:off x="91344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a:t>
            </a:r>
          </a:p>
        </p:txBody>
      </p:sp>
      <p:sp>
        <p:nvSpPr>
          <p:cNvPr id="35" name="">
            <a:extLst xmlns:a="http://schemas.openxmlformats.org/drawingml/2006/main">
              <a:ext uri="{FF2B5EF4-FFF2-40B4-BE49-F238E27FC236}">
                <a16:creationId xmlns:a16="http://schemas.microsoft.com/office/drawing/2014/main" id="{677E0391-211A-415F-8241-E96C4333C5F7}"/>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ellipse">
            <a:avLst/>
          </a:prstGeom>
          <a:solidFill xmlns:a="http://schemas.openxmlformats.org/drawingml/2006/main">
            <a:srgbClr val="4EA1FF"/>
          </a:solidFill>
          <a:ln xmlns:a="http://schemas.openxmlformats.org/drawingml/2006/main" w="19050">
            <a:solidFill>
              <a:srgbClr val="4EA1FF"/>
            </a:solidFill>
            <a:prstDash val="solid"/>
          </a:ln>
        </p:spPr>
      </p:sp>
      <p:sp>
        <p:nvSpPr>
          <p:cNvPr id="36" name="">
            <a:extLst xmlns:a="http://schemas.openxmlformats.org/drawingml/2006/main">
              <a:ext uri="{FF2B5EF4-FFF2-40B4-BE49-F238E27FC236}">
                <a16:creationId xmlns:a16="http://schemas.microsoft.com/office/drawing/2014/main" id="{A1E1824C-FEB1-462D-9808-288A1EE21819}"/>
              </a:ext>
            </a:extLst>
          </p:cNvPr>
          <p:cNvSpPr>
            <a:spLocks xmlns:a="http://schemas.openxmlformats.org/drawingml/2006/main" noGrp="1"/>
          </p:cNvSpPr>
          <p:nvPr/>
        </p:nvSpPr>
        <p:spPr>
          <a:xfrm xmlns:a="http://schemas.openxmlformats.org/drawingml/2006/main">
            <a:off x="10353675" y="58007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50" b="1">
                <a:solidFill>
                  <a:srgbClr val="F5F7FA"/>
                </a:solidFill>
                <a:latin typeface="Arial"/>
                <a:ea typeface="Arial"/>
                <a:cs typeface="Arial"/>
              </a:defRPr>
            </a:pPr>
            <a:r>
              <a:rPr sz="1050" b="1">
                <a:solidFill>
                  <a:srgbClr val="F5F7FA"/>
                </a:solidFill>
                <a:latin typeface="Arial"/>
                <a:ea typeface="Arial"/>
                <a:cs typeface="Arial"/>
              </a:rPr>
              <a:t>V4.1</a:t>
            </a:r>
          </a:p>
        </p:txBody>
      </p:sp>
    </p:spTree>
    <p:extLst>
      <p:ext uri="{BB962C8B-B14F-4D97-AF65-F5344CB8AC3E}">
        <p14:creationId xmlns:p14="http://schemas.microsoft.com/office/powerpoint/2010/main" val="103522384"/>
      </p:ext>
    </p:extLst>
  </p:cSld>
</p:sld>
</file>

<file path=ppt/slides/slide8.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6C2A0C-746F-439A-AA68-BB37515190EE}"/>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CURRENT EVIDENCE</a:t>
            </a:r>
          </a:p>
        </p:txBody>
      </p:sp>
      <p:sp>
        <p:nvSpPr>
          <p:cNvPr id="2" name="">
            <a:extLst xmlns:a="http://schemas.openxmlformats.org/drawingml/2006/main">
              <a:ext uri="{FF2B5EF4-FFF2-40B4-BE49-F238E27FC236}">
                <a16:creationId xmlns:a16="http://schemas.microsoft.com/office/drawing/2014/main" id="{D4427DDF-ECA3-443B-B8D1-1D8E4078FD07}"/>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What the 240-candidate search found</a:t>
            </a:r>
          </a:p>
        </p:txBody>
      </p:sp>
      <p:sp>
        <p:nvSpPr>
          <p:cNvPr id="3" name="">
            <a:extLst xmlns:a="http://schemas.openxmlformats.org/drawingml/2006/main">
              <a:ext uri="{FF2B5EF4-FFF2-40B4-BE49-F238E27FC236}">
                <a16:creationId xmlns:a16="http://schemas.microsoft.com/office/drawing/2014/main" id="{D7298D19-F8A2-43AF-B6AF-CC4F905B5454}"/>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F0D184D5-E86E-4BFD-8318-DE23ACB8AEAB}"/>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F47DE984-35F8-40EE-B03B-9578FB7C1D11}"/>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20C8C4F4-0A24-441A-9396-B4EE0BF42794}"/>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8E429E16-EA01-43B9-B87C-03E564CDB978}"/>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DD28A"/>
                </a:solidFill>
                <a:latin typeface="Arial"/>
                <a:ea typeface="Arial"/>
                <a:cs typeface="Arial"/>
              </a:defRPr>
            </a:pPr>
            <a:r>
              <a:rPr sz="1875" b="1">
                <a:solidFill>
                  <a:srgbClr val="4DD28A"/>
                </a:solidFill>
                <a:latin typeface="Arial"/>
                <a:ea typeface="Arial"/>
                <a:cs typeface="Arial"/>
              </a:rPr>
              <a:t>135 showed positive raw return</a:t>
            </a:r>
          </a:p>
        </p:txBody>
      </p:sp>
      <p:sp>
        <p:nvSpPr>
          <p:cNvPr id="8" name="">
            <a:extLst xmlns:a="http://schemas.openxmlformats.org/drawingml/2006/main">
              <a:ext uri="{FF2B5EF4-FFF2-40B4-BE49-F238E27FC236}">
                <a16:creationId xmlns:a16="http://schemas.microsoft.com/office/drawing/2014/main" id="{09EA83CD-8FA1-4DEF-866D-D11685B3D8A5}"/>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F10064CA-2645-497C-BC32-44F48D488AFB}"/>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7D7D0"/>
                </a:solidFill>
                <a:latin typeface="Arial"/>
                <a:ea typeface="Arial"/>
                <a:cs typeface="Arial"/>
              </a:defRPr>
            </a:pPr>
            <a:r>
              <a:rPr sz="1875" b="1">
                <a:solidFill>
                  <a:srgbClr val="47D7D0"/>
                </a:solidFill>
                <a:latin typeface="Arial"/>
                <a:ea typeface="Arial"/>
                <a:cs typeface="Arial"/>
              </a:rPr>
              <a:t>108 cleared 10% raw return</a:t>
            </a:r>
          </a:p>
        </p:txBody>
      </p:sp>
      <p:sp>
        <p:nvSpPr>
          <p:cNvPr id="10" name="">
            <a:extLst xmlns:a="http://schemas.openxmlformats.org/drawingml/2006/main">
              <a:ext uri="{FF2B5EF4-FFF2-40B4-BE49-F238E27FC236}">
                <a16:creationId xmlns:a16="http://schemas.microsoft.com/office/drawing/2014/main" id="{099E4FAB-5ABC-4C70-AEC9-517116FD0953}"/>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E6C6FDD5-6E08-4359-93C7-CA256037DCCC}"/>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4 had positive lower bounds</a:t>
            </a:r>
          </a:p>
        </p:txBody>
      </p:sp>
      <p:sp>
        <p:nvSpPr>
          <p:cNvPr id="12" name="">
            <a:extLst xmlns:a="http://schemas.openxmlformats.org/drawingml/2006/main">
              <a:ext uri="{FF2B5EF4-FFF2-40B4-BE49-F238E27FC236}">
                <a16:creationId xmlns:a16="http://schemas.microsoft.com/office/drawing/2014/main" id="{4E38F7C1-CF1A-4024-BEE3-2B16FB7D3638}"/>
              </a:ext>
            </a:extLst>
          </p:cNvPr>
          <p:cNvSpPr>
            <a:spLocks xmlns:a="http://schemas.openxmlformats.org/drawingml/2006/main" noGrp="1"/>
          </p:cNvSpPr>
          <p:nvPr/>
        </p:nvSpPr>
        <p:spPr>
          <a:xfrm xmlns:a="http://schemas.openxmlformats.org/drawingml/2006/main">
            <a:off x="628650" y="42481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3" name="">
            <a:extLst xmlns:a="http://schemas.openxmlformats.org/drawingml/2006/main">
              <a:ext uri="{FF2B5EF4-FFF2-40B4-BE49-F238E27FC236}">
                <a16:creationId xmlns:a16="http://schemas.microsoft.com/office/drawing/2014/main" id="{A232342B-25C9-4D3B-9903-FA2824C92E5A}"/>
              </a:ext>
            </a:extLst>
          </p:cNvPr>
          <p:cNvSpPr>
            <a:spLocks xmlns:a="http://schemas.openxmlformats.org/drawingml/2006/main" noGrp="1"/>
          </p:cNvSpPr>
          <p:nvPr/>
        </p:nvSpPr>
        <p:spPr>
          <a:xfrm xmlns:a="http://schemas.openxmlformats.org/drawingml/2006/main">
            <a:off x="933450" y="41052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F6B6B"/>
                </a:solidFill>
                <a:latin typeface="Arial"/>
                <a:ea typeface="Arial"/>
                <a:cs typeface="Arial"/>
              </a:defRPr>
            </a:pPr>
            <a:r>
              <a:rPr sz="1875" b="1">
                <a:solidFill>
                  <a:srgbClr val="FF6B6B"/>
                </a:solidFill>
                <a:latin typeface="Arial"/>
                <a:ea typeface="Arial"/>
                <a:cs typeface="Arial"/>
              </a:rPr>
              <a:t>0 passed every gate</a:t>
            </a:r>
          </a:p>
        </p:txBody>
      </p:sp>
      <p:sp>
        <p:nvSpPr>
          <p:cNvPr id="14" name="">
            <a:extLst xmlns:a="http://schemas.openxmlformats.org/drawingml/2006/main">
              <a:ext uri="{FF2B5EF4-FFF2-40B4-BE49-F238E27FC236}">
                <a16:creationId xmlns:a16="http://schemas.microsoft.com/office/drawing/2014/main" id="{04E45EE5-9839-4D04-AB50-57FBF9B08F3A}"/>
              </a:ext>
            </a:extLst>
          </p:cNvPr>
          <p:cNvSpPr>
            <a:spLocks xmlns:a="http://schemas.openxmlformats.org/drawingml/2006/main" noGrp="1"/>
          </p:cNvSpPr>
          <p:nvPr/>
        </p:nvSpPr>
        <p:spPr>
          <a:xfrm xmlns:a="http://schemas.openxmlformats.org/drawingml/2006/main">
            <a:off x="628650" y="5181600"/>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The funnel narrowed sharply once uncertainty and execution evidence were required.</a:t>
            </a:r>
          </a:p>
        </p:txBody>
      </p:sp>
      <p:graphicFrame>
        <p:nvGraphicFramePr>
          <p:cNvPr id="31" name="Chart"/>
          <p:cNvGraphicFramePr/>
          <p:nvPr/>
        </p:nvGraphicFramePr>
        <p:xfrm>
          <a:off xmlns:a="http://schemas.openxmlformats.org/drawingml/2006/main" x="5286375" y="1752600"/>
          <a:ext xmlns:a="http://schemas.openxmlformats.org/drawingml/2006/main" cx="5810250" cy="3790950"/>
        </p:xfrm>
        <a:graphic xmlns:a="http://schemas.openxmlformats.org/drawingml/2006/main">
          <a:graphicData uri="http://schemas.openxmlformats.org/drawingml/2006/chart">
            <c:chart xmlns:r="http://schemas.openxmlformats.org/officeDocument/2006/relationships" xmlns:c="http://schemas.openxmlformats.org/drawingml/2006/chart" r:id="R3450c3ce7c49440f"/>
          </a:graphicData>
        </a:graphic>
      </p:graphicFrame>
      <p:sp>
        <p:nvSpPr>
          <p:cNvPr id="16" name="">
            <a:extLst xmlns:a="http://schemas.openxmlformats.org/drawingml/2006/main">
              <a:ext uri="{FF2B5EF4-FFF2-40B4-BE49-F238E27FC236}">
                <a16:creationId xmlns:a16="http://schemas.microsoft.com/office/drawing/2014/main" id="{2BD9726B-423E-405B-A0F6-CA15E2B5F23A}"/>
              </a:ext>
            </a:extLst>
          </p:cNvPr>
          <p:cNvSpPr>
            <a:spLocks xmlns:a="http://schemas.openxmlformats.org/drawingml/2006/main" noGrp="1"/>
          </p:cNvSpPr>
          <p:nvPr/>
        </p:nvSpPr>
        <p:spPr>
          <a:xfrm xmlns:a="http://schemas.openxmlformats.org/drawingml/2006/main">
            <a:off x="5981700" y="56197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881"/>
          </a:bodyPr>
          <a:lstStyle xmlns:a="http://schemas.openxmlformats.org/drawingml/2006/main"/>
          <a:p xmlns:a="http://schemas.openxmlformats.org/drawingml/2006/main">
            <a:pPr algn="ctr">
              <a:lnSpc>
                <a:spcPct val="100000"/>
              </a:lnSpc>
              <a:buNone/>
              <a:defRPr sz="1350" b="1">
                <a:solidFill>
                  <a:srgbClr val="AEBBCD"/>
                </a:solidFill>
                <a:latin typeface="Arial"/>
                <a:ea typeface="Arial"/>
                <a:cs typeface="Arial"/>
              </a:defRPr>
            </a:pPr>
            <a:r>
              <a:rPr sz="1350" b="1">
                <a:solidFill>
                  <a:srgbClr val="AEBBCD"/>
                </a:solidFill>
                <a:latin typeface="Arial"/>
                <a:ea typeface="Arial"/>
                <a:cs typeface="Arial"/>
              </a:rPr>
              <a:t>raw simulated return → uncertainty → all registered gates</a:t>
            </a:r>
          </a:p>
        </p:txBody>
      </p:sp>
    </p:spTree>
    <p:extLst>
      <p:ext uri="{BB962C8B-B14F-4D97-AF65-F5344CB8AC3E}">
        <p14:creationId xmlns:p14="http://schemas.microsoft.com/office/powerpoint/2010/main" val="576582170"/>
      </p:ext>
    </p:extLst>
  </p:cSld>
</p:sld>
</file>

<file path=ppt/slides/slide9.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8F04616-087E-423B-A89D-734FA458F10E}"/>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BEST RESEARCH DIRECTION</a:t>
            </a:r>
          </a:p>
        </p:txBody>
      </p:sp>
      <p:sp>
        <p:nvSpPr>
          <p:cNvPr id="2" name="">
            <a:extLst xmlns:a="http://schemas.openxmlformats.org/drawingml/2006/main">
              <a:ext uri="{FF2B5EF4-FFF2-40B4-BE49-F238E27FC236}">
                <a16:creationId xmlns:a16="http://schemas.microsoft.com/office/drawing/2014/main" id="{E2A0D7F9-2E0C-412B-B787-97564B6AF7E3}"/>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The strongest signal was promising</a:t>
            </a:r>
          </a:p>
        </p:txBody>
      </p:sp>
      <p:sp>
        <p:nvSpPr>
          <p:cNvPr id="3" name="">
            <a:extLst xmlns:a="http://schemas.openxmlformats.org/drawingml/2006/main">
              <a:ext uri="{FF2B5EF4-FFF2-40B4-BE49-F238E27FC236}">
                <a16:creationId xmlns:a16="http://schemas.microsoft.com/office/drawing/2014/main" id="{AF8CF0CE-1FDA-4A39-9DD8-7DB089AFDDB4}"/>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CDF263CB-701F-4856-8067-B80EAC84278B}"/>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A9E30D96-7E93-4AC2-BA77-250BE97B017C}"/>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14004C43-9781-44A6-9BFF-8515CE03E87C}"/>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E85BFC2E-88D8-4C85-85CD-3FDA9100ADB2}"/>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HRRR + GEFS probabilities</a:t>
            </a:r>
          </a:p>
        </p:txBody>
      </p:sp>
      <p:sp>
        <p:nvSpPr>
          <p:cNvPr id="8" name="">
            <a:extLst xmlns:a="http://schemas.openxmlformats.org/drawingml/2006/main">
              <a:ext uri="{FF2B5EF4-FFF2-40B4-BE49-F238E27FC236}">
                <a16:creationId xmlns:a16="http://schemas.microsoft.com/office/drawing/2014/main" id="{AAD5A2D2-4E06-4F60-817D-CD40ABC5AFDB}"/>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B4CE7237-4F2B-45D5-AAED-788D815F01D4}"/>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18:00 UTC • narrow LAX brackets</a:t>
            </a:r>
          </a:p>
        </p:txBody>
      </p:sp>
      <p:sp>
        <p:nvSpPr>
          <p:cNvPr id="10" name="">
            <a:extLst xmlns:a="http://schemas.openxmlformats.org/drawingml/2006/main">
              <a:ext uri="{FF2B5EF4-FFF2-40B4-BE49-F238E27FC236}">
                <a16:creationId xmlns:a16="http://schemas.microsoft.com/office/drawing/2014/main" id="{FB6EC42C-CAF9-4F7F-95FC-15F63B1E83D0}"/>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E6C84794-0D2C-4F8C-80A3-98F3CD37CEB6}"/>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4DD28A"/>
                </a:solidFill>
                <a:latin typeface="Arial"/>
                <a:ea typeface="Arial"/>
                <a:cs typeface="Arial"/>
              </a:defRPr>
            </a:pPr>
            <a:r>
              <a:rPr sz="1875" b="1">
                <a:solidFill>
                  <a:srgbClr val="4DD28A"/>
                </a:solidFill>
                <a:latin typeface="Arial"/>
                <a:ea typeface="Arial"/>
                <a:cs typeface="Arial"/>
              </a:rPr>
              <a:t>13 simulated trades • 70.2% capital return</a:t>
            </a:r>
          </a:p>
        </p:txBody>
      </p:sp>
      <p:sp>
        <p:nvSpPr>
          <p:cNvPr id="12" name="">
            <a:extLst xmlns:a="http://schemas.openxmlformats.org/drawingml/2006/main">
              <a:ext uri="{FF2B5EF4-FFF2-40B4-BE49-F238E27FC236}">
                <a16:creationId xmlns:a16="http://schemas.microsoft.com/office/drawing/2014/main" id="{4BDCBCE9-E502-49DD-9BD1-2ACF499C019D}"/>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46A7B01C-9BCB-4458-AAA6-964682039998}"/>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172"/>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Two time folds lost 100%, fills were assumed, fees were not date-verified and the sample missed the 30-trade minimum.</a:t>
            </a:r>
          </a:p>
        </p:txBody>
      </p:sp>
      <p:sp>
        <p:nvSpPr>
          <p:cNvPr id="14" name="">
            <a:extLst xmlns:a="http://schemas.openxmlformats.org/drawingml/2006/main">
              <a:ext uri="{FF2B5EF4-FFF2-40B4-BE49-F238E27FC236}">
                <a16:creationId xmlns:a16="http://schemas.microsoft.com/office/drawing/2014/main" id="{41558D80-02CA-4A25-B4DD-36B3303C1F5E}"/>
              </a:ext>
            </a:extLst>
          </p:cNvPr>
          <p:cNvSpPr>
            <a:spLocks xmlns:a="http://schemas.openxmlformats.org/drawingml/2006/main" noGrp="1"/>
          </p:cNvSpPr>
          <p:nvPr/>
        </p:nvSpPr>
        <p:spPr>
          <a:xfrm xmlns:a="http://schemas.openxmlformats.org/drawingml/2006/main">
            <a:off x="5476875" y="1743075"/>
            <a:ext cx="538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LEADING CANDIDATE: FOLD RETURNS</a:t>
            </a:r>
          </a:p>
        </p:txBody>
      </p:sp>
      <p:sp>
        <p:nvSpPr>
          <p:cNvPr id="15" name="">
            <a:extLst xmlns:a="http://schemas.openxmlformats.org/drawingml/2006/main">
              <a:ext uri="{FF2B5EF4-FFF2-40B4-BE49-F238E27FC236}">
                <a16:creationId xmlns:a16="http://schemas.microsoft.com/office/drawing/2014/main" id="{ABE0EED8-CDD5-4838-B0FD-3578CF65DF3F}"/>
              </a:ext>
            </a:extLst>
          </p:cNvPr>
          <p:cNvSpPr>
            <a:spLocks xmlns:a="http://schemas.openxmlformats.org/drawingml/2006/main" noGrp="1"/>
          </p:cNvSpPr>
          <p:nvPr/>
        </p:nvSpPr>
        <p:spPr>
          <a:xfrm xmlns:a="http://schemas.openxmlformats.org/drawingml/2006/main">
            <a:off x="5810250" y="3810000"/>
            <a:ext cx="4857750" cy="0"/>
          </a:xfrm>
          <a:prstGeom xmlns:a="http://schemas.openxmlformats.org/drawingml/2006/main" prst="line">
            <a:avLst/>
          </a:prstGeom>
          <a:noFill xmlns:a="http://schemas.openxmlformats.org/drawingml/2006/main"/>
          <a:ln xmlns:a="http://schemas.openxmlformats.org/drawingml/2006/main" w="19050">
            <a:solidFill>
              <a:srgbClr val="AEBBCD"/>
            </a:solidFill>
            <a:prstDash val="solid"/>
          </a:ln>
        </p:spPr>
      </p:sp>
      <p:sp>
        <p:nvSpPr>
          <p:cNvPr id="16" name="">
            <a:extLst xmlns:a="http://schemas.openxmlformats.org/drawingml/2006/main">
              <a:ext uri="{FF2B5EF4-FFF2-40B4-BE49-F238E27FC236}">
                <a16:creationId xmlns:a16="http://schemas.microsoft.com/office/drawing/2014/main" id="{A3CF3812-AA38-470C-B31C-3684CF76EF67}"/>
              </a:ext>
            </a:extLst>
          </p:cNvPr>
          <p:cNvSpPr>
            <a:spLocks xmlns:a="http://schemas.openxmlformats.org/drawingml/2006/main" noGrp="1"/>
          </p:cNvSpPr>
          <p:nvPr/>
        </p:nvSpPr>
        <p:spPr>
          <a:xfrm xmlns:a="http://schemas.openxmlformats.org/drawingml/2006/main">
            <a:off x="6143625" y="2225231"/>
            <a:ext cx="628650" cy="1584770"/>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D2483EB-512B-4E38-B914-DB9D0BD1D961}"/>
              </a:ext>
            </a:extLst>
          </p:cNvPr>
          <p:cNvSpPr>
            <a:spLocks xmlns:a="http://schemas.openxmlformats.org/drawingml/2006/main" noGrp="1"/>
          </p:cNvSpPr>
          <p:nvPr/>
        </p:nvSpPr>
        <p:spPr>
          <a:xfrm xmlns:a="http://schemas.openxmlformats.org/drawingml/2006/main">
            <a:off x="6067425" y="1920431"/>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+141%</a:t>
            </a:r>
          </a:p>
        </p:txBody>
      </p:sp>
      <p:sp>
        <p:nvSpPr>
          <p:cNvPr id="18" name="">
            <a:extLst xmlns:a="http://schemas.openxmlformats.org/drawingml/2006/main">
              <a:ext uri="{FF2B5EF4-FFF2-40B4-BE49-F238E27FC236}">
                <a16:creationId xmlns:a16="http://schemas.microsoft.com/office/drawing/2014/main" id="{8CC0D8A5-9327-4979-8B2D-03058FF73D20}"/>
              </a:ext>
            </a:extLst>
          </p:cNvPr>
          <p:cNvSpPr>
            <a:spLocks xmlns:a="http://schemas.openxmlformats.org/drawingml/2006/main" noGrp="1"/>
          </p:cNvSpPr>
          <p:nvPr/>
        </p:nvSpPr>
        <p:spPr>
          <a:xfrm xmlns:a="http://schemas.openxmlformats.org/drawingml/2006/main">
            <a:off x="60483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1</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2 trades</a:t>
            </a:r>
          </a:p>
        </p:txBody>
      </p:sp>
      <p:sp>
        <p:nvSpPr>
          <p:cNvPr id="19" name="">
            <a:extLst xmlns:a="http://schemas.openxmlformats.org/drawingml/2006/main">
              <a:ext uri="{FF2B5EF4-FFF2-40B4-BE49-F238E27FC236}">
                <a16:creationId xmlns:a16="http://schemas.microsoft.com/office/drawing/2014/main" id="{76027018-590A-4457-8300-2C7582248A9E}"/>
              </a:ext>
            </a:extLst>
          </p:cNvPr>
          <p:cNvSpPr>
            <a:spLocks xmlns:a="http://schemas.openxmlformats.org/drawingml/2006/main" noGrp="1"/>
          </p:cNvSpPr>
          <p:nvPr/>
        </p:nvSpPr>
        <p:spPr>
          <a:xfrm xmlns:a="http://schemas.openxmlformats.org/drawingml/2006/main">
            <a:off x="7077075" y="2436533"/>
            <a:ext cx="628650" cy="1373467"/>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00B8D1C-D503-4696-AE72-7382C91AD060}"/>
              </a:ext>
            </a:extLst>
          </p:cNvPr>
          <p:cNvSpPr>
            <a:spLocks xmlns:a="http://schemas.openxmlformats.org/drawingml/2006/main" noGrp="1"/>
          </p:cNvSpPr>
          <p:nvPr/>
        </p:nvSpPr>
        <p:spPr>
          <a:xfrm xmlns:a="http://schemas.openxmlformats.org/drawingml/2006/main">
            <a:off x="7000875" y="2131733"/>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+122%</a:t>
            </a:r>
          </a:p>
        </p:txBody>
      </p:sp>
      <p:sp>
        <p:nvSpPr>
          <p:cNvPr id="21" name="">
            <a:extLst xmlns:a="http://schemas.openxmlformats.org/drawingml/2006/main">
              <a:ext uri="{FF2B5EF4-FFF2-40B4-BE49-F238E27FC236}">
                <a16:creationId xmlns:a16="http://schemas.microsoft.com/office/drawing/2014/main" id="{073AE037-29B5-4963-8217-B51C219266FA}"/>
              </a:ext>
            </a:extLst>
          </p:cNvPr>
          <p:cNvSpPr>
            <a:spLocks xmlns:a="http://schemas.openxmlformats.org/drawingml/2006/main" noGrp="1"/>
          </p:cNvSpPr>
          <p:nvPr/>
        </p:nvSpPr>
        <p:spPr>
          <a:xfrm xmlns:a="http://schemas.openxmlformats.org/drawingml/2006/main">
            <a:off x="698182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2</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1 trades</a:t>
            </a:r>
          </a:p>
        </p:txBody>
      </p:sp>
      <p:sp>
        <p:nvSpPr>
          <p:cNvPr id="22" name="">
            <a:extLst xmlns:a="http://schemas.openxmlformats.org/drawingml/2006/main">
              <a:ext uri="{FF2B5EF4-FFF2-40B4-BE49-F238E27FC236}">
                <a16:creationId xmlns:a16="http://schemas.microsoft.com/office/drawing/2014/main" id="{BF790AC1-E9A5-4203-B33F-DC7BD4E9FC1E}"/>
              </a:ext>
            </a:extLst>
          </p:cNvPr>
          <p:cNvSpPr>
            <a:spLocks xmlns:a="http://schemas.openxmlformats.org/drawingml/2006/main" noGrp="1"/>
          </p:cNvSpPr>
          <p:nvPr/>
        </p:nvSpPr>
        <p:spPr>
          <a:xfrm xmlns:a="http://schemas.openxmlformats.org/drawingml/2006/main">
            <a:off x="8010525" y="2969285"/>
            <a:ext cx="628650" cy="840715"/>
          </a:xfrm>
          <a:prstGeom xmlns:a="http://schemas.openxmlformats.org/drawingml/2006/main" prst="roundRect">
            <a:avLst>
              <a:gd name="adj" fmla="val 9091"/>
            </a:avLst>
          </a:prstGeom>
          <a:solidFill xmlns:a="http://schemas.openxmlformats.org/drawingml/2006/main">
            <a:srgbClr val="4DD28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C2EC333-36C3-42EA-8BC8-3059BFA1A3E2}"/>
              </a:ext>
            </a:extLst>
          </p:cNvPr>
          <p:cNvSpPr>
            <a:spLocks xmlns:a="http://schemas.openxmlformats.org/drawingml/2006/main" noGrp="1"/>
          </p:cNvSpPr>
          <p:nvPr/>
        </p:nvSpPr>
        <p:spPr>
          <a:xfrm xmlns:a="http://schemas.openxmlformats.org/drawingml/2006/main">
            <a:off x="7934325" y="2664485"/>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+75%</a:t>
            </a:r>
          </a:p>
        </p:txBody>
      </p:sp>
      <p:sp>
        <p:nvSpPr>
          <p:cNvPr id="24" name="">
            <a:extLst xmlns:a="http://schemas.openxmlformats.org/drawingml/2006/main">
              <a:ext uri="{FF2B5EF4-FFF2-40B4-BE49-F238E27FC236}">
                <a16:creationId xmlns:a16="http://schemas.microsoft.com/office/drawing/2014/main" id="{6D669BAC-8B27-4816-93F4-E09B957E788D}"/>
              </a:ext>
            </a:extLst>
          </p:cNvPr>
          <p:cNvSpPr>
            <a:spLocks xmlns:a="http://schemas.openxmlformats.org/drawingml/2006/main" noGrp="1"/>
          </p:cNvSpPr>
          <p:nvPr/>
        </p:nvSpPr>
        <p:spPr>
          <a:xfrm xmlns:a="http://schemas.openxmlformats.org/drawingml/2006/main">
            <a:off x="79152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3</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5 trades</a:t>
            </a:r>
          </a:p>
        </p:txBody>
      </p:sp>
      <p:sp>
        <p:nvSpPr>
          <p:cNvPr id="25" name="">
            <a:extLst xmlns:a="http://schemas.openxmlformats.org/drawingml/2006/main">
              <a:ext uri="{FF2B5EF4-FFF2-40B4-BE49-F238E27FC236}">
                <a16:creationId xmlns:a16="http://schemas.microsoft.com/office/drawing/2014/main" id="{5A34C5AE-ADCC-4993-8010-2EF3CE968D07}"/>
              </a:ext>
            </a:extLst>
          </p:cNvPr>
          <p:cNvSpPr>
            <a:spLocks xmlns:a="http://schemas.openxmlformats.org/drawingml/2006/main" noGrp="1"/>
          </p:cNvSpPr>
          <p:nvPr/>
        </p:nvSpPr>
        <p:spPr>
          <a:xfrm xmlns:a="http://schemas.openxmlformats.org/drawingml/2006/main">
            <a:off x="8943975" y="3810000"/>
            <a:ext cx="628650" cy="1123950"/>
          </a:xfrm>
          <a:prstGeom xmlns:a="http://schemas.openxmlformats.org/drawingml/2006/main" prst="roundRect">
            <a:avLst>
              <a:gd name="adj" fmla="val 9091"/>
            </a:avLst>
          </a:prstGeom>
          <a:solidFill xmlns:a="http://schemas.openxmlformats.org/drawingml/2006/main">
            <a:srgbClr val="FF6B6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9EFEC64-D611-43C8-8541-2C4810A9762F}"/>
              </a:ext>
            </a:extLst>
          </p:cNvPr>
          <p:cNvSpPr>
            <a:spLocks xmlns:a="http://schemas.openxmlformats.org/drawingml/2006/main" noGrp="1"/>
          </p:cNvSpPr>
          <p:nvPr/>
        </p:nvSpPr>
        <p:spPr>
          <a:xfrm xmlns:a="http://schemas.openxmlformats.org/drawingml/2006/main">
            <a:off x="8867775" y="4981575"/>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-100%</a:t>
            </a:r>
          </a:p>
        </p:txBody>
      </p:sp>
      <p:sp>
        <p:nvSpPr>
          <p:cNvPr id="27" name="">
            <a:extLst xmlns:a="http://schemas.openxmlformats.org/drawingml/2006/main">
              <a:ext uri="{FF2B5EF4-FFF2-40B4-BE49-F238E27FC236}">
                <a16:creationId xmlns:a16="http://schemas.microsoft.com/office/drawing/2014/main" id="{4AC55180-22FB-47A1-83DD-BAEF367DD2C5}"/>
              </a:ext>
            </a:extLst>
          </p:cNvPr>
          <p:cNvSpPr>
            <a:spLocks xmlns:a="http://schemas.openxmlformats.org/drawingml/2006/main" noGrp="1"/>
          </p:cNvSpPr>
          <p:nvPr/>
        </p:nvSpPr>
        <p:spPr>
          <a:xfrm xmlns:a="http://schemas.openxmlformats.org/drawingml/2006/main">
            <a:off x="884872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4</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2 trades</a:t>
            </a:r>
          </a:p>
        </p:txBody>
      </p:sp>
      <p:sp>
        <p:nvSpPr>
          <p:cNvPr id="28" name="">
            <a:extLst xmlns:a="http://schemas.openxmlformats.org/drawingml/2006/main">
              <a:ext uri="{FF2B5EF4-FFF2-40B4-BE49-F238E27FC236}">
                <a16:creationId xmlns:a16="http://schemas.microsoft.com/office/drawing/2014/main" id="{E30286DD-3F47-40A6-9580-9CD19B54E600}"/>
              </a:ext>
            </a:extLst>
          </p:cNvPr>
          <p:cNvSpPr>
            <a:spLocks xmlns:a="http://schemas.openxmlformats.org/drawingml/2006/main" noGrp="1"/>
          </p:cNvSpPr>
          <p:nvPr/>
        </p:nvSpPr>
        <p:spPr>
          <a:xfrm xmlns:a="http://schemas.openxmlformats.org/drawingml/2006/main">
            <a:off x="9877425" y="3810000"/>
            <a:ext cx="628650" cy="1123950"/>
          </a:xfrm>
          <a:prstGeom xmlns:a="http://schemas.openxmlformats.org/drawingml/2006/main" prst="roundRect">
            <a:avLst>
              <a:gd name="adj" fmla="val 9091"/>
            </a:avLst>
          </a:prstGeom>
          <a:solidFill xmlns:a="http://schemas.openxmlformats.org/drawingml/2006/main">
            <a:srgbClr val="FF6B6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B91F43B-2D69-45B5-B84F-763707F5BC5A}"/>
              </a:ext>
            </a:extLst>
          </p:cNvPr>
          <p:cNvSpPr>
            <a:spLocks xmlns:a="http://schemas.openxmlformats.org/drawingml/2006/main" noGrp="1"/>
          </p:cNvSpPr>
          <p:nvPr/>
        </p:nvSpPr>
        <p:spPr>
          <a:xfrm xmlns:a="http://schemas.openxmlformats.org/drawingml/2006/main">
            <a:off x="9801225" y="4981575"/>
            <a:ext cx="781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-100%</a:t>
            </a:r>
          </a:p>
        </p:txBody>
      </p:sp>
      <p:sp>
        <p:nvSpPr>
          <p:cNvPr id="30" name="">
            <a:extLst xmlns:a="http://schemas.openxmlformats.org/drawingml/2006/main">
              <a:ext uri="{FF2B5EF4-FFF2-40B4-BE49-F238E27FC236}">
                <a16:creationId xmlns:a16="http://schemas.microsoft.com/office/drawing/2014/main" id="{44161546-1D50-457B-8603-7C032B30FB35}"/>
              </a:ext>
            </a:extLst>
          </p:cNvPr>
          <p:cNvSpPr>
            <a:spLocks xmlns:a="http://schemas.openxmlformats.org/drawingml/2006/main" noGrp="1"/>
          </p:cNvSpPr>
          <p:nvPr/>
        </p:nvSpPr>
        <p:spPr>
          <a:xfrm xmlns:a="http://schemas.openxmlformats.org/drawingml/2006/main">
            <a:off x="9782175" y="5314950"/>
            <a:ext cx="819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Fold 5</a:t>
            </a:r>
          </a:p>
          <a:p xmlns:a="http://schemas.openxmlformats.org/drawingml/2006/main">
            <a:pPr algn="ctr">
              <a:lnSpc>
                <a:spcPct val="100000"/>
              </a:lnSpc>
              <a:buNone/>
              <a:defRPr sz="1200" b="1">
                <a:solidFill>
                  <a:srgbClr val="AEBBCD"/>
                </a:solidFill>
                <a:latin typeface="Arial"/>
                <a:ea typeface="Arial"/>
                <a:cs typeface="Arial"/>
              </a:defRPr>
            </a:pPr>
            <a:r>
              <a:rPr sz="1200" b="1">
                <a:solidFill>
                  <a:srgbClr val="AEBBCD"/>
                </a:solidFill>
                <a:latin typeface="Arial"/>
                <a:ea typeface="Arial"/>
                <a:cs typeface="Arial"/>
              </a:rPr>
              <a:t>3 trades</a:t>
            </a:r>
          </a:p>
        </p:txBody>
      </p:sp>
      <p:sp>
        <p:nvSpPr>
          <p:cNvPr id="31" name="">
            <a:extLst xmlns:a="http://schemas.openxmlformats.org/drawingml/2006/main">
              <a:ext uri="{FF2B5EF4-FFF2-40B4-BE49-F238E27FC236}">
                <a16:creationId xmlns:a16="http://schemas.microsoft.com/office/drawing/2014/main" id="{5B45E164-1A00-4486-BFFD-598076E9DF7D}"/>
              </a:ext>
            </a:extLst>
          </p:cNvPr>
          <p:cNvSpPr>
            <a:spLocks xmlns:a="http://schemas.openxmlformats.org/drawingml/2006/main" noGrp="1"/>
          </p:cNvSpPr>
          <p:nvPr/>
        </p:nvSpPr>
        <p:spPr>
          <a:xfrm xmlns:a="http://schemas.openxmlformats.org/drawingml/2006/main">
            <a:off x="7486650" y="5962650"/>
            <a:ext cx="2095500" cy="342900"/>
          </a:xfrm>
          <a:prstGeom xmlns:a="http://schemas.openxmlformats.org/drawingml/2006/main" prst="roundRect">
            <a:avLst>
              <a:gd name="adj" fmla="val 50000"/>
            </a:avLst>
          </a:prstGeom>
          <a:solidFill xmlns:a="http://schemas.openxmlformats.org/drawingml/2006/main">
            <a:srgbClr val="F4B860">
              <a:alpha val="13333"/>
            </a:srgbClr>
          </a:solidFill>
          <a:ln xmlns:a="http://schemas.openxmlformats.org/drawingml/2006/main" w="9525">
            <a:solidFill>
              <a:srgbClr val="F4B860"/>
            </a:solidFill>
            <a:prstDash val="solid"/>
          </a:ln>
        </p:spPr>
      </p:sp>
      <p:sp>
        <p:nvSpPr>
          <p:cNvPr id="32" name="">
            <a:extLst xmlns:a="http://schemas.openxmlformats.org/drawingml/2006/main">
              <a:ext uri="{FF2B5EF4-FFF2-40B4-BE49-F238E27FC236}">
                <a16:creationId xmlns:a16="http://schemas.microsoft.com/office/drawing/2014/main" id="{373EE64D-D702-4290-884D-EB2541A742A9}"/>
              </a:ext>
            </a:extLst>
          </p:cNvPr>
          <p:cNvSpPr>
            <a:spLocks xmlns:a="http://schemas.openxmlformats.org/drawingml/2006/main" noGrp="1"/>
          </p:cNvSpPr>
          <p:nvPr/>
        </p:nvSpPr>
        <p:spPr>
          <a:xfrm xmlns:a="http://schemas.openxmlformats.org/drawingml/2006/main">
            <a:off x="7486650" y="59721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00" b="1">
                <a:solidFill>
                  <a:srgbClr val="F4B860"/>
                </a:solidFill>
                <a:latin typeface="Arial"/>
                <a:ea typeface="Arial"/>
                <a:cs typeface="Arial"/>
              </a:defRPr>
            </a:pPr>
            <a:r>
              <a:rPr sz="1200" b="1">
                <a:solidFill>
                  <a:srgbClr val="F4B860"/>
                </a:solidFill>
                <a:latin typeface="Arial"/>
                <a:ea typeface="Arial"/>
                <a:cs typeface="Arial"/>
              </a:rPr>
              <a:t>PROMISING ≠ VERIFIED</a:t>
            </a:r>
          </a:p>
        </p:txBody>
      </p:sp>
    </p:spTree>
    <p:extLst>
      <p:ext uri="{BB962C8B-B14F-4D97-AF65-F5344CB8AC3E}">
        <p14:creationId xmlns:p14="http://schemas.microsoft.com/office/powerpoint/2010/main" val="596345615"/>
      </p:ext>
    </p:extLst>
  </p:cSld>
</p:sld>
</file>

<file path=ppt/slides/slide10.xml><?xml version="1.0" encoding="utf-8"?>
<p:sld xmlns:p="http://schemas.openxmlformats.org/presentationml/2006/main">
  <p:cSld>
    <p:bg>
      <p:bgPr>
        <a:solidFill xmlns:a="http://schemas.openxmlformats.org/drawingml/2006/main">
          <a:srgbClr val="0B132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82F706C-32CC-4713-AFB7-0D45AB1978C2}"/>
              </a:ext>
            </a:extLst>
          </p:cNvPr>
          <p:cNvSpPr>
            <a:spLocks xmlns:a="http://schemas.openxmlformats.org/drawingml/2006/main" noGrp="1"/>
          </p:cNvSpPr>
          <p:nvPr/>
        </p:nvSpPr>
        <p:spPr>
          <a:xfrm xmlns:a="http://schemas.openxmlformats.org/drawingml/2006/main">
            <a:off x="609600" y="3333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47D7D0"/>
                </a:solidFill>
                <a:latin typeface="Arial"/>
                <a:ea typeface="Arial"/>
                <a:cs typeface="Arial"/>
              </a:defRPr>
            </a:pPr>
            <a:r>
              <a:rPr sz="1050" b="1">
                <a:solidFill>
                  <a:srgbClr val="47D7D0"/>
                </a:solidFill>
                <a:latin typeface="Arial"/>
                <a:ea typeface="Arial"/>
                <a:cs typeface="Arial"/>
              </a:rPr>
              <a:t>FOCUSED VERIFICATION</a:t>
            </a:r>
          </a:p>
        </p:txBody>
      </p:sp>
      <p:sp>
        <p:nvSpPr>
          <p:cNvPr id="2" name="">
            <a:extLst xmlns:a="http://schemas.openxmlformats.org/drawingml/2006/main">
              <a:ext uri="{FF2B5EF4-FFF2-40B4-BE49-F238E27FC236}">
                <a16:creationId xmlns:a16="http://schemas.microsoft.com/office/drawing/2014/main" id="{7EF6FEBA-14A9-490B-94B1-81B9C708FB60}"/>
              </a:ext>
            </a:extLst>
          </p:cNvPr>
          <p:cNvSpPr>
            <a:spLocks xmlns:a="http://schemas.openxmlformats.org/drawingml/2006/main" noGrp="1"/>
          </p:cNvSpPr>
          <p:nvPr/>
        </p:nvSpPr>
        <p:spPr>
          <a:xfrm xmlns:a="http://schemas.openxmlformats.org/drawingml/2006/main">
            <a:off x="609600" y="600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300" b="1">
                <a:solidFill>
                  <a:srgbClr val="F5F7FA"/>
                </a:solidFill>
                <a:latin typeface="Arial"/>
                <a:ea typeface="Arial"/>
                <a:cs typeface="Arial"/>
              </a:defRPr>
            </a:pPr>
            <a:r>
              <a:rPr sz="3300" b="1">
                <a:solidFill>
                  <a:srgbClr val="F5F7FA"/>
                </a:solidFill>
                <a:latin typeface="Arial"/>
                <a:ea typeface="Arial"/>
                <a:cs typeface="Arial"/>
              </a:rPr>
              <a:t>Where we go from here</a:t>
            </a:r>
          </a:p>
        </p:txBody>
      </p:sp>
      <p:sp>
        <p:nvSpPr>
          <p:cNvPr id="3" name="">
            <a:extLst xmlns:a="http://schemas.openxmlformats.org/drawingml/2006/main">
              <a:ext uri="{FF2B5EF4-FFF2-40B4-BE49-F238E27FC236}">
                <a16:creationId xmlns:a16="http://schemas.microsoft.com/office/drawing/2014/main" id="{C6892076-5D5C-4A28-83B7-4B8C5E64532C}"/>
              </a:ext>
            </a:extLst>
          </p:cNvPr>
          <p:cNvSpPr>
            <a:spLocks xmlns:a="http://schemas.openxmlformats.org/drawingml/2006/main" noGrp="1"/>
          </p:cNvSpPr>
          <p:nvPr/>
        </p:nvSpPr>
        <p:spPr>
          <a:xfrm xmlns:a="http://schemas.openxmlformats.org/drawingml/2006/main">
            <a:off x="609600" y="1304925"/>
            <a:ext cx="1097280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4" name="">
            <a:extLst xmlns:a="http://schemas.openxmlformats.org/drawingml/2006/main">
              <a:ext uri="{FF2B5EF4-FFF2-40B4-BE49-F238E27FC236}">
                <a16:creationId xmlns:a16="http://schemas.microsoft.com/office/drawing/2014/main" id="{06F6BAF7-BEE9-4B43-8524-E7B65DFEDCA2}"/>
              </a:ext>
            </a:extLst>
          </p:cNvPr>
          <p:cNvSpPr>
            <a:spLocks xmlns:a="http://schemas.openxmlformats.org/drawingml/2006/main" noGrp="1"/>
          </p:cNvSpPr>
          <p:nvPr/>
        </p:nvSpPr>
        <p:spPr>
          <a:xfrm xmlns:a="http://schemas.openxmlformats.org/drawingml/2006/main">
            <a:off x="4867275" y="1581150"/>
            <a:ext cx="0" cy="0"/>
          </a:xfrm>
          <a:prstGeom xmlns:a="http://schemas.openxmlformats.org/drawingml/2006/main" prst="line">
            <a:avLst/>
          </a:prstGeom>
          <a:noFill xmlns:a="http://schemas.openxmlformats.org/drawingml/2006/main"/>
          <a:ln xmlns:a="http://schemas.openxmlformats.org/drawingml/2006/main" w="14288">
            <a:solidFill>
              <a:srgbClr val="31445D"/>
            </a:solidFill>
            <a:prstDash val="solid"/>
          </a:ln>
        </p:spPr>
      </p:sp>
      <p:sp>
        <p:nvSpPr>
          <p:cNvPr id="5" name="">
            <a:extLst xmlns:a="http://schemas.openxmlformats.org/drawingml/2006/main">
              <a:ext uri="{FF2B5EF4-FFF2-40B4-BE49-F238E27FC236}">
                <a16:creationId xmlns:a16="http://schemas.microsoft.com/office/drawing/2014/main" id="{19FC8D1C-610B-4692-BA18-62A1D17FE2FE}"/>
              </a:ext>
            </a:extLst>
          </p:cNvPr>
          <p:cNvSpPr>
            <a:spLocks xmlns:a="http://schemas.openxmlformats.org/drawingml/2006/main" noGrp="1"/>
          </p:cNvSpPr>
          <p:nvPr/>
        </p:nvSpPr>
        <p:spPr>
          <a:xfrm xmlns:a="http://schemas.openxmlformats.org/drawingml/2006/main">
            <a:off x="11115675" y="6267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1050" b="1">
                <a:solidFill>
                  <a:srgbClr val="62748B"/>
                </a:solidFill>
                <a:latin typeface="Arial"/>
                <a:ea typeface="Arial"/>
                <a:cs typeface="Arial"/>
              </a:defRPr>
            </a:pPr>
            <a:r>
              <a:rPr sz="1050" b="1">
                <a:solidFill>
                  <a:srgbClr val="62748B"/>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82C4ACE6-056D-45BE-B96E-95FE22ABD040}"/>
              </a:ext>
            </a:extLst>
          </p:cNvPr>
          <p:cNvSpPr>
            <a:spLocks xmlns:a="http://schemas.openxmlformats.org/drawingml/2006/main" noGrp="1"/>
          </p:cNvSpPr>
          <p:nvPr/>
        </p:nvSpPr>
        <p:spPr>
          <a:xfrm xmlns:a="http://schemas.openxmlformats.org/drawingml/2006/main">
            <a:off x="628650" y="19050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7" name="">
            <a:extLst xmlns:a="http://schemas.openxmlformats.org/drawingml/2006/main">
              <a:ext uri="{FF2B5EF4-FFF2-40B4-BE49-F238E27FC236}">
                <a16:creationId xmlns:a16="http://schemas.microsoft.com/office/drawing/2014/main" id="{78C17E99-A948-4851-9978-CD88C937B52F}"/>
              </a:ext>
            </a:extLst>
          </p:cNvPr>
          <p:cNvSpPr>
            <a:spLocks xmlns:a="http://schemas.openxmlformats.org/drawingml/2006/main" noGrp="1"/>
          </p:cNvSpPr>
          <p:nvPr/>
        </p:nvSpPr>
        <p:spPr>
          <a:xfrm xmlns:a="http://schemas.openxmlformats.org/drawingml/2006/main">
            <a:off x="933450" y="17621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Verify executable historical quotes</a:t>
            </a:r>
          </a:p>
        </p:txBody>
      </p:sp>
      <p:sp>
        <p:nvSpPr>
          <p:cNvPr id="8" name="">
            <a:extLst xmlns:a="http://schemas.openxmlformats.org/drawingml/2006/main">
              <a:ext uri="{FF2B5EF4-FFF2-40B4-BE49-F238E27FC236}">
                <a16:creationId xmlns:a16="http://schemas.microsoft.com/office/drawing/2014/main" id="{517AB103-88D3-4DBA-AF52-7FD315D7162A}"/>
              </a:ext>
            </a:extLst>
          </p:cNvPr>
          <p:cNvSpPr>
            <a:spLocks xmlns:a="http://schemas.openxmlformats.org/drawingml/2006/main" noGrp="1"/>
          </p:cNvSpPr>
          <p:nvPr/>
        </p:nvSpPr>
        <p:spPr>
          <a:xfrm xmlns:a="http://schemas.openxmlformats.org/drawingml/2006/main">
            <a:off x="628650" y="268605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9" name="">
            <a:extLst xmlns:a="http://schemas.openxmlformats.org/drawingml/2006/main">
              <a:ext uri="{FF2B5EF4-FFF2-40B4-BE49-F238E27FC236}">
                <a16:creationId xmlns:a16="http://schemas.microsoft.com/office/drawing/2014/main" id="{01AB1B62-FB6C-45F5-926F-959438B094F6}"/>
              </a:ext>
            </a:extLst>
          </p:cNvPr>
          <p:cNvSpPr>
            <a:spLocks xmlns:a="http://schemas.openxmlformats.org/drawingml/2006/main" noGrp="1"/>
          </p:cNvSpPr>
          <p:nvPr/>
        </p:nvSpPr>
        <p:spPr>
          <a:xfrm xmlns:a="http://schemas.openxmlformats.org/drawingml/2006/main">
            <a:off x="933450" y="25431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Bind exact fees + settlement</a:t>
            </a:r>
          </a:p>
        </p:txBody>
      </p:sp>
      <p:sp>
        <p:nvSpPr>
          <p:cNvPr id="10" name="">
            <a:extLst xmlns:a="http://schemas.openxmlformats.org/drawingml/2006/main">
              <a:ext uri="{FF2B5EF4-FFF2-40B4-BE49-F238E27FC236}">
                <a16:creationId xmlns:a16="http://schemas.microsoft.com/office/drawing/2014/main" id="{99466C56-1F40-4AE6-8A6A-4E7D67BEEC87}"/>
              </a:ext>
            </a:extLst>
          </p:cNvPr>
          <p:cNvSpPr>
            <a:spLocks xmlns:a="http://schemas.openxmlformats.org/drawingml/2006/main" noGrp="1"/>
          </p:cNvSpPr>
          <p:nvPr/>
        </p:nvSpPr>
        <p:spPr>
          <a:xfrm xmlns:a="http://schemas.openxmlformats.org/drawingml/2006/main">
            <a:off x="628650" y="3467100"/>
            <a:ext cx="171450" cy="0"/>
          </a:xfrm>
          <a:prstGeom xmlns:a="http://schemas.openxmlformats.org/drawingml/2006/main" prst="line">
            <a:avLst/>
          </a:prstGeom>
          <a:noFill xmlns:a="http://schemas.openxmlformats.org/drawingml/2006/main"/>
          <a:ln xmlns:a="http://schemas.openxmlformats.org/drawingml/2006/main" w="38100">
            <a:solidFill>
              <a:srgbClr val="4EA1FF"/>
            </a:solidFill>
            <a:prstDash val="solid"/>
          </a:ln>
        </p:spPr>
      </p:sp>
      <p:sp>
        <p:nvSpPr>
          <p:cNvPr id="11" name="">
            <a:extLst xmlns:a="http://schemas.openxmlformats.org/drawingml/2006/main">
              <a:ext uri="{FF2B5EF4-FFF2-40B4-BE49-F238E27FC236}">
                <a16:creationId xmlns:a16="http://schemas.microsoft.com/office/drawing/2014/main" id="{72306F57-C194-4C52-A1B7-867764A14FC9}"/>
              </a:ext>
            </a:extLst>
          </p:cNvPr>
          <p:cNvSpPr>
            <a:spLocks xmlns:a="http://schemas.openxmlformats.org/drawingml/2006/main" noGrp="1"/>
          </p:cNvSpPr>
          <p:nvPr/>
        </p:nvSpPr>
        <p:spPr>
          <a:xfrm xmlns:a="http://schemas.openxmlformats.org/drawingml/2006/main">
            <a:off x="933450" y="332422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5F7FA"/>
                </a:solidFill>
                <a:latin typeface="Arial"/>
                <a:ea typeface="Arial"/>
                <a:cs typeface="Arial"/>
              </a:defRPr>
            </a:pPr>
            <a:r>
              <a:rPr sz="1875" b="1">
                <a:solidFill>
                  <a:srgbClr val="F5F7FA"/>
                </a:solidFill>
                <a:latin typeface="Arial"/>
                <a:ea typeface="Arial"/>
                <a:cs typeface="Arial"/>
              </a:rPr>
              <a:t>Expand independent dates + regimes</a:t>
            </a:r>
          </a:p>
        </p:txBody>
      </p:sp>
      <p:sp>
        <p:nvSpPr>
          <p:cNvPr id="12" name="">
            <a:extLst xmlns:a="http://schemas.openxmlformats.org/drawingml/2006/main">
              <a:ext uri="{FF2B5EF4-FFF2-40B4-BE49-F238E27FC236}">
                <a16:creationId xmlns:a16="http://schemas.microsoft.com/office/drawing/2014/main" id="{DD5C3FC7-8C95-4AE4-BE36-41D7167BDAC5}"/>
              </a:ext>
            </a:extLst>
          </p:cNvPr>
          <p:cNvSpPr>
            <a:spLocks xmlns:a="http://schemas.openxmlformats.org/drawingml/2006/main" noGrp="1"/>
          </p:cNvSpPr>
          <p:nvPr/>
        </p:nvSpPr>
        <p:spPr>
          <a:xfrm xmlns:a="http://schemas.openxmlformats.org/drawingml/2006/main">
            <a:off x="628650" y="50673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4B860"/>
                </a:solidFill>
                <a:latin typeface="Arial"/>
                <a:ea typeface="Arial"/>
                <a:cs typeface="Arial"/>
              </a:defRPr>
            </a:pPr>
            <a:r>
              <a:rPr sz="1050" b="1">
                <a:solidFill>
                  <a:srgbClr val="F4B860"/>
                </a:solidFill>
                <a:latin typeface="Arial"/>
                <a:ea typeface="Arial"/>
                <a:cs typeface="Arial"/>
              </a:rPr>
              <a:t>WHY WE MOVED ON</a:t>
            </a:r>
          </a:p>
        </p:txBody>
      </p:sp>
      <p:sp>
        <p:nvSpPr>
          <p:cNvPr id="13" name="">
            <a:extLst xmlns:a="http://schemas.openxmlformats.org/drawingml/2006/main">
              <a:ext uri="{FF2B5EF4-FFF2-40B4-BE49-F238E27FC236}">
                <a16:creationId xmlns:a16="http://schemas.microsoft.com/office/drawing/2014/main" id="{7765EB2F-3F9A-47E5-AD70-805E4D932C22}"/>
              </a:ext>
            </a:extLst>
          </p:cNvPr>
          <p:cNvSpPr>
            <a:spLocks xmlns:a="http://schemas.openxmlformats.org/drawingml/2006/main" noGrp="1"/>
          </p:cNvSpPr>
          <p:nvPr/>
        </p:nvSpPr>
        <p:spPr>
          <a:xfrm xmlns:a="http://schemas.openxmlformats.org/drawingml/2006/main">
            <a:off x="628650" y="53149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a:solidFill>
                  <a:srgbClr val="F5F7FA"/>
                </a:solidFill>
                <a:latin typeface="Arial"/>
                <a:ea typeface="Arial"/>
                <a:cs typeface="Arial"/>
              </a:defRPr>
            </a:pPr>
            <a:r>
              <a:rPr sz="1725" b="1">
                <a:solidFill>
                  <a:srgbClr val="F5F7FA"/>
                </a:solidFill>
                <a:latin typeface="Arial"/>
                <a:ea typeface="Arial"/>
                <a:cs typeface="Arial"/>
              </a:rPr>
              <a:t>Only open the protected holdout after the signal passes every gate. Keep the next campaign offline.</a:t>
            </a:r>
          </a:p>
        </p:txBody>
      </p:sp>
      <p:sp>
        <p:nvSpPr>
          <p:cNvPr id="14" name="">
            <a:extLst xmlns:a="http://schemas.openxmlformats.org/drawingml/2006/main">
              <a:ext uri="{FF2B5EF4-FFF2-40B4-BE49-F238E27FC236}">
                <a16:creationId xmlns:a16="http://schemas.microsoft.com/office/drawing/2014/main" id="{F784CA16-BE86-4545-945F-AFA791E1F8C2}"/>
              </a:ext>
            </a:extLst>
          </p:cNvPr>
          <p:cNvSpPr>
            <a:spLocks xmlns:a="http://schemas.openxmlformats.org/drawingml/2006/main" noGrp="1"/>
          </p:cNvSpPr>
          <p:nvPr/>
        </p:nvSpPr>
        <p:spPr>
          <a:xfrm xmlns:a="http://schemas.openxmlformats.org/drawingml/2006/main">
            <a:off x="9382125" y="2590800"/>
            <a:ext cx="1952625" cy="1809750"/>
          </a:xfrm>
          <a:prstGeom xmlns:a="http://schemas.openxmlformats.org/drawingml/2006/main" prst="roundRect">
            <a:avLst>
              <a:gd name="adj" fmla="val 13684"/>
            </a:avLst>
          </a:prstGeom>
          <a:solidFill xmlns:a="http://schemas.openxmlformats.org/drawingml/2006/main">
            <a:srgbClr val="142941"/>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9FD99EF8-6785-492F-8C60-C2F07A382D2A}"/>
              </a:ext>
            </a:extLst>
          </p:cNvPr>
          <p:cNvSpPr>
            <a:spLocks xmlns:a="http://schemas.openxmlformats.org/drawingml/2006/main" noGrp="1"/>
          </p:cNvSpPr>
          <p:nvPr/>
        </p:nvSpPr>
        <p:spPr>
          <a:xfrm xmlns:a="http://schemas.openxmlformats.org/drawingml/2006/main">
            <a:off x="9563100" y="2857500"/>
            <a:ext cx="1590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DETERMINISTIC</a:t>
            </a:r>
          </a:p>
          <a:p xmlns:a="http://schemas.openxmlformats.org/drawingml/2006/main">
            <a:pPr algn="ctr">
              <a:lnSpc>
                <a:spcPct val="100000"/>
              </a:lnSpc>
              <a:buNone/>
              <a:defRPr sz="1350" b="1">
                <a:solidFill>
                  <a:srgbClr val="F5F7FA"/>
                </a:solidFill>
                <a:latin typeface="Arial"/>
                <a:ea typeface="Arial"/>
                <a:cs typeface="Arial"/>
              </a:defRPr>
            </a:pPr>
            <a:r>
              <a:rPr sz="1350" b="1">
                <a:solidFill>
                  <a:srgbClr val="F5F7FA"/>
                </a:solidFill>
                <a:latin typeface="Arial"/>
                <a:ea typeface="Arial"/>
                <a:cs typeface="Arial"/>
              </a:rPr>
              <a:t>EVALUATOR</a:t>
            </a:r>
          </a:p>
        </p:txBody>
      </p:sp>
      <p:sp>
        <p:nvSpPr>
          <p:cNvPr id="16" name="">
            <a:extLst xmlns:a="http://schemas.openxmlformats.org/drawingml/2006/main">
              <a:ext uri="{FF2B5EF4-FFF2-40B4-BE49-F238E27FC236}">
                <a16:creationId xmlns:a16="http://schemas.microsoft.com/office/drawing/2014/main" id="{8F23CA18-239B-434E-9369-EB8F5AB92379}"/>
              </a:ext>
            </a:extLst>
          </p:cNvPr>
          <p:cNvSpPr>
            <a:spLocks xmlns:a="http://schemas.openxmlformats.org/drawingml/2006/main" noGrp="1"/>
          </p:cNvSpPr>
          <p:nvPr/>
        </p:nvSpPr>
        <p:spPr>
          <a:xfrm xmlns:a="http://schemas.openxmlformats.org/drawingml/2006/main">
            <a:off x="9829800" y="3581400"/>
            <a:ext cx="1047750" cy="0"/>
          </a:xfrm>
          <a:prstGeom xmlns:a="http://schemas.openxmlformats.org/drawingml/2006/main" prst="line">
            <a:avLst/>
          </a:prstGeom>
          <a:noFill xmlns:a="http://schemas.openxmlformats.org/drawingml/2006/main"/>
          <a:ln xmlns:a="http://schemas.openxmlformats.org/drawingml/2006/main" w="19050">
            <a:solidFill>
              <a:srgbClr val="31445D"/>
            </a:solidFill>
            <a:prstDash val="solid"/>
          </a:ln>
        </p:spPr>
      </p:sp>
      <p:sp>
        <p:nvSpPr>
          <p:cNvPr id="17" name="">
            <a:extLst xmlns:a="http://schemas.openxmlformats.org/drawingml/2006/main">
              <a:ext uri="{FF2B5EF4-FFF2-40B4-BE49-F238E27FC236}">
                <a16:creationId xmlns:a16="http://schemas.microsoft.com/office/drawing/2014/main" id="{CFA81FC7-5B14-47D0-95F4-44E76CC52A43}"/>
              </a:ext>
            </a:extLst>
          </p:cNvPr>
          <p:cNvSpPr>
            <a:spLocks xmlns:a="http://schemas.openxmlformats.org/drawingml/2006/main" noGrp="1"/>
          </p:cNvSpPr>
          <p:nvPr/>
        </p:nvSpPr>
        <p:spPr>
          <a:xfrm xmlns:a="http://schemas.openxmlformats.org/drawingml/2006/main">
            <a:off x="9677400" y="3676650"/>
            <a:ext cx="1362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a:t>
            </a:r>
          </a:p>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ADVERSARIAL</a:t>
            </a:r>
          </a:p>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CRITIC</a:t>
            </a:r>
          </a:p>
        </p:txBody>
      </p:sp>
      <p:sp>
        <p:nvSpPr>
          <p:cNvPr id="18" name="">
            <a:extLst xmlns:a="http://schemas.openxmlformats.org/drawingml/2006/main">
              <a:ext uri="{FF2B5EF4-FFF2-40B4-BE49-F238E27FC236}">
                <a16:creationId xmlns:a16="http://schemas.microsoft.com/office/drawing/2014/main" id="{E269BAE6-815D-4FC5-8C03-1DF7A2A3D3A4}"/>
              </a:ext>
            </a:extLst>
          </p:cNvPr>
          <p:cNvSpPr>
            <a:spLocks xmlns:a="http://schemas.openxmlformats.org/drawingml/2006/main" noGrp="1"/>
          </p:cNvSpPr>
          <p:nvPr/>
        </p:nvSpPr>
        <p:spPr>
          <a:xfrm xmlns:a="http://schemas.openxmlformats.org/drawingml/2006/main">
            <a:off x="5448300" y="17811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EA1FF"/>
            </a:solidFill>
            <a:prstDash val="solid"/>
          </a:ln>
        </p:spPr>
      </p:sp>
      <p:sp>
        <p:nvSpPr>
          <p:cNvPr id="19" name="">
            <a:extLst xmlns:a="http://schemas.openxmlformats.org/drawingml/2006/main">
              <a:ext uri="{FF2B5EF4-FFF2-40B4-BE49-F238E27FC236}">
                <a16:creationId xmlns:a16="http://schemas.microsoft.com/office/drawing/2014/main" id="{4F920131-A0D3-4240-B42E-6EA11CC0ABC9}"/>
              </a:ext>
            </a:extLst>
          </p:cNvPr>
          <p:cNvSpPr>
            <a:spLocks xmlns:a="http://schemas.openxmlformats.org/drawingml/2006/main" noGrp="1"/>
          </p:cNvSpPr>
          <p:nvPr/>
        </p:nvSpPr>
        <p:spPr>
          <a:xfrm xmlns:a="http://schemas.openxmlformats.org/drawingml/2006/main">
            <a:off x="5619750" y="18573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EA1FF"/>
                </a:solidFill>
                <a:latin typeface="Arial"/>
                <a:ea typeface="Arial"/>
                <a:cs typeface="Arial"/>
              </a:defRPr>
            </a:pPr>
            <a:r>
              <a:rPr sz="1200" b="1">
                <a:solidFill>
                  <a:srgbClr val="4EA1FF"/>
                </a:solidFill>
                <a:latin typeface="Arial"/>
                <a:ea typeface="Arial"/>
                <a:cs typeface="Arial"/>
              </a:rPr>
              <a:t>EXECUTION</a:t>
            </a:r>
          </a:p>
        </p:txBody>
      </p:sp>
      <p:sp>
        <p:nvSpPr>
          <p:cNvPr id="20" name="">
            <a:extLst xmlns:a="http://schemas.openxmlformats.org/drawingml/2006/main">
              <a:ext uri="{FF2B5EF4-FFF2-40B4-BE49-F238E27FC236}">
                <a16:creationId xmlns:a16="http://schemas.microsoft.com/office/drawing/2014/main" id="{D3DC9181-439A-4700-8303-69908E3B06E3}"/>
              </a:ext>
            </a:extLst>
          </p:cNvPr>
          <p:cNvSpPr>
            <a:spLocks xmlns:a="http://schemas.openxmlformats.org/drawingml/2006/main" noGrp="1"/>
          </p:cNvSpPr>
          <p:nvPr/>
        </p:nvSpPr>
        <p:spPr>
          <a:xfrm xmlns:a="http://schemas.openxmlformats.org/drawingml/2006/main">
            <a:off x="5619750" y="21050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observed bid / ask</a:t>
            </a:r>
          </a:p>
        </p:txBody>
      </p:sp>
      <p:cxnSp>
        <p:nvCxnSpPr>
          <p:cNvPr id="58" name=""/>
          <p:cNvCxnSpPr>
            <a:stCxn xmlns:a="http://schemas.openxmlformats.org/drawingml/2006/main" id="18" idx="3"/>
            <a:endCxn xmlns:a="http://schemas.openxmlformats.org/drawingml/2006/main" id="14" idx="1"/>
          </p:cNvCxnSpPr>
          <p:nvPr/>
        </p:nvCxnSpPr>
        <p:spPr>
          <a:xfrm xmlns:a="http://schemas.openxmlformats.org/drawingml/2006/main">
            <a:off x="8448675" y="2124075"/>
            <a:ext cx="933450" cy="13716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22" name="">
            <a:extLst xmlns:a="http://schemas.openxmlformats.org/drawingml/2006/main">
              <a:ext uri="{FF2B5EF4-FFF2-40B4-BE49-F238E27FC236}">
                <a16:creationId xmlns:a16="http://schemas.microsoft.com/office/drawing/2014/main" id="{0D047E77-33E4-4F20-B023-F9DE2A0E4835}"/>
              </a:ext>
            </a:extLst>
          </p:cNvPr>
          <p:cNvSpPr>
            <a:spLocks xmlns:a="http://schemas.openxmlformats.org/drawingml/2006/main" noGrp="1"/>
          </p:cNvSpPr>
          <p:nvPr/>
        </p:nvSpPr>
        <p:spPr>
          <a:xfrm xmlns:a="http://schemas.openxmlformats.org/drawingml/2006/main">
            <a:off x="5448300" y="27336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F4B860"/>
            </a:solidFill>
            <a:prstDash val="solid"/>
          </a:ln>
        </p:spPr>
      </p:sp>
      <p:sp>
        <p:nvSpPr>
          <p:cNvPr id="23" name="">
            <a:extLst xmlns:a="http://schemas.openxmlformats.org/drawingml/2006/main">
              <a:ext uri="{FF2B5EF4-FFF2-40B4-BE49-F238E27FC236}">
                <a16:creationId xmlns:a16="http://schemas.microsoft.com/office/drawing/2014/main" id="{8446BFD6-1000-490D-A029-491402C4A97B}"/>
              </a:ext>
            </a:extLst>
          </p:cNvPr>
          <p:cNvSpPr>
            <a:spLocks xmlns:a="http://schemas.openxmlformats.org/drawingml/2006/main" noGrp="1"/>
          </p:cNvSpPr>
          <p:nvPr/>
        </p:nvSpPr>
        <p:spPr>
          <a:xfrm xmlns:a="http://schemas.openxmlformats.org/drawingml/2006/main">
            <a:off x="5619750" y="28098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F4B860"/>
                </a:solidFill>
                <a:latin typeface="Arial"/>
                <a:ea typeface="Arial"/>
                <a:cs typeface="Arial"/>
              </a:defRPr>
            </a:pPr>
            <a:r>
              <a:rPr sz="1200" b="1">
                <a:solidFill>
                  <a:srgbClr val="F4B860"/>
                </a:solidFill>
                <a:latin typeface="Arial"/>
                <a:ea typeface="Arial"/>
                <a:cs typeface="Arial"/>
              </a:rPr>
              <a:t>FEES</a:t>
            </a:r>
          </a:p>
        </p:txBody>
      </p:sp>
      <p:sp>
        <p:nvSpPr>
          <p:cNvPr id="24" name="">
            <a:extLst xmlns:a="http://schemas.openxmlformats.org/drawingml/2006/main">
              <a:ext uri="{FF2B5EF4-FFF2-40B4-BE49-F238E27FC236}">
                <a16:creationId xmlns:a16="http://schemas.microsoft.com/office/drawing/2014/main" id="{740D5789-56B5-4FBC-88BC-457102D71292}"/>
              </a:ext>
            </a:extLst>
          </p:cNvPr>
          <p:cNvSpPr>
            <a:spLocks xmlns:a="http://schemas.openxmlformats.org/drawingml/2006/main" noGrp="1"/>
          </p:cNvSpPr>
          <p:nvPr/>
        </p:nvSpPr>
        <p:spPr>
          <a:xfrm xmlns:a="http://schemas.openxmlformats.org/drawingml/2006/main">
            <a:off x="5619750" y="30575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exact historical schedule</a:t>
            </a:r>
          </a:p>
        </p:txBody>
      </p:sp>
      <p:cxnSp>
        <p:nvCxnSpPr>
          <p:cNvPr id="62" name=""/>
          <p:cNvCxnSpPr>
            <a:stCxn xmlns:a="http://schemas.openxmlformats.org/drawingml/2006/main" id="22" idx="3"/>
            <a:endCxn xmlns:a="http://schemas.openxmlformats.org/drawingml/2006/main" id="14" idx="1"/>
          </p:cNvCxnSpPr>
          <p:nvPr/>
        </p:nvCxnSpPr>
        <p:spPr>
          <a:xfrm xmlns:a="http://schemas.openxmlformats.org/drawingml/2006/main">
            <a:off x="8448675" y="3076575"/>
            <a:ext cx="933450" cy="4191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26" name="">
            <a:extLst xmlns:a="http://schemas.openxmlformats.org/drawingml/2006/main">
              <a:ext uri="{FF2B5EF4-FFF2-40B4-BE49-F238E27FC236}">
                <a16:creationId xmlns:a16="http://schemas.microsoft.com/office/drawing/2014/main" id="{394AB9A1-AB2E-4F99-B657-3615FD3F9CF1}"/>
              </a:ext>
            </a:extLst>
          </p:cNvPr>
          <p:cNvSpPr>
            <a:spLocks xmlns:a="http://schemas.openxmlformats.org/drawingml/2006/main" noGrp="1"/>
          </p:cNvSpPr>
          <p:nvPr/>
        </p:nvSpPr>
        <p:spPr>
          <a:xfrm xmlns:a="http://schemas.openxmlformats.org/drawingml/2006/main">
            <a:off x="5448300" y="36861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7D7D0"/>
            </a:solidFill>
            <a:prstDash val="solid"/>
          </a:ln>
        </p:spPr>
      </p:sp>
      <p:sp>
        <p:nvSpPr>
          <p:cNvPr id="27" name="">
            <a:extLst xmlns:a="http://schemas.openxmlformats.org/drawingml/2006/main">
              <a:ext uri="{FF2B5EF4-FFF2-40B4-BE49-F238E27FC236}">
                <a16:creationId xmlns:a16="http://schemas.microsoft.com/office/drawing/2014/main" id="{7A9EF3D8-3821-4064-BC8D-6A9B7D7EBF6C}"/>
              </a:ext>
            </a:extLst>
          </p:cNvPr>
          <p:cNvSpPr>
            <a:spLocks xmlns:a="http://schemas.openxmlformats.org/drawingml/2006/main" noGrp="1"/>
          </p:cNvSpPr>
          <p:nvPr/>
        </p:nvSpPr>
        <p:spPr>
          <a:xfrm xmlns:a="http://schemas.openxmlformats.org/drawingml/2006/main">
            <a:off x="5619750" y="37623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7D7D0"/>
                </a:solidFill>
                <a:latin typeface="Arial"/>
                <a:ea typeface="Arial"/>
                <a:cs typeface="Arial"/>
              </a:defRPr>
            </a:pPr>
            <a:r>
              <a:rPr sz="1200" b="1">
                <a:solidFill>
                  <a:srgbClr val="47D7D0"/>
                </a:solidFill>
                <a:latin typeface="Arial"/>
                <a:ea typeface="Arial"/>
                <a:cs typeface="Arial"/>
              </a:rPr>
              <a:t>PROBABILITY</a:t>
            </a:r>
          </a:p>
        </p:txBody>
      </p:sp>
      <p:sp>
        <p:nvSpPr>
          <p:cNvPr id="28" name="">
            <a:extLst xmlns:a="http://schemas.openxmlformats.org/drawingml/2006/main">
              <a:ext uri="{FF2B5EF4-FFF2-40B4-BE49-F238E27FC236}">
                <a16:creationId xmlns:a16="http://schemas.microsoft.com/office/drawing/2014/main" id="{867C2099-930D-44CF-B2AE-B55A9572395E}"/>
              </a:ext>
            </a:extLst>
          </p:cNvPr>
          <p:cNvSpPr>
            <a:spLocks xmlns:a="http://schemas.openxmlformats.org/drawingml/2006/main" noGrp="1"/>
          </p:cNvSpPr>
          <p:nvPr/>
        </p:nvSpPr>
        <p:spPr>
          <a:xfrm xmlns:a="http://schemas.openxmlformats.org/drawingml/2006/main">
            <a:off x="5619750" y="40100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frozen calibration</a:t>
            </a:r>
          </a:p>
        </p:txBody>
      </p:sp>
      <p:cxnSp>
        <p:nvCxnSpPr>
          <p:cNvPr id="66" name=""/>
          <p:cNvCxnSpPr>
            <a:stCxn xmlns:a="http://schemas.openxmlformats.org/drawingml/2006/main" id="26" idx="3"/>
            <a:endCxn xmlns:a="http://schemas.openxmlformats.org/drawingml/2006/main" id="14" idx="1"/>
          </p:cNvCxnSpPr>
          <p:nvPr/>
        </p:nvCxnSpPr>
        <p:spPr>
          <a:xfrm xmlns:a="http://schemas.openxmlformats.org/drawingml/2006/main" flipV="1">
            <a:off x="8448675" y="3495675"/>
            <a:ext cx="933450" cy="5334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30" name="">
            <a:extLst xmlns:a="http://schemas.openxmlformats.org/drawingml/2006/main">
              <a:ext uri="{FF2B5EF4-FFF2-40B4-BE49-F238E27FC236}">
                <a16:creationId xmlns:a16="http://schemas.microsoft.com/office/drawing/2014/main" id="{269A7AA7-7961-40BE-AB89-130F7C078970}"/>
              </a:ext>
            </a:extLst>
          </p:cNvPr>
          <p:cNvSpPr>
            <a:spLocks xmlns:a="http://schemas.openxmlformats.org/drawingml/2006/main" noGrp="1"/>
          </p:cNvSpPr>
          <p:nvPr/>
        </p:nvSpPr>
        <p:spPr>
          <a:xfrm xmlns:a="http://schemas.openxmlformats.org/drawingml/2006/main">
            <a:off x="5448300" y="4638675"/>
            <a:ext cx="3000375" cy="685800"/>
          </a:xfrm>
          <a:prstGeom xmlns:a="http://schemas.openxmlformats.org/drawingml/2006/main" prst="roundRect">
            <a:avLst>
              <a:gd name="adj" fmla="val 22222"/>
            </a:avLst>
          </a:prstGeom>
          <a:solidFill xmlns:a="http://schemas.openxmlformats.org/drawingml/2006/main">
            <a:srgbClr val="16263A"/>
          </a:solidFill>
          <a:ln xmlns:a="http://schemas.openxmlformats.org/drawingml/2006/main" w="19050">
            <a:solidFill>
              <a:srgbClr val="4DD28A"/>
            </a:solidFill>
            <a:prstDash val="solid"/>
          </a:ln>
        </p:spPr>
      </p:sp>
      <p:sp>
        <p:nvSpPr>
          <p:cNvPr id="31" name="">
            <a:extLst xmlns:a="http://schemas.openxmlformats.org/drawingml/2006/main">
              <a:ext uri="{FF2B5EF4-FFF2-40B4-BE49-F238E27FC236}">
                <a16:creationId xmlns:a16="http://schemas.microsoft.com/office/drawing/2014/main" id="{099F6736-39C1-47F0-AB00-F155AE07C55E}"/>
              </a:ext>
            </a:extLst>
          </p:cNvPr>
          <p:cNvSpPr>
            <a:spLocks xmlns:a="http://schemas.openxmlformats.org/drawingml/2006/main" noGrp="1"/>
          </p:cNvSpPr>
          <p:nvPr/>
        </p:nvSpPr>
        <p:spPr>
          <a:xfrm xmlns:a="http://schemas.openxmlformats.org/drawingml/2006/main">
            <a:off x="5619750" y="471487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00" b="1">
                <a:solidFill>
                  <a:srgbClr val="4DD28A"/>
                </a:solidFill>
                <a:latin typeface="Arial"/>
                <a:ea typeface="Arial"/>
                <a:cs typeface="Arial"/>
              </a:defRPr>
            </a:pPr>
            <a:r>
              <a:rPr sz="1200" b="1">
                <a:solidFill>
                  <a:srgbClr val="4DD28A"/>
                </a:solidFill>
                <a:latin typeface="Arial"/>
                <a:ea typeface="Arial"/>
                <a:cs typeface="Arial"/>
              </a:rPr>
              <a:t>SAMPLE</a:t>
            </a:r>
          </a:p>
        </p:txBody>
      </p:sp>
      <p:sp>
        <p:nvSpPr>
          <p:cNvPr id="32" name="">
            <a:extLst xmlns:a="http://schemas.openxmlformats.org/drawingml/2006/main">
              <a:ext uri="{FF2B5EF4-FFF2-40B4-BE49-F238E27FC236}">
                <a16:creationId xmlns:a16="http://schemas.microsoft.com/office/drawing/2014/main" id="{AD7ABE22-C3F2-41A8-9FE2-2908122B509B}"/>
              </a:ext>
            </a:extLst>
          </p:cNvPr>
          <p:cNvSpPr>
            <a:spLocks xmlns:a="http://schemas.openxmlformats.org/drawingml/2006/main" noGrp="1"/>
          </p:cNvSpPr>
          <p:nvPr/>
        </p:nvSpPr>
        <p:spPr>
          <a:xfrm xmlns:a="http://schemas.openxmlformats.org/drawingml/2006/main">
            <a:off x="5619750" y="4962525"/>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a:solidFill>
                  <a:srgbClr val="F5F7FA"/>
                </a:solidFill>
                <a:latin typeface="Arial"/>
                <a:ea typeface="Arial"/>
                <a:cs typeface="Arial"/>
              </a:defRPr>
            </a:pPr>
            <a:r>
              <a:rPr sz="1500" b="1">
                <a:solidFill>
                  <a:srgbClr val="F5F7FA"/>
                </a:solidFill>
                <a:latin typeface="Arial"/>
                <a:ea typeface="Arial"/>
                <a:cs typeface="Arial"/>
              </a:rPr>
              <a:t>more dates + regimes</a:t>
            </a:r>
          </a:p>
        </p:txBody>
      </p:sp>
      <p:cxnSp>
        <p:nvCxnSpPr>
          <p:cNvPr id="70" name=""/>
          <p:cNvCxnSpPr>
            <a:stCxn xmlns:a="http://schemas.openxmlformats.org/drawingml/2006/main" id="30" idx="3"/>
            <a:endCxn xmlns:a="http://schemas.openxmlformats.org/drawingml/2006/main" id="14" idx="1"/>
          </p:cNvCxnSpPr>
          <p:nvPr/>
        </p:nvCxnSpPr>
        <p:spPr>
          <a:xfrm xmlns:a="http://schemas.openxmlformats.org/drawingml/2006/main" flipV="1">
            <a:off x="8448675" y="3495675"/>
            <a:ext cx="933450" cy="1485900"/>
          </a:xfrm>
          <a:prstGeom xmlns:a="http://schemas.openxmlformats.org/drawingml/2006/main" prst="bentConnector3">
            <a:avLst>
              <a:gd name="adj1" fmla="val 50000"/>
            </a:avLst>
          </a:prstGeom>
          <a:ln xmlns:a="http://schemas.openxmlformats.org/drawingml/2006/main" w="19050">
            <a:solidFill>
              <a:srgbClr val="31445D"/>
            </a:solidFill>
            <a:prstDash val="solid"/>
            <a:headEnd type="arrow" w="sm" len="sm"/>
          </a:ln>
        </p:spPr>
      </p:cxnSp>
      <p:sp>
        <p:nvSpPr>
          <p:cNvPr id="34" name="">
            <a:extLst xmlns:a="http://schemas.openxmlformats.org/drawingml/2006/main">
              <a:ext uri="{FF2B5EF4-FFF2-40B4-BE49-F238E27FC236}">
                <a16:creationId xmlns:a16="http://schemas.microsoft.com/office/drawing/2014/main" id="{080C5284-F2A5-43FF-A8DF-726E15E2E193}"/>
              </a:ext>
            </a:extLst>
          </p:cNvPr>
          <p:cNvSpPr>
            <a:spLocks xmlns:a="http://schemas.openxmlformats.org/drawingml/2006/main" noGrp="1"/>
          </p:cNvSpPr>
          <p:nvPr/>
        </p:nvSpPr>
        <p:spPr>
          <a:xfrm xmlns:a="http://schemas.openxmlformats.org/drawingml/2006/main">
            <a:off x="9191625" y="4905375"/>
            <a:ext cx="2286000" cy="533400"/>
          </a:xfrm>
          <a:prstGeom xmlns:a="http://schemas.openxmlformats.org/drawingml/2006/main" prst="roundRect">
            <a:avLst>
              <a:gd name="adj" fmla="val 28571"/>
            </a:avLst>
          </a:prstGeom>
          <a:solidFill xmlns:a="http://schemas.openxmlformats.org/drawingml/2006/main">
            <a:srgbClr val="153323"/>
          </a:solidFill>
          <a:ln xmlns:a="http://schemas.openxmlformats.org/drawingml/2006/main" w="19050">
            <a:solidFill>
              <a:srgbClr val="4DD28A"/>
            </a:solidFill>
            <a:prstDash val="solid"/>
          </a:ln>
        </p:spPr>
      </p:sp>
      <p:sp>
        <p:nvSpPr>
          <p:cNvPr id="35" name="">
            <a:extLst xmlns:a="http://schemas.openxmlformats.org/drawingml/2006/main">
              <a:ext uri="{FF2B5EF4-FFF2-40B4-BE49-F238E27FC236}">
                <a16:creationId xmlns:a16="http://schemas.microsoft.com/office/drawing/2014/main" id="{6F943BE9-1923-4917-9298-D128B96DB752}"/>
              </a:ext>
            </a:extLst>
          </p:cNvPr>
          <p:cNvSpPr>
            <a:spLocks xmlns:a="http://schemas.openxmlformats.org/drawingml/2006/main" noGrp="1"/>
          </p:cNvSpPr>
          <p:nvPr/>
        </p:nvSpPr>
        <p:spPr>
          <a:xfrm xmlns:a="http://schemas.openxmlformats.org/drawingml/2006/main">
            <a:off x="9315450" y="501015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691"/>
          </a:bodyPr>
          <a:lstStyle xmlns:a="http://schemas.openxmlformats.org/drawingml/2006/main"/>
          <a:p xmlns:a="http://schemas.openxmlformats.org/drawingml/2006/main">
            <a:pPr algn="ctr">
              <a:lnSpc>
                <a:spcPct val="100000"/>
              </a:lnSpc>
              <a:buNone/>
              <a:defRPr sz="1275" b="1">
                <a:solidFill>
                  <a:srgbClr val="4DD28A"/>
                </a:solidFill>
                <a:latin typeface="Arial"/>
                <a:ea typeface="Arial"/>
                <a:cs typeface="Arial"/>
              </a:defRPr>
            </a:pPr>
            <a:r>
              <a:rPr sz="1275" b="1">
                <a:solidFill>
                  <a:srgbClr val="4DD28A"/>
                </a:solidFill>
                <a:latin typeface="Arial"/>
                <a:ea typeface="Arial"/>
                <a:cs typeface="Arial"/>
              </a:rPr>
              <a:t>PASS → protected holdout</a:t>
            </a:r>
          </a:p>
        </p:txBody>
      </p:sp>
      <p:sp>
        <p:nvSpPr>
          <p:cNvPr id="36" name="">
            <a:extLst xmlns:a="http://schemas.openxmlformats.org/drawingml/2006/main">
              <a:ext uri="{FF2B5EF4-FFF2-40B4-BE49-F238E27FC236}">
                <a16:creationId xmlns:a16="http://schemas.microsoft.com/office/drawing/2014/main" id="{84FFD6B6-F873-4CB5-9292-BD15EA97DB96}"/>
              </a:ext>
            </a:extLst>
          </p:cNvPr>
          <p:cNvSpPr>
            <a:spLocks xmlns:a="http://schemas.openxmlformats.org/drawingml/2006/main" noGrp="1"/>
          </p:cNvSpPr>
          <p:nvPr/>
        </p:nvSpPr>
        <p:spPr>
          <a:xfrm xmlns:a="http://schemas.openxmlformats.org/drawingml/2006/main">
            <a:off x="9191625" y="5600700"/>
            <a:ext cx="2286000" cy="533400"/>
          </a:xfrm>
          <a:prstGeom xmlns:a="http://schemas.openxmlformats.org/drawingml/2006/main" prst="roundRect">
            <a:avLst>
              <a:gd name="adj" fmla="val 28571"/>
            </a:avLst>
          </a:prstGeom>
          <a:solidFill xmlns:a="http://schemas.openxmlformats.org/drawingml/2006/main">
            <a:srgbClr val="321D29"/>
          </a:solidFill>
          <a:ln xmlns:a="http://schemas.openxmlformats.org/drawingml/2006/main" w="19050">
            <a:solidFill>
              <a:srgbClr val="FF6B6B"/>
            </a:solidFill>
            <a:prstDash val="solid"/>
          </a:ln>
        </p:spPr>
      </p:sp>
      <p:sp>
        <p:nvSpPr>
          <p:cNvPr id="37" name="">
            <a:extLst xmlns:a="http://schemas.openxmlformats.org/drawingml/2006/main">
              <a:ext uri="{FF2B5EF4-FFF2-40B4-BE49-F238E27FC236}">
                <a16:creationId xmlns:a16="http://schemas.microsoft.com/office/drawing/2014/main" id="{FD90C948-00C9-4CB1-8B5A-7C20FA2123F7}"/>
              </a:ext>
            </a:extLst>
          </p:cNvPr>
          <p:cNvSpPr>
            <a:spLocks xmlns:a="http://schemas.openxmlformats.org/drawingml/2006/main" noGrp="1"/>
          </p:cNvSpPr>
          <p:nvPr/>
        </p:nvSpPr>
        <p:spPr>
          <a:xfrm xmlns:a="http://schemas.openxmlformats.org/drawingml/2006/main">
            <a:off x="9315450" y="5705475"/>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6B6B"/>
                </a:solidFill>
                <a:latin typeface="Arial"/>
                <a:ea typeface="Arial"/>
                <a:cs typeface="Arial"/>
              </a:defRPr>
            </a:pPr>
            <a:r>
              <a:rPr sz="1275" b="1">
                <a:solidFill>
                  <a:srgbClr val="FF6B6B"/>
                </a:solidFill>
                <a:latin typeface="Arial"/>
                <a:ea typeface="Arial"/>
                <a:cs typeface="Arial"/>
              </a:rPr>
              <a:t>FAIL → learn + iterate</a:t>
            </a:r>
          </a:p>
        </p:txBody>
      </p:sp>
    </p:spTree>
    <p:extLst>
      <p:ext uri="{BB962C8B-B14F-4D97-AF65-F5344CB8AC3E}">
        <p14:creationId xmlns:p14="http://schemas.microsoft.com/office/powerpoint/2010/main" val="827757664"/>
      </p:ext>
    </p:extLst>
  </p:cSld>
</p:sld>
</file>

<file path=ppt/theme/theme1.xml><?xml version="1.0" encoding="utf-8"?>
<a:theme xmlns:a="http://schemas.openxmlformats.org/drawingml/2006/main" name="ChatGPT">
  <a:themeElements>
    <a:clrScheme name="Kalshi Research">
      <a:dk1>
        <a:srgbClr val="000000"/>
      </a:dk1>
      <a:lt1>
        <a:srgbClr val="FFFFFF"/>
      </a:lt1>
      <a:dk2>
        <a:srgbClr val="0B1320"/>
      </a:dk2>
      <a:lt2>
        <a:srgbClr val="DCE5EF"/>
      </a:lt2>
      <a:accent1>
        <a:srgbClr val="4EA1FF"/>
      </a:accent1>
      <a:accent2>
        <a:srgbClr val="47D7D0"/>
      </a:accent2>
      <a:accent3>
        <a:srgbClr val="4DD28A"/>
      </a:accent3>
      <a:accent4>
        <a:srgbClr val="F4B860"/>
      </a:accent4>
      <a:accent5>
        <a:srgbClr val="FF6B6B"/>
      </a:accent5>
      <a:accent6>
        <a:srgbClr val="9C7CFF"/>
      </a:accent6>
      <a:hlink>
        <a:srgbClr val="4EA1FF"/>
      </a:hlink>
      <a:folHlink>
        <a:srgbClr val="9C7CFF"/>
      </a:folHlink>
    </a:clrScheme>
    <a:fontScheme name="Office">
      <a:majorFont>
        <a:latin typeface="Calibri Light"/>
        <a:ea typeface="Calibri Light"/>
        <a:cs typeface="Calibri Light"/>
      </a:majorFont>
      <a:minorFont>
        <a:latin typeface="Calibri"/>
        <a:ea typeface="Calibri"/>
        <a:cs typeface="Calibri"/>
      </a:minorFont>
    </a:fontScheme>
    <a:fmtScheme name="Kalshi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2026-09-27T13:31:58.5250000Z</dcterms:created>
  <dcterms:modified xsi:type="dcterms:W3CDTF">2026-09-27T13:31:58.5250000Z</dcterms:modified>
</coreProperties>
</file>