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b701fce28d4462" /><Relationship Type="http://schemas.openxmlformats.org/officeDocument/2006/relationships/extended-properties" Target="/docProps/app.xml" Id="Rff67d33db9394619" /><Relationship Type="http://schemas.openxmlformats.org/officeDocument/2006/relationships/officeDocument" Target="/ppt/presentation.xml" Id="R19a7b95e52b847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33b93c27b646ff"/>
  </p:sldMasterIdLst>
  <p:notesMasterIdLst>
    <p:notesMasterId xmlns:r="http://schemas.openxmlformats.org/officeDocument/2006/relationships" r:id="Rbf234a403da34859"/>
  </p:notesMasterIdLst>
  <p:sldIdLst>
    <p:sldId xmlns:r="http://schemas.openxmlformats.org/officeDocument/2006/relationships" id="256" r:id="R81500301bb96438e"/>
    <p:sldId xmlns:r="http://schemas.openxmlformats.org/officeDocument/2006/relationships" id="257" r:id="Rd103af9c36804bf3"/>
    <p:sldId xmlns:r="http://schemas.openxmlformats.org/officeDocument/2006/relationships" id="258" r:id="R64c450812779488f"/>
    <p:sldId xmlns:r="http://schemas.openxmlformats.org/officeDocument/2006/relationships" id="259" r:id="Rf7d834ea938849a6"/>
    <p:sldId xmlns:r="http://schemas.openxmlformats.org/officeDocument/2006/relationships" id="260" r:id="R71d91c6c5014484d"/>
    <p:sldId xmlns:r="http://schemas.openxmlformats.org/officeDocument/2006/relationships" id="261" r:id="R4d9e4e4fba7b45f1"/>
    <p:sldId xmlns:r="http://schemas.openxmlformats.org/officeDocument/2006/relationships" id="262" r:id="Rac07f75875dd4f62"/>
    <p:sldId xmlns:r="http://schemas.openxmlformats.org/officeDocument/2006/relationships" id="263" r:id="R07ae97b54937445c"/>
    <p:sldId xmlns:r="http://schemas.openxmlformats.org/officeDocument/2006/relationships" id="264" r:id="R3473b4c38d064275"/>
    <p:sldId xmlns:r="http://schemas.openxmlformats.org/officeDocument/2006/relationships" id="265" r:id="Rcbf74f65db474b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61710015474c68" /><Relationship Type="http://schemas.openxmlformats.org/officeDocument/2006/relationships/slideMaster" Target="/ppt/slideMasters/slideMaster1.xml" Id="R8933b93c27b646ff" /><Relationship Type="http://schemas.openxmlformats.org/officeDocument/2006/relationships/notesMaster" Target="/ppt/notesMasters/notesMaster1.xml" Id="Rbf234a403da34859" /><Relationship Type="http://schemas.openxmlformats.org/officeDocument/2006/relationships/presProps" Target="/ppt/presProps.xml" Id="R74f408d6dd864932" /><Relationship Type="http://schemas.openxmlformats.org/officeDocument/2006/relationships/tableStyles" Target="/ppt/tableStyles.xml" Id="R2c41072ad9524986" /><Relationship Type="http://schemas.openxmlformats.org/officeDocument/2006/relationships/slide" Target="/ppt/slides/slide1.xml" Id="R81500301bb96438e" /><Relationship Type="http://schemas.openxmlformats.org/officeDocument/2006/relationships/slide" Target="/ppt/slides/slide2.xml" Id="Rd103af9c36804bf3" /><Relationship Type="http://schemas.openxmlformats.org/officeDocument/2006/relationships/slide" Target="/ppt/slides/slide3.xml" Id="R64c450812779488f" /><Relationship Type="http://schemas.openxmlformats.org/officeDocument/2006/relationships/slide" Target="/ppt/slides/slide4.xml" Id="Rf7d834ea938849a6" /><Relationship Type="http://schemas.openxmlformats.org/officeDocument/2006/relationships/slide" Target="/ppt/slides/slide5.xml" Id="R71d91c6c5014484d" /><Relationship Type="http://schemas.openxmlformats.org/officeDocument/2006/relationships/slide" Target="/ppt/slides/slide6.xml" Id="R4d9e4e4fba7b45f1" /><Relationship Type="http://schemas.openxmlformats.org/officeDocument/2006/relationships/slide" Target="/ppt/slides/slide7.xml" Id="Rac07f75875dd4f62" /><Relationship Type="http://schemas.openxmlformats.org/officeDocument/2006/relationships/slide" Target="/ppt/slides/slide8.xml" Id="R07ae97b54937445c" /><Relationship Type="http://schemas.openxmlformats.org/officeDocument/2006/relationships/slide" Target="/ppt/slides/slide9.xml" Id="R3473b4c38d064275" /><Relationship Type="http://schemas.openxmlformats.org/officeDocument/2006/relationships/slide" Target="/ppt/slides/slide10.xml" Id="Rcbf74f65db474b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1e5c6067c849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16a09df7064c9e" /><Relationship Type="http://schemas.openxmlformats.org/officeDocument/2006/relationships/notesMaster" Target="/ppt/notesMasters/notesMaster1.xml" Id="R9afe5398da344f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ebaf5d512944bf" /><Relationship Type="http://schemas.openxmlformats.org/officeDocument/2006/relationships/notesMaster" Target="/ppt/notesMasters/notesMaster1.xml" Id="R46b79293223840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a4ec15bc714eab" /><Relationship Type="http://schemas.openxmlformats.org/officeDocument/2006/relationships/notesMaster" Target="/ppt/notesMasters/notesMaster1.xml" Id="Rd788a6589b9749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2d00a06b9d4ebb" /><Relationship Type="http://schemas.openxmlformats.org/officeDocument/2006/relationships/notesMaster" Target="/ppt/notesMasters/notesMaster1.xml" Id="R85d3f6273d8543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33e4fadd74441f" /><Relationship Type="http://schemas.openxmlformats.org/officeDocument/2006/relationships/notesMaster" Target="/ppt/notesMasters/notesMaster1.xml" Id="R7b6a78dec2db43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534e1f61e84373" /><Relationship Type="http://schemas.openxmlformats.org/officeDocument/2006/relationships/notesMaster" Target="/ppt/notesMasters/notesMaster1.xml" Id="Rda00ddbf257249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b18df9af474ebf" /><Relationship Type="http://schemas.openxmlformats.org/officeDocument/2006/relationships/notesMaster" Target="/ppt/notesMasters/notesMaster1.xml" Id="R9f2b5647a03f40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1cce73e8e0454b" /><Relationship Type="http://schemas.openxmlformats.org/officeDocument/2006/relationships/notesMaster" Target="/ppt/notesMasters/notesMaster1.xml" Id="R164320bdb00941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f57cc475724679" /><Relationship Type="http://schemas.openxmlformats.org/officeDocument/2006/relationships/notesMaster" Target="/ppt/notesMasters/notesMaster1.xml" Id="Rf7babeede01549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f42eded4f546da" /><Relationship Type="http://schemas.openxmlformats.org/officeDocument/2006/relationships/notesMaster" Target="/ppt/notesMasters/notesMaster1.xml" Id="R7da91c8b165d47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the current Kalshi LAX high-temperature research model. Results are historical research replays, not live trading returns.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Kalshi daily high-temperature markets settle into mutually exclusive temperature brackets. The figure is schematic.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decision-time policy uses GEFS 00Z, HRRR 06Z, and Kalshi market evidence at 18:00 UTC. This prevents look-ahead.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feature vector: HRRR 2m temperature min/mean/max; GEFS ensemble-mean temperature min/mean/max; GEFS ensemble-spread min/mean/max; sine/cosine day-of-year. Current model does not use cloud, wind, or humidity.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learns a pooled residual distribution from 2024 training data, maps it to the six mutually exclusive temperature brackets, and applies bracket-level isotonic calibration on the designated early-2025 calibration window. Probabilities shown are schematic.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numbers only. The real strategy compares calibrated bracket probabilities with historical market prices and applies the frozen economics and evidence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frozen V5B strategy buys at most one NO contract per day on a narrow temperature bracket. Five other settlement ranges pay the NO contract, but the risk/reward depends on the entry price and exact fees.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early broad candidate search produced roughly 149 to 173 simulated entries per candidate. Example returns in reports/local-20260925T170513829794Z/offline-research-results.md ranged from -27.38% to -57.23%. This motivated stricter market-relative selection and abstention.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reports/CAMPAIGN_STOP_AND_RESULTS_2026-09-27.md, docs/V7H_HISTORICAL_SIX_WEEK_REPLAY.md, and runs/replays/v7i-historical-20260730-20260927/validation/V7I_VALIDATION.md. Frozen V5B selected 30 development trades and returned +26.83%. The 42-day replay returned +27.75% after fees with 7 wins from 9 fills. The broader 55-day primary segment returned +8.24% after fees with 8 wins from 13 fills. These are historical research replays and do not prove a live edge.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added 2026-09-15 through 2026-09-27 segment returned -47.68%, and the 95% moving-block bootstrap lower bound for the 55-day primary replay was -26.43%. The calendar-2025 HRRR/GEFS backfill is at 181/184 dates, with three documented blockers. Next work should complete or formally exclude those dates, then run the frozen full-year evaluation before any online or paper-order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bb28e116544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7ac5a533624c0e" /><Relationship Type="http://schemas.openxmlformats.org/officeDocument/2006/relationships/slideLayout" Target="/ppt/slideLayouts/slideLayout1.xml" Id="Rce2d67a00d3147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2d67a00d3147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ce9bff5234c32" /><Relationship Type="http://schemas.openxmlformats.org/officeDocument/2006/relationships/notesSlide" Target="/ppt/notesSlides/notesSlide1.xml" Id="Rd9ca9994167744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702ab10b0440b" /><Relationship Type="http://schemas.openxmlformats.org/officeDocument/2006/relationships/notesSlide" Target="/ppt/notesSlides/notesSlide2.xml" Id="R7beb5a235a574d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15cfe94494c01" /><Relationship Type="http://schemas.openxmlformats.org/officeDocument/2006/relationships/notesSlide" Target="/ppt/notesSlides/notesSlide3.xml" Id="R13335976ba6b4e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50251da19499c" /><Relationship Type="http://schemas.openxmlformats.org/officeDocument/2006/relationships/notesSlide" Target="/ppt/notesSlides/notesSlide4.xml" Id="R33f3225e855a44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f496096024a47" /><Relationship Type="http://schemas.openxmlformats.org/officeDocument/2006/relationships/notesSlide" Target="/ppt/notesSlides/notesSlide5.xml" Id="R40aed902dbb44a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85afcaf5743b7" /><Relationship Type="http://schemas.openxmlformats.org/officeDocument/2006/relationships/notesSlide" Target="/ppt/notesSlides/notesSlide6.xml" Id="Rc8d0f4f9dfd342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c390666344244" /><Relationship Type="http://schemas.openxmlformats.org/officeDocument/2006/relationships/notesSlide" Target="/ppt/notesSlides/notesSlide7.xml" Id="Re9fa76c201f342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d9a300e9f4e95" /><Relationship Type="http://schemas.openxmlformats.org/officeDocument/2006/relationships/notesSlide" Target="/ppt/notesSlides/notesSlide8.xml" Id="R2e27c4bf87c749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b8abdc2f64033" /><Relationship Type="http://schemas.openxmlformats.org/officeDocument/2006/relationships/notesSlide" Target="/ppt/notesSlides/notesSlide9.xml" Id="Rdfd12fa1cd6046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32e5941614fad" /><Relationship Type="http://schemas.openxmlformats.org/officeDocument/2006/relationships/notesSlide" Target="/ppt/notesSlides/notesSlide10.xml" Id="R7335a02c3b7143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967E3-C18C-4789-A07B-D617393F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KALSHI WEATHER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2427D-A429-400A-A3E9-E59D35DF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Our weather</a:t>
            </a:r>
          </a:p>
          <a:p xmlns:a="http://schemas.openxmlformats.org/drawingml/2006/main">
            <a:pPr algn="l">
              <a:defRPr sz="40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pricing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5A3C6-AB9C-4265-9039-B0CE35D6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How forecasts become one selective trade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3D1AB-B77F-4C0A-AD9D-F9E7EC58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CD33E-75CF-4FD6-B3C8-B618592B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E8AA2"/>
                </a:solidFill>
                <a:latin typeface="Arial"/>
                <a:ea typeface="Arial"/>
                <a:cs typeface="Arial"/>
              </a:rPr>
              <a:t>Offline research  |  No live orders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DDC43-8118-4352-A164-354D3A54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54864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75350-5C26-460F-B83E-6B1860E7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LAX DAILY 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D83DD-745D-43DD-A20C-DF9ECFAB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7640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44D1F-5A1D-4162-87C6-DDFB8B6C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7430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≤67°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156CB-0792-49BE-BAE5-48F211B5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62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one possible 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D9E68-7E2D-4B16-8D68-F8A8F445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6695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0CE57-0C33-4DF4-89F8-D99DD13D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33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68–69°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7306A-C753-429E-9D64-12B0253C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52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one possible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A64C1-B17E-48AD-902F-615A58F1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5750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8ECE3-BEF4-4784-9F70-DDBC55CE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9241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70–71°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F4D07-4300-4F8F-882C-10B64898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43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one possible 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D43A5-B469-4703-AA15-6D3AC67D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4805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14288">
            <a:solidFill>
              <a:srgbClr val="FFBD5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10607-D209-40CC-AFFC-D963EC5B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147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72–73°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0BD2D-C028-45C0-86AF-34872690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337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827"/>
                </a:solidFill>
                <a:latin typeface="Arial"/>
                <a:ea typeface="Arial"/>
                <a:cs typeface="Arial"/>
              </a:rPr>
              <a:t>model tests this price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8D238-90A9-4CF4-B0F2-BC8AFB66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3860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DAF72-BE5E-4C41-9134-722522A5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1052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74–75°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2D467-FF78-409A-86AB-40CE1E93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24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one possible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B67B81-EF80-4C4B-A7EF-D2B80C8B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2915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0EF98-2F81-49C2-AE31-079DB7EB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95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≥76°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65958-459C-4CAF-93C5-BC769D02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one possible outcome</a:t>
            </a:r>
          </a:p>
        </p:txBody>
      </p:sp>
    </p:spTree>
    <p:extLst>
      <p:ext uri="{BB962C8B-B14F-4D97-AF65-F5344CB8AC3E}">
        <p14:creationId xmlns:p14="http://schemas.microsoft.com/office/powerpoint/2010/main" val="1412476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6C6B6-4EFD-4262-9D2C-B4EBCD23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A9B99-CA43-4CA3-AA87-B83BD77A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market is six temperature ranges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CE471-3345-4E52-AF9E-F639AA85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F8C3E-0D9B-475F-84EE-B4D44899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0D764-0F81-4830-9F6B-E79E5CDE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0AF18-C317-442B-BD9E-4C443C82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Each range has a YES and NO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0F2DC-BE42-47EB-BEB5-F00D942A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81585-A96E-4504-B570-0544EB27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Only one range wins each 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320B6-8BAB-45C4-BD58-48ACF4C9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29C9C-E4A4-4D65-B432-7C4B985A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six prices should fit together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31B78-C60F-474D-B5D2-11A13F7F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FE249-007D-4213-8153-0708D7C4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80377-9B92-4E7C-BE65-A8DE645A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≤67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05EAF-9E37-40AC-BFBB-E69B4A32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D5F90-39BF-40DD-9BFB-A4F0F9DA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68–69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835C0-C5C2-441F-8BF6-E4FEF88C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5D0C9-BAAD-49A2-96A0-8FC0E02D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70–71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DE150-583D-40CA-A6D5-C237CD22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9B059-E1D0-4B49-A82F-2DC3AB82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72–73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75767-415C-4EB7-AAF3-83BBD828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0AC30-4661-4192-AECB-872A28B7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74–75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56974-63D8-42C2-BFF0-17597D5E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A2A74-31A7-4466-B79B-FDC2A504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≥76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DE7FE-59A1-4268-88EC-91CD035D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14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A7E48-88FE-425C-9AD3-3B2DE8CB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192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actual high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BACA8-A810-4BBF-AF62-C125EAFB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97CB8-F746-433C-A4C3-5644A2A9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911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ONE WINNER</a:t>
            </a:r>
          </a:p>
        </p:txBody>
      </p:sp>
    </p:spTree>
    <p:extLst>
      <p:ext uri="{BB962C8B-B14F-4D97-AF65-F5344CB8AC3E}">
        <p14:creationId xmlns:p14="http://schemas.microsoft.com/office/powerpoint/2010/main" val="1667514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3F664-B05C-44F5-9D43-9C43AF21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E2A07-8C41-4DF9-9D8F-1BEEE50A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We freeze one decision moment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53D1C-6012-47F9-A594-3D153EC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C4E5F-3401-41B5-8549-AB5C745C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833A7-AC80-4C3C-A9CD-93150CEE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96B92-7172-421E-AD41-C19CBC61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GEFS forecast starts at 00:00 UTC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C537B-0B47-4116-833C-74F99B97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E66C4-E037-4F0F-B844-D1D6B3D7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HRRR forecast starts at 06:00 UTC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0FF73-DE01-467E-9497-ACF0E3CE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FD8FF-4802-475C-BAB7-1B24DB60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Trade decision is fixed at 18:00 UTC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883FA-D754-4D41-A558-1C0A2EB7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2A4C7-9719-427F-A4E4-10702563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57600"/>
            <a:ext cx="422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FBC76-F47A-40E4-83D0-2832244D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95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2E24C-F7E2-4E7B-8064-5A4AFBA3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10025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00Z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2221F-2BA8-469F-BFBB-54D3BBF8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243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GEFS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32BD2-3CD2-49F6-B0B3-7ED3F83E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95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C5B53-D84D-49B2-B2C9-F3F514EB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0025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06Z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D91E3-B9E2-4E48-9F60-C2697EFE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243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HRRR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C417E-7C02-41BE-A858-0F605827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95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DFC80-19EF-487F-BC2F-222913A2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10025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18Z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649E9-F141-496F-88CA-B33547EF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243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516CA-F6AF-4C76-B3D5-7CB75DC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241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49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No peeking past the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0938E-8E56-4620-A69D-6C6A4402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03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Weather and market information must already exist</a:t>
            </a:r>
          </a:p>
        </p:txBody>
      </p:sp>
    </p:spTree>
    <p:extLst>
      <p:ext uri="{BB962C8B-B14F-4D97-AF65-F5344CB8AC3E}">
        <p14:creationId xmlns:p14="http://schemas.microsoft.com/office/powerpoint/2010/main" val="578608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1A22B-72D8-4883-A1B8-8FC8AB6D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1D537-B0B4-46FA-BC5C-38391F9E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Eleven inputs describe the 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FB37E-4424-4010-B86E-A936C444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E486D-5CBF-447E-BD28-B8AEFA99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B0445-842C-4424-A980-3C88526F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0DCC0-0E58-451E-A740-47BA9E83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HRRR temperature: min, mean,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B4754-CCE7-41FD-A7EA-8378561A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9E2CB-09EB-49C6-A14A-FF68E75A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GEFS temperature and uncertainty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0D6F2-E53B-4225-BA5A-6243F40E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F8FC5-F5B1-4968-84F8-90BF7CF2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Season of the year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B599F-D1F9-4EA5-A6DF-CE9AA272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5F053-4C45-4F66-93F6-83501151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1428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853B6-22B5-4170-84CC-E43C0F63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HRRR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131A0-5FCB-428C-AA49-1525A81C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3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D2525-100A-4920-AE25-780FA42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1619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7F0A1-C930-4ACC-9FFF-346EBC65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GEFS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9CFE8-EB1E-4CCE-AD55-5E654429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6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FA9D1-AA3B-457F-AE7B-FDB84447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09825"/>
            <a:ext cx="781050" cy="8382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30A9D-7883-41D9-8B40-DBFFAFAD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717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SEASON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0AE16-5E6E-433F-AA93-AE18C296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384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A22F4-6EE6-4D2D-8DEA-527F4985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394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E1F7F-C47D-4351-AFEB-07F2E032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57675"/>
            <a:ext cx="338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3  +  6  + 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9F372-335D-4C83-AE8C-F128F381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530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11 FEATURES</a:t>
            </a:r>
          </a:p>
        </p:txBody>
      </p:sp>
    </p:spTree>
    <p:extLst>
      <p:ext uri="{BB962C8B-B14F-4D97-AF65-F5344CB8AC3E}">
        <p14:creationId xmlns:p14="http://schemas.microsoft.com/office/powerpoint/2010/main" val="1477004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A9005D-58C8-4064-85D2-EFDD4A1A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8FD2D-32BD-4961-87AA-9539EF56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Forecasts become bracket probabilities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4D301-D081-4957-8383-CCECD32D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98968-22CA-4A20-8096-793C7016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B9CB9-0BEE-49E4-9BD2-0423BEBD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3F301-90F2-4041-832D-6AB9B845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Learn normal forecast errors from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720D4-1C86-471F-9C31-AC9CEEF4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8517B-EF70-4817-AEC7-F6BE46B9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Build a range of possible highs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F8A80-3CF5-4CAB-8426-EA9BB9D2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1203F-BE8F-46B7-8DBD-0AA88DCF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Calibrate the chance of each bracket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AEE96-B681-46E0-8A2D-49D3984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04E20-A878-4A60-948D-BCB13B0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288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MODEL CHANCE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46CC1-8EC5-473C-9F98-5EDFAD37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24325"/>
            <a:ext cx="514350" cy="5334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A8AE4-F4D4-4D85-BE83-381577F2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8C014-4B52-418E-8C0B-292C5ECC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57600"/>
            <a:ext cx="514350" cy="100012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5ADDD-445A-4223-A4D1-87A450D8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D5002-ED43-4E65-A694-A69EAFC7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514350" cy="16668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B8F05-56B8-4743-B09A-9A6E744C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35535-BCB6-44D2-91D2-B7596BA5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514350" cy="20002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17949-E1DC-41D6-9969-E5A15FBC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14C72-03BA-4C82-B60F-D0804DC0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90925"/>
            <a:ext cx="514350" cy="10668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63FDC8-9718-499B-A296-93E585C8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16%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65CDC-8D30-444A-8998-2760AE2A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57675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B6DB5-3323-4125-AEB5-C19263C3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3F9A48-9DA3-47D7-8E65-53ADACF2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57725"/>
            <a:ext cx="459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22DEF-119A-4BB4-BD1D-241CA585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054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The tallest bar is the most likely range</a:t>
            </a:r>
          </a:p>
        </p:txBody>
      </p:sp>
    </p:spTree>
    <p:extLst>
      <p:ext uri="{BB962C8B-B14F-4D97-AF65-F5344CB8AC3E}">
        <p14:creationId xmlns:p14="http://schemas.microsoft.com/office/powerpoint/2010/main" val="1793200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08969-A253-474B-9DAA-1D6FB8BB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9D993-6747-41FD-8D0D-3E201545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model looks for a pricing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A5F56-F769-4EAD-ACFB-0C02A938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E22BB-F88F-492D-80DA-392DDE9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0E31B-3BE3-4AEE-9A4A-613F13B0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6E563-524B-4059-9A50-89E32371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Model says one bracket is unlikely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84B79-1F5B-4929-8E62-D0D3CFD6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BC938-B84C-4EF5-9439-BEE00DE9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Market price says it is more likely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F8F2B-F79E-4881-9E9B-08A30013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37B71-DD6D-4ED8-8D1A-E5F2C672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gap can create a NO opportunity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DE447-6404-4B4C-AA7F-82C90C0C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FEF7A-AABF-4004-A7CE-B380209B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8AA2"/>
                </a:solidFill>
                <a:latin typeface="Arial"/>
                <a:ea typeface="Arial"/>
                <a:cs typeface="Arial"/>
              </a:rPr>
              <a:t>SIMPLE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1BF60-73FE-4012-B324-0236BC42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47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48E63-DDE0-4243-BC60-7211CD9C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98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B37D3-3EC7-47BD-8932-93D4FE77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9850"/>
            <a:ext cx="4857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3B404-ACEC-4FDD-BA84-B99BC3B6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384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AA004-784E-42B2-A204-6F2916ED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76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MARKET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85C00-20C0-4DA8-A999-02687F7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3852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78336-1EC2-4D32-821E-D8867FE8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38525"/>
            <a:ext cx="7334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12696-2429-4ED9-8CC2-AC2A711E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D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D5B"/>
                </a:solidFill>
                <a:latin typeface="Arial"/>
                <a:ea typeface="Arial"/>
                <a:cs typeface="Arial"/>
              </a:rPr>
              <a:t>45¢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A59CB-8AB0-4883-B041-14289206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33875"/>
            <a:ext cx="34480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84EBA-4C18-4248-A63F-953D521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76750"/>
            <a:ext cx="3448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MARKET LOOKS TOO 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A04F5-8D60-40E6-8F29-75271DBC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791075"/>
            <a:ext cx="3448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possible NO trade</a:t>
            </a:r>
          </a:p>
        </p:txBody>
      </p:sp>
    </p:spTree>
    <p:extLst>
      <p:ext uri="{BB962C8B-B14F-4D97-AF65-F5344CB8AC3E}">
        <p14:creationId xmlns:p14="http://schemas.microsoft.com/office/powerpoint/2010/main" val="1881659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9366B-78A9-4617-BAC4-E10BB11B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EF0FB-3991-4AD0-A143-C0BE7700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current model usually buys 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F2DBE-3010-488B-B80C-BB523053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8F547-0283-4113-BB5A-138F432C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8333C-24D8-422F-9BFB-2089D4D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EE344-71D5-45F9-98E9-5897AE04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Choose one narrow bracket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26488-9ABB-4909-B97F-D48BE82E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18ED8-8E33-488A-BC0E-80570213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NO wins in the other five ranges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25CBB-903F-48E6-A3DC-9ACE7DBC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9B741-3D2E-454D-97EA-CADE3DE6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Skip the day when the edge is small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BBF1E-F803-46AC-9923-0DC80E37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F9672-6773-4E8D-AD5D-04AC99B7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TARGET BRACKET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46EBF-DBE3-4DBE-BE5D-7C94F0FA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EF1F2-99F6-4A23-9192-1FE7DCCC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WIN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E82C1-11F0-486F-B4DE-2A89163A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B24A2-1603-48A7-9C83-525FAE7C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WIN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66EC1-4FA1-4EC5-B517-E616D461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BD70C-0512-43DE-8D0B-4069BBF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WIN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7EAEB-7D2B-4351-BF51-295512C5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0A106-BC1A-465C-8F1E-B5548BCB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D87D1-B900-439F-A7F7-C1FB8467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72F60-67D3-4BB8-A451-453FF301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WIN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6345B-CB7C-472E-B236-2AC835A4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1E318-C26A-4DFB-948A-181F10AF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WIN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F2C11-6B40-46B3-8D7D-B6CF5021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591050"/>
            <a:ext cx="3086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9A50A-80A9-4AA6-AA7C-FA02FD19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52975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5 winning paths  |  1 losing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7DA9CE-A804-4180-977A-1F00ED7F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006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D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D5B"/>
                </a:solidFill>
                <a:latin typeface="Arial"/>
                <a:ea typeface="Arial"/>
                <a:cs typeface="Arial"/>
              </a:rPr>
              <a:t>The price still has to be good</a:t>
            </a:r>
          </a:p>
        </p:txBody>
      </p:sp>
    </p:spTree>
    <p:extLst>
      <p:ext uri="{BB962C8B-B14F-4D97-AF65-F5344CB8AC3E}">
        <p14:creationId xmlns:p14="http://schemas.microsoft.com/office/powerpoint/2010/main" val="584714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5CC9D-B77A-4030-8E30-BD71AF8A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F9FD5-0CF2-400E-BD27-DE70CC88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Loose models traded too often and lost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E234C-949B-46A7-A79E-E8171694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7C51F-9F47-4226-877E-2943FD93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5A973-A22D-4856-9949-5FE52FE2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63278-3715-42E8-B4EE-215F2758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149 to 173 simulated entries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D5525-786D-4A1D-8F05-44FF7F6D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5E185-CAF6-48C0-8A1B-0942FF2C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Too many weak signals became trades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5E1BE-31A2-4BB7-89C8-203714C5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33BDD-AD0C-4FD7-A4E2-C7AC0354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Returns ranged from -27% to -57%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09A2B-6992-4F11-ABEE-86EC916A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E9B6C-BF07-4815-BBDC-ADCF45BC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05025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BROAD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CF3F3-37B8-4AF9-911E-48062C38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19400"/>
            <a:ext cx="3333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149 TO 173 ENTRIES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4C683-0BC8-4253-812A-FB93060A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33775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WEAK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E8213-D99B-4961-9AF7-19D92FC3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481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FEES + LOSSES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3305D-6171-47AC-808B-D186EC5E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962525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-27% TO -57%</a:t>
            </a:r>
          </a:p>
        </p:txBody>
      </p:sp>
    </p:spTree>
    <p:extLst>
      <p:ext uri="{BB962C8B-B14F-4D97-AF65-F5344CB8AC3E}">
        <p14:creationId xmlns:p14="http://schemas.microsoft.com/office/powerpoint/2010/main" val="1621271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E49F0-BFDF-4CB6-A4B8-0684AB4C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00E31-1155-4FB0-97D6-D77A6EEC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Stricter trades moved the result positive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F9A5E-939D-4B78-BD01-33475C42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709C3-3422-4A6C-8578-9B79D693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C278E-3D52-4334-9B34-739795D2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CA6D0-E4A7-4DC2-B3DF-5FFE6A8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V5B cut the search to 30 selections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DE5C3-B5B5-4A9D-B438-85AD59ED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EFEE7-A291-453B-B537-CAAFDD1E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42-day replay: +27.75% after fees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C94C2-339A-42A6-8E02-B5015BED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E98EB-7984-43F9-BD65-083AA0BD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55-day broader replay: +8.24%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4D55C-716C-4108-8499-29A2E9D3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4FC13-7A31-4E17-882C-2C1DF221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RETURN ON ENTRY OUTLAY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C11DA-3861-4E97-A0FA-CDB85F61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62525"/>
            <a:ext cx="361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06F52-CA75-4004-9BC6-18479D74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876300" cy="20478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94C33-5D76-46D8-A194-0F409378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955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A3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A3FF"/>
                </a:solidFill>
                <a:latin typeface="Arial"/>
                <a:ea typeface="Arial"/>
                <a:cs typeface="Arial"/>
              </a:rPr>
              <a:t>+26.83%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C3E71-C9DC-4199-B4FF-8DDCEAD1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625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66602-F74A-4C9F-822A-B0C52188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483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30 selections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20EC4-F51C-40AF-B2D5-92C9C3BE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38450"/>
            <a:ext cx="876300" cy="21240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AFEF0-938F-4070-918B-9C0CBB71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193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ED1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D18A"/>
                </a:solidFill>
                <a:latin typeface="Arial"/>
                <a:ea typeface="Arial"/>
                <a:cs typeface="Arial"/>
              </a:rPr>
              <a:t>+27.75%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BCC78-431C-4BC5-A5D6-1B4803B5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625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42-day replay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C9BC6-5062-411D-B5CF-1E4F3217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483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9 fills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98076-0FA8-41DF-AC05-C8DD57B3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33875"/>
            <a:ext cx="876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A4A71-3F6F-492D-AAD3-84438E62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147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+8.24%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EBE14-01E9-4D4D-B04B-882AB905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1625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55-day replay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A4EF1C-B077-4053-9407-543C005A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4483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13 fills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238EC-24E0-4784-B24C-B8705FCC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8769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E8AA2"/>
                </a:solidFill>
                <a:latin typeface="Arial"/>
                <a:ea typeface="Arial"/>
                <a:cs typeface="Arial"/>
              </a:rPr>
              <a:t>RESEARCH REPLAY  |  NOT LIVE RETURN</a:t>
            </a:r>
          </a:p>
        </p:txBody>
      </p:sp>
    </p:spTree>
    <p:extLst>
      <p:ext uri="{BB962C8B-B14F-4D97-AF65-F5344CB8AC3E}">
        <p14:creationId xmlns:p14="http://schemas.microsoft.com/office/powerpoint/2010/main" val="656311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9157-4EA0-4D84-9F13-99599CF2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E9EAD-6CFC-4DB3-9271-040F14F4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Promising signal, still not confirmed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90AEF-2C04-4B46-AFAC-7076BE65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49636-EE19-4E73-9155-C7E56ACE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7D96F-07EF-4729-83F4-63F8B11B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63079-A65A-46FA-85DA-4963ADE5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newest 13-day segment lost 47.68%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4ABE4-8ABA-489E-B889-5CEB310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982BC-5ABE-47F3-B3D8-7A1D69FA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Full-year weather data is 181 of 184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7C7CE-88FD-4D1C-AEA5-5000DA6A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F3B3E-317D-44EE-A16A-FDE470E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Finish the audit before any online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1D985-DB2A-47F6-8415-0C38A302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B8C01-3898-45A9-A6F9-15CA58DE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2025 HRRR + GEFS BACKFILL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DFA97-7282-4680-8197-C9C4B927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95575"/>
            <a:ext cx="4152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5AA52-DC8E-4849-82C8-44BB2172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95575"/>
            <a:ext cx="40862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5C2D8-58E6-442A-B565-658C0A0E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181 / 184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67D63-00E1-4B0F-BC8C-61788342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29025"/>
            <a:ext cx="1952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4ED1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25C40-A0C6-4A2C-95A6-404E4C36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0047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ED1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D18A"/>
                </a:solidFill>
                <a:latin typeface="Arial"/>
                <a:ea typeface="Arial"/>
                <a:cs typeface="Arial"/>
              </a:rPr>
              <a:t>WHAT LOOKS GOOD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2805E-EDE1-4B09-B0EE-4F755D5E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62425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Selective NO signal</a:t>
            </a:r>
          </a:p>
          <a:p xmlns:a="http://schemas.openxmlformats.org/drawingml/2006/main">
            <a:pPr algn="ctr">
              <a:defRPr sz="127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Positive broader replay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CDE73-65CF-4699-9E13-5162C69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29025"/>
            <a:ext cx="1952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FFBD5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8BDEB-526E-435C-9818-D087C14F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0047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D5B"/>
                </a:solidFill>
                <a:latin typeface="Arial"/>
                <a:ea typeface="Arial"/>
                <a:cs typeface="Arial"/>
              </a:rPr>
              <a:t>WHAT WE MUST 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266A2-8512-4EDC-9949-1B429CF9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62425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Stable across seasons</a:t>
            </a:r>
          </a:p>
          <a:p xmlns:a="http://schemas.openxmlformats.org/drawingml/2006/main">
            <a:pPr algn="ctr">
              <a:defRPr sz="127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Realistic fills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75BDA-6857-49A1-87BF-5F19EEE9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14950"/>
            <a:ext cx="2171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OFFLINE UNTIL VERIFIED</a:t>
            </a:r>
          </a:p>
        </p:txBody>
      </p:sp>
    </p:spTree>
    <p:extLst>
      <p:ext uri="{BB962C8B-B14F-4D97-AF65-F5344CB8AC3E}">
        <p14:creationId xmlns:p14="http://schemas.microsoft.com/office/powerpoint/2010/main" val="536123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2026-09-29T12:25:17.7890000Z</dcterms:created>
  <dcterms:modified xsi:type="dcterms:W3CDTF">2026-09-29T12:25:17.7890000Z</dcterms:modified>
</coreProperties>
</file>