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11594e55514bc9" /><Relationship Type="http://schemas.openxmlformats.org/officeDocument/2006/relationships/extended-properties" Target="/docProps/app.xml" Id="Rd0cf641e8d224333" /><Relationship Type="http://schemas.openxmlformats.org/officeDocument/2006/relationships/officeDocument" Target="/ppt/presentation.xml" Id="R619093c1dc58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b940d845244362"/>
  </p:sldMasterIdLst>
  <p:notesMasterIdLst>
    <p:notesMasterId xmlns:r="http://schemas.openxmlformats.org/officeDocument/2006/relationships" r:id="R98273b09bf6a4709"/>
  </p:notesMasterIdLst>
  <p:sldIdLst>
    <p:sldId xmlns:r="http://schemas.openxmlformats.org/officeDocument/2006/relationships" id="256" r:id="R39a273266dda4533"/>
    <p:sldId xmlns:r="http://schemas.openxmlformats.org/officeDocument/2006/relationships" id="257" r:id="R804a26a66dcd4a1d"/>
    <p:sldId xmlns:r="http://schemas.openxmlformats.org/officeDocument/2006/relationships" id="258" r:id="R91bcd822f5cc4548"/>
    <p:sldId xmlns:r="http://schemas.openxmlformats.org/officeDocument/2006/relationships" id="259" r:id="Rd3684170d8f1479e"/>
    <p:sldId xmlns:r="http://schemas.openxmlformats.org/officeDocument/2006/relationships" id="260" r:id="R446d3632244a445c"/>
    <p:sldId xmlns:r="http://schemas.openxmlformats.org/officeDocument/2006/relationships" id="261" r:id="R1369b44247114ab5"/>
    <p:sldId xmlns:r="http://schemas.openxmlformats.org/officeDocument/2006/relationships" id="262" r:id="Rabc477b42d0e4c87"/>
    <p:sldId xmlns:r="http://schemas.openxmlformats.org/officeDocument/2006/relationships" id="263" r:id="R541cc94afb3f4a13"/>
    <p:sldId xmlns:r="http://schemas.openxmlformats.org/officeDocument/2006/relationships" id="264" r:id="R06396a7e437046d4"/>
    <p:sldId xmlns:r="http://schemas.openxmlformats.org/officeDocument/2006/relationships" id="265" r:id="R705da01d503745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d4d13251914f79" /><Relationship Type="http://schemas.openxmlformats.org/officeDocument/2006/relationships/slideMaster" Target="/ppt/slideMasters/slideMaster1.xml" Id="R15b940d845244362" /><Relationship Type="http://schemas.openxmlformats.org/officeDocument/2006/relationships/notesMaster" Target="/ppt/notesMasters/notesMaster1.xml" Id="R98273b09bf6a4709" /><Relationship Type="http://schemas.openxmlformats.org/officeDocument/2006/relationships/presProps" Target="/ppt/presProps.xml" Id="Rcdc9f3c8f1094011" /><Relationship Type="http://schemas.openxmlformats.org/officeDocument/2006/relationships/tableStyles" Target="/ppt/tableStyles.xml" Id="R07335e11f90549ad" /><Relationship Type="http://schemas.openxmlformats.org/officeDocument/2006/relationships/slide" Target="/ppt/slides/slide1.xml" Id="R39a273266dda4533" /><Relationship Type="http://schemas.openxmlformats.org/officeDocument/2006/relationships/slide" Target="/ppt/slides/slide2.xml" Id="R804a26a66dcd4a1d" /><Relationship Type="http://schemas.openxmlformats.org/officeDocument/2006/relationships/slide" Target="/ppt/slides/slide3.xml" Id="R91bcd822f5cc4548" /><Relationship Type="http://schemas.openxmlformats.org/officeDocument/2006/relationships/slide" Target="/ppt/slides/slide4.xml" Id="Rd3684170d8f1479e" /><Relationship Type="http://schemas.openxmlformats.org/officeDocument/2006/relationships/slide" Target="/ppt/slides/slide5.xml" Id="R446d3632244a445c" /><Relationship Type="http://schemas.openxmlformats.org/officeDocument/2006/relationships/slide" Target="/ppt/slides/slide6.xml" Id="R1369b44247114ab5" /><Relationship Type="http://schemas.openxmlformats.org/officeDocument/2006/relationships/slide" Target="/ppt/slides/slide7.xml" Id="Rabc477b42d0e4c87" /><Relationship Type="http://schemas.openxmlformats.org/officeDocument/2006/relationships/slide" Target="/ppt/slides/slide8.xml" Id="R541cc94afb3f4a13" /><Relationship Type="http://schemas.openxmlformats.org/officeDocument/2006/relationships/slide" Target="/ppt/slides/slide9.xml" Id="R06396a7e437046d4" /><Relationship Type="http://schemas.openxmlformats.org/officeDocument/2006/relationships/slide" Target="/ppt/slides/slide10.xml" Id="R705da01d503745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5d676fb556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1bdfb1299e4d0e" /><Relationship Type="http://schemas.openxmlformats.org/officeDocument/2006/relationships/notesMaster" Target="/ppt/notesMasters/notesMaster1.xml" Id="R4403cdf9af9242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4699ddb32843c2" /><Relationship Type="http://schemas.openxmlformats.org/officeDocument/2006/relationships/notesMaster" Target="/ppt/notesMasters/notesMaster1.xml" Id="Rf9399a871c77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c9665affd04d8a" /><Relationship Type="http://schemas.openxmlformats.org/officeDocument/2006/relationships/notesMaster" Target="/ppt/notesMasters/notesMaster1.xml" Id="R263ed4c57f0446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e60f84b74d427b" /><Relationship Type="http://schemas.openxmlformats.org/officeDocument/2006/relationships/notesMaster" Target="/ppt/notesMasters/notesMaster1.xml" Id="R5432560e0b6449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7b6ab743d34f7b" /><Relationship Type="http://schemas.openxmlformats.org/officeDocument/2006/relationships/notesMaster" Target="/ppt/notesMasters/notesMaster1.xml" Id="R375e2c4920f24a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97960ae0b34872" /><Relationship Type="http://schemas.openxmlformats.org/officeDocument/2006/relationships/notesMaster" Target="/ppt/notesMasters/notesMaster1.xml" Id="R21bedfc5351043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3c92c73f86476c" /><Relationship Type="http://schemas.openxmlformats.org/officeDocument/2006/relationships/notesMaster" Target="/ppt/notesMasters/notesMaster1.xml" Id="R2a7fc003aab845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aa36e253f488a" /><Relationship Type="http://schemas.openxmlformats.org/officeDocument/2006/relationships/notesMaster" Target="/ppt/notesMasters/notesMaster1.xml" Id="R9703d5c0d9b0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b3b1a187a445d1" /><Relationship Type="http://schemas.openxmlformats.org/officeDocument/2006/relationships/notesMaster" Target="/ppt/notesMasters/notesMaster1.xml" Id="R408f05ad9e2d42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ba4eb412da41ce" /><Relationship Type="http://schemas.openxmlformats.org/officeDocument/2006/relationships/notesMaster" Target="/ppt/notesMasters/notesMaster1.xml" Id="R2deda66a40ea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the current Kalshi LAX high-temperature research model. Results are historical research replays, not live trading returns.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Kalshi daily high-temperature markets settle into mutually exclusive temperature brackets. The figure is schematic.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decision-time policy uses GEFS 00Z, HRRR 06Z, and Kalshi market evidence at 18:00 UTC. This prevents look-ahead.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feature vector: HRRR 2m temperature min/mean/max; GEFS ensemble-mean temperature min/mean/max; GEFS ensemble-spread min/mean/max; sine/cosine day-of-year. Current model does not use cloud, wind, or humidity.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learns a pooled residual distribution from 2024 training data, maps it to the six mutually exclusive temperature brackets, and applies bracket-level isotonic calibration on the designated early-2025 calibration window. Probabilities shown are schematic.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numbers only. The real strategy compares calibrated bracket probabilities with historical market prices and applies the frozen economics and evidence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frozen V5B strategy buys at most one NO contract per day on a narrow temperature bracket. Five other settlement ranges pay the NO contract, but the risk/reward depends on the entry price and exact fees.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replays use a frozen one-trade-per-day policy, an expected-return screen, price limits, probability-gap and evidence constraints, exact fees, and a five-second arrival protocol where available. B/B+ evidence remains assumed-fill evidence, not verified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docs/V7H_HISTORICAL_SIX_WEEK_REPLAY.md and runs/replays/v7i-historical-20260730-20260927/validation/V7I_VALIDATION.md. The 42-day replay returned +27.75% after fees with 7 wins from 9 fills. The broader 55-day primary segment returned +8.24% after fees with 8 wins from 13 fills. These are historical research replays and do not prove a live 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added 2026-09-15 through 2026-09-27 segment returned -47.68%, and the 95% moving-block bootstrap lower bound for the 55-day primary replay was -26.43%. The calendar-2025 HRRR/GEFS backfill is at 181/184 dates, with three documented blockers. Next work should complete or formally exclude those dates, then run the frozen full-year evaluation before any online or paper-order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5b8d47181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c85076aa64659" /><Relationship Type="http://schemas.openxmlformats.org/officeDocument/2006/relationships/slideLayout" Target="/ppt/slideLayouts/slideLayout1.xml" Id="R68d61fb94289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61fb94289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4a74e204a4a19" /><Relationship Type="http://schemas.openxmlformats.org/officeDocument/2006/relationships/notesSlide" Target="/ppt/notesSlides/notesSlide1.xml" Id="Rae746cebd78c4a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65b1405bc4d8c" /><Relationship Type="http://schemas.openxmlformats.org/officeDocument/2006/relationships/notesSlide" Target="/ppt/notesSlides/notesSlide2.xml" Id="Rb287e5de80804c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a4c90f72a4102" /><Relationship Type="http://schemas.openxmlformats.org/officeDocument/2006/relationships/notesSlide" Target="/ppt/notesSlides/notesSlide3.xml" Id="Rd31e8a05912843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8cf958c3e4ff0" /><Relationship Type="http://schemas.openxmlformats.org/officeDocument/2006/relationships/notesSlide" Target="/ppt/notesSlides/notesSlide4.xml" Id="R53bc1f0ebd164a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44bb0088344e1" /><Relationship Type="http://schemas.openxmlformats.org/officeDocument/2006/relationships/notesSlide" Target="/ppt/notesSlides/notesSlide5.xml" Id="Rca886814dbbd4a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6243f10454d16" /><Relationship Type="http://schemas.openxmlformats.org/officeDocument/2006/relationships/notesSlide" Target="/ppt/notesSlides/notesSlide6.xml" Id="R53b791d1917446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b9c44a1914c6e" /><Relationship Type="http://schemas.openxmlformats.org/officeDocument/2006/relationships/notesSlide" Target="/ppt/notesSlides/notesSlide7.xml" Id="R90583388936c44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1966a8ee74b4e" /><Relationship Type="http://schemas.openxmlformats.org/officeDocument/2006/relationships/notesSlide" Target="/ppt/notesSlides/notesSlide8.xml" Id="R7004b4aeb69349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e79c665d248fa" /><Relationship Type="http://schemas.openxmlformats.org/officeDocument/2006/relationships/notesSlide" Target="/ppt/notesSlides/notesSlide9.xml" Id="R4526cd918ae54d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6f7808fe7492c" /><Relationship Type="http://schemas.openxmlformats.org/officeDocument/2006/relationships/notesSlide" Target="/ppt/notesSlides/notesSlide10.xml" Id="Rb756bbb49c284f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52659-6F58-43A3-933B-8B61C92C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KALSHI WEATHER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2857A-EF55-4EA8-9F5C-15413A1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Our weather</a:t>
            </a:r>
          </a:p>
          <a:p xmlns:a="http://schemas.openxmlformats.org/drawingml/2006/main">
            <a:pPr algn="l">
              <a:defRPr sz="4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pricing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4B837-2979-4C48-AD64-5AF5FE0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How forecasts become one selective trade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2EDC7-AE19-4AF2-81D4-BDF4A354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F2470-0B6D-4E80-999C-77A2AF2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8AA2"/>
                </a:solidFill>
                <a:latin typeface="Arial"/>
                <a:ea typeface="Arial"/>
                <a:cs typeface="Arial"/>
              </a:rPr>
              <a:t>Offline research  |  No live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200E5-009B-4BF1-BFBA-632DDE4B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23900"/>
            <a:ext cx="54864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83930-891A-4182-AEA9-7A949CF3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LAX DAILY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274FE-FEBD-4ED3-8FC6-D872B9BE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7640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6915D-14F2-4741-BDB8-61E316F1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430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≤67°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DFED5-4252-428F-81EB-D1DD364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55BA2-A04A-4530-B9D9-9232F7A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69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1EC74-7B99-4CB4-93CD-35D15470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33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68–69°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5D2EA-C814-415B-A4BC-B19C5243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52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50331-18FF-4FF6-A2E6-79FA869C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65F9F-86BC-4806-9666-C2D5CDA0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241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70–71°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416EA-F2BB-4DA1-8A84-ED8C55A0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43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DE0E5-258B-4166-9306-4A6DE56B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480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14288">
            <a:solidFill>
              <a:srgbClr val="FFBD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FB009B-7C23-4C11-84D4-F5DFCBC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514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72–73°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F07B9-C810-4C1C-9D9B-605DD073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827"/>
                </a:solidFill>
                <a:latin typeface="Arial"/>
                <a:ea typeface="Arial"/>
                <a:cs typeface="Arial"/>
              </a:rPr>
              <a:t>model tests this 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B063C-DE2A-4631-97A5-D5135C9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3860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4B72F-E804-434E-8053-125ADAE0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05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74–75°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BE97F-E295-4AEE-BF12-6E167C2B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EF999-7D6A-40F5-985E-0CF1D654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29150"/>
            <a:ext cx="3714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28F8B-EA5F-4866-B50A-94114350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95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≥76°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2B520-AF02-4F5D-82CC-BD87A014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one possible outcome</a:t>
            </a:r>
          </a:p>
        </p:txBody>
      </p:sp>
    </p:spTree>
    <p:extLst>
      <p:ext uri="{BB962C8B-B14F-4D97-AF65-F5344CB8AC3E}">
        <p14:creationId xmlns:p14="http://schemas.microsoft.com/office/powerpoint/2010/main" val="477672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5E8BCE-EC0A-4A60-AEEA-A12E392D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99E69-ECCF-406B-A48E-72BF40C5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market is six temperature ranges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61565-E279-4756-868D-5B97136E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5B680-9D58-4775-ADE7-CCFDC739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F9845-89D1-4383-8098-66AB77E0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DB347-F7E3-47D6-B333-8F8A50C0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Each range has a YES and NO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532F8-1278-44C5-8E11-2C210242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F6F1A-FF63-4621-97D0-C70937D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Only one range wins each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4CBED-3303-4234-AACB-AE1EA36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F90B1-0DF9-4DDA-B514-B30C656D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six prices should fit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3B799-7104-4AB8-B992-D764AF40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31214-9C8E-43B9-BF96-69A8B254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13780-023E-4274-B6F3-40F0E166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≤67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B349E-C218-4DC7-9AA1-251C0FEB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4A9BB-8BBC-4A8B-8717-2BD01CF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68–69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3F5D6-55C1-40B1-B14F-E129B58D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9238B-6FE1-453D-BB19-F4A4449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70–71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9B275-F317-4E2E-9E6A-9CA8E8F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DBE64-396A-4FBE-877A-0D3F2843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72–73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A6860-2BD0-4EAD-A766-E83C8D59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A5AEA-1938-4C76-938A-C11E1C7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74–75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1243D-E6C3-4CF5-892E-D0CC07B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38400"/>
            <a:ext cx="628650" cy="20955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48B7B-367F-4816-B541-6C128DB1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629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≥76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1B55B4-6569-4A47-94CA-595517AF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14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52FC4-5698-4AFB-AE59-1A94B309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192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actual 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7CF9E4-1800-47F4-A300-D0BC73E9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CEF74-0F34-4E9C-A687-33DB3701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911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ONE WINNER</a:t>
            </a:r>
          </a:p>
        </p:txBody>
      </p:sp>
    </p:spTree>
    <p:extLst>
      <p:ext uri="{BB962C8B-B14F-4D97-AF65-F5344CB8AC3E}">
        <p14:creationId xmlns:p14="http://schemas.microsoft.com/office/powerpoint/2010/main" val="1557083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11B6E-6B71-468B-B430-9C6E2756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383F9-DCAD-4BA5-988F-412EB875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We freeze one decision moment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3A382-C858-4963-AE1D-609B496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D8828-D8B3-4DC1-A2A4-27D92436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1D526-5384-4468-AC1D-58EDCE0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0D211-C075-4C16-9167-33390DAB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GEFS forecast starts at 00:00 UTC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CAFD3-DADE-47F1-8ECD-CC8F3CFC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EA997-8912-4BA7-87A9-DA2C6F3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HRRR forecast starts at 06:00 UTC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37185-DA9B-4707-A01F-0CAE2611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B55B1-DA68-47E3-B0F9-2570BBCF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Trade decision is fixed at 18:00 UTC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5B2D5-E0EC-4EE9-B557-30F69545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7D1C5-B6B0-4918-8C8D-E0B60D64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422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6A626-6711-4FBB-93EA-5EDA658E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95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37599-8547-4CCA-BB2D-35044C04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002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00Z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B51C4-2D14-4332-9F0A-ED6FF9FE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24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GEFS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31DFE-A756-4656-8DAE-F9B4218E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95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837C0-44CC-419B-9590-57712435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002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06Z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F8BC0-A62E-4F6C-8ABC-9B835EC1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HRRR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8EEDB-5AD9-47DC-B002-29E06DA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95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5DF04-11BD-4B15-A69E-CDACA5E7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1002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18Z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96450-5CD1-4E52-BBDC-23FE5A3A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24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55F61-3836-43AC-8142-8792A31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49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No peeking past the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5FC21-CB06-4405-8887-2D604349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03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Weather and market information must already exist</a:t>
            </a:r>
          </a:p>
        </p:txBody>
      </p:sp>
    </p:spTree>
    <p:extLst>
      <p:ext uri="{BB962C8B-B14F-4D97-AF65-F5344CB8AC3E}">
        <p14:creationId xmlns:p14="http://schemas.microsoft.com/office/powerpoint/2010/main" val="179597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31FE9-95B6-41AD-8EAF-77451582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F6AB3-E470-44B8-9F5F-6DA2CB8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Eleven inputs describe the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73589-8716-4F9D-AC52-24CCFF7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1501B-507C-4B95-988B-0322A628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B88E0-0685-4243-94C4-E28C995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ECE1A-6E1E-4711-83CD-7FC5E653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HRRR temperature: min, mean,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0B42B-725B-4360-9698-E16953E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54DC8-226C-4BF6-AE8B-76BA1400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GEFS temperature and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4B0C-237E-49DB-B971-5CA577F4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92D77-2C5E-43DE-8453-64D3159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Season of the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DADCC-F455-43C9-BB7E-9F5A71EE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5D513-9259-476D-A776-DE941F1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1428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196E9-7248-44F4-A108-9C61037E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HRRR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87524-5743-48BB-9227-B3DF7F03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3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483B4-9B9C-4F3F-ACA7-BDA0E5EC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1619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23C10-B887-4F1A-A3E4-1F1DD238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GEFS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3E2FB-CB83-4DA3-96B3-2EDE5F59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6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9D569-5262-4EF2-A7A4-D722E481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09825"/>
            <a:ext cx="781050" cy="8382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D6968-3AA6-43E9-A9AB-6607DBDE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717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SEASON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53120-04AE-427F-A3F7-FA310B6E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384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04B0B-1125-4FD2-94CF-2D69271C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394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B1A35-F563-43F2-9748-BCC1292E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57675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3  +  6  + 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3B8B4-ED1A-465F-B55B-0820683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11 FEATURES</a:t>
            </a:r>
          </a:p>
        </p:txBody>
      </p:sp>
    </p:spTree>
    <p:extLst>
      <p:ext uri="{BB962C8B-B14F-4D97-AF65-F5344CB8AC3E}">
        <p14:creationId xmlns:p14="http://schemas.microsoft.com/office/powerpoint/2010/main" val="1659232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C5C2B-B716-4EB1-B6DE-02E12BD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67B03-523C-4D7F-93AC-E604874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Forecasts become bracket probabilities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3CA97-28ED-4972-A84F-AB6D5239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95153-9026-49CE-92BD-C0455F6C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E3237-1709-4C75-943A-432171CA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D0BB7-FA34-4864-82F3-CA9F35B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Learn normal forecast errors from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C5562-D318-4C97-A2A9-ECFEA14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731EF-BECA-4C0F-86DB-F803A2A0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Build a range of possible highs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C45A0-6AAD-4A60-9934-853B2B8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3D7F8-EBF4-46A4-B0B7-9FF78A4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Calibrate the chance of each bracket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E69B5-D240-4BC5-9B32-A7168FB0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3CAA9-D4A4-4E67-A385-63528045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288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MODEL CHANCE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80523-EA23-40D5-96D0-17C5E70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4325"/>
            <a:ext cx="514350" cy="5334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12330-E945-4BE3-8AFC-A18382EE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D25E0-5341-40BE-BA0F-7FAB72E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514350" cy="100012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1D564-3FCD-47E2-B00A-4CF17972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ACE43-F8E1-4536-A98B-4ABB72B2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514350" cy="16668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CFE43-691F-4AA8-9C4A-A6D46151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D735B-05B8-42C5-8D20-6735283F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514350" cy="20002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A8D4AA-4AB6-4F89-826E-B3372C93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67C06-3593-4113-BD09-95538A60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90925"/>
            <a:ext cx="514350" cy="10668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EEFA2-1A5C-454F-AA7E-EB0B8CC7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16%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D73D1-1C08-49C3-B2E3-95908C0E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57675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A5646-55D8-47F5-9DE4-8A6BD51A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10EE3-FFB6-4235-AFA2-27DCB6F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57725"/>
            <a:ext cx="459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01DB4-AAFF-45E4-89C1-9474705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054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The tallest bar is the most likely range</a:t>
            </a:r>
          </a:p>
        </p:txBody>
      </p:sp>
    </p:spTree>
    <p:extLst>
      <p:ext uri="{BB962C8B-B14F-4D97-AF65-F5344CB8AC3E}">
        <p14:creationId xmlns:p14="http://schemas.microsoft.com/office/powerpoint/2010/main" val="630862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B0ECB-6929-4F51-B189-F9404263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9C28D-4BAF-48C7-A803-2A5B6817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model looks for a pricing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F41AB-4873-45F3-85D7-C93F897D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A145A-C321-438C-829B-18B6980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2BDF1-E9A4-485C-B8E7-AF901346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EF31E-EF46-4C41-BF04-CFA6943B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Model says one bracket is unlikely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CBA27-D511-4173-81DE-96FC820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E0B64-C340-4487-B756-6CC07150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Market price says it is more likely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BF1F5-E4B6-4736-BE75-5E2F9301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2EAF0-9E4F-4CB8-A90C-F8005E42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gap can create a NO opportunity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33E2A-8BE4-4476-9A24-D8032963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41E1A-67E9-4F42-9FD4-7AF02C12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8AA2"/>
                </a:solidFill>
                <a:latin typeface="Arial"/>
                <a:ea typeface="Arial"/>
                <a:cs typeface="Arial"/>
              </a:rPr>
              <a:t>SIMPLE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4DBC9-EEF3-4DEE-82AC-8CF386D0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47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474D5-711B-40CD-94A3-2AFEF0F5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692C8-F85A-4076-8DF9-B5B621D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4857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94429-4D9C-4E2E-857E-872AF604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21658-28DB-44E8-9C9D-8B53046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766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MARKET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5F97F-A3BC-4E87-A48C-7660BFDF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385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14B3C-7895-4304-BB6C-8D92763A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38525"/>
            <a:ext cx="7334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278FA-0C22-40D6-995E-168A6675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D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D5B"/>
                </a:solidFill>
                <a:latin typeface="Arial"/>
                <a:ea typeface="Arial"/>
                <a:cs typeface="Arial"/>
              </a:rPr>
              <a:t>45¢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C03EDD-E930-4C0D-AAD4-0A635D43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333875"/>
            <a:ext cx="34480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C2E4C-5226-43E7-8B6E-3C405999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76750"/>
            <a:ext cx="3448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MARKET LOOKS TOO 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FFDED-5D81-467C-A37E-4E00E839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791075"/>
            <a:ext cx="344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possible NO trade</a:t>
            </a:r>
          </a:p>
        </p:txBody>
      </p:sp>
    </p:spTree>
    <p:extLst>
      <p:ext uri="{BB962C8B-B14F-4D97-AF65-F5344CB8AC3E}">
        <p14:creationId xmlns:p14="http://schemas.microsoft.com/office/powerpoint/2010/main" val="1577664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7F0D1-1CD2-4A0C-9748-6F86C5CC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8509F-F254-4CC9-9EEE-17834232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current model usually buys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60527-00F5-49C0-A309-635DCBBD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4B52E-F6F6-4467-B745-F79851EE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A7A84-167B-44D6-87B4-C49110BE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FFC10-7E62-4709-8070-8AA3160D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Choose one narrow bracket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95FA3-06DA-4D80-9471-3A58779D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2B872-3081-4A39-9231-9CFE36F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NO wins in the other five ranges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947D9-A201-4BA6-B828-F51F8745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C069B-9F67-41E3-9BBD-5CD8438C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Skip the day when the edge is small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17E59-29FC-4F90-86E3-73483BF8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3AD78-BBBF-4D93-BEFE-300498F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TARGET BRACKET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C9C77-FEFB-4449-8147-706B76C8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B06B5-17C1-4D0F-9DE2-31817E1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2F53D-6A63-43F2-AF19-DC6D23F2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B68E3-76B1-4939-8B28-5811A3AF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F20C3-24DD-4EA8-ACA2-62A6E39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6711E-FA6D-4ED1-AA34-1DB2E5E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FD463-BCA1-4C35-AA0F-7653C7F4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D59D8-5663-4A11-A37B-9F056157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BA9A4-4579-4337-B0A9-60EC2306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49401-4140-414F-B27F-5FF7ABF2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A4827-0520-4A8A-9B9F-63B3F712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14625"/>
            <a:ext cx="590550" cy="13335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B3FF9-CA0D-495E-8BAE-DF97471B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099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WIN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24937-B4B2-4C12-ABC8-CA19FB4F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591050"/>
            <a:ext cx="3086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CC994-27FF-4347-A051-06055619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52975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5 winning paths  |  1 losing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12157-19B6-425F-B9CF-60EE0CA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006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D5B"/>
                </a:solidFill>
                <a:latin typeface="Arial"/>
                <a:ea typeface="Arial"/>
                <a:cs typeface="Arial"/>
              </a:rPr>
              <a:t>The price still has to be good</a:t>
            </a:r>
          </a:p>
        </p:txBody>
      </p:sp>
    </p:spTree>
    <p:extLst>
      <p:ext uri="{BB962C8B-B14F-4D97-AF65-F5344CB8AC3E}">
        <p14:creationId xmlns:p14="http://schemas.microsoft.com/office/powerpoint/2010/main" val="1327141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F2604-B9AE-46A9-8C8D-49C21FD8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STEP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E29EB-B413-4469-9452-C6822383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Strict filters keep the model selective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B02A-7719-4FAB-B5BC-64972508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1DE71-267C-4515-9021-9210425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4C166-9633-4B3B-B397-09A34FC7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069BA-BF31-4F4D-945B-6EAD1F2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At most one trade per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CC31F-AC9B-41B6-AD27-340AA80B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04EA5-55AC-4F54-897E-C2C65FC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Fees and arrival delay are included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D1894-37FC-4D6F-AEE6-FA06B81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4A585-3173-40D5-9B4A-CDB2DF11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Most weak signals become no trade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F4294-4590-4211-9C37-FFA00BDF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6E0DC-2D63-4AFB-B761-735192D1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05025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ALL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B5201-B4B8-43F3-B7CC-19E6B18F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19400"/>
            <a:ext cx="333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MODEL 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621A8-7C37-4890-BEAD-B43B51E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33775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BD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PRICE + FEES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CC267-72F8-4A6B-B445-9ADD3BF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48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D0052-1956-44FE-A423-8C01350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962525"/>
            <a:ext cx="1047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TRADE</a:t>
            </a:r>
          </a:p>
        </p:txBody>
      </p:sp>
    </p:spTree>
    <p:extLst>
      <p:ext uri="{BB962C8B-B14F-4D97-AF65-F5344CB8AC3E}">
        <p14:creationId xmlns:p14="http://schemas.microsoft.com/office/powerpoint/2010/main" val="15844827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38453-2280-464E-8136-3EC6308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RECENT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BF8F8-AD6D-4ECB-A833-BDF7F6BE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Positive results survived a broader replay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CC7B5-164C-4EE0-ACC5-1CB2AD31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8529C-0B12-47E6-BF28-9129891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ED2B4-98B2-4CEA-A9FF-30238AE7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314B6-C9E1-482A-BC9A-45B7594A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42 days: +27.75% after fees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657A8-F6B9-44A7-BB1D-4460CD09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5B892-6B61-4F20-B4F6-94E546F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55 primary days: +8.24% after fees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33041-A751-4A6A-B897-44310B24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DB542-7D09-47C2-AED9-5F436237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larger test was weaker, but still positive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28DBB-3908-4DCF-A063-E89DF1FA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E37E9-C508-4739-97BA-378C9E74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RETURN ON ENTRY OUTLAY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29FBD-55CE-47F1-826D-32B1271D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62525"/>
            <a:ext cx="361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E4324-559C-4825-AA46-6F176427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71775"/>
            <a:ext cx="990600" cy="2190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ED1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E8F82-2EC3-4253-BA6A-5C40F8E7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ED1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ED18A"/>
                </a:solidFill>
                <a:latin typeface="Arial"/>
                <a:ea typeface="Arial"/>
                <a:cs typeface="Arial"/>
              </a:rPr>
              <a:t>+27.75%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01A50-3E00-46E4-AE56-7EAA8D5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62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42-day 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F075E-B781-469A-B650-588A3378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4483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7 wins / 9 fills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4E06F-D815-4936-8F94-DCF199F5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314825"/>
            <a:ext cx="990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B5CC3-016C-402E-BD2E-C65F7112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9525"/>
            <a:ext cx="1314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+8.24%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0B7CD-7C08-4631-991F-399D5522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62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55-day primary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B8462-1970-4F28-B0FF-F882C62E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4483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BDD0"/>
                </a:solidFill>
                <a:latin typeface="Arial"/>
                <a:ea typeface="Arial"/>
                <a:cs typeface="Arial"/>
              </a:rPr>
              <a:t>8 wins / 13 fills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F46AA-D5CA-4495-9FB0-45AEAAB1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8769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E8AA2"/>
                </a:solidFill>
                <a:latin typeface="Arial"/>
                <a:ea typeface="Arial"/>
                <a:cs typeface="Arial"/>
              </a:rPr>
              <a:t>RESEARCH REPLAY  |  NOT LIVE RETURN</a:t>
            </a:r>
          </a:p>
        </p:txBody>
      </p:sp>
    </p:spTree>
    <p:extLst>
      <p:ext uri="{BB962C8B-B14F-4D97-AF65-F5344CB8AC3E}">
        <p14:creationId xmlns:p14="http://schemas.microsoft.com/office/powerpoint/2010/main" val="915718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AA6CF-A86D-4B71-BBCB-70585EE0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0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5D0C4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2DF3D-72E1-4A71-82D5-3C416A1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Promising signal, still not confirmed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02041-86D7-4B36-9C98-12E7E521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EF39E-AD15-4C70-889B-8FDDD726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8AA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E8AA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D164D-1452-4CBE-81C7-48F89772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6EA7C-8A6A-440A-9810-E9E6C43C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The newest 13-day segment lost 47.68%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FCB8A-B4CB-45F0-AA67-95104DB7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C66F9-CE7E-4786-8FDC-A833F32C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Full-year weather data is 181 of 184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FA2B9-611B-4B23-BAA7-5410132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BC35A-6D99-4C30-85CE-43F7699F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8FB"/>
                </a:solidFill>
                <a:latin typeface="Arial"/>
                <a:ea typeface="Arial"/>
                <a:cs typeface="Arial"/>
              </a:rPr>
              <a:t>Finish the audit before any online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6C194-E418-4B9E-99A6-2DD7537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54864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D2134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B2D54-76A6-4B4E-82E2-1DC55A9B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9BD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BDD0"/>
                </a:solidFill>
                <a:latin typeface="Arial"/>
                <a:ea typeface="Arial"/>
                <a:cs typeface="Arial"/>
              </a:rPr>
              <a:t>2025 HRRR + GEFS BACKFILL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E441B-9BE2-4A32-BB01-12F9CB65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152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2444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780EA-5355-482A-AA45-2211F15B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0862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5D0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F7FB6-8EB7-42B8-9AC5-2276C3E9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1827"/>
                </a:solidFill>
                <a:latin typeface="Arial"/>
                <a:ea typeface="Arial"/>
                <a:cs typeface="Arial"/>
              </a:rPr>
              <a:t>181 / 184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7A6A8-8474-4CC3-8208-6A2F79AB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4ED1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A6155-3896-49B1-A660-DF45C4D5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004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ED1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D18A"/>
                </a:solidFill>
                <a:latin typeface="Arial"/>
                <a:ea typeface="Arial"/>
                <a:cs typeface="Arial"/>
              </a:rPr>
              <a:t>WHAT LOOKS GOOD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EF041-2884-4CE8-B660-D529A647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62425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Selective NO signal</a:t>
            </a:r>
          </a:p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Positive broader replay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E4695-7EDF-4373-B60D-17A9BCDC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29025"/>
            <a:ext cx="19526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14288">
            <a:solidFill>
              <a:srgbClr val="FFBD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2187F-C137-4954-9860-0730C542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00475"/>
            <a:ext cx="1685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D5B"/>
                </a:solidFill>
                <a:latin typeface="Arial"/>
                <a:ea typeface="Arial"/>
                <a:cs typeface="Arial"/>
              </a:rPr>
              <a:t>WHAT WE MUST 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CEA32-9D00-408E-8BA4-86233A8D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62425"/>
            <a:ext cx="1647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Stable across seasons</a:t>
            </a:r>
          </a:p>
          <a:p xmlns:a="http://schemas.openxmlformats.org/drawingml/2006/main">
            <a:pPr algn="ctr">
              <a:defRPr sz="1275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Realistic fills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61B0D-B6E3-4546-91AF-5EA04E90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14950"/>
            <a:ext cx="217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F8FB"/>
                </a:solidFill>
                <a:latin typeface="Arial"/>
                <a:ea typeface="Arial"/>
                <a:cs typeface="Arial"/>
              </a:rPr>
              <a:t>OFFLINE UNTIL VERIFIED</a:t>
            </a:r>
          </a:p>
        </p:txBody>
      </p:sp>
    </p:spTree>
    <p:extLst>
      <p:ext uri="{BB962C8B-B14F-4D97-AF65-F5344CB8AC3E}">
        <p14:creationId xmlns:p14="http://schemas.microsoft.com/office/powerpoint/2010/main" val="1099985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2026-09-29T12:19:40.7840000Z</dcterms:created>
  <dcterms:modified xsi:type="dcterms:W3CDTF">2026-09-29T12:19:40.7840000Z</dcterms:modified>
</coreProperties>
</file>