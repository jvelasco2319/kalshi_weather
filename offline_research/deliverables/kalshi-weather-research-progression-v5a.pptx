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033e9ad2534c2d" /><Relationship Type="http://schemas.openxmlformats.org/officeDocument/2006/relationships/extended-properties" Target="/docProps/app.xml" Id="Rb5ac6ee2b74c4be3" /><Relationship Type="http://schemas.openxmlformats.org/officeDocument/2006/relationships/officeDocument" Target="/ppt/presentation.xml" Id="R9ec49f6222154f14" /></Relationships>
</file>

<file path=ppt/presentation.xml><?xml version="1.0" encoding="utf-8"?>
<p:presentation xmlns:p="http://schemas.openxmlformats.org/presentationml/2006/main">
  <p:sldMasterIdLst>
    <p:sldMasterId xmlns:r="http://schemas.openxmlformats.org/officeDocument/2006/relationships" id="2147483648" r:id="Rdb0ece5f2eae4a65"/>
  </p:sldMasterIdLst>
  <p:notesMasterIdLst>
    <p:notesMasterId xmlns:r="http://schemas.openxmlformats.org/officeDocument/2006/relationships" r:id="R6db6ad2b87b94d5d"/>
  </p:notesMasterIdLst>
  <p:sldIdLst>
    <p:sldId xmlns:r="http://schemas.openxmlformats.org/officeDocument/2006/relationships" id="256" r:id="R7070961c031f4cae"/>
    <p:sldId xmlns:r="http://schemas.openxmlformats.org/officeDocument/2006/relationships" id="257" r:id="Rda1ba795ed4248e5"/>
    <p:sldId xmlns:r="http://schemas.openxmlformats.org/officeDocument/2006/relationships" id="258" r:id="R369fb895f05b4a4d"/>
    <p:sldId xmlns:r="http://schemas.openxmlformats.org/officeDocument/2006/relationships" id="259" r:id="R48b640a9b426443a"/>
    <p:sldId xmlns:r="http://schemas.openxmlformats.org/officeDocument/2006/relationships" id="260" r:id="R3d88bfebb951456b"/>
    <p:sldId xmlns:r="http://schemas.openxmlformats.org/officeDocument/2006/relationships" id="261" r:id="Re1efd3bc62f647ca"/>
    <p:sldId xmlns:r="http://schemas.openxmlformats.org/officeDocument/2006/relationships" id="262" r:id="Rde3fc0c18e88422d"/>
    <p:sldId xmlns:r="http://schemas.openxmlformats.org/officeDocument/2006/relationships" id="263" r:id="Ree22b889eec047cb"/>
    <p:sldId xmlns:r="http://schemas.openxmlformats.org/officeDocument/2006/relationships" id="264" r:id="R6d75edcc3c794cf4"/>
    <p:sldId xmlns:r="http://schemas.openxmlformats.org/officeDocument/2006/relationships" id="265" r:id="R63e87263df4f48d2"/>
    <p:sldId xmlns:r="http://schemas.openxmlformats.org/officeDocument/2006/relationships" id="266" r:id="Rd380d3c835e74277"/>
    <p:sldId xmlns:r="http://schemas.openxmlformats.org/officeDocument/2006/relationships" id="267" r:id="R08eb680cb33f4315"/>
    <p:sldId xmlns:r="http://schemas.openxmlformats.org/officeDocument/2006/relationships" id="268" r:id="Re7adcbca765c4ce8"/>
    <p:sldId xmlns:r="http://schemas.openxmlformats.org/officeDocument/2006/relationships" id="269" r:id="R034fe57b312c4a42"/>
    <p:sldId xmlns:r="http://schemas.openxmlformats.org/officeDocument/2006/relationships" id="270" r:id="Rfcb2570c413e4b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dad0970b434493" /><Relationship Type="http://schemas.openxmlformats.org/officeDocument/2006/relationships/slideMaster" Target="/ppt/slideMasters/slideMaster1.xml" Id="Rdb0ece5f2eae4a65" /><Relationship Type="http://schemas.openxmlformats.org/officeDocument/2006/relationships/notesMaster" Target="/ppt/notesMasters/notesMaster1.xml" Id="R6db6ad2b87b94d5d" /><Relationship Type="http://schemas.openxmlformats.org/officeDocument/2006/relationships/presProps" Target="/ppt/presProps.xml" Id="Re2615df3fff94a93" /><Relationship Type="http://schemas.openxmlformats.org/officeDocument/2006/relationships/tableStyles" Target="/ppt/tableStyles.xml" Id="R903de70da37c4f74" /><Relationship Type="http://schemas.openxmlformats.org/officeDocument/2006/relationships/slide" Target="/ppt/slides/slide1.xml" Id="R7070961c031f4cae" /><Relationship Type="http://schemas.openxmlformats.org/officeDocument/2006/relationships/slide" Target="/ppt/slides/slide2.xml" Id="Rda1ba795ed4248e5" /><Relationship Type="http://schemas.openxmlformats.org/officeDocument/2006/relationships/slide" Target="/ppt/slides/slide3.xml" Id="R369fb895f05b4a4d" /><Relationship Type="http://schemas.openxmlformats.org/officeDocument/2006/relationships/slide" Target="/ppt/slides/slide4.xml" Id="R48b640a9b426443a" /><Relationship Type="http://schemas.openxmlformats.org/officeDocument/2006/relationships/slide" Target="/ppt/slides/slide5.xml" Id="R3d88bfebb951456b" /><Relationship Type="http://schemas.openxmlformats.org/officeDocument/2006/relationships/slide" Target="/ppt/slides/slide6.xml" Id="Re1efd3bc62f647ca" /><Relationship Type="http://schemas.openxmlformats.org/officeDocument/2006/relationships/slide" Target="/ppt/slides/slide7.xml" Id="Rde3fc0c18e88422d" /><Relationship Type="http://schemas.openxmlformats.org/officeDocument/2006/relationships/slide" Target="/ppt/slides/slide8.xml" Id="Ree22b889eec047cb" /><Relationship Type="http://schemas.openxmlformats.org/officeDocument/2006/relationships/slide" Target="/ppt/slides/slide9.xml" Id="R6d75edcc3c794cf4" /><Relationship Type="http://schemas.openxmlformats.org/officeDocument/2006/relationships/slide" Target="/ppt/slides/slide10.xml" Id="R63e87263df4f48d2" /><Relationship Type="http://schemas.openxmlformats.org/officeDocument/2006/relationships/slide" Target="/ppt/slides/slide11.xml" Id="Rd380d3c835e74277" /><Relationship Type="http://schemas.openxmlformats.org/officeDocument/2006/relationships/slide" Target="/ppt/slides/slide12.xml" Id="R08eb680cb33f4315" /><Relationship Type="http://schemas.openxmlformats.org/officeDocument/2006/relationships/slide" Target="/ppt/slides/slide13.xml" Id="Re7adcbca765c4ce8" /><Relationship Type="http://schemas.openxmlformats.org/officeDocument/2006/relationships/slide" Target="/ppt/slides/slide14.xml" Id="R034fe57b312c4a42" /><Relationship Type="http://schemas.openxmlformats.org/officeDocument/2006/relationships/slide" Target="/ppt/slides/slide15.xml" Id="Rfcb2570c413e4b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2a3476562f4e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110ccb0b514c6b" /><Relationship Type="http://schemas.openxmlformats.org/officeDocument/2006/relationships/notesMaster" Target="/ppt/notesMasters/notesMaster1.xml" Id="R979c1858b7b347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aa352e6004028" /><Relationship Type="http://schemas.openxmlformats.org/officeDocument/2006/relationships/notesMaster" Target="/ppt/notesMasters/notesMaster1.xml" Id="Rde7e7a55f54b4e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fb8326d90f4504" /><Relationship Type="http://schemas.openxmlformats.org/officeDocument/2006/relationships/notesMaster" Target="/ppt/notesMasters/notesMaster1.xml" Id="Rc1c54b0d686c41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bbfd3c7e543ec" /><Relationship Type="http://schemas.openxmlformats.org/officeDocument/2006/relationships/notesMaster" Target="/ppt/notesMasters/notesMaster1.xml" Id="Rdc136e18b3a94a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173fc235ea48f1" /><Relationship Type="http://schemas.openxmlformats.org/officeDocument/2006/relationships/notesMaster" Target="/ppt/notesMasters/notesMaster1.xml" Id="R2ce3fd4a4b1440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1486b298684986" /><Relationship Type="http://schemas.openxmlformats.org/officeDocument/2006/relationships/notesMaster" Target="/ppt/notesMasters/notesMaster1.xml" Id="Rfb3c806c262145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ecfb87f1c047f0" /><Relationship Type="http://schemas.openxmlformats.org/officeDocument/2006/relationships/notesMaster" Target="/ppt/notesMasters/notesMaster1.xml" Id="R98205eeb63d845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4bf4fa545b47c2" /><Relationship Type="http://schemas.openxmlformats.org/officeDocument/2006/relationships/notesMaster" Target="/ppt/notesMasters/notesMaster1.xml" Id="R48c5dc8f76a343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e0179402c74ae1" /><Relationship Type="http://schemas.openxmlformats.org/officeDocument/2006/relationships/notesMaster" Target="/ppt/notesMasters/notesMaster1.xml" Id="R128264c280da4b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acdd6fa93f430c" /><Relationship Type="http://schemas.openxmlformats.org/officeDocument/2006/relationships/notesMaster" Target="/ppt/notesMasters/notesMaster1.xml" Id="Rd2d8f0fa856c48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0daa026f2b4a2d" /><Relationship Type="http://schemas.openxmlformats.org/officeDocument/2006/relationships/notesMaster" Target="/ppt/notesMasters/notesMaster1.xml" Id="R8a8f8c1cc15344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879bba778b4e1b" /><Relationship Type="http://schemas.openxmlformats.org/officeDocument/2006/relationships/notesMaster" Target="/ppt/notesMasters/notesMaster1.xml" Id="R8025b6c1084b4f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65871d0fd7436c" /><Relationship Type="http://schemas.openxmlformats.org/officeDocument/2006/relationships/notesMaster" Target="/ppt/notesMasters/notesMaster1.xml" Id="R9c6176cae0bc48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8add7382234f05" /><Relationship Type="http://schemas.openxmlformats.org/officeDocument/2006/relationships/notesMaster" Target="/ppt/notesMasters/notesMaster1.xml" Id="R81c24e92cff241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921e100d834313" /><Relationship Type="http://schemas.openxmlformats.org/officeDocument/2006/relationships/notesMaster" Target="/ppt/notesMasters/notesMaster1.xml" Id="Rc8aa63bfec9345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simple walkthrough for a friend and research collaborator.</a:t>
            </a:r>
          </a:p>
          <a:p xmlns:a="http://schemas.openxmlformats.org/drawingml/2006/main">
            <a:r>
              <a:t>Sources: C:\Users\darks\Documents\Codex\kalshi\_weather\_llm\GOALS.md; docs\NAVIER_STOKES_ARCHITECTURE_CROSSCHECK.md; runs\campaigns_v4_1\v4-1-offline-20260927T004742447Z\recovery-state.json.</a:t>
            </a:r>
          </a:p>
          <a:p xmlns:a="http://schemas.openxmlformats.org/drawingml/2006/main">
            <a:r>
              <a:t>All returns in this deck are historical simulations. No live or paper orders were authorized.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GOALS.md; docs\NAVIER_STOKES_ARCHITECTURE_CROSSCHECK.md.</a:t>
            </a:r>
          </a:p>
          <a:p xmlns:a="http://schemas.openxmlformats.org/drawingml/2006/main">
            <a:r>
              <a:t>The ≥10% target is expected net return per trade, not a promise of realized profit.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docs\NAVIER_STOKES_ARCHITECTURE_CROSSCHECK.md; GOALS.md.</a:t>
            </a:r>
          </a:p>
          <a:p xmlns:a="http://schemas.openxmlformats.org/drawingml/2006/main">
            <a:r>
              <a:t>V1 produced 3 research families, 3 candidates and 15 local model calls, but only the first epoch was productive.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GOALS.md; docs\NAVIER_STOKES_ARCHITECTURE_CROSSCHECK.md.</a:t>
            </a:r>
          </a:p>
          <a:p xmlns:a="http://schemas.openxmlformats.org/drawingml/2006/main">
            <a:r>
              <a:t>V2 completed 4 productive epochs, evaluated 40 candidates using 98 calls, and its best development return was approximately -0.289% across 122 assumed-fill trades.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docs\V3_IMPLEMENTATION_CONTRACT.md; docs\V3_FROZEN_DATASET.md; reports\v3-final-campaign-analysis.md.</a:t>
            </a:r>
          </a:p>
          <a:p xmlns:a="http://schemas.openxmlformats.org/drawingml/2006/main">
            <a:r>
              <a:t>V3 completed 6 epochs and tested 60 candidates. The registered conclusion was NO_IMPROVEMENT_WITHIN_REGISTERED_BUDGET.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reports\v4-openai-architecture-alignment.md; docs\V4_12_HOUR_CAMPAIGN_CONTRACT.md; configs\v4_offline_campaign.json; reports\v4-runtime-launch-audit.md.</a:t>
            </a:r>
          </a:p>
          <a:p xmlns:a="http://schemas.openxmlformats.org/drawingml/2006/main">
            <a:r>
              <a:t>V4 used a frozen 3,072-plan factorial across four model tracks, three decision times and execution controls. It stopped in epoch 7 after 82 candidates when a nomination response did not match the registered format.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docs\V4_1_CONTINUATION_AMENDMENT.md; runs\campaigns_v4_1\v4-1-offline-20260927T004742447Z\continuation-import-reference.json; runs\campaigns_v4_1\v4-1-offline-20260927T004742447Z\recovery-state.json.</a:t>
            </a:r>
          </a:p>
          <a:p xmlns:a="http://schemas.openxmlformats.org/drawingml/2006/main">
            <a:r>
              <a:t>V4.1 preserved the V4 work, calls, token use, frozen artifacts and deadline. It reached 20 epochs and 240 candidates, then stopped after three malformed synthesis responses. No valid terminal summary was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runs\campaigns_v4_1\v4-1-offline-20260927T004742447Z\recovery-state.json and candidate evaluation artifacts.</a:t>
            </a:r>
          </a:p>
          <a:p xmlns:a="http://schemas.openxmlformats.org/drawingml/2006/main">
            <a:r>
              <a:t>Counts: 240 candidates evaluated; 135 positive raw development returns; 108 above 10% aggregate raw return; 4 positive bootstrap lower bounds; 0 promotion passes, 0 critic accepts and 0 robust-positive candidates.</a:t>
            </a:r>
          </a:p>
          <a:p xmlns:a="http://schemas.openxmlformats.org/drawingml/2006/main">
            <a:r>
              <a:t>Chart is an editable native PowerPoint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runs\campaigns_v4_1\v4-1-offline-20260927T004742447Z\recovery-state.json; the primary candidate evaluation, fold_metrics and ledger artifacts for plan a779fd17e7b160650c8f.</a:t>
            </a:r>
          </a:p>
          <a:p xmlns:a="http://schemas.openxmlformats.org/drawingml/2006/main">
            <a:r>
              <a:t>Leading plan: ensemble_probability colony; HRRR+GEFS summary; temperature-only features; quantile brackets; isotonic calibration; pooled regime; 18:00 UTC; maximum 4°F interval width; 5–80 cent entry band; 15-minute quote age; 5-cent spread; both sides; 10% entry threshold.</a:t>
            </a:r>
          </a:p>
          <a:p xmlns:a="http://schemas.openxmlformats.org/drawingml/2006/main">
            <a:r>
              <a:t>Simulation: 13 trades; $4.70 entry outlay; $3.30 net; 70.2% capital-weighted return; 46.9% mean return per trade; 30.4% one-sided 95% bootstrap lower bound; 58.7% stress return; 54.9% after removing the best day.</a:t>
            </a:r>
          </a:p>
          <a:p xmlns:a="http://schemas.openxmlformats.org/drawingml/2006/main">
            <a:r>
              <a:t>Fold returns shown: +141.0%, +122.2%, +74.8%, -100.0%, -100.0%, with trade counts 2, 1, 5, 2, 3.</a:t>
            </a:r>
          </a:p>
          <a:p xmlns:a="http://schemas.openxmlformats.org/drawingml/2006/main">
            <a:r>
              <a:t>Every candidate failed observed-fill verification because historical observed ask/bid, quote timestamp, spread, volume and quote-age fields were unavailable. Exact historical fee bindings were also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campaign based on the V4.1 findings.</a:t>
            </a:r>
          </a:p>
          <a:p xmlns:a="http://schemas.openxmlformats.org/drawingml/2006/main">
            <a:r>
              <a:t>Primary gaps to resolve: observed executable quotes, exact historical fees and rebates, exact settlement binding, independent validation of the frozen probability model, and more independent event dates/regimes.</a:t>
            </a:r>
          </a:p>
          <a:p xmlns:a="http://schemas.openxmlformats.org/drawingml/2006/main">
            <a:r>
              <a:t>The protected holdout remains one-time and unopened until all registered gates pass. No live or paper orders are proposed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V5 data recovery closed the largest gaps identified after V4.1.</a:t>
            </a:r>
          </a:p>
          <a:p xmlns:a="http://schemas.openxmlformats.org/drawingml/2006/main">
            <a:r>
              <a:t>Sources: data/manifests/v5a_priority_acquisition_closure.json; data/manifests/v5a_event_rules_outcome_blind.json; data/manifests/v5a_paid_depth_readiness.json; Probalytics paid historical archive manifest.</a:t>
            </a:r>
          </a:p>
          <a:p xmlns:a="http://schemas.openxmlformats.org/drawingml/2006/main">
            <a:r>
              <a:t>Coverage: 92 HRRR/GEFS dates from June 1 through August 31, 2026; 2,080,676 order-book snapshots; 488 date-contract pairs; 552 exact Kalshi market contracts; exact direct-taker fees for all 92 dates.</a:t>
            </a:r>
          </a:p>
          <a:p xmlns:a="http://schemas.openxmlformats.org/drawingml/2006/main">
            <a:r>
              <a:t>The settlement source changes on August 14, 2026, from NWS CLILAX to The Weather Company. The rule binding records this change.</a:t>
            </a:r>
          </a:p>
          <a:p xmlns:a="http://schemas.openxmlformats.org/drawingml/2006/main">
            <a:r>
              <a:t>Offline research only. No paper or live orders were authorized or placed.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frozen outcome-blind execution universe.</a:t>
            </a:r>
          </a:p>
          <a:p xmlns:a="http://schemas.openxmlformats.org/drawingml/2006/main">
            <a:r>
              <a:t>92 dates have weather-model probabilities. 82 have at least one usable historical price. 80 have paid full-book evidence. 19 dates contain at least one strict Grade-A contract-side observation. 10 dates abstain because usable execution evidence is unavailable.</a:t>
            </a:r>
          </a:p>
          <a:p xmlns:a="http://schemas.openxmlformats.org/drawingml/2006/main">
            <a:r>
              <a:t>Frozen contract-side counts: Grade A 117; Grade B+ 560; Grade B 113; unavailable 314.</a:t>
            </a:r>
          </a:p>
          <a:p xmlns:a="http://schemas.openxmlformats.org/drawingml/2006/main">
            <a:r>
              <a:t>Grade A is strict direct evidence. Grade B+ is paid full-book evidence with weaker timestamp continuity. Grade B is a one-minute assumed-fill proxy. B and B+ cannot be described as verified fills.</a:t>
            </a:r>
          </a:p>
          <a:p xmlns:a="http://schemas.openxmlformats.org/drawingml/2006/main">
            <a:r>
              <a:t>Sources: data/manifests/v5a_outcome_blind_universe.json and data/manifests/v5a_paid_depth_readiness.json.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V5A campaign runs four deterministic colonies: probability calibration, execution evidence, fee and entry economics, and sample and regime robustness.</a:t>
            </a:r>
          </a:p>
          <a:p xmlns:a="http://schemas.openxmlformats.org/drawingml/2006/main">
            <a:r>
              <a:t>Every proposal is evaluated against the same frozen weather probabilities, exact fees, outcome-blind execution universe and chronological development labels.</a:t>
            </a:r>
          </a:p>
          <a:p xmlns:a="http://schemas.openxmlformats.org/drawingml/2006/main">
            <a:r>
              <a:t>Development contains 64 dates. The final 28 dates remain sealed until one strategy is frozen.</a:t>
            </a:r>
          </a:p>
          <a:p xmlns:a="http://schemas.openxmlformats.org/drawingml/2006/main">
            <a:r>
              <a:t>The 12-hour campaign is registered as v5a-offline-20260927T171522716076Z with a fixed deadline of 2026-09-28T05:15:23.724641Z.</a:t>
            </a:r>
          </a:p>
          <a:p xmlns:a="http://schemas.openxmlformats.org/drawingml/2006/main">
            <a:r>
              <a:t>Offline research only. No current market feed, paper orders or live 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snapshot from campaign v5a-offline-20260927T171522716076Z while the 12-hour search was still running.</a:t>
            </a:r>
          </a:p>
          <a:p xmlns:a="http://schemas.openxmlformats.org/drawingml/2006/main">
            <a:r>
              <a:t>Best development candidate: 36 selected dates and 36 simulated trades; $6.7969 total entry outlay; $1.2031 net profit after exact fees; aggregate realized net return 17.7007%.</a:t>
            </a:r>
          </a:p>
          <a:p xmlns:a="http://schemas.openxmlformats.org/drawingml/2006/main">
            <a:r>
              <a:t>Chronological fold returns: +57.1%, +38.9%, +2.9%, -100.0% and +41.1%. Four of five folds are positive, but the worst fold is a total loss.</a:t>
            </a:r>
          </a:p>
          <a:p xmlns:a="http://schemas.openxmlformats.org/drawingml/2006/main">
            <a:r>
              <a:t>Execution composition: Grade A 4, Grade B+ 30, Grade B 2. Evidence-quality score 0.6694. The candidate is marked SUPPORTED_PARTIAL_EVIDENCE and robust_positive=false.</a:t>
            </a:r>
          </a:p>
          <a:p xmlns:a="http://schemas.openxmlformats.org/drawingml/2006/main">
            <a:r>
              <a:t>The 10% target is not confirmed. These are simulated development results, not realized live gains. The holdout remains sealed and no orders were placed.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fixed development budget expires, the campaign freezes exactly one strategy.</a:t>
            </a:r>
          </a:p>
          <a:p xmlns:a="http://schemas.openxmlformats.org/drawingml/2006/main">
            <a:r>
              <a:t>Only then may it open and score the 28 sealed holdout dates. The holdout is consumed once; an alternative strategy cannot be tried after seeing its results.</a:t>
            </a:r>
          </a:p>
          <a:p xmlns:a="http://schemas.openxmlformats.org/drawingml/2006/main">
            <a:r>
              <a:t>The final report must separate development and holdout results, show exact selected-day counts, execution-grade composition, aggregate return after exact fees, fold consistency and evidence limitations.</a:t>
            </a:r>
          </a:p>
          <a:p xmlns:a="http://schemas.openxmlformats.org/drawingml/2006/main">
            <a:r>
              <a:t>The 10% target is confirmed only if the registered holdout test supports it. Otherwise the conclusion remains unconfirmed, even if the development result is positive.</a:t>
            </a:r>
          </a:p>
          <a:p xmlns:a="http://schemas.openxmlformats.org/drawingml/2006/main">
            <a:r>
              <a:t>Offline research only. No current market feed, paper orders or live 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a48fdbce034b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67d2823ec04cbf" /><Relationship Type="http://schemas.openxmlformats.org/officeDocument/2006/relationships/slideLayout" Target="/ppt/slideLayouts/slideLayout1.xml" Id="R79f591104e4a41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f591104e4a41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d46a4211ce4d5d" /><Relationship Type="http://schemas.openxmlformats.org/officeDocument/2006/relationships/notesSlide" Target="/ppt/notesSlides/notesSlide1.xml" Id="R3a9100e6a7784e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3178f9ab4048c1" /><Relationship Type="http://schemas.openxmlformats.org/officeDocument/2006/relationships/notesSlide" Target="/ppt/notesSlides/notesSlide2.xml" Id="R799fc0d34ccc46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c5dcfcdc714c3f" /><Relationship Type="http://schemas.openxmlformats.org/officeDocument/2006/relationships/notesSlide" Target="/ppt/notesSlides/notesSlide3.xml" Id="Rf6f5953c0b7942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d1dc753eb74cfd" /><Relationship Type="http://schemas.openxmlformats.org/officeDocument/2006/relationships/notesSlide" Target="/ppt/notesSlides/notesSlide4.xml" Id="Rcd3eabda146548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cfd1fb67c242cd" /><Relationship Type="http://schemas.openxmlformats.org/officeDocument/2006/relationships/notesSlide" Target="/ppt/notesSlides/notesSlide5.xml" Id="R4a63d2dc9ebb41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4986e6ee0542e5" /><Relationship Type="http://schemas.openxmlformats.org/officeDocument/2006/relationships/notesSlide" Target="/ppt/notesSlides/notesSlide6.xml" Id="R8b81fd3f27a544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5caf27b664450c" /><Relationship Type="http://schemas.openxmlformats.org/officeDocument/2006/relationships/notesSlide" Target="/ppt/notesSlides/notesSlide7.xml" Id="R7e646f62b52c42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bc3e68e9ed4995" /><Relationship Type="http://schemas.openxmlformats.org/officeDocument/2006/relationships/chart" Target="/ppt/slides/charts/chart1.xml" Id="R1aa2c601ccf74144" /><Relationship Type="http://schemas.openxmlformats.org/officeDocument/2006/relationships/notesSlide" Target="/ppt/notesSlides/notesSlide8.xml" Id="R7363e7dc71d849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6d88ba50094ae7" /><Relationship Type="http://schemas.openxmlformats.org/officeDocument/2006/relationships/notesSlide" Target="/ppt/notesSlides/notesSlide9.xml" Id="R2dc7bd9115534d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30bae686314300" /><Relationship Type="http://schemas.openxmlformats.org/officeDocument/2006/relationships/notesSlide" Target="/ppt/notesSlides/notesSlide10.xml" Id="R9b4dec10206c4f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0cf4a7cbfc417a" /><Relationship Type="http://schemas.openxmlformats.org/officeDocument/2006/relationships/notesSlide" Target="/ppt/notesSlides/notesSlide11.xml" Id="Rbc8286f8127b4b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e914b7ac9b4a1e" /><Relationship Type="http://schemas.openxmlformats.org/officeDocument/2006/relationships/chart" Target="/ppt/slides/charts/chart2.xml" Id="Reb0d99b2914248df" /><Relationship Type="http://schemas.openxmlformats.org/officeDocument/2006/relationships/notesSlide" Target="/ppt/notesSlides/notesSlide12.xml" Id="R036ac1ce76274b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78be57031a4449" /><Relationship Type="http://schemas.openxmlformats.org/officeDocument/2006/relationships/notesSlide" Target="/ppt/notesSlides/notesSlide13.xml" Id="R1bc9944f73c54f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2e08c084ff4d83" /><Relationship Type="http://schemas.openxmlformats.org/officeDocument/2006/relationships/notesSlide" Target="/ppt/notesSlides/notesSlide14.xml" Id="R2e83c7b2897948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bd05ea31ec4358" /><Relationship Type="http://schemas.openxmlformats.org/officeDocument/2006/relationships/notesSlide" Target="/ppt/notesSlides/notesSlide15.xml" Id="R2ef716a6562d429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2" Type="http://schemas.openxmlformats.org/officeDocument/2006/relationships/package" Target="../../embeddings/chart-data-snapshot-002.xlsx"/></Relationships>
</file>

<file path=ppt/slides/charts/chart1.xml><?xml version="1.0" encoding="utf-8"?>
<c:chartSpace xmlns:r="http://schemas.openxmlformats.org/officeDocument/2006/relationships" xmlns:c="http://schemas.openxmlformats.org/drawingml/2006/chart">
  <c:lang val="en-US"/>
  <c:chart>
    <c:plotArea>
      <c:barChart>
        <c:barDir val="bar"/>
        <c:grouping val="clustered"/>
        <c:varyColors val="1"/>
        <c:ser>
          <c:idx val="0"/>
          <c:order val="0"/>
          <c:tx>
            <c:v>Candidates</c:v>
          </c:tx>
          <c:spPr>
            <a:solidFill xmlns:a="http://schemas.openxmlformats.org/drawingml/2006/main">
              <a:srgbClr val="4EA1FF"/>
            </a:solidFill>
          </c:spPr>
          <c:dPt>
            <c:idx val="0"/>
            <c:invertIfNegative val="0"/>
            <c:spPr>
              <a:solidFill xmlns:a="http://schemas.openxmlformats.org/drawingml/2006/main">
                <a:srgbClr val="4EA1FF"/>
              </a:solidFill>
            </c:spPr>
          </c:dPt>
          <c:dPt>
            <c:idx val="1"/>
            <c:invertIfNegative val="0"/>
            <c:spPr>
              <a:solidFill xmlns:a="http://schemas.openxmlformats.org/drawingml/2006/main">
                <a:srgbClr val="4DD28A"/>
              </a:solidFill>
            </c:spPr>
          </c:dPt>
          <c:dPt>
            <c:idx val="2"/>
            <c:invertIfNegative val="0"/>
            <c:spPr>
              <a:solidFill xmlns:a="http://schemas.openxmlformats.org/drawingml/2006/main">
                <a:srgbClr val="47D7D0"/>
              </a:solidFill>
            </c:spPr>
          </c:dPt>
          <c:dPt>
            <c:idx val="3"/>
            <c:invertIfNegative val="0"/>
            <c:spPr>
              <a:solidFill xmlns:a="http://schemas.openxmlformats.org/drawingml/2006/main">
                <a:srgbClr val="F4B860"/>
              </a:solidFill>
            </c:spPr>
          </c:dPt>
          <c:dPt>
            <c:idx val="4"/>
            <c:invertIfNegative val="0"/>
            <c:spPr>
              <a:solidFill xmlns:a="http://schemas.openxmlformats.org/drawingml/2006/main">
                <a:srgbClr val="FF6B6B"/>
              </a:solidFill>
            </c:spPr>
          </c:dPt>
          <c:cat>
            <c:strRef>
              <c:f>'Chart Data'!$A$2:$A$6</c:f>
              <c:strCache>
                <c:ptCount val="5"/>
                <c:pt idx="0">
                  <c:v>Tested</c:v>
                </c:pt>
                <c:pt idx="1">
                  <c:v>Positive</c:v>
                </c:pt>
                <c:pt idx="2">
                  <c:v>&gt;10%</c:v>
                </c:pt>
                <c:pt idx="3">
                  <c:v>Positive bound</c:v>
                </c:pt>
                <c:pt idx="4">
                  <c:v>Passed</c:v>
                </c:pt>
              </c:strCache>
            </c:strRef>
          </c:cat>
          <c:val>
            <c:numRef>
              <c:f>'Chart Data'!$B$2:$B$6</c:f>
              <c:numCache>
                <c:formatCode>General</c:formatCode>
                <c:ptCount val="5"/>
                <c:pt idx="0">
                  <c:v>240</c:v>
                </c:pt>
                <c:pt idx="1">
                  <c:v>135</c:v>
                </c:pt>
                <c:pt idx="2">
                  <c:v>108</c:v>
                </c:pt>
                <c:pt idx="3">
                  <c:v>4</c:v>
                </c:pt>
                <c:pt idx="4">
                  <c:v>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crossAx val="48650112"/>
        <c:crossBetween val="between"/>
      </c:valAx>
      <c:spPr>
        <a:solidFill xmlns:a="http://schemas.openxmlformats.org/drawingml/2006/main">
          <a:srgbClr val="0B1320"/>
        </a:solidFill>
        <a:ln xmlns:a="http://schemas.openxmlformats.org/drawingml/2006/main" w="0">
          <a:noFill/>
        </a:ln>
      </c:spPr>
    </c:plotArea>
    <c:plotVisOnly val="1"/>
  </c:chart>
  <c:spPr>
    <a:solidFill xmlns:a="http://schemas.openxmlformats.org/drawingml/2006/main">
      <a:srgbClr val="0B1320"/>
    </a:solidFill>
    <a:ln xmlns:a="http://schemas.openxmlformats.org/drawingml/2006/main" w="0">
      <a:noFill/>
    </a:ln>
  </c:spPr>
  <c:externalData r:id="rIdChartSnapshot1">
    <c:autoUpdate val="0"/>
  </c:externalData>
</c:chartSpace>
</file>

<file path=ppt/slides/charts/chart2.xml><?xml version="1.0" encoding="utf-8"?>
<c:chartSpace xmlns:r="http://schemas.openxmlformats.org/officeDocument/2006/relationships" xmlns:c="http://schemas.openxmlformats.org/drawingml/2006/chart">
  <c:lang val="en-US"/>
  <c:chart>
    <c:plotArea>
      <c:barChart>
        <c:barDir val="bar"/>
        <c:grouping val="clustered"/>
        <c:varyColors val="1"/>
        <c:ser>
          <c:idx val="0"/>
          <c:order val="0"/>
          <c:tx>
            <c:v>Dates</c:v>
          </c:tx>
          <c:spPr>
            <a:solidFill xmlns:a="http://schemas.openxmlformats.org/drawingml/2006/main">
              <a:srgbClr val="4EA1FF"/>
            </a:solidFill>
          </c:spPr>
          <c:dPt>
            <c:idx val="0"/>
            <c:invertIfNegative val="0"/>
            <c:spPr>
              <a:solidFill xmlns:a="http://schemas.openxmlformats.org/drawingml/2006/main">
                <a:srgbClr val="4EA1FF"/>
              </a:solidFill>
            </c:spPr>
          </c:dPt>
          <c:dPt>
            <c:idx val="1"/>
            <c:invertIfNegative val="0"/>
            <c:spPr>
              <a:solidFill xmlns:a="http://schemas.openxmlformats.org/drawingml/2006/main">
                <a:srgbClr val="4DD28A"/>
              </a:solidFill>
            </c:spPr>
          </c:dPt>
          <c:dPt>
            <c:idx val="2"/>
            <c:invertIfNegative val="0"/>
            <c:spPr>
              <a:solidFill xmlns:a="http://schemas.openxmlformats.org/drawingml/2006/main">
                <a:srgbClr val="47D7D0"/>
              </a:solidFill>
            </c:spPr>
          </c:dPt>
          <c:dPt>
            <c:idx val="3"/>
            <c:invertIfNegative val="0"/>
            <c:spPr>
              <a:solidFill xmlns:a="http://schemas.openxmlformats.org/drawingml/2006/main">
                <a:srgbClr val="F4B860"/>
              </a:solidFill>
            </c:spPr>
          </c:dPt>
          <c:dPt>
            <c:idx val="4"/>
            <c:invertIfNegative val="0"/>
            <c:spPr>
              <a:solidFill xmlns:a="http://schemas.openxmlformats.org/drawingml/2006/main">
                <a:srgbClr val="FF6B6B"/>
              </a:solidFill>
            </c:spPr>
          </c:dPt>
          <c:cat>
            <c:strRef>
              <c:f>'Chart Data'!$A$2:$A$6</c:f>
              <c:strCache>
                <c:ptCount val="5"/>
                <c:pt idx="0">
                  <c:v>Probability dates</c:v>
                </c:pt>
                <c:pt idx="1">
                  <c:v>Usable price</c:v>
                </c:pt>
                <c:pt idx="2">
                  <c:v>Paid full book</c:v>
                </c:pt>
                <c:pt idx="3">
                  <c:v>Any Grade A</c:v>
                </c:pt>
                <c:pt idx="4">
                  <c:v>Abstentions</c:v>
                </c:pt>
              </c:strCache>
            </c:strRef>
          </c:cat>
          <c:val>
            <c:numRef>
              <c:f>'Chart Data'!$B$2:$B$6</c:f>
              <c:numCache>
                <c:formatCode>General</c:formatCode>
                <c:ptCount val="5"/>
                <c:pt idx="0">
                  <c:v>92</c:v>
                </c:pt>
                <c:pt idx="1">
                  <c:v>82</c:v>
                </c:pt>
                <c:pt idx="2">
                  <c:v>80</c:v>
                </c:pt>
                <c:pt idx="3">
                  <c:v>19</c:v>
                </c:pt>
                <c:pt idx="4">
                  <c:v>10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crossAx val="48650112"/>
        <c:crossBetween val="between"/>
      </c:valAx>
      <c:spPr>
        <a:solidFill xmlns:a="http://schemas.openxmlformats.org/drawingml/2006/main">
          <a:srgbClr val="0B1320"/>
        </a:solidFill>
        <a:ln xmlns:a="http://schemas.openxmlformats.org/drawingml/2006/main" w="0">
          <a:noFill/>
        </a:ln>
      </c:spPr>
    </c:plotArea>
    <c:plotVisOnly val="1"/>
  </c:chart>
  <c:spPr>
    <a:solidFill xmlns:a="http://schemas.openxmlformats.org/drawingml/2006/main">
      <a:srgbClr val="0B1320"/>
    </a:solidFill>
    <a:ln xmlns:a="http://schemas.openxmlformats.org/drawingml/2006/main" w="0">
      <a:noFill/>
    </a:ln>
  </c:spPr>
  <c:externalData r:id="rIdChartSnapshot2">
    <c:autoUpdate val="0"/>
  </c:externalData>
</c:chartSpace>
</file>

<file path=ppt/slides/slide1.xml><?xml version="1.0" encoding="utf-8"?>
<p:sld xmlns:p="http://schemas.openxmlformats.org/presentationml/2006/main">
  <p:cSld>
    <p:bg>
      <p:bgPr>
        <a:gradFill xmlns:a="http://schemas.openxmlformats.org/drawingml/2006/main">
          <a:gsLst>
            <a:gs pos="0">
              <a:srgbClr val="0B1320"/>
            </a:gs>
            <a:gs pos="62000">
              <a:srgbClr val="0E1A2B"/>
            </a:gs>
            <a:gs pos="100000">
              <a:srgbClr val="112942"/>
            </a:gs>
          </a:gsLst>
          <a:lin ang="9600000"/>
        </a:gra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969B9A1-E651-47D8-9155-29C0718F78F2}"/>
              </a:ext>
            </a:extLst>
          </p:cNvPr>
          <p:cNvSpPr>
            <a:spLocks xmlns:a="http://schemas.openxmlformats.org/drawingml/2006/main" noGrp="1"/>
          </p:cNvSpPr>
          <p:nvPr/>
        </p:nvSpPr>
        <p:spPr>
          <a:xfrm xmlns:a="http://schemas.openxmlformats.org/drawingml/2006/main">
            <a:off x="609600" y="476250"/>
            <a:ext cx="2571750" cy="342900"/>
          </a:xfrm>
          <a:prstGeom xmlns:a="http://schemas.openxmlformats.org/drawingml/2006/main" prst="roundRect">
            <a:avLst>
              <a:gd name="adj" fmla="val 50000"/>
            </a:avLst>
          </a:prstGeom>
          <a:solidFill xmlns:a="http://schemas.openxmlformats.org/drawingml/2006/main">
            <a:srgbClr val="47D7D0">
              <a:alpha val="13333"/>
            </a:srgbClr>
          </a:solidFill>
          <a:ln xmlns:a="http://schemas.openxmlformats.org/drawingml/2006/main" w="9525">
            <a:solidFill>
              <a:srgbClr val="47D7D0"/>
            </a:solidFill>
            <a:prstDash val="solid"/>
          </a:ln>
        </p:spPr>
      </p:sp>
      <p:sp>
        <p:nvSpPr>
          <p:cNvPr id="2" name="">
            <a:extLst xmlns:a="http://schemas.openxmlformats.org/drawingml/2006/main">
              <a:ext uri="{FF2B5EF4-FFF2-40B4-BE49-F238E27FC236}">
                <a16:creationId xmlns:a16="http://schemas.microsoft.com/office/drawing/2014/main" id="{F95B9D9E-7A33-43E9-BB7D-3445272A8462}"/>
              </a:ext>
            </a:extLst>
          </p:cNvPr>
          <p:cNvSpPr>
            <a:spLocks xmlns:a="http://schemas.openxmlformats.org/drawingml/2006/main" noGrp="1"/>
          </p:cNvSpPr>
          <p:nvPr/>
        </p:nvSpPr>
        <p:spPr>
          <a:xfrm xmlns:a="http://schemas.openxmlformats.org/drawingml/2006/main">
            <a:off x="609600" y="4857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6"/>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OFFLINE RESEARCH • NO ORDERS</a:t>
            </a:r>
          </a:p>
        </p:txBody>
      </p:sp>
      <p:sp>
        <p:nvSpPr>
          <p:cNvPr id="3" name="">
            <a:extLst xmlns:a="http://schemas.openxmlformats.org/drawingml/2006/main">
              <a:ext uri="{FF2B5EF4-FFF2-40B4-BE49-F238E27FC236}">
                <a16:creationId xmlns:a16="http://schemas.microsoft.com/office/drawing/2014/main" id="{370E57F5-49E8-491D-9B20-44082A2D588C}"/>
              </a:ext>
            </a:extLst>
          </p:cNvPr>
          <p:cNvSpPr>
            <a:spLocks xmlns:a="http://schemas.openxmlformats.org/drawingml/2006/main" noGrp="1"/>
          </p:cNvSpPr>
          <p:nvPr/>
        </p:nvSpPr>
        <p:spPr>
          <a:xfrm xmlns:a="http://schemas.openxmlformats.org/drawingml/2006/main">
            <a:off x="609600" y="1181100"/>
            <a:ext cx="4714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61"/>
          </a:bodyPr>
          <a:lstStyle xmlns:a="http://schemas.openxmlformats.org/drawingml/2006/main"/>
          <a:p xmlns:a="http://schemas.openxmlformats.org/drawingml/2006/main">
            <a:pPr algn="l">
              <a:lnSpc>
                <a:spcPct val="95000"/>
              </a:lnSpc>
              <a:buNone/>
              <a:defRPr sz="4500" b="1">
                <a:solidFill>
                  <a:srgbClr val="F5F7FA"/>
                </a:solidFill>
                <a:latin typeface="Arial"/>
                <a:ea typeface="Arial"/>
                <a:cs typeface="Arial"/>
              </a:defRPr>
            </a:pPr>
            <a:r>
              <a:rPr sz="4500" b="1">
                <a:solidFill>
                  <a:srgbClr val="F5F7FA"/>
                </a:solidFill>
                <a:latin typeface="Arial"/>
                <a:ea typeface="Arial"/>
                <a:cs typeface="Arial"/>
              </a:rPr>
              <a:t>Our Kalshi</a:t>
            </a:r>
          </a:p>
          <a:p xmlns:a="http://schemas.openxmlformats.org/drawingml/2006/main">
            <a:pPr algn="l">
              <a:lnSpc>
                <a:spcPct val="95000"/>
              </a:lnSpc>
              <a:buNone/>
              <a:defRPr sz="4500" b="1">
                <a:solidFill>
                  <a:srgbClr val="F5F7FA"/>
                </a:solidFill>
                <a:latin typeface="Arial"/>
                <a:ea typeface="Arial"/>
                <a:cs typeface="Arial"/>
              </a:defRPr>
            </a:pPr>
            <a:r>
              <a:rPr sz="4500" b="1">
                <a:solidFill>
                  <a:srgbClr val="F5F7FA"/>
                </a:solidFill>
                <a:latin typeface="Arial"/>
                <a:ea typeface="Arial"/>
                <a:cs typeface="Arial"/>
              </a:rPr>
              <a:t>Weather Research</a:t>
            </a:r>
          </a:p>
        </p:txBody>
      </p:sp>
      <p:sp>
        <p:nvSpPr>
          <p:cNvPr id="4" name="">
            <a:extLst xmlns:a="http://schemas.openxmlformats.org/drawingml/2006/main">
              <a:ext uri="{FF2B5EF4-FFF2-40B4-BE49-F238E27FC236}">
                <a16:creationId xmlns:a16="http://schemas.microsoft.com/office/drawing/2014/main" id="{C33F0900-26D0-4C52-9C36-AF45BDBFE628}"/>
              </a:ext>
            </a:extLst>
          </p:cNvPr>
          <p:cNvSpPr>
            <a:spLocks xmlns:a="http://schemas.openxmlformats.org/drawingml/2006/main" noGrp="1"/>
          </p:cNvSpPr>
          <p:nvPr/>
        </p:nvSpPr>
        <p:spPr>
          <a:xfrm xmlns:a="http://schemas.openxmlformats.org/drawingml/2006/main">
            <a:off x="628650" y="3028950"/>
            <a:ext cx="409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0">
                <a:solidFill>
                  <a:srgbClr val="AEBBCD"/>
                </a:solidFill>
                <a:latin typeface="Arial"/>
                <a:ea typeface="Arial"/>
                <a:cs typeface="Arial"/>
              </a:defRPr>
            </a:pPr>
            <a:r>
              <a:rPr sz="1950" b="0">
                <a:solidFill>
                  <a:srgbClr val="AEBBCD"/>
                </a:solidFill>
                <a:latin typeface="Arial"/>
                <a:ea typeface="Arial"/>
                <a:cs typeface="Arial"/>
              </a:rPr>
              <a:t>How a three-recipe pilot became a 240-candidate research campaign</a:t>
            </a:r>
          </a:p>
        </p:txBody>
      </p:sp>
      <p:sp>
        <p:nvSpPr>
          <p:cNvPr id="5" name="">
            <a:extLst xmlns:a="http://schemas.openxmlformats.org/drawingml/2006/main">
              <a:ext uri="{FF2B5EF4-FFF2-40B4-BE49-F238E27FC236}">
                <a16:creationId xmlns:a16="http://schemas.microsoft.com/office/drawing/2014/main" id="{5BEC8A8B-1831-488F-930A-D247D5922DFE}"/>
              </a:ext>
            </a:extLst>
          </p:cNvPr>
          <p:cNvSpPr>
            <a:spLocks xmlns:a="http://schemas.openxmlformats.org/drawingml/2006/main" noGrp="1"/>
          </p:cNvSpPr>
          <p:nvPr/>
        </p:nvSpPr>
        <p:spPr>
          <a:xfrm xmlns:a="http://schemas.openxmlformats.org/drawingml/2006/main">
            <a:off x="628650" y="55245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47D7D0"/>
                </a:solidFill>
                <a:latin typeface="Arial"/>
                <a:ea typeface="Arial"/>
                <a:cs typeface="Arial"/>
              </a:defRPr>
            </a:pPr>
            <a:r>
              <a:rPr sz="1500" b="1">
                <a:solidFill>
                  <a:srgbClr val="47D7D0"/>
                </a:solidFill>
                <a:latin typeface="Arial"/>
                <a:ea typeface="Arial"/>
                <a:cs typeface="Arial"/>
              </a:rPr>
              <a:t>LAX daily high temperature markets</a:t>
            </a:r>
          </a:p>
        </p:txBody>
      </p:sp>
      <p:sp>
        <p:nvSpPr>
          <p:cNvPr id="6" name="">
            <a:extLst xmlns:a="http://schemas.openxmlformats.org/drawingml/2006/main">
              <a:ext uri="{FF2B5EF4-FFF2-40B4-BE49-F238E27FC236}">
                <a16:creationId xmlns:a16="http://schemas.microsoft.com/office/drawing/2014/main" id="{B5761B91-88E6-45B0-B747-3CDB0551E7F7}"/>
              </a:ext>
            </a:extLst>
          </p:cNvPr>
          <p:cNvSpPr>
            <a:spLocks xmlns:a="http://schemas.openxmlformats.org/drawingml/2006/main" noGrp="1"/>
          </p:cNvSpPr>
          <p:nvPr/>
        </p:nvSpPr>
        <p:spPr>
          <a:xfrm xmlns:a="http://schemas.openxmlformats.org/drawingml/2006/main">
            <a:off x="5715000" y="2247900"/>
            <a:ext cx="723900" cy="7239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7" name="">
            <a:extLst xmlns:a="http://schemas.openxmlformats.org/drawingml/2006/main">
              <a:ext uri="{FF2B5EF4-FFF2-40B4-BE49-F238E27FC236}">
                <a16:creationId xmlns:a16="http://schemas.microsoft.com/office/drawing/2014/main" id="{7BCF67C8-BB28-4535-9436-E5B2D342907B}"/>
              </a:ext>
            </a:extLst>
          </p:cNvPr>
          <p:cNvSpPr>
            <a:spLocks xmlns:a="http://schemas.openxmlformats.org/drawingml/2006/main" noGrp="1"/>
          </p:cNvSpPr>
          <p:nvPr/>
        </p:nvSpPr>
        <p:spPr>
          <a:xfrm xmlns:a="http://schemas.openxmlformats.org/drawingml/2006/main">
            <a:off x="57150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V1</a:t>
            </a:r>
          </a:p>
        </p:txBody>
      </p:sp>
      <p:sp>
        <p:nvSpPr>
          <p:cNvPr id="8" name="">
            <a:extLst xmlns:a="http://schemas.openxmlformats.org/drawingml/2006/main">
              <a:ext uri="{FF2B5EF4-FFF2-40B4-BE49-F238E27FC236}">
                <a16:creationId xmlns:a16="http://schemas.microsoft.com/office/drawing/2014/main" id="{5E980195-655C-4925-BA6A-A06ABFBC6568}"/>
              </a:ext>
            </a:extLst>
          </p:cNvPr>
          <p:cNvSpPr>
            <a:spLocks xmlns:a="http://schemas.openxmlformats.org/drawingml/2006/main" noGrp="1"/>
          </p:cNvSpPr>
          <p:nvPr/>
        </p:nvSpPr>
        <p:spPr>
          <a:xfrm xmlns:a="http://schemas.openxmlformats.org/drawingml/2006/main">
            <a:off x="55816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3</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9" name="">
            <a:extLst xmlns:a="http://schemas.openxmlformats.org/drawingml/2006/main">
              <a:ext uri="{FF2B5EF4-FFF2-40B4-BE49-F238E27FC236}">
                <a16:creationId xmlns:a16="http://schemas.microsoft.com/office/drawing/2014/main" id="{78A37BD9-A52B-41F6-885B-50893746411B}"/>
              </a:ext>
            </a:extLst>
          </p:cNvPr>
          <p:cNvSpPr>
            <a:spLocks xmlns:a="http://schemas.openxmlformats.org/drawingml/2006/main" noGrp="1"/>
          </p:cNvSpPr>
          <p:nvPr/>
        </p:nvSpPr>
        <p:spPr>
          <a:xfrm xmlns:a="http://schemas.openxmlformats.org/drawingml/2006/main">
            <a:off x="654367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C2E61-2436-448B-A3EB-08ECF5F2D7FB}"/>
              </a:ext>
            </a:extLst>
          </p:cNvPr>
          <p:cNvSpPr>
            <a:spLocks xmlns:a="http://schemas.openxmlformats.org/drawingml/2006/main" noGrp="1"/>
          </p:cNvSpPr>
          <p:nvPr/>
        </p:nvSpPr>
        <p:spPr>
          <a:xfrm xmlns:a="http://schemas.openxmlformats.org/drawingml/2006/main">
            <a:off x="7029450" y="2247900"/>
            <a:ext cx="723900" cy="7239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11" name="">
            <a:extLst xmlns:a="http://schemas.openxmlformats.org/drawingml/2006/main">
              <a:ext uri="{FF2B5EF4-FFF2-40B4-BE49-F238E27FC236}">
                <a16:creationId xmlns:a16="http://schemas.microsoft.com/office/drawing/2014/main" id="{DB709A4A-42ED-440B-8629-B9D0B85066D3}"/>
              </a:ext>
            </a:extLst>
          </p:cNvPr>
          <p:cNvSpPr>
            <a:spLocks xmlns:a="http://schemas.openxmlformats.org/drawingml/2006/main" noGrp="1"/>
          </p:cNvSpPr>
          <p:nvPr/>
        </p:nvSpPr>
        <p:spPr>
          <a:xfrm xmlns:a="http://schemas.openxmlformats.org/drawingml/2006/main">
            <a:off x="702945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V2</a:t>
            </a:r>
          </a:p>
        </p:txBody>
      </p:sp>
      <p:sp>
        <p:nvSpPr>
          <p:cNvPr id="12" name="">
            <a:extLst xmlns:a="http://schemas.openxmlformats.org/drawingml/2006/main">
              <a:ext uri="{FF2B5EF4-FFF2-40B4-BE49-F238E27FC236}">
                <a16:creationId xmlns:a16="http://schemas.microsoft.com/office/drawing/2014/main" id="{DD76907A-D524-4394-BC11-6AEE15FE72BE}"/>
              </a:ext>
            </a:extLst>
          </p:cNvPr>
          <p:cNvSpPr>
            <a:spLocks xmlns:a="http://schemas.openxmlformats.org/drawingml/2006/main" noGrp="1"/>
          </p:cNvSpPr>
          <p:nvPr/>
        </p:nvSpPr>
        <p:spPr>
          <a:xfrm xmlns:a="http://schemas.openxmlformats.org/drawingml/2006/main">
            <a:off x="689610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40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13" name="">
            <a:extLst xmlns:a="http://schemas.openxmlformats.org/drawingml/2006/main">
              <a:ext uri="{FF2B5EF4-FFF2-40B4-BE49-F238E27FC236}">
                <a16:creationId xmlns:a16="http://schemas.microsoft.com/office/drawing/2014/main" id="{565AA5F8-32C3-4287-94D2-A136310DAB5D}"/>
              </a:ext>
            </a:extLst>
          </p:cNvPr>
          <p:cNvSpPr>
            <a:spLocks xmlns:a="http://schemas.openxmlformats.org/drawingml/2006/main" noGrp="1"/>
          </p:cNvSpPr>
          <p:nvPr/>
        </p:nvSpPr>
        <p:spPr>
          <a:xfrm xmlns:a="http://schemas.openxmlformats.org/drawingml/2006/main">
            <a:off x="785812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96312B-68FD-46EB-BC80-C4EAAF00B4E8}"/>
              </a:ext>
            </a:extLst>
          </p:cNvPr>
          <p:cNvSpPr>
            <a:spLocks xmlns:a="http://schemas.openxmlformats.org/drawingml/2006/main" noGrp="1"/>
          </p:cNvSpPr>
          <p:nvPr/>
        </p:nvSpPr>
        <p:spPr>
          <a:xfrm xmlns:a="http://schemas.openxmlformats.org/drawingml/2006/main">
            <a:off x="8343900" y="2247900"/>
            <a:ext cx="723900" cy="7239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15" name="">
            <a:extLst xmlns:a="http://schemas.openxmlformats.org/drawingml/2006/main">
              <a:ext uri="{FF2B5EF4-FFF2-40B4-BE49-F238E27FC236}">
                <a16:creationId xmlns:a16="http://schemas.microsoft.com/office/drawing/2014/main" id="{666A1381-71ED-4D95-99BD-B730783BB5C1}"/>
              </a:ext>
            </a:extLst>
          </p:cNvPr>
          <p:cNvSpPr>
            <a:spLocks xmlns:a="http://schemas.openxmlformats.org/drawingml/2006/main" noGrp="1"/>
          </p:cNvSpPr>
          <p:nvPr/>
        </p:nvSpPr>
        <p:spPr>
          <a:xfrm xmlns:a="http://schemas.openxmlformats.org/drawingml/2006/main">
            <a:off x="83439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V3</a:t>
            </a:r>
          </a:p>
        </p:txBody>
      </p:sp>
      <p:sp>
        <p:nvSpPr>
          <p:cNvPr id="16" name="">
            <a:extLst xmlns:a="http://schemas.openxmlformats.org/drawingml/2006/main">
              <a:ext uri="{FF2B5EF4-FFF2-40B4-BE49-F238E27FC236}">
                <a16:creationId xmlns:a16="http://schemas.microsoft.com/office/drawing/2014/main" id="{7112B18E-EC73-4639-BEA8-088E3574B872}"/>
              </a:ext>
            </a:extLst>
          </p:cNvPr>
          <p:cNvSpPr>
            <a:spLocks xmlns:a="http://schemas.openxmlformats.org/drawingml/2006/main" noGrp="1"/>
          </p:cNvSpPr>
          <p:nvPr/>
        </p:nvSpPr>
        <p:spPr>
          <a:xfrm xmlns:a="http://schemas.openxmlformats.org/drawingml/2006/main">
            <a:off x="82105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60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17" name="">
            <a:extLst xmlns:a="http://schemas.openxmlformats.org/drawingml/2006/main">
              <a:ext uri="{FF2B5EF4-FFF2-40B4-BE49-F238E27FC236}">
                <a16:creationId xmlns:a16="http://schemas.microsoft.com/office/drawing/2014/main" id="{815CA168-5FE3-4E9B-9550-5E6A8E7FDD85}"/>
              </a:ext>
            </a:extLst>
          </p:cNvPr>
          <p:cNvSpPr>
            <a:spLocks xmlns:a="http://schemas.openxmlformats.org/drawingml/2006/main" noGrp="1"/>
          </p:cNvSpPr>
          <p:nvPr/>
        </p:nvSpPr>
        <p:spPr>
          <a:xfrm xmlns:a="http://schemas.openxmlformats.org/drawingml/2006/main">
            <a:off x="917257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BA1857-C13C-44A8-A98A-6E86F1924C0A}"/>
              </a:ext>
            </a:extLst>
          </p:cNvPr>
          <p:cNvSpPr>
            <a:spLocks xmlns:a="http://schemas.openxmlformats.org/drawingml/2006/main" noGrp="1"/>
          </p:cNvSpPr>
          <p:nvPr/>
        </p:nvSpPr>
        <p:spPr>
          <a:xfrm xmlns:a="http://schemas.openxmlformats.org/drawingml/2006/main">
            <a:off x="9658350" y="2247900"/>
            <a:ext cx="723900" cy="72390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19" name="">
            <a:extLst xmlns:a="http://schemas.openxmlformats.org/drawingml/2006/main">
              <a:ext uri="{FF2B5EF4-FFF2-40B4-BE49-F238E27FC236}">
                <a16:creationId xmlns:a16="http://schemas.microsoft.com/office/drawing/2014/main" id="{D8682CE1-01AD-493D-BDFB-970F17C0C509}"/>
              </a:ext>
            </a:extLst>
          </p:cNvPr>
          <p:cNvSpPr>
            <a:spLocks xmlns:a="http://schemas.openxmlformats.org/drawingml/2006/main" noGrp="1"/>
          </p:cNvSpPr>
          <p:nvPr/>
        </p:nvSpPr>
        <p:spPr>
          <a:xfrm xmlns:a="http://schemas.openxmlformats.org/drawingml/2006/main">
            <a:off x="965835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V4</a:t>
            </a:r>
          </a:p>
        </p:txBody>
      </p:sp>
      <p:sp>
        <p:nvSpPr>
          <p:cNvPr id="20" name="">
            <a:extLst xmlns:a="http://schemas.openxmlformats.org/drawingml/2006/main">
              <a:ext uri="{FF2B5EF4-FFF2-40B4-BE49-F238E27FC236}">
                <a16:creationId xmlns:a16="http://schemas.microsoft.com/office/drawing/2014/main" id="{20D08B13-8961-4104-8803-A0943EE2D8E7}"/>
              </a:ext>
            </a:extLst>
          </p:cNvPr>
          <p:cNvSpPr>
            <a:spLocks xmlns:a="http://schemas.openxmlformats.org/drawingml/2006/main" noGrp="1"/>
          </p:cNvSpPr>
          <p:nvPr/>
        </p:nvSpPr>
        <p:spPr>
          <a:xfrm xmlns:a="http://schemas.openxmlformats.org/drawingml/2006/main">
            <a:off x="952500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82</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21" name="">
            <a:extLst xmlns:a="http://schemas.openxmlformats.org/drawingml/2006/main">
              <a:ext uri="{FF2B5EF4-FFF2-40B4-BE49-F238E27FC236}">
                <a16:creationId xmlns:a16="http://schemas.microsoft.com/office/drawing/2014/main" id="{B0723DAF-FDD9-4FD9-BF36-EA4033B0AEA5}"/>
              </a:ext>
            </a:extLst>
          </p:cNvPr>
          <p:cNvSpPr>
            <a:spLocks xmlns:a="http://schemas.openxmlformats.org/drawingml/2006/main" noGrp="1"/>
          </p:cNvSpPr>
          <p:nvPr/>
        </p:nvSpPr>
        <p:spPr>
          <a:xfrm xmlns:a="http://schemas.openxmlformats.org/drawingml/2006/main">
            <a:off x="1048702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AB45441-88A9-4AA1-A858-4A2CC3057507}"/>
              </a:ext>
            </a:extLst>
          </p:cNvPr>
          <p:cNvSpPr>
            <a:spLocks xmlns:a="http://schemas.openxmlformats.org/drawingml/2006/main" noGrp="1"/>
          </p:cNvSpPr>
          <p:nvPr/>
        </p:nvSpPr>
        <p:spPr>
          <a:xfrm xmlns:a="http://schemas.openxmlformats.org/drawingml/2006/main">
            <a:off x="10972800" y="2247900"/>
            <a:ext cx="723900" cy="7239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3" name="">
            <a:extLst xmlns:a="http://schemas.openxmlformats.org/drawingml/2006/main">
              <a:ext uri="{FF2B5EF4-FFF2-40B4-BE49-F238E27FC236}">
                <a16:creationId xmlns:a16="http://schemas.microsoft.com/office/drawing/2014/main" id="{52849ADF-4E1C-4579-8ADD-8C0139649A94}"/>
              </a:ext>
            </a:extLst>
          </p:cNvPr>
          <p:cNvSpPr>
            <a:spLocks xmlns:a="http://schemas.openxmlformats.org/drawingml/2006/main" noGrp="1"/>
          </p:cNvSpPr>
          <p:nvPr/>
        </p:nvSpPr>
        <p:spPr>
          <a:xfrm xmlns:a="http://schemas.openxmlformats.org/drawingml/2006/main">
            <a:off x="109728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0B1320"/>
                </a:solidFill>
                <a:latin typeface="Arial"/>
                <a:ea typeface="Arial"/>
                <a:cs typeface="Arial"/>
              </a:defRPr>
            </a:pPr>
            <a:r>
              <a:rPr sz="1350" b="1">
                <a:solidFill>
                  <a:srgbClr val="0B1320"/>
                </a:solidFill>
                <a:latin typeface="Arial"/>
                <a:ea typeface="Arial"/>
                <a:cs typeface="Arial"/>
              </a:rPr>
              <a:t>V4.1</a:t>
            </a:r>
          </a:p>
        </p:txBody>
      </p:sp>
      <p:sp>
        <p:nvSpPr>
          <p:cNvPr id="24" name="">
            <a:extLst xmlns:a="http://schemas.openxmlformats.org/drawingml/2006/main">
              <a:ext uri="{FF2B5EF4-FFF2-40B4-BE49-F238E27FC236}">
                <a16:creationId xmlns:a16="http://schemas.microsoft.com/office/drawing/2014/main" id="{8D68CF67-F7E6-4A17-94CB-3DFD9E1DAA1F}"/>
              </a:ext>
            </a:extLst>
          </p:cNvPr>
          <p:cNvSpPr>
            <a:spLocks xmlns:a="http://schemas.openxmlformats.org/drawingml/2006/main" noGrp="1"/>
          </p:cNvSpPr>
          <p:nvPr/>
        </p:nvSpPr>
        <p:spPr>
          <a:xfrm xmlns:a="http://schemas.openxmlformats.org/drawingml/2006/main">
            <a:off x="108394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240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25" name="">
            <a:extLst xmlns:a="http://schemas.openxmlformats.org/drawingml/2006/main">
              <a:ext uri="{FF2B5EF4-FFF2-40B4-BE49-F238E27FC236}">
                <a16:creationId xmlns:a16="http://schemas.microsoft.com/office/drawing/2014/main" id="{CC67B756-6158-4B4A-9843-2159B5B1C90E}"/>
              </a:ext>
            </a:extLst>
          </p:cNvPr>
          <p:cNvSpPr>
            <a:spLocks xmlns:a="http://schemas.openxmlformats.org/drawingml/2006/main" noGrp="1"/>
          </p:cNvSpPr>
          <p:nvPr/>
        </p:nvSpPr>
        <p:spPr>
          <a:xfrm xmlns:a="http://schemas.openxmlformats.org/drawingml/2006/main">
            <a:off x="5715000" y="443865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00" b="1">
                <a:solidFill>
                  <a:srgbClr val="F5F7FA"/>
                </a:solidFill>
                <a:latin typeface="Arial"/>
                <a:ea typeface="Arial"/>
                <a:cs typeface="Arial"/>
              </a:defRPr>
            </a:pPr>
            <a:r>
              <a:rPr sz="2100" b="1">
                <a:solidFill>
                  <a:srgbClr val="F5F7FA"/>
                </a:solidFill>
                <a:latin typeface="Arial"/>
                <a:ea typeface="Arial"/>
                <a:cs typeface="Arial"/>
              </a:rPr>
              <a:t>Each version fixed the biggest weakness exposed by the last one.</a:t>
            </a:r>
          </a:p>
        </p:txBody>
      </p:sp>
      <p:sp>
        <p:nvSpPr>
          <p:cNvPr id="26" name="">
            <a:extLst xmlns:a="http://schemas.openxmlformats.org/drawingml/2006/main">
              <a:ext uri="{FF2B5EF4-FFF2-40B4-BE49-F238E27FC236}">
                <a16:creationId xmlns:a16="http://schemas.microsoft.com/office/drawing/2014/main" id="{6A8870A0-D54A-428A-A196-D42EA42E6B0E}"/>
              </a:ext>
            </a:extLst>
          </p:cNvPr>
          <p:cNvSpPr>
            <a:spLocks xmlns:a="http://schemas.openxmlformats.org/drawingml/2006/main" noGrp="1"/>
          </p:cNvSpPr>
          <p:nvPr/>
        </p:nvSpPr>
        <p:spPr>
          <a:xfrm xmlns:a="http://schemas.openxmlformats.org/drawingml/2006/main">
            <a:off x="5734050" y="5219700"/>
            <a:ext cx="5295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a:solidFill>
                  <a:srgbClr val="F4B860"/>
                </a:solidFill>
                <a:latin typeface="Arial"/>
                <a:ea typeface="Arial"/>
                <a:cs typeface="Arial"/>
              </a:defRPr>
            </a:pPr>
            <a:r>
              <a:rPr sz="1575" b="0">
                <a:solidFill>
                  <a:srgbClr val="F4B860"/>
                </a:solidFill>
                <a:latin typeface="Arial"/>
                <a:ea typeface="Arial"/>
                <a:cs typeface="Arial"/>
              </a:rPr>
              <a:t>Promising signal found. Profitable strategy not yet verified.</a:t>
            </a:r>
          </a:p>
        </p:txBody>
      </p:sp>
    </p:spTree>
    <p:extLst>
      <p:ext uri="{BB962C8B-B14F-4D97-AF65-F5344CB8AC3E}">
        <p14:creationId xmlns:p14="http://schemas.microsoft.com/office/powerpoint/2010/main" val="275577044"/>
      </p:ext>
    </p:extLst>
  </p:cSld>
</p:sld>
</file>

<file path=ppt/slides/slide2.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2DC3AB2-342C-4D90-8EFB-2823F6E792B3}"/>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STARTING POINT</a:t>
            </a:r>
          </a:p>
        </p:txBody>
      </p:sp>
      <p:sp>
        <p:nvSpPr>
          <p:cNvPr id="2" name="">
            <a:extLst xmlns:a="http://schemas.openxmlformats.org/drawingml/2006/main">
              <a:ext uri="{FF2B5EF4-FFF2-40B4-BE49-F238E27FC236}">
                <a16:creationId xmlns:a16="http://schemas.microsoft.com/office/drawing/2014/main" id="{44BFAA85-077B-46F5-B763-05C9B605F6F9}"/>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original goal</a:t>
            </a:r>
          </a:p>
        </p:txBody>
      </p:sp>
      <p:sp>
        <p:nvSpPr>
          <p:cNvPr id="3" name="">
            <a:extLst xmlns:a="http://schemas.openxmlformats.org/drawingml/2006/main">
              <a:ext uri="{FF2B5EF4-FFF2-40B4-BE49-F238E27FC236}">
                <a16:creationId xmlns:a16="http://schemas.microsoft.com/office/drawing/2014/main" id="{E0FD61D2-8BDB-4840-BB65-09DC401428E7}"/>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ABB8A71-195A-47FF-AB2C-CCDA8D917366}"/>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FF65A65F-4B6F-4F7E-A735-2A3FC98BFE9F}"/>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56C0305-D3DE-485D-BBB4-30B34F844459}"/>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E3D8BC0A-AF4B-4755-9037-F19F152D150E}"/>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Find ≥10% expected net return per trade</a:t>
            </a:r>
          </a:p>
        </p:txBody>
      </p:sp>
      <p:sp>
        <p:nvSpPr>
          <p:cNvPr id="8" name="">
            <a:extLst xmlns:a="http://schemas.openxmlformats.org/drawingml/2006/main">
              <a:ext uri="{FF2B5EF4-FFF2-40B4-BE49-F238E27FC236}">
                <a16:creationId xmlns:a16="http://schemas.microsoft.com/office/drawing/2014/main" id="{81CB4309-B3AB-4A5F-A5B2-094FD747D511}"/>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C205985C-0235-454B-93DD-AB6B87EC09B8}"/>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Use historical weather + Kalshi data</a:t>
            </a:r>
          </a:p>
        </p:txBody>
      </p:sp>
      <p:sp>
        <p:nvSpPr>
          <p:cNvPr id="10" name="">
            <a:extLst xmlns:a="http://schemas.openxmlformats.org/drawingml/2006/main">
              <a:ext uri="{FF2B5EF4-FFF2-40B4-BE49-F238E27FC236}">
                <a16:creationId xmlns:a16="http://schemas.microsoft.com/office/drawing/2014/main" id="{A6A0E0A6-52BA-4C08-970F-D7FD432398A6}"/>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15FA5164-E183-4BDE-A496-44287B11D22E}"/>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Keep the entire workflow offline</a:t>
            </a:r>
          </a:p>
        </p:txBody>
      </p:sp>
      <p:sp>
        <p:nvSpPr>
          <p:cNvPr id="12" name="">
            <a:extLst xmlns:a="http://schemas.openxmlformats.org/drawingml/2006/main">
              <a:ext uri="{FF2B5EF4-FFF2-40B4-BE49-F238E27FC236}">
                <a16:creationId xmlns:a16="http://schemas.microsoft.com/office/drawing/2014/main" id="{9F63DB8D-F959-4AB5-BD9E-49493258F524}"/>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51CC02E5-03BD-43AA-A0D8-05748FE96DB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Turn research into a repeatable loop that proposes, tests, criticizes and improves ideas.</a:t>
            </a:r>
          </a:p>
        </p:txBody>
      </p:sp>
      <p:sp>
        <p:nvSpPr>
          <p:cNvPr id="14" name="">
            <a:extLst xmlns:a="http://schemas.openxmlformats.org/drawingml/2006/main">
              <a:ext uri="{FF2B5EF4-FFF2-40B4-BE49-F238E27FC236}">
                <a16:creationId xmlns:a16="http://schemas.microsoft.com/office/drawing/2014/main" id="{EC3A63D7-56C5-4F60-857B-44C18E1CC67C}"/>
              </a:ext>
            </a:extLst>
          </p:cNvPr>
          <p:cNvSpPr>
            <a:spLocks xmlns:a="http://schemas.openxmlformats.org/drawingml/2006/main" noGrp="1"/>
          </p:cNvSpPr>
          <p:nvPr/>
        </p:nvSpPr>
        <p:spPr>
          <a:xfrm xmlns:a="http://schemas.openxmlformats.org/drawingml/2006/main">
            <a:off x="5429250" y="2190750"/>
            <a:ext cx="609600" cy="6096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5" name="">
            <a:extLst xmlns:a="http://schemas.openxmlformats.org/drawingml/2006/main">
              <a:ext uri="{FF2B5EF4-FFF2-40B4-BE49-F238E27FC236}">
                <a16:creationId xmlns:a16="http://schemas.microsoft.com/office/drawing/2014/main" id="{0D47A106-F8B6-409F-B0D4-61E568A6468F}"/>
              </a:ext>
            </a:extLst>
          </p:cNvPr>
          <p:cNvSpPr>
            <a:spLocks xmlns:a="http://schemas.openxmlformats.org/drawingml/2006/main" noGrp="1"/>
          </p:cNvSpPr>
          <p:nvPr/>
        </p:nvSpPr>
        <p:spPr>
          <a:xfrm xmlns:a="http://schemas.openxmlformats.org/drawingml/2006/main">
            <a:off x="5429250"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F4D1B96F-519C-4768-8C05-5022AB44C595}"/>
              </a:ext>
            </a:extLst>
          </p:cNvPr>
          <p:cNvSpPr>
            <a:spLocks xmlns:a="http://schemas.openxmlformats.org/drawingml/2006/main" noGrp="1"/>
          </p:cNvSpPr>
          <p:nvPr/>
        </p:nvSpPr>
        <p:spPr>
          <a:xfrm xmlns:a="http://schemas.openxmlformats.org/drawingml/2006/main">
            <a:off x="5143500"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WEATHER</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MODELS</a:t>
            </a:r>
          </a:p>
        </p:txBody>
      </p:sp>
      <p:sp>
        <p:nvSpPr>
          <p:cNvPr id="17" name="">
            <a:extLst xmlns:a="http://schemas.openxmlformats.org/drawingml/2006/main">
              <a:ext uri="{FF2B5EF4-FFF2-40B4-BE49-F238E27FC236}">
                <a16:creationId xmlns:a16="http://schemas.microsoft.com/office/drawing/2014/main" id="{FD3191E0-EDE5-4013-B183-57E15AE9CC4F}"/>
              </a:ext>
            </a:extLst>
          </p:cNvPr>
          <p:cNvSpPr>
            <a:spLocks xmlns:a="http://schemas.openxmlformats.org/drawingml/2006/main" noGrp="1"/>
          </p:cNvSpPr>
          <p:nvPr/>
        </p:nvSpPr>
        <p:spPr>
          <a:xfrm xmlns:a="http://schemas.openxmlformats.org/drawingml/2006/main">
            <a:off x="5181600"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HRRR + GEFS</a:t>
            </a:r>
          </a:p>
        </p:txBody>
      </p:sp>
      <p:sp>
        <p:nvSpPr>
          <p:cNvPr id="18" name="">
            <a:extLst xmlns:a="http://schemas.openxmlformats.org/drawingml/2006/main">
              <a:ext uri="{FF2B5EF4-FFF2-40B4-BE49-F238E27FC236}">
                <a16:creationId xmlns:a16="http://schemas.microsoft.com/office/drawing/2014/main" id="{9DC79DEE-09FB-46A2-AB30-856507CBFAAB}"/>
              </a:ext>
            </a:extLst>
          </p:cNvPr>
          <p:cNvSpPr>
            <a:spLocks xmlns:a="http://schemas.openxmlformats.org/drawingml/2006/main" noGrp="1"/>
          </p:cNvSpPr>
          <p:nvPr/>
        </p:nvSpPr>
        <p:spPr>
          <a:xfrm xmlns:a="http://schemas.openxmlformats.org/drawingml/2006/main">
            <a:off x="6143625"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2B97CBB-2933-42B2-8527-DF2BA1C2E75D}"/>
              </a:ext>
            </a:extLst>
          </p:cNvPr>
          <p:cNvSpPr>
            <a:spLocks xmlns:a="http://schemas.openxmlformats.org/drawingml/2006/main" noGrp="1"/>
          </p:cNvSpPr>
          <p:nvPr/>
        </p:nvSpPr>
        <p:spPr>
          <a:xfrm xmlns:a="http://schemas.openxmlformats.org/drawingml/2006/main">
            <a:off x="6924675" y="2190750"/>
            <a:ext cx="609600" cy="6096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0" name="">
            <a:extLst xmlns:a="http://schemas.openxmlformats.org/drawingml/2006/main">
              <a:ext uri="{FF2B5EF4-FFF2-40B4-BE49-F238E27FC236}">
                <a16:creationId xmlns:a16="http://schemas.microsoft.com/office/drawing/2014/main" id="{2F180B0F-73CB-4189-88F5-FD75FAEF82E6}"/>
              </a:ext>
            </a:extLst>
          </p:cNvPr>
          <p:cNvSpPr>
            <a:spLocks xmlns:a="http://schemas.openxmlformats.org/drawingml/2006/main" noGrp="1"/>
          </p:cNvSpPr>
          <p:nvPr/>
        </p:nvSpPr>
        <p:spPr>
          <a:xfrm xmlns:a="http://schemas.openxmlformats.org/drawingml/2006/main">
            <a:off x="6924675"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2AABF4D4-1666-4369-ACDB-898B272C0B8A}"/>
              </a:ext>
            </a:extLst>
          </p:cNvPr>
          <p:cNvSpPr>
            <a:spLocks xmlns:a="http://schemas.openxmlformats.org/drawingml/2006/main" noGrp="1"/>
          </p:cNvSpPr>
          <p:nvPr/>
        </p:nvSpPr>
        <p:spPr>
          <a:xfrm xmlns:a="http://schemas.openxmlformats.org/drawingml/2006/main">
            <a:off x="6638925"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497"/>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CALIBRATED</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17A12941-EE33-4BFF-88F1-419F6255268D}"/>
              </a:ext>
            </a:extLst>
          </p:cNvPr>
          <p:cNvSpPr>
            <a:spLocks xmlns:a="http://schemas.openxmlformats.org/drawingml/2006/main" noGrp="1"/>
          </p:cNvSpPr>
          <p:nvPr/>
        </p:nvSpPr>
        <p:spPr>
          <a:xfrm xmlns:a="http://schemas.openxmlformats.org/drawingml/2006/main">
            <a:off x="6677025"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What is the chance?</a:t>
            </a:r>
          </a:p>
        </p:txBody>
      </p:sp>
      <p:sp>
        <p:nvSpPr>
          <p:cNvPr id="23" name="">
            <a:extLst xmlns:a="http://schemas.openxmlformats.org/drawingml/2006/main">
              <a:ext uri="{FF2B5EF4-FFF2-40B4-BE49-F238E27FC236}">
                <a16:creationId xmlns:a16="http://schemas.microsoft.com/office/drawing/2014/main" id="{58AC4852-4588-4D85-9A2C-808D277D0033}"/>
              </a:ext>
            </a:extLst>
          </p:cNvPr>
          <p:cNvSpPr>
            <a:spLocks xmlns:a="http://schemas.openxmlformats.org/drawingml/2006/main" noGrp="1"/>
          </p:cNvSpPr>
          <p:nvPr/>
        </p:nvSpPr>
        <p:spPr>
          <a:xfrm xmlns:a="http://schemas.openxmlformats.org/drawingml/2006/main">
            <a:off x="7639050"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64A256-2589-45AA-8248-161DAFE8089C}"/>
              </a:ext>
            </a:extLst>
          </p:cNvPr>
          <p:cNvSpPr>
            <a:spLocks xmlns:a="http://schemas.openxmlformats.org/drawingml/2006/main" noGrp="1"/>
          </p:cNvSpPr>
          <p:nvPr/>
        </p:nvSpPr>
        <p:spPr>
          <a:xfrm xmlns:a="http://schemas.openxmlformats.org/drawingml/2006/main">
            <a:off x="8420100" y="2190750"/>
            <a:ext cx="609600" cy="6096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25" name="">
            <a:extLst xmlns:a="http://schemas.openxmlformats.org/drawingml/2006/main">
              <a:ext uri="{FF2B5EF4-FFF2-40B4-BE49-F238E27FC236}">
                <a16:creationId xmlns:a16="http://schemas.microsoft.com/office/drawing/2014/main" id="{137561E3-F0A1-48BE-82B3-4DEC96C5965C}"/>
              </a:ext>
            </a:extLst>
          </p:cNvPr>
          <p:cNvSpPr>
            <a:spLocks xmlns:a="http://schemas.openxmlformats.org/drawingml/2006/main" noGrp="1"/>
          </p:cNvSpPr>
          <p:nvPr/>
        </p:nvSpPr>
        <p:spPr>
          <a:xfrm xmlns:a="http://schemas.openxmlformats.org/drawingml/2006/main">
            <a:off x="8420100"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5C9DEFCC-7738-4C30-BF73-85034C6DCB51}"/>
              </a:ext>
            </a:extLst>
          </p:cNvPr>
          <p:cNvSpPr>
            <a:spLocks xmlns:a="http://schemas.openxmlformats.org/drawingml/2006/main" noGrp="1"/>
          </p:cNvSpPr>
          <p:nvPr/>
        </p:nvSpPr>
        <p:spPr>
          <a:xfrm xmlns:a="http://schemas.openxmlformats.org/drawingml/2006/main">
            <a:off x="8134350"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KALSHI</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PRICE</a:t>
            </a:r>
          </a:p>
        </p:txBody>
      </p:sp>
      <p:sp>
        <p:nvSpPr>
          <p:cNvPr id="27" name="">
            <a:extLst xmlns:a="http://schemas.openxmlformats.org/drawingml/2006/main">
              <a:ext uri="{FF2B5EF4-FFF2-40B4-BE49-F238E27FC236}">
                <a16:creationId xmlns:a16="http://schemas.microsoft.com/office/drawing/2014/main" id="{2EABB881-F695-4D55-B42C-3719D6E4F154}"/>
              </a:ext>
            </a:extLst>
          </p:cNvPr>
          <p:cNvSpPr>
            <a:spLocks xmlns:a="http://schemas.openxmlformats.org/drawingml/2006/main" noGrp="1"/>
          </p:cNvSpPr>
          <p:nvPr/>
        </p:nvSpPr>
        <p:spPr>
          <a:xfrm xmlns:a="http://schemas.openxmlformats.org/drawingml/2006/main">
            <a:off x="8172450"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What does market imply?</a:t>
            </a:r>
          </a:p>
        </p:txBody>
      </p:sp>
      <p:sp>
        <p:nvSpPr>
          <p:cNvPr id="28" name="">
            <a:extLst xmlns:a="http://schemas.openxmlformats.org/drawingml/2006/main">
              <a:ext uri="{FF2B5EF4-FFF2-40B4-BE49-F238E27FC236}">
                <a16:creationId xmlns:a16="http://schemas.microsoft.com/office/drawing/2014/main" id="{005B042E-F75E-4FAE-ADF5-A0D2360DFF55}"/>
              </a:ext>
            </a:extLst>
          </p:cNvPr>
          <p:cNvSpPr>
            <a:spLocks xmlns:a="http://schemas.openxmlformats.org/drawingml/2006/main" noGrp="1"/>
          </p:cNvSpPr>
          <p:nvPr/>
        </p:nvSpPr>
        <p:spPr>
          <a:xfrm xmlns:a="http://schemas.openxmlformats.org/drawingml/2006/main">
            <a:off x="9134475"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10A22D6-B93F-447E-A918-D39D6F2D55D2}"/>
              </a:ext>
            </a:extLst>
          </p:cNvPr>
          <p:cNvSpPr>
            <a:spLocks xmlns:a="http://schemas.openxmlformats.org/drawingml/2006/main" noGrp="1"/>
          </p:cNvSpPr>
          <p:nvPr/>
        </p:nvSpPr>
        <p:spPr>
          <a:xfrm xmlns:a="http://schemas.openxmlformats.org/drawingml/2006/main">
            <a:off x="9915525" y="2190750"/>
            <a:ext cx="609600" cy="6096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30" name="">
            <a:extLst xmlns:a="http://schemas.openxmlformats.org/drawingml/2006/main">
              <a:ext uri="{FF2B5EF4-FFF2-40B4-BE49-F238E27FC236}">
                <a16:creationId xmlns:a16="http://schemas.microsoft.com/office/drawing/2014/main" id="{7F0EEB01-A17B-4E31-9C00-EC9D9FDBF058}"/>
              </a:ext>
            </a:extLst>
          </p:cNvPr>
          <p:cNvSpPr>
            <a:spLocks xmlns:a="http://schemas.openxmlformats.org/drawingml/2006/main" noGrp="1"/>
          </p:cNvSpPr>
          <p:nvPr/>
        </p:nvSpPr>
        <p:spPr>
          <a:xfrm xmlns:a="http://schemas.openxmlformats.org/drawingml/2006/main">
            <a:off x="9915525"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CE24EE8F-74A2-4744-8533-F21675AEBA00}"/>
              </a:ext>
            </a:extLst>
          </p:cNvPr>
          <p:cNvSpPr>
            <a:spLocks xmlns:a="http://schemas.openxmlformats.org/drawingml/2006/main" noGrp="1"/>
          </p:cNvSpPr>
          <p:nvPr/>
        </p:nvSpPr>
        <p:spPr>
          <a:xfrm xmlns:a="http://schemas.openxmlformats.org/drawingml/2006/main">
            <a:off x="9629775"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SIMULATED</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TRADE</a:t>
            </a:r>
          </a:p>
        </p:txBody>
      </p:sp>
      <p:sp>
        <p:nvSpPr>
          <p:cNvPr id="32" name="">
            <a:extLst xmlns:a="http://schemas.openxmlformats.org/drawingml/2006/main">
              <a:ext uri="{FF2B5EF4-FFF2-40B4-BE49-F238E27FC236}">
                <a16:creationId xmlns:a16="http://schemas.microsoft.com/office/drawing/2014/main" id="{4470DD8D-E2D5-4C4E-AE10-A41B967C7141}"/>
              </a:ext>
            </a:extLst>
          </p:cNvPr>
          <p:cNvSpPr>
            <a:spLocks xmlns:a="http://schemas.openxmlformats.org/drawingml/2006/main" noGrp="1"/>
          </p:cNvSpPr>
          <p:nvPr/>
        </p:nvSpPr>
        <p:spPr>
          <a:xfrm xmlns:a="http://schemas.openxmlformats.org/drawingml/2006/main">
            <a:off x="9667875"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Only if edge survives</a:t>
            </a:r>
          </a:p>
        </p:txBody>
      </p:sp>
      <p:sp>
        <p:nvSpPr>
          <p:cNvPr id="33" name="">
            <a:extLst xmlns:a="http://schemas.openxmlformats.org/drawingml/2006/main">
              <a:ext uri="{FF2B5EF4-FFF2-40B4-BE49-F238E27FC236}">
                <a16:creationId xmlns:a16="http://schemas.microsoft.com/office/drawing/2014/main" id="{5A4D79C3-A6F8-437D-97C0-9D1D798EB702}"/>
              </a:ext>
            </a:extLst>
          </p:cNvPr>
          <p:cNvSpPr>
            <a:spLocks xmlns:a="http://schemas.openxmlformats.org/drawingml/2006/main" noGrp="1"/>
          </p:cNvSpPr>
          <p:nvPr/>
        </p:nvSpPr>
        <p:spPr>
          <a:xfrm xmlns:a="http://schemas.openxmlformats.org/drawingml/2006/main">
            <a:off x="5743575" y="4762500"/>
            <a:ext cx="4857750" cy="762000"/>
          </a:xfrm>
          <a:prstGeom xmlns:a="http://schemas.openxmlformats.org/drawingml/2006/main" prst="roundRect">
            <a:avLst>
              <a:gd name="adj" fmla="val 22500"/>
            </a:avLst>
          </a:prstGeom>
          <a:solidFill xmlns:a="http://schemas.openxmlformats.org/drawingml/2006/main">
            <a:srgbClr val="132940"/>
          </a:solidFill>
          <a:ln xmlns:a="http://schemas.openxmlformats.org/drawingml/2006/main" w="14288">
            <a:solidFill>
              <a:srgbClr val="4EA1FF"/>
            </a:solidFill>
            <a:prstDash val="solid"/>
          </a:ln>
        </p:spPr>
      </p:sp>
      <p:sp>
        <p:nvSpPr>
          <p:cNvPr id="34" name="">
            <a:extLst xmlns:a="http://schemas.openxmlformats.org/drawingml/2006/main">
              <a:ext uri="{FF2B5EF4-FFF2-40B4-BE49-F238E27FC236}">
                <a16:creationId xmlns:a16="http://schemas.microsoft.com/office/drawing/2014/main" id="{8D1AE774-C860-4036-A31A-1146B0824794}"/>
              </a:ext>
            </a:extLst>
          </p:cNvPr>
          <p:cNvSpPr>
            <a:spLocks xmlns:a="http://schemas.openxmlformats.org/drawingml/2006/main" noGrp="1"/>
          </p:cNvSpPr>
          <p:nvPr/>
        </p:nvSpPr>
        <p:spPr>
          <a:xfrm xmlns:a="http://schemas.openxmlformats.org/drawingml/2006/main">
            <a:off x="5934075" y="48577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OpenAI-inspired pattern</a:t>
            </a:r>
          </a:p>
        </p:txBody>
      </p:sp>
      <p:sp>
        <p:nvSpPr>
          <p:cNvPr id="35" name="">
            <a:extLst xmlns:a="http://schemas.openxmlformats.org/drawingml/2006/main">
              <a:ext uri="{FF2B5EF4-FFF2-40B4-BE49-F238E27FC236}">
                <a16:creationId xmlns:a16="http://schemas.microsoft.com/office/drawing/2014/main" id="{8DCA77E8-9302-4A29-A17D-48EB32ECA5DC}"/>
              </a:ext>
            </a:extLst>
          </p:cNvPr>
          <p:cNvSpPr>
            <a:spLocks xmlns:a="http://schemas.openxmlformats.org/drawingml/2006/main" noGrp="1"/>
          </p:cNvSpPr>
          <p:nvPr/>
        </p:nvSpPr>
        <p:spPr>
          <a:xfrm xmlns:a="http://schemas.openxmlformats.org/drawingml/2006/main">
            <a:off x="5934075" y="5105400"/>
            <a:ext cx="443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68857"/>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many ideas → deterministic tests → adversarial review → next iteration</a:t>
            </a:r>
          </a:p>
        </p:txBody>
      </p:sp>
    </p:spTree>
    <p:extLst>
      <p:ext uri="{BB962C8B-B14F-4D97-AF65-F5344CB8AC3E}">
        <p14:creationId xmlns:p14="http://schemas.microsoft.com/office/powerpoint/2010/main" val="1601985089"/>
      </p:ext>
    </p:extLst>
  </p:cSld>
</p:sld>
</file>

<file path=ppt/slides/slide3.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8A30B45-A7B3-4EF1-BAE5-4F94DA80395A}"/>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1</a:t>
            </a:r>
          </a:p>
        </p:txBody>
      </p:sp>
      <p:sp>
        <p:nvSpPr>
          <p:cNvPr id="2" name="">
            <a:extLst xmlns:a="http://schemas.openxmlformats.org/drawingml/2006/main">
              <a:ext uri="{FF2B5EF4-FFF2-40B4-BE49-F238E27FC236}">
                <a16:creationId xmlns:a16="http://schemas.microsoft.com/office/drawing/2014/main" id="{A26F9A87-B22C-47BB-B0FA-746E210EDE3B}"/>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V1: safe, but barely iterative</a:t>
            </a:r>
          </a:p>
        </p:txBody>
      </p:sp>
      <p:sp>
        <p:nvSpPr>
          <p:cNvPr id="3" name="">
            <a:extLst xmlns:a="http://schemas.openxmlformats.org/drawingml/2006/main">
              <a:ext uri="{FF2B5EF4-FFF2-40B4-BE49-F238E27FC236}">
                <a16:creationId xmlns:a16="http://schemas.microsoft.com/office/drawing/2014/main" id="{85F2CC01-2678-4147-962D-B14274ACEFD7}"/>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A946FCF8-B113-4DA4-BFE8-E94BEECF070E}"/>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CCCEA1A9-0475-4495-8AE0-A26EEBBA8835}"/>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C84BB0F6-673E-44C3-8045-D8787790C9BC}"/>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0386BB29-A0E1-4213-816B-4B39B6EB6841}"/>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research families</a:t>
            </a:r>
          </a:p>
        </p:txBody>
      </p:sp>
      <p:sp>
        <p:nvSpPr>
          <p:cNvPr id="8" name="">
            <a:extLst xmlns:a="http://schemas.openxmlformats.org/drawingml/2006/main">
              <a:ext uri="{FF2B5EF4-FFF2-40B4-BE49-F238E27FC236}">
                <a16:creationId xmlns:a16="http://schemas.microsoft.com/office/drawing/2014/main" id="{D24661D3-61A0-4177-A5B8-00CD4C104414}"/>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AE3E8B39-3A78-4738-BC74-48ED72D053CF}"/>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candidates</a:t>
            </a:r>
          </a:p>
        </p:txBody>
      </p:sp>
      <p:sp>
        <p:nvSpPr>
          <p:cNvPr id="10" name="">
            <a:extLst xmlns:a="http://schemas.openxmlformats.org/drawingml/2006/main">
              <a:ext uri="{FF2B5EF4-FFF2-40B4-BE49-F238E27FC236}">
                <a16:creationId xmlns:a16="http://schemas.microsoft.com/office/drawing/2014/main" id="{268BBAD9-1FAA-4DD8-B186-340BC88F2E29}"/>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727CCFC-B6B0-4C82-A245-3F0873B0008A}"/>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1 productive epoch</a:t>
            </a:r>
          </a:p>
        </p:txBody>
      </p:sp>
      <p:sp>
        <p:nvSpPr>
          <p:cNvPr id="12" name="">
            <a:extLst xmlns:a="http://schemas.openxmlformats.org/drawingml/2006/main">
              <a:ext uri="{FF2B5EF4-FFF2-40B4-BE49-F238E27FC236}">
                <a16:creationId xmlns:a16="http://schemas.microsoft.com/office/drawing/2014/main" id="{6CE72C2E-BE7D-4A5B-A1CB-1215A7E44112}"/>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0513C9A9-1760-434F-A942-A59D3F18AEA0}"/>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Later epochs produced no new experiments. The safeguards worked, but the research loop stalled.</a:t>
            </a:r>
          </a:p>
        </p:txBody>
      </p:sp>
      <p:sp>
        <p:nvSpPr>
          <p:cNvPr id="14" name="">
            <a:extLst xmlns:a="http://schemas.openxmlformats.org/drawingml/2006/main">
              <a:ext uri="{FF2B5EF4-FFF2-40B4-BE49-F238E27FC236}">
                <a16:creationId xmlns:a16="http://schemas.microsoft.com/office/drawing/2014/main" id="{5876CC6E-D841-4306-82EC-67AFCDB14B6E}"/>
              </a:ext>
            </a:extLst>
          </p:cNvPr>
          <p:cNvSpPr>
            <a:spLocks xmlns:a="http://schemas.openxmlformats.org/drawingml/2006/main" noGrp="1"/>
          </p:cNvSpPr>
          <p:nvPr/>
        </p:nvSpPr>
        <p:spPr>
          <a:xfrm xmlns:a="http://schemas.openxmlformats.org/drawingml/2006/main">
            <a:off x="9906000" y="2809875"/>
            <a:ext cx="1238250" cy="1238250"/>
          </a:xfrm>
          <a:prstGeom xmlns:a="http://schemas.openxmlformats.org/drawingml/2006/main" prst="roundRect">
            <a:avLst>
              <a:gd name="adj" fmla="val 50000"/>
            </a:avLst>
          </a:prstGeom>
          <a:solidFill xmlns:a="http://schemas.openxmlformats.org/drawingml/2006/main">
            <a:srgbClr val="321D29"/>
          </a:solidFill>
          <a:ln xmlns:a="http://schemas.openxmlformats.org/drawingml/2006/main" w="19050">
            <a:solidFill>
              <a:srgbClr val="FF6B6B"/>
            </a:solidFill>
            <a:prstDash val="solid"/>
          </a:ln>
        </p:spPr>
      </p:sp>
      <p:sp>
        <p:nvSpPr>
          <p:cNvPr id="15" name="">
            <a:extLst xmlns:a="http://schemas.openxmlformats.org/drawingml/2006/main">
              <a:ext uri="{FF2B5EF4-FFF2-40B4-BE49-F238E27FC236}">
                <a16:creationId xmlns:a16="http://schemas.microsoft.com/office/drawing/2014/main" id="{515F4E84-6439-4D09-BAD0-6323F0B4894F}"/>
              </a:ext>
            </a:extLst>
          </p:cNvPr>
          <p:cNvSpPr>
            <a:spLocks xmlns:a="http://schemas.openxmlformats.org/drawingml/2006/main" noGrp="1"/>
          </p:cNvSpPr>
          <p:nvPr/>
        </p:nvSpPr>
        <p:spPr>
          <a:xfrm xmlns:a="http://schemas.openxmlformats.org/drawingml/2006/main">
            <a:off x="10001250" y="2971800"/>
            <a:ext cx="104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NO NEW</a:t>
            </a:r>
          </a:p>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EXPERIMENTS</a:t>
            </a:r>
          </a:p>
        </p:txBody>
      </p:sp>
      <p:sp>
        <p:nvSpPr>
          <p:cNvPr id="16" name="">
            <a:extLst xmlns:a="http://schemas.openxmlformats.org/drawingml/2006/main">
              <a:ext uri="{FF2B5EF4-FFF2-40B4-BE49-F238E27FC236}">
                <a16:creationId xmlns:a16="http://schemas.microsoft.com/office/drawing/2014/main" id="{D73C392F-BBCA-4DFC-8D26-36CCC7800A0F}"/>
              </a:ext>
            </a:extLst>
          </p:cNvPr>
          <p:cNvSpPr>
            <a:spLocks xmlns:a="http://schemas.openxmlformats.org/drawingml/2006/main" noGrp="1"/>
          </p:cNvSpPr>
          <p:nvPr/>
        </p:nvSpPr>
        <p:spPr>
          <a:xfrm xmlns:a="http://schemas.openxmlformats.org/drawingml/2006/main">
            <a:off x="5619750" y="200025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4EA1FF"/>
            </a:solidFill>
            <a:prstDash val="solid"/>
          </a:ln>
        </p:spPr>
      </p:sp>
      <p:sp>
        <p:nvSpPr>
          <p:cNvPr id="17" name="">
            <a:extLst xmlns:a="http://schemas.openxmlformats.org/drawingml/2006/main">
              <a:ext uri="{FF2B5EF4-FFF2-40B4-BE49-F238E27FC236}">
                <a16:creationId xmlns:a16="http://schemas.microsoft.com/office/drawing/2014/main" id="{2307B48E-C3BC-4A5E-9502-F170F6B931C0}"/>
              </a:ext>
            </a:extLst>
          </p:cNvPr>
          <p:cNvSpPr>
            <a:spLocks xmlns:a="http://schemas.openxmlformats.org/drawingml/2006/main" noGrp="1"/>
          </p:cNvSpPr>
          <p:nvPr/>
        </p:nvSpPr>
        <p:spPr>
          <a:xfrm xmlns:a="http://schemas.openxmlformats.org/drawingml/2006/main">
            <a:off x="5781675" y="207645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Weather bias</a:t>
            </a:r>
          </a:p>
        </p:txBody>
      </p:sp>
      <p:sp>
        <p:nvSpPr>
          <p:cNvPr id="18" name="">
            <a:extLst xmlns:a="http://schemas.openxmlformats.org/drawingml/2006/main">
              <a:ext uri="{FF2B5EF4-FFF2-40B4-BE49-F238E27FC236}">
                <a16:creationId xmlns:a16="http://schemas.microsoft.com/office/drawing/2014/main" id="{28C1B6DE-D9CE-4300-B593-C91FD58DD45D}"/>
              </a:ext>
            </a:extLst>
          </p:cNvPr>
          <p:cNvSpPr>
            <a:spLocks xmlns:a="http://schemas.openxmlformats.org/drawingml/2006/main" noGrp="1"/>
          </p:cNvSpPr>
          <p:nvPr/>
        </p:nvSpPr>
        <p:spPr>
          <a:xfrm xmlns:a="http://schemas.openxmlformats.org/drawingml/2006/main">
            <a:off x="8420100" y="2114550"/>
            <a:ext cx="457200" cy="4572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19" name="">
            <a:extLst xmlns:a="http://schemas.openxmlformats.org/drawingml/2006/main">
              <a:ext uri="{FF2B5EF4-FFF2-40B4-BE49-F238E27FC236}">
                <a16:creationId xmlns:a16="http://schemas.microsoft.com/office/drawing/2014/main" id="{09736F16-3E68-4EEA-920D-4BABF773B6EF}"/>
              </a:ext>
            </a:extLst>
          </p:cNvPr>
          <p:cNvSpPr>
            <a:spLocks xmlns:a="http://schemas.openxmlformats.org/drawingml/2006/main" noGrp="1"/>
          </p:cNvSpPr>
          <p:nvPr/>
        </p:nvSpPr>
        <p:spPr>
          <a:xfrm xmlns:a="http://schemas.openxmlformats.org/drawingml/2006/main">
            <a:off x="8420100" y="21145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0B1320"/>
                </a:solidFill>
                <a:latin typeface="Arial"/>
                <a:ea typeface="Arial"/>
                <a:cs typeface="Arial"/>
              </a:defRPr>
            </a:pPr>
            <a:r>
              <a:rPr sz="1350" b="1">
                <a:solidFill>
                  <a:srgbClr val="0B1320"/>
                </a:solidFill>
                <a:latin typeface="Arial"/>
                <a:ea typeface="Arial"/>
                <a:cs typeface="Arial"/>
              </a:rPr>
              <a:t>1</a:t>
            </a:r>
          </a:p>
        </p:txBody>
      </p:sp>
      <p:cxnSp>
        <p:nvCxnSpPr>
          <p:cNvPr id="295" name=""/>
          <p:cNvCxnSpPr>
            <a:stCxn xmlns:a="http://schemas.openxmlformats.org/drawingml/2006/main" id="16" idx="3"/>
            <a:endCxn xmlns:a="http://schemas.openxmlformats.org/drawingml/2006/main" id="18" idx="2"/>
          </p:cNvCxnSpPr>
          <p:nvPr/>
        </p:nvCxnSpPr>
        <p:spPr>
          <a:xfrm xmlns:a="http://schemas.openxmlformats.org/drawingml/2006/main">
            <a:off x="7620000" y="234315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296" name=""/>
          <p:cNvCxnSpPr>
            <a:stCxn xmlns:a="http://schemas.openxmlformats.org/drawingml/2006/main" id="18" idx="6"/>
            <a:endCxn xmlns:a="http://schemas.openxmlformats.org/drawingml/2006/main" id="14" idx="1"/>
          </p:cNvCxnSpPr>
          <p:nvPr/>
        </p:nvCxnSpPr>
        <p:spPr>
          <a:xfrm xmlns:a="http://schemas.openxmlformats.org/drawingml/2006/main">
            <a:off x="8877300" y="2343150"/>
            <a:ext cx="1028700" cy="108585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C5D42330-6293-4628-BD6C-D6B84B27F9AD}"/>
              </a:ext>
            </a:extLst>
          </p:cNvPr>
          <p:cNvSpPr>
            <a:spLocks xmlns:a="http://schemas.openxmlformats.org/drawingml/2006/main" noGrp="1"/>
          </p:cNvSpPr>
          <p:nvPr/>
        </p:nvSpPr>
        <p:spPr>
          <a:xfrm xmlns:a="http://schemas.openxmlformats.org/drawingml/2006/main">
            <a:off x="5619750" y="304800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47D7D0"/>
            </a:solidFill>
            <a:prstDash val="solid"/>
          </a:ln>
        </p:spPr>
      </p:sp>
      <p:sp>
        <p:nvSpPr>
          <p:cNvPr id="23" name="">
            <a:extLst xmlns:a="http://schemas.openxmlformats.org/drawingml/2006/main">
              <a:ext uri="{FF2B5EF4-FFF2-40B4-BE49-F238E27FC236}">
                <a16:creationId xmlns:a16="http://schemas.microsoft.com/office/drawing/2014/main" id="{EE10811F-A62B-4032-A395-8AD489C8D0B3}"/>
              </a:ext>
            </a:extLst>
          </p:cNvPr>
          <p:cNvSpPr>
            <a:spLocks xmlns:a="http://schemas.openxmlformats.org/drawingml/2006/main" noGrp="1"/>
          </p:cNvSpPr>
          <p:nvPr/>
        </p:nvSpPr>
        <p:spPr>
          <a:xfrm xmlns:a="http://schemas.openxmlformats.org/drawingml/2006/main">
            <a:off x="5781675" y="312420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Market residual</a:t>
            </a:r>
          </a:p>
        </p:txBody>
      </p:sp>
      <p:sp>
        <p:nvSpPr>
          <p:cNvPr id="24" name="">
            <a:extLst xmlns:a="http://schemas.openxmlformats.org/drawingml/2006/main">
              <a:ext uri="{FF2B5EF4-FFF2-40B4-BE49-F238E27FC236}">
                <a16:creationId xmlns:a16="http://schemas.microsoft.com/office/drawing/2014/main" id="{C5461C5A-F1E1-438C-9EF1-10A8DABA8F75}"/>
              </a:ext>
            </a:extLst>
          </p:cNvPr>
          <p:cNvSpPr>
            <a:spLocks xmlns:a="http://schemas.openxmlformats.org/drawingml/2006/main" noGrp="1"/>
          </p:cNvSpPr>
          <p:nvPr/>
        </p:nvSpPr>
        <p:spPr>
          <a:xfrm xmlns:a="http://schemas.openxmlformats.org/drawingml/2006/main">
            <a:off x="8420100" y="3162300"/>
            <a:ext cx="457200" cy="45720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25" name="">
            <a:extLst xmlns:a="http://schemas.openxmlformats.org/drawingml/2006/main">
              <a:ext uri="{FF2B5EF4-FFF2-40B4-BE49-F238E27FC236}">
                <a16:creationId xmlns:a16="http://schemas.microsoft.com/office/drawing/2014/main" id="{60BF67E3-6255-49B8-89E7-89007971107E}"/>
              </a:ext>
            </a:extLst>
          </p:cNvPr>
          <p:cNvSpPr>
            <a:spLocks xmlns:a="http://schemas.openxmlformats.org/drawingml/2006/main" noGrp="1"/>
          </p:cNvSpPr>
          <p:nvPr/>
        </p:nvSpPr>
        <p:spPr>
          <a:xfrm xmlns:a="http://schemas.openxmlformats.org/drawingml/2006/main">
            <a:off x="8420100" y="31623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cxnSp>
        <p:nvCxnSpPr>
          <p:cNvPr id="301" name=""/>
          <p:cNvCxnSpPr>
            <a:stCxn xmlns:a="http://schemas.openxmlformats.org/drawingml/2006/main" id="22" idx="3"/>
            <a:endCxn xmlns:a="http://schemas.openxmlformats.org/drawingml/2006/main" id="24" idx="2"/>
          </p:cNvCxnSpPr>
          <p:nvPr/>
        </p:nvCxnSpPr>
        <p:spPr>
          <a:xfrm xmlns:a="http://schemas.openxmlformats.org/drawingml/2006/main">
            <a:off x="7620000" y="339090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302" name=""/>
          <p:cNvCxnSpPr>
            <a:stCxn xmlns:a="http://schemas.openxmlformats.org/drawingml/2006/main" id="24" idx="6"/>
            <a:endCxn xmlns:a="http://schemas.openxmlformats.org/drawingml/2006/main" id="14" idx="1"/>
          </p:cNvCxnSpPr>
          <p:nvPr/>
        </p:nvCxnSpPr>
        <p:spPr>
          <a:xfrm xmlns:a="http://schemas.openxmlformats.org/drawingml/2006/main">
            <a:off x="8877300" y="3390900"/>
            <a:ext cx="1028700" cy="38100"/>
          </a:xfrm>
          <a:prstGeom xmlns:a="http://schemas.openxmlformats.org/drawingml/2006/main" prst="straightConnector1">
            <a:avLst/>
          </a:prstGeom>
          <a:ln xmlns:a="http://schemas.openxmlformats.org/drawingml/2006/main" w="19050">
            <a:solidFill>
              <a:srgbClr val="62748B"/>
            </a:solidFill>
            <a:prstDash val="dash"/>
            <a:headEnd type="arrow" w="sm" len="sm"/>
          </a:ln>
        </p:spPr>
      </p:cxnSp>
      <p:sp>
        <p:nvSpPr>
          <p:cNvPr id="28" name="">
            <a:extLst xmlns:a="http://schemas.openxmlformats.org/drawingml/2006/main">
              <a:ext uri="{FF2B5EF4-FFF2-40B4-BE49-F238E27FC236}">
                <a16:creationId xmlns:a16="http://schemas.microsoft.com/office/drawing/2014/main" id="{3EA79DE2-FD28-42D1-B538-930AD1743AE0}"/>
              </a:ext>
            </a:extLst>
          </p:cNvPr>
          <p:cNvSpPr>
            <a:spLocks xmlns:a="http://schemas.openxmlformats.org/drawingml/2006/main" noGrp="1"/>
          </p:cNvSpPr>
          <p:nvPr/>
        </p:nvSpPr>
        <p:spPr>
          <a:xfrm xmlns:a="http://schemas.openxmlformats.org/drawingml/2006/main">
            <a:off x="5619750" y="409575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F4B860"/>
            </a:solidFill>
            <a:prstDash val="solid"/>
          </a:ln>
        </p:spPr>
      </p:sp>
      <p:sp>
        <p:nvSpPr>
          <p:cNvPr id="29" name="">
            <a:extLst xmlns:a="http://schemas.openxmlformats.org/drawingml/2006/main">
              <a:ext uri="{FF2B5EF4-FFF2-40B4-BE49-F238E27FC236}">
                <a16:creationId xmlns:a16="http://schemas.microsoft.com/office/drawing/2014/main" id="{509C5861-BE76-45E8-9CBB-289DDFB17D38}"/>
              </a:ext>
            </a:extLst>
          </p:cNvPr>
          <p:cNvSpPr>
            <a:spLocks xmlns:a="http://schemas.openxmlformats.org/drawingml/2006/main" noGrp="1"/>
          </p:cNvSpPr>
          <p:nvPr/>
        </p:nvSpPr>
        <p:spPr>
          <a:xfrm xmlns:a="http://schemas.openxmlformats.org/drawingml/2006/main">
            <a:off x="5781675" y="417195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Selective entry</a:t>
            </a:r>
          </a:p>
        </p:txBody>
      </p:sp>
      <p:sp>
        <p:nvSpPr>
          <p:cNvPr id="30" name="">
            <a:extLst xmlns:a="http://schemas.openxmlformats.org/drawingml/2006/main">
              <a:ext uri="{FF2B5EF4-FFF2-40B4-BE49-F238E27FC236}">
                <a16:creationId xmlns:a16="http://schemas.microsoft.com/office/drawing/2014/main" id="{553C1840-2755-43FD-92BC-B549C7DA0B33}"/>
              </a:ext>
            </a:extLst>
          </p:cNvPr>
          <p:cNvSpPr>
            <a:spLocks xmlns:a="http://schemas.openxmlformats.org/drawingml/2006/main" noGrp="1"/>
          </p:cNvSpPr>
          <p:nvPr/>
        </p:nvSpPr>
        <p:spPr>
          <a:xfrm xmlns:a="http://schemas.openxmlformats.org/drawingml/2006/main">
            <a:off x="8420100" y="4210050"/>
            <a:ext cx="457200" cy="45720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1" name="">
            <a:extLst xmlns:a="http://schemas.openxmlformats.org/drawingml/2006/main">
              <a:ext uri="{FF2B5EF4-FFF2-40B4-BE49-F238E27FC236}">
                <a16:creationId xmlns:a16="http://schemas.microsoft.com/office/drawing/2014/main" id="{350043B7-8573-4699-A55D-C88866B5FFC5}"/>
              </a:ext>
            </a:extLst>
          </p:cNvPr>
          <p:cNvSpPr>
            <a:spLocks xmlns:a="http://schemas.openxmlformats.org/drawingml/2006/main" noGrp="1"/>
          </p:cNvSpPr>
          <p:nvPr/>
        </p:nvSpPr>
        <p:spPr>
          <a:xfrm xmlns:a="http://schemas.openxmlformats.org/drawingml/2006/main">
            <a:off x="8420100" y="42100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cxnSp>
        <p:nvCxnSpPr>
          <p:cNvPr id="307" name=""/>
          <p:cNvCxnSpPr>
            <a:stCxn xmlns:a="http://schemas.openxmlformats.org/drawingml/2006/main" id="28" idx="3"/>
            <a:endCxn xmlns:a="http://schemas.openxmlformats.org/drawingml/2006/main" id="30" idx="2"/>
          </p:cNvCxnSpPr>
          <p:nvPr/>
        </p:nvCxnSpPr>
        <p:spPr>
          <a:xfrm xmlns:a="http://schemas.openxmlformats.org/drawingml/2006/main">
            <a:off x="7620000" y="443865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308" name=""/>
          <p:cNvCxnSpPr>
            <a:stCxn xmlns:a="http://schemas.openxmlformats.org/drawingml/2006/main" id="30" idx="6"/>
            <a:endCxn xmlns:a="http://schemas.openxmlformats.org/drawingml/2006/main" id="14" idx="1"/>
          </p:cNvCxnSpPr>
          <p:nvPr/>
        </p:nvCxnSpPr>
        <p:spPr>
          <a:xfrm xmlns:a="http://schemas.openxmlformats.org/drawingml/2006/main" flipV="1">
            <a:off x="8877300" y="3429000"/>
            <a:ext cx="1028700" cy="1009650"/>
          </a:xfrm>
          <a:prstGeom xmlns:a="http://schemas.openxmlformats.org/drawingml/2006/main" prst="straightConnector1">
            <a:avLst/>
          </a:prstGeom>
          <a:ln xmlns:a="http://schemas.openxmlformats.org/drawingml/2006/main" w="19050">
            <a:solidFill>
              <a:srgbClr val="62748B"/>
            </a:solidFill>
            <a:prstDash val="dash"/>
            <a:headEnd type="arrow" w="sm" len="sm"/>
          </a:ln>
        </p:spPr>
      </p:cxnSp>
      <p:sp>
        <p:nvSpPr>
          <p:cNvPr id="34" name="">
            <a:extLst xmlns:a="http://schemas.openxmlformats.org/drawingml/2006/main">
              <a:ext uri="{FF2B5EF4-FFF2-40B4-BE49-F238E27FC236}">
                <a16:creationId xmlns:a16="http://schemas.microsoft.com/office/drawing/2014/main" id="{CAA317A8-4E4E-4A53-852D-5565D92B1838}"/>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35" name="">
            <a:extLst xmlns:a="http://schemas.openxmlformats.org/drawingml/2006/main">
              <a:ext uri="{FF2B5EF4-FFF2-40B4-BE49-F238E27FC236}">
                <a16:creationId xmlns:a16="http://schemas.microsoft.com/office/drawing/2014/main" id="{22E1D7E0-85EF-456F-8740-D78E2A8ADBF4}"/>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6" name="">
            <a:extLst xmlns:a="http://schemas.openxmlformats.org/drawingml/2006/main">
              <a:ext uri="{FF2B5EF4-FFF2-40B4-BE49-F238E27FC236}">
                <a16:creationId xmlns:a16="http://schemas.microsoft.com/office/drawing/2014/main" id="{3EE7489D-9D18-44AF-AAE2-9F5C7FDF7965}"/>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37" name="">
            <a:extLst xmlns:a="http://schemas.openxmlformats.org/drawingml/2006/main">
              <a:ext uri="{FF2B5EF4-FFF2-40B4-BE49-F238E27FC236}">
                <a16:creationId xmlns:a16="http://schemas.microsoft.com/office/drawing/2014/main" id="{6231C757-08EC-4386-AA62-190B0B0AA7FD}"/>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8" name="">
            <a:extLst xmlns:a="http://schemas.openxmlformats.org/drawingml/2006/main">
              <a:ext uri="{FF2B5EF4-FFF2-40B4-BE49-F238E27FC236}">
                <a16:creationId xmlns:a16="http://schemas.microsoft.com/office/drawing/2014/main" id="{8A2A8222-3EB7-4BFD-8AAB-1CEA3CA05B6F}"/>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9" name="">
            <a:extLst xmlns:a="http://schemas.openxmlformats.org/drawingml/2006/main">
              <a:ext uri="{FF2B5EF4-FFF2-40B4-BE49-F238E27FC236}">
                <a16:creationId xmlns:a16="http://schemas.microsoft.com/office/drawing/2014/main" id="{7C32471E-D4E8-4279-8679-296134B7E631}"/>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0" name="">
            <a:extLst xmlns:a="http://schemas.openxmlformats.org/drawingml/2006/main">
              <a:ext uri="{FF2B5EF4-FFF2-40B4-BE49-F238E27FC236}">
                <a16:creationId xmlns:a16="http://schemas.microsoft.com/office/drawing/2014/main" id="{7503DFD0-6D96-4122-A9CC-FCE3C5AAFB23}"/>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41" name="">
            <a:extLst xmlns:a="http://schemas.openxmlformats.org/drawingml/2006/main">
              <a:ext uri="{FF2B5EF4-FFF2-40B4-BE49-F238E27FC236}">
                <a16:creationId xmlns:a16="http://schemas.microsoft.com/office/drawing/2014/main" id="{1104BCC7-0019-4554-B614-19A813E73478}"/>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2" name="">
            <a:extLst xmlns:a="http://schemas.openxmlformats.org/drawingml/2006/main">
              <a:ext uri="{FF2B5EF4-FFF2-40B4-BE49-F238E27FC236}">
                <a16:creationId xmlns:a16="http://schemas.microsoft.com/office/drawing/2014/main" id="{DDFBE4EB-C770-477A-9789-BC584326AFC4}"/>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43" name="">
            <a:extLst xmlns:a="http://schemas.openxmlformats.org/drawingml/2006/main">
              <a:ext uri="{FF2B5EF4-FFF2-40B4-BE49-F238E27FC236}">
                <a16:creationId xmlns:a16="http://schemas.microsoft.com/office/drawing/2014/main" id="{32993FF4-27CB-4C53-89C2-03F7A1E9B0A9}"/>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4" name="">
            <a:extLst xmlns:a="http://schemas.openxmlformats.org/drawingml/2006/main">
              <a:ext uri="{FF2B5EF4-FFF2-40B4-BE49-F238E27FC236}">
                <a16:creationId xmlns:a16="http://schemas.microsoft.com/office/drawing/2014/main" id="{5E302C05-FB63-482C-A073-2435488646D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653147859"/>
      </p:ext>
    </p:extLst>
  </p:cSld>
</p:sld>
</file>

<file path=ppt/slides/slide4.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FED2D7F-0D7C-4182-AD5E-887CC2CFD8B5}"/>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SWARM REDESIGN</a:t>
            </a:r>
          </a:p>
        </p:txBody>
      </p:sp>
      <p:sp>
        <p:nvSpPr>
          <p:cNvPr id="2" name="">
            <a:extLst xmlns:a="http://schemas.openxmlformats.org/drawingml/2006/main">
              <a:ext uri="{FF2B5EF4-FFF2-40B4-BE49-F238E27FC236}">
                <a16:creationId xmlns:a16="http://schemas.microsoft.com/office/drawing/2014/main" id="{6F0E6B58-C545-447A-8CD9-6C9B4AD2D9A5}"/>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V2: make the swarm iterate</a:t>
            </a:r>
          </a:p>
        </p:txBody>
      </p:sp>
      <p:sp>
        <p:nvSpPr>
          <p:cNvPr id="3" name="">
            <a:extLst xmlns:a="http://schemas.openxmlformats.org/drawingml/2006/main">
              <a:ext uri="{FF2B5EF4-FFF2-40B4-BE49-F238E27FC236}">
                <a16:creationId xmlns:a16="http://schemas.microsoft.com/office/drawing/2014/main" id="{57A04FB8-2585-4B11-9974-DB07BB26F87A}"/>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BC657DF2-959B-4C14-A61E-6CCF4620D23E}"/>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0CDAD2FE-FB27-4788-B8D3-C8FF8D37BA62}"/>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06B1122D-B5ED-44EE-A140-1B5042955085}"/>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248B2400-7D70-4E6A-B918-094B733F3C53}"/>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6 specialized colonies</a:t>
            </a:r>
          </a:p>
        </p:txBody>
      </p:sp>
      <p:sp>
        <p:nvSpPr>
          <p:cNvPr id="8" name="">
            <a:extLst xmlns:a="http://schemas.openxmlformats.org/drawingml/2006/main">
              <a:ext uri="{FF2B5EF4-FFF2-40B4-BE49-F238E27FC236}">
                <a16:creationId xmlns:a16="http://schemas.microsoft.com/office/drawing/2014/main" id="{E3024D0B-812A-4008-8766-53D10B886C8C}"/>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70DF5772-13BC-4B3E-8023-68C700AE8DF7}"/>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40 candidates • 4 productive epochs</a:t>
            </a:r>
          </a:p>
        </p:txBody>
      </p:sp>
      <p:sp>
        <p:nvSpPr>
          <p:cNvPr id="10" name="">
            <a:extLst xmlns:a="http://schemas.openxmlformats.org/drawingml/2006/main">
              <a:ext uri="{FF2B5EF4-FFF2-40B4-BE49-F238E27FC236}">
                <a16:creationId xmlns:a16="http://schemas.microsoft.com/office/drawing/2014/main" id="{764ACA99-5383-48CE-B005-54CB04D6D8FB}"/>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8B2E1F8-1185-4295-91E3-0FEFF814BF7B}"/>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Best result: −0.29%</a:t>
            </a:r>
          </a:p>
        </p:txBody>
      </p:sp>
      <p:sp>
        <p:nvSpPr>
          <p:cNvPr id="12" name="">
            <a:extLst xmlns:a="http://schemas.openxmlformats.org/drawingml/2006/main">
              <a:ext uri="{FF2B5EF4-FFF2-40B4-BE49-F238E27FC236}">
                <a16:creationId xmlns:a16="http://schemas.microsoft.com/office/drawing/2014/main" id="{6E7C86CB-C0F1-4F16-8C32-63043CE89BBF}"/>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87C93A36-098F-4819-9BA4-0803D67BFA7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architecture now iterated, but it still did not find an economic edge.</a:t>
            </a:r>
          </a:p>
        </p:txBody>
      </p:sp>
      <p:sp>
        <p:nvSpPr>
          <p:cNvPr id="14" name="">
            <a:extLst xmlns:a="http://schemas.openxmlformats.org/drawingml/2006/main">
              <a:ext uri="{FF2B5EF4-FFF2-40B4-BE49-F238E27FC236}">
                <a16:creationId xmlns:a16="http://schemas.microsoft.com/office/drawing/2014/main" id="{09FA2398-A58A-43CD-A62A-37133A9307DF}"/>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ellipse">
            <a:avLst/>
          </a:prstGeom>
          <a:solidFill xmlns:a="http://schemas.openxmlformats.org/drawingml/2006/main">
            <a:srgbClr val="16263A"/>
          </a:solidFill>
          <a:ln xmlns:a="http://schemas.openxmlformats.org/drawingml/2006/main" w="28575">
            <a:solidFill>
              <a:srgbClr val="4DD28A"/>
            </a:solidFill>
            <a:prstDash val="solid"/>
          </a:ln>
        </p:spPr>
      </p:sp>
      <p:sp>
        <p:nvSpPr>
          <p:cNvPr id="15" name="">
            <a:extLst xmlns:a="http://schemas.openxmlformats.org/drawingml/2006/main">
              <a:ext uri="{FF2B5EF4-FFF2-40B4-BE49-F238E27FC236}">
                <a16:creationId xmlns:a16="http://schemas.microsoft.com/office/drawing/2014/main" id="{C184C71F-CF45-4CD8-8A00-DEA87AAB175A}"/>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SYNTHESIZE</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 CRITIC</a:t>
            </a:r>
          </a:p>
        </p:txBody>
      </p:sp>
      <p:sp>
        <p:nvSpPr>
          <p:cNvPr id="16" name="">
            <a:extLst xmlns:a="http://schemas.openxmlformats.org/drawingml/2006/main">
              <a:ext uri="{FF2B5EF4-FFF2-40B4-BE49-F238E27FC236}">
                <a16:creationId xmlns:a16="http://schemas.microsoft.com/office/drawing/2014/main" id="{B2DFB55F-87F2-4A6A-A47E-340229FBB06E}"/>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7" name="">
            <a:extLst xmlns:a="http://schemas.openxmlformats.org/drawingml/2006/main">
              <a:ext uri="{FF2B5EF4-FFF2-40B4-BE49-F238E27FC236}">
                <a16:creationId xmlns:a16="http://schemas.microsoft.com/office/drawing/2014/main" id="{05CA388A-5AE4-4773-ADB3-280666FF15DD}"/>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Forecast</a:t>
            </a:r>
          </a:p>
        </p:txBody>
      </p:sp>
      <p:cxnSp>
        <p:nvCxnSpPr>
          <p:cNvPr id="283" name=""/>
          <p:cNvCxnSpPr>
            <a:stCxn xmlns:a="http://schemas.openxmlformats.org/drawingml/2006/main" id="16" idx="5"/>
            <a:endCxn xmlns:a="http://schemas.openxmlformats.org/drawingml/2006/main" id="14" idx="1"/>
          </p:cNvCxnSpPr>
          <p:nvPr/>
        </p:nvCxnSpPr>
        <p:spPr>
          <a:xfrm xmlns:a="http://schemas.openxmlformats.org/drawingml/2006/main">
            <a:off x="7268648" y="2620448"/>
            <a:ext cx="873955" cy="273880"/>
          </a:xfrm>
          <a:prstGeom xmlns:a="http://schemas.openxmlformats.org/drawingml/2006/main" prst="straightConnector1">
            <a:avLst/>
          </a:prstGeom>
          <a:ln xmlns:a="http://schemas.openxmlformats.org/drawingml/2006/main" w="14288">
            <a:solidFill>
              <a:srgbClr val="31445D"/>
            </a:solidFill>
            <a:prstDash val="solid"/>
          </a:ln>
        </p:spPr>
      </p:cxnSp>
      <p:sp>
        <p:nvSpPr>
          <p:cNvPr id="19" name="">
            <a:extLst xmlns:a="http://schemas.openxmlformats.org/drawingml/2006/main">
              <a:ext uri="{FF2B5EF4-FFF2-40B4-BE49-F238E27FC236}">
                <a16:creationId xmlns:a16="http://schemas.microsoft.com/office/drawing/2014/main" id="{6F950F20-EACB-4512-BCFC-8CF8C0815DF7}"/>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0" name="">
            <a:extLst xmlns:a="http://schemas.openxmlformats.org/drawingml/2006/main">
              <a:ext uri="{FF2B5EF4-FFF2-40B4-BE49-F238E27FC236}">
                <a16:creationId xmlns:a16="http://schemas.microsoft.com/office/drawing/2014/main" id="{7D3118E4-D2A2-4CC3-98A8-31F86182473C}"/>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Execution</a:t>
            </a:r>
          </a:p>
        </p:txBody>
      </p:sp>
      <p:cxnSp>
        <p:nvCxnSpPr>
          <p:cNvPr id="286" name=""/>
          <p:cNvCxnSpPr>
            <a:stCxn xmlns:a="http://schemas.openxmlformats.org/drawingml/2006/main" id="19" idx="4"/>
            <a:endCxn xmlns:a="http://schemas.openxmlformats.org/drawingml/2006/main" id="14" idx="0"/>
          </p:cNvCxnSpPr>
          <p:nvPr/>
        </p:nvCxnSpPr>
        <p:spPr>
          <a:xfrm xmlns:a="http://schemas.openxmlformats.org/drawingml/2006/main" flipH="1">
            <a:off x="8553450" y="2419350"/>
            <a:ext cx="95250" cy="304800"/>
          </a:xfrm>
          <a:prstGeom xmlns:a="http://schemas.openxmlformats.org/drawingml/2006/main" prst="straightConnector1">
            <a:avLst/>
          </a:prstGeom>
          <a:ln xmlns:a="http://schemas.openxmlformats.org/drawingml/2006/main" w="14288">
            <a:solidFill>
              <a:srgbClr val="31445D"/>
            </a:solidFill>
            <a:prstDash val="solid"/>
          </a:ln>
        </p:spPr>
      </p:cxnSp>
      <p:sp>
        <p:nvSpPr>
          <p:cNvPr id="22" name="">
            <a:extLst xmlns:a="http://schemas.openxmlformats.org/drawingml/2006/main">
              <a:ext uri="{FF2B5EF4-FFF2-40B4-BE49-F238E27FC236}">
                <a16:creationId xmlns:a16="http://schemas.microsoft.com/office/drawing/2014/main" id="{D4F84EA7-7A8B-4C00-97C1-1EECFCA68A2A}"/>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B23A599E-5EFB-4E16-BA33-882BE776C05E}"/>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Market</a:t>
            </a:r>
          </a:p>
        </p:txBody>
      </p:sp>
      <p:cxnSp>
        <p:nvCxnSpPr>
          <p:cNvPr id="289" name=""/>
          <p:cNvCxnSpPr>
            <a:stCxn xmlns:a="http://schemas.openxmlformats.org/drawingml/2006/main" id="22" idx="2"/>
            <a:endCxn xmlns:a="http://schemas.openxmlformats.org/drawingml/2006/main" id="14" idx="7"/>
          </p:cNvCxnSpPr>
          <p:nvPr/>
        </p:nvCxnSpPr>
        <p:spPr>
          <a:xfrm xmlns:a="http://schemas.openxmlformats.org/drawingml/2006/main" flipH="1">
            <a:off x="8964297" y="2457450"/>
            <a:ext cx="846453" cy="436878"/>
          </a:xfrm>
          <a:prstGeom xmlns:a="http://schemas.openxmlformats.org/drawingml/2006/main" prst="straightConnector1">
            <a:avLst/>
          </a:prstGeom>
          <a:ln xmlns:a="http://schemas.openxmlformats.org/drawingml/2006/main" w="14288">
            <a:solidFill>
              <a:srgbClr val="31445D"/>
            </a:solidFill>
            <a:prstDash val="solid"/>
          </a:ln>
        </p:spPr>
      </p:cxnSp>
      <p:sp>
        <p:nvSpPr>
          <p:cNvPr id="25" name="">
            <a:extLst xmlns:a="http://schemas.openxmlformats.org/drawingml/2006/main">
              <a:ext uri="{FF2B5EF4-FFF2-40B4-BE49-F238E27FC236}">
                <a16:creationId xmlns:a16="http://schemas.microsoft.com/office/drawing/2014/main" id="{D77A42C4-3B41-4914-9686-F2C9CEC2E13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26" name="">
            <a:extLst xmlns:a="http://schemas.openxmlformats.org/drawingml/2006/main">
              <a:ext uri="{FF2B5EF4-FFF2-40B4-BE49-F238E27FC236}">
                <a16:creationId xmlns:a16="http://schemas.microsoft.com/office/drawing/2014/main" id="{3BF5C030-C9C1-4938-85BC-F9114FF4E0B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Calibration</a:t>
            </a:r>
          </a:p>
        </p:txBody>
      </p:sp>
      <p:cxnSp>
        <p:nvCxnSpPr>
          <p:cNvPr id="292" name=""/>
          <p:cNvCxnSpPr>
            <a:stCxn xmlns:a="http://schemas.openxmlformats.org/drawingml/2006/main" id="25" idx="2"/>
            <a:endCxn xmlns:a="http://schemas.openxmlformats.org/drawingml/2006/main" id="14" idx="5"/>
          </p:cNvCxnSpPr>
          <p:nvPr/>
        </p:nvCxnSpPr>
        <p:spPr>
          <a:xfrm xmlns:a="http://schemas.openxmlformats.org/drawingml/2006/main" flipH="1" flipV="1">
            <a:off x="8964297" y="3716022"/>
            <a:ext cx="846453" cy="513078"/>
          </a:xfrm>
          <a:prstGeom xmlns:a="http://schemas.openxmlformats.org/drawingml/2006/main" prst="straightConnector1">
            <a:avLst/>
          </a:prstGeom>
          <a:ln xmlns:a="http://schemas.openxmlformats.org/drawingml/2006/main" w="14288">
            <a:solidFill>
              <a:srgbClr val="31445D"/>
            </a:solidFill>
            <a:prstDash val="solid"/>
          </a:ln>
        </p:spPr>
      </p:cxnSp>
      <p:sp>
        <p:nvSpPr>
          <p:cNvPr id="28" name="">
            <a:extLst xmlns:a="http://schemas.openxmlformats.org/drawingml/2006/main">
              <a:ext uri="{FF2B5EF4-FFF2-40B4-BE49-F238E27FC236}">
                <a16:creationId xmlns:a16="http://schemas.microsoft.com/office/drawing/2014/main" id="{4F78B4A4-C3A8-41B8-AF10-35C7266DBD2B}"/>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9" name="">
            <a:extLst xmlns:a="http://schemas.openxmlformats.org/drawingml/2006/main">
              <a:ext uri="{FF2B5EF4-FFF2-40B4-BE49-F238E27FC236}">
                <a16:creationId xmlns:a16="http://schemas.microsoft.com/office/drawing/2014/main" id="{1C5FE667-488E-4F96-8B5C-E1E6B47CCB35}"/>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Regimes</a:t>
            </a:r>
          </a:p>
        </p:txBody>
      </p:sp>
      <p:cxnSp>
        <p:nvCxnSpPr>
          <p:cNvPr id="295" name=""/>
          <p:cNvCxnSpPr>
            <a:stCxn xmlns:a="http://schemas.openxmlformats.org/drawingml/2006/main" id="28" idx="0"/>
            <a:endCxn xmlns:a="http://schemas.openxmlformats.org/drawingml/2006/main" id="14" idx="4"/>
          </p:cNvCxnSpPr>
          <p:nvPr/>
        </p:nvCxnSpPr>
        <p:spPr>
          <a:xfrm xmlns:a="http://schemas.openxmlformats.org/drawingml/2006/main" flipH="1" flipV="1">
            <a:off x="8553450" y="3886200"/>
            <a:ext cx="95250" cy="419100"/>
          </a:xfrm>
          <a:prstGeom xmlns:a="http://schemas.openxmlformats.org/drawingml/2006/main" prst="straightConnector1">
            <a:avLst/>
          </a:prstGeom>
          <a:ln xmlns:a="http://schemas.openxmlformats.org/drawingml/2006/main" w="14288">
            <a:solidFill>
              <a:srgbClr val="31445D"/>
            </a:solidFill>
            <a:prstDash val="solid"/>
          </a:ln>
        </p:spPr>
      </p:cxnSp>
      <p:sp>
        <p:nvSpPr>
          <p:cNvPr id="31" name="">
            <a:extLst xmlns:a="http://schemas.openxmlformats.org/drawingml/2006/main">
              <a:ext uri="{FF2B5EF4-FFF2-40B4-BE49-F238E27FC236}">
                <a16:creationId xmlns:a16="http://schemas.microsoft.com/office/drawing/2014/main" id="{3EC6F352-BA02-470E-B8C6-604F2FF91123}"/>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ellipse">
            <a:avLst/>
          </a:prstGeom>
          <a:solidFill xmlns:a="http://schemas.openxmlformats.org/drawingml/2006/main">
            <a:srgbClr val="FF6B6B"/>
          </a:solidFill>
          <a:ln xmlns:a="http://schemas.openxmlformats.org/drawingml/2006/main" w="19050">
            <a:solidFill>
              <a:srgbClr val="FF6B6B"/>
            </a:solidFill>
            <a:prstDash val="solid"/>
          </a:ln>
        </p:spPr>
      </p:sp>
      <p:sp>
        <p:nvSpPr>
          <p:cNvPr id="32" name="">
            <a:extLst xmlns:a="http://schemas.openxmlformats.org/drawingml/2006/main">
              <a:ext uri="{FF2B5EF4-FFF2-40B4-BE49-F238E27FC236}">
                <a16:creationId xmlns:a16="http://schemas.microsoft.com/office/drawing/2014/main" id="{CBB507AE-6A24-4F32-B360-BCB608B89E09}"/>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Adversary</a:t>
            </a:r>
          </a:p>
        </p:txBody>
      </p:sp>
      <p:cxnSp>
        <p:nvCxnSpPr>
          <p:cNvPr id="298" name=""/>
          <p:cNvCxnSpPr>
            <a:stCxn xmlns:a="http://schemas.openxmlformats.org/drawingml/2006/main" id="31" idx="7"/>
            <a:endCxn xmlns:a="http://schemas.openxmlformats.org/drawingml/2006/main" id="14" idx="3"/>
          </p:cNvCxnSpPr>
          <p:nvPr/>
        </p:nvCxnSpPr>
        <p:spPr>
          <a:xfrm xmlns:a="http://schemas.openxmlformats.org/drawingml/2006/main" flipV="1">
            <a:off x="7268648" y="3716022"/>
            <a:ext cx="873955" cy="216730"/>
          </a:xfrm>
          <a:prstGeom xmlns:a="http://schemas.openxmlformats.org/drawingml/2006/main" prst="straightConnector1">
            <a:avLst/>
          </a:prstGeom>
          <a:ln xmlns:a="http://schemas.openxmlformats.org/drawingml/2006/main" w="14288">
            <a:solidFill>
              <a:srgbClr val="31445D"/>
            </a:solidFill>
            <a:prstDash val="solid"/>
          </a:ln>
        </p:spPr>
      </p:cxnSp>
      <p:sp>
        <p:nvSpPr>
          <p:cNvPr id="34" name="">
            <a:extLst xmlns:a="http://schemas.openxmlformats.org/drawingml/2006/main">
              <a:ext uri="{FF2B5EF4-FFF2-40B4-BE49-F238E27FC236}">
                <a16:creationId xmlns:a16="http://schemas.microsoft.com/office/drawing/2014/main" id="{9BC9AACF-B567-47DD-8490-C12D7CE7D82B}"/>
              </a:ext>
            </a:extLst>
          </p:cNvPr>
          <p:cNvSpPr>
            <a:spLocks xmlns:a="http://schemas.openxmlformats.org/drawingml/2006/main" noGrp="1"/>
          </p:cNvSpPr>
          <p:nvPr/>
        </p:nvSpPr>
        <p:spPr>
          <a:xfrm xmlns:a="http://schemas.openxmlformats.org/drawingml/2006/main">
            <a:off x="6486525" y="5219700"/>
            <a:ext cx="431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propose → test → challenge → follow up</a:t>
            </a:r>
          </a:p>
        </p:txBody>
      </p:sp>
    </p:spTree>
    <p:extLst>
      <p:ext uri="{BB962C8B-B14F-4D97-AF65-F5344CB8AC3E}">
        <p14:creationId xmlns:p14="http://schemas.microsoft.com/office/powerpoint/2010/main" val="1486480449"/>
      </p:ext>
    </p:extLst>
  </p:cSld>
</p:sld>
</file>

<file path=ppt/slides/slide5.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8A96E57-E68F-40A9-AAC8-AFF49C05B2F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3</a:t>
            </a:r>
          </a:p>
        </p:txBody>
      </p:sp>
      <p:sp>
        <p:nvSpPr>
          <p:cNvPr id="2" name="">
            <a:extLst xmlns:a="http://schemas.openxmlformats.org/drawingml/2006/main">
              <a:ext uri="{FF2B5EF4-FFF2-40B4-BE49-F238E27FC236}">
                <a16:creationId xmlns:a16="http://schemas.microsoft.com/office/drawing/2014/main" id="{40E44F02-EBFF-4DA7-9A1E-4EE65186D3BD}"/>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V3: improve the evidence</a:t>
            </a:r>
          </a:p>
        </p:txBody>
      </p:sp>
      <p:sp>
        <p:nvSpPr>
          <p:cNvPr id="3" name="">
            <a:extLst xmlns:a="http://schemas.openxmlformats.org/drawingml/2006/main">
              <a:ext uri="{FF2B5EF4-FFF2-40B4-BE49-F238E27FC236}">
                <a16:creationId xmlns:a16="http://schemas.microsoft.com/office/drawing/2014/main" id="{172A16E1-DD1B-4FDF-B175-A9CE9B4C9A80}"/>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7B461FBD-4253-4911-B4CE-D3C95D9E13E6}"/>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C7281CD8-7964-4372-81E8-6C6A4F295966}"/>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051FD204-3D6C-4335-BC83-BC3F12B5F6E6}"/>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06E9D6F8-CC8B-4FD8-A1A0-C0B5C6868903}"/>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543 historical days converted</a:t>
            </a:r>
          </a:p>
        </p:txBody>
      </p:sp>
      <p:sp>
        <p:nvSpPr>
          <p:cNvPr id="8" name="">
            <a:extLst xmlns:a="http://schemas.openxmlformats.org/drawingml/2006/main">
              <a:ext uri="{FF2B5EF4-FFF2-40B4-BE49-F238E27FC236}">
                <a16:creationId xmlns:a16="http://schemas.microsoft.com/office/drawing/2014/main" id="{A96DFDA9-B0D0-4FFA-9096-4BCC65C6FF53}"/>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C8356C40-0B58-4C0C-9CCA-E41CBF7C6D29}"/>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Minute Kalshi + HRRR + GEFS + settlement</a:t>
            </a:r>
          </a:p>
        </p:txBody>
      </p:sp>
      <p:sp>
        <p:nvSpPr>
          <p:cNvPr id="10" name="">
            <a:extLst xmlns:a="http://schemas.openxmlformats.org/drawingml/2006/main">
              <a:ext uri="{FF2B5EF4-FFF2-40B4-BE49-F238E27FC236}">
                <a16:creationId xmlns:a16="http://schemas.microsoft.com/office/drawing/2014/main" id="{45694912-FD06-4AF4-98B5-6D22CC213BF3}"/>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AB8A11AC-5910-4590-A5ED-3BE971D339AA}"/>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60 candidates • 0 eligible trades</a:t>
            </a:r>
          </a:p>
        </p:txBody>
      </p:sp>
      <p:sp>
        <p:nvSpPr>
          <p:cNvPr id="12" name="">
            <a:extLst xmlns:a="http://schemas.openxmlformats.org/drawingml/2006/main">
              <a:ext uri="{FF2B5EF4-FFF2-40B4-BE49-F238E27FC236}">
                <a16:creationId xmlns:a16="http://schemas.microsoft.com/office/drawing/2014/main" id="{1F9D26E5-A0F2-436C-A41F-949CC370F8B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8E148338-E09D-4B11-8C32-49E982C56F0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07"/>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Forecast scores improved, but no candidate reached a tradable opportunity under the registered rules.</a:t>
            </a:r>
          </a:p>
        </p:txBody>
      </p:sp>
      <p:sp>
        <p:nvSpPr>
          <p:cNvPr id="14" name="">
            <a:extLst xmlns:a="http://schemas.openxmlformats.org/drawingml/2006/main">
              <a:ext uri="{FF2B5EF4-FFF2-40B4-BE49-F238E27FC236}">
                <a16:creationId xmlns:a16="http://schemas.microsoft.com/office/drawing/2014/main" id="{53985D63-972C-4771-A71F-F917C35346B6}"/>
              </a:ext>
            </a:extLst>
          </p:cNvPr>
          <p:cNvSpPr>
            <a:spLocks xmlns:a="http://schemas.openxmlformats.org/drawingml/2006/main" noGrp="1"/>
          </p:cNvSpPr>
          <p:nvPr/>
        </p:nvSpPr>
        <p:spPr>
          <a:xfrm xmlns:a="http://schemas.openxmlformats.org/drawingml/2006/main">
            <a:off x="5581650" y="1952625"/>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DD28A"/>
            </a:solidFill>
            <a:prstDash val="solid"/>
          </a:ln>
        </p:spPr>
      </p:sp>
      <p:sp>
        <p:nvSpPr>
          <p:cNvPr id="15" name="">
            <a:extLst xmlns:a="http://schemas.openxmlformats.org/drawingml/2006/main">
              <a:ext uri="{FF2B5EF4-FFF2-40B4-BE49-F238E27FC236}">
                <a16:creationId xmlns:a16="http://schemas.microsoft.com/office/drawing/2014/main" id="{DB2E276C-A4BB-45FB-9D1B-9B75B96CD7D2}"/>
              </a:ext>
            </a:extLst>
          </p:cNvPr>
          <p:cNvSpPr>
            <a:spLocks xmlns:a="http://schemas.openxmlformats.org/drawingml/2006/main" noGrp="1"/>
          </p:cNvSpPr>
          <p:nvPr/>
        </p:nvSpPr>
        <p:spPr>
          <a:xfrm xmlns:a="http://schemas.openxmlformats.org/drawingml/2006/main">
            <a:off x="5772150" y="20288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Exact settlement</a:t>
            </a:r>
          </a:p>
        </p:txBody>
      </p:sp>
      <p:sp>
        <p:nvSpPr>
          <p:cNvPr id="16" name="">
            <a:extLst xmlns:a="http://schemas.openxmlformats.org/drawingml/2006/main">
              <a:ext uri="{FF2B5EF4-FFF2-40B4-BE49-F238E27FC236}">
                <a16:creationId xmlns:a16="http://schemas.microsoft.com/office/drawing/2014/main" id="{79B27612-8683-4E92-811F-1C93EAF5109C}"/>
              </a:ext>
            </a:extLst>
          </p:cNvPr>
          <p:cNvSpPr>
            <a:spLocks xmlns:a="http://schemas.openxmlformats.org/drawingml/2006/main" noGrp="1"/>
          </p:cNvSpPr>
          <p:nvPr/>
        </p:nvSpPr>
        <p:spPr>
          <a:xfrm xmlns:a="http://schemas.openxmlformats.org/drawingml/2006/main">
            <a:off x="5695950" y="2686050"/>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7D7D0"/>
            </a:solidFill>
            <a:prstDash val="solid"/>
          </a:ln>
        </p:spPr>
      </p:sp>
      <p:sp>
        <p:nvSpPr>
          <p:cNvPr id="17" name="">
            <a:extLst xmlns:a="http://schemas.openxmlformats.org/drawingml/2006/main">
              <a:ext uri="{FF2B5EF4-FFF2-40B4-BE49-F238E27FC236}">
                <a16:creationId xmlns:a16="http://schemas.microsoft.com/office/drawing/2014/main" id="{6FED6F68-DF5B-4DE7-938D-294838986B7B}"/>
              </a:ext>
            </a:extLst>
          </p:cNvPr>
          <p:cNvSpPr>
            <a:spLocks xmlns:a="http://schemas.openxmlformats.org/drawingml/2006/main" noGrp="1"/>
          </p:cNvSpPr>
          <p:nvPr/>
        </p:nvSpPr>
        <p:spPr>
          <a:xfrm xmlns:a="http://schemas.openxmlformats.org/drawingml/2006/main">
            <a:off x="5886450" y="276225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Local observations</a:t>
            </a:r>
          </a:p>
        </p:txBody>
      </p:sp>
      <p:sp>
        <p:nvSpPr>
          <p:cNvPr id="18" name="">
            <a:extLst xmlns:a="http://schemas.openxmlformats.org/drawingml/2006/main">
              <a:ext uri="{FF2B5EF4-FFF2-40B4-BE49-F238E27FC236}">
                <a16:creationId xmlns:a16="http://schemas.microsoft.com/office/drawing/2014/main" id="{91D8C029-5F33-4013-BC7B-4CFC854D82B8}"/>
              </a:ext>
            </a:extLst>
          </p:cNvPr>
          <p:cNvSpPr>
            <a:spLocks xmlns:a="http://schemas.openxmlformats.org/drawingml/2006/main" noGrp="1"/>
          </p:cNvSpPr>
          <p:nvPr/>
        </p:nvSpPr>
        <p:spPr>
          <a:xfrm xmlns:a="http://schemas.openxmlformats.org/drawingml/2006/main">
            <a:off x="5810250" y="3419475"/>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FA28D841-D1FF-4AC2-AB48-D13264AAC527}"/>
              </a:ext>
            </a:extLst>
          </p:cNvPr>
          <p:cNvSpPr>
            <a:spLocks xmlns:a="http://schemas.openxmlformats.org/drawingml/2006/main" noGrp="1"/>
          </p:cNvSpPr>
          <p:nvPr/>
        </p:nvSpPr>
        <p:spPr>
          <a:xfrm xmlns:a="http://schemas.openxmlformats.org/drawingml/2006/main">
            <a:off x="6000750" y="349567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HRRR + GEFS</a:t>
            </a:r>
          </a:p>
        </p:txBody>
      </p:sp>
      <p:sp>
        <p:nvSpPr>
          <p:cNvPr id="20" name="">
            <a:extLst xmlns:a="http://schemas.openxmlformats.org/drawingml/2006/main">
              <a:ext uri="{FF2B5EF4-FFF2-40B4-BE49-F238E27FC236}">
                <a16:creationId xmlns:a16="http://schemas.microsoft.com/office/drawing/2014/main" id="{27465B0A-3E02-43A7-B146-9BA041A780DA}"/>
              </a:ext>
            </a:extLst>
          </p:cNvPr>
          <p:cNvSpPr>
            <a:spLocks xmlns:a="http://schemas.openxmlformats.org/drawingml/2006/main" noGrp="1"/>
          </p:cNvSpPr>
          <p:nvPr/>
        </p:nvSpPr>
        <p:spPr>
          <a:xfrm xmlns:a="http://schemas.openxmlformats.org/drawingml/2006/main">
            <a:off x="5924550" y="4152900"/>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F4B860"/>
            </a:solidFill>
            <a:prstDash val="solid"/>
          </a:ln>
        </p:spPr>
      </p:sp>
      <p:sp>
        <p:nvSpPr>
          <p:cNvPr id="21" name="">
            <a:extLst xmlns:a="http://schemas.openxmlformats.org/drawingml/2006/main">
              <a:ext uri="{FF2B5EF4-FFF2-40B4-BE49-F238E27FC236}">
                <a16:creationId xmlns:a16="http://schemas.microsoft.com/office/drawing/2014/main" id="{29A5BDE9-A80D-4F23-A8A4-353761978C80}"/>
              </a:ext>
            </a:extLst>
          </p:cNvPr>
          <p:cNvSpPr>
            <a:spLocks xmlns:a="http://schemas.openxmlformats.org/drawingml/2006/main" noGrp="1"/>
          </p:cNvSpPr>
          <p:nvPr/>
        </p:nvSpPr>
        <p:spPr>
          <a:xfrm xmlns:a="http://schemas.openxmlformats.org/drawingml/2006/main">
            <a:off x="6115050" y="422910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Minute Kalshi</a:t>
            </a:r>
          </a:p>
        </p:txBody>
      </p:sp>
      <p:sp>
        <p:nvSpPr>
          <p:cNvPr id="22" name="">
            <a:extLst xmlns:a="http://schemas.openxmlformats.org/drawingml/2006/main">
              <a:ext uri="{FF2B5EF4-FFF2-40B4-BE49-F238E27FC236}">
                <a16:creationId xmlns:a16="http://schemas.microsoft.com/office/drawing/2014/main" id="{612C2605-F91D-4BC9-BC01-13D7D2C4C729}"/>
              </a:ext>
            </a:extLst>
          </p:cNvPr>
          <p:cNvSpPr>
            <a:spLocks xmlns:a="http://schemas.openxmlformats.org/drawingml/2006/main" noGrp="1"/>
          </p:cNvSpPr>
          <p:nvPr/>
        </p:nvSpPr>
        <p:spPr>
          <a:xfrm xmlns:a="http://schemas.openxmlformats.org/drawingml/2006/main">
            <a:off x="8582025" y="3105150"/>
            <a:ext cx="762000" cy="4000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E0BADC8-AEB6-48FF-8AB8-F8F42EC64CCC}"/>
              </a:ext>
            </a:extLst>
          </p:cNvPr>
          <p:cNvSpPr>
            <a:spLocks xmlns:a="http://schemas.openxmlformats.org/drawingml/2006/main" noGrp="1"/>
          </p:cNvSpPr>
          <p:nvPr/>
        </p:nvSpPr>
        <p:spPr>
          <a:xfrm xmlns:a="http://schemas.openxmlformats.org/drawingml/2006/main">
            <a:off x="9572625" y="2343150"/>
            <a:ext cx="1428750" cy="1952625"/>
          </a:xfrm>
          <a:prstGeom xmlns:a="http://schemas.openxmlformats.org/drawingml/2006/main" prst="roundRect">
            <a:avLst>
              <a:gd name="adj" fmla="val 16000"/>
            </a:avLst>
          </a:prstGeom>
          <a:solidFill xmlns:a="http://schemas.openxmlformats.org/drawingml/2006/main">
            <a:srgbClr val="18263A"/>
          </a:solidFill>
          <a:ln xmlns:a="http://schemas.openxmlformats.org/drawingml/2006/main" w="19050">
            <a:solidFill>
              <a:srgbClr val="62748B"/>
            </a:solidFill>
            <a:prstDash val="solid"/>
          </a:ln>
        </p:spPr>
      </p:sp>
      <p:sp>
        <p:nvSpPr>
          <p:cNvPr id="24" name="">
            <a:extLst xmlns:a="http://schemas.openxmlformats.org/drawingml/2006/main">
              <a:ext uri="{FF2B5EF4-FFF2-40B4-BE49-F238E27FC236}">
                <a16:creationId xmlns:a16="http://schemas.microsoft.com/office/drawing/2014/main" id="{B7C74DF4-A6CF-4018-A59A-04DB0B0F5065}"/>
              </a:ext>
            </a:extLst>
          </p:cNvPr>
          <p:cNvSpPr>
            <a:spLocks xmlns:a="http://schemas.openxmlformats.org/drawingml/2006/main" noGrp="1"/>
          </p:cNvSpPr>
          <p:nvPr/>
        </p:nvSpPr>
        <p:spPr>
          <a:xfrm xmlns:a="http://schemas.openxmlformats.org/drawingml/2006/main">
            <a:off x="9744075" y="2562225"/>
            <a:ext cx="1085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ELIGIBILITY</a:t>
            </a:r>
          </a:p>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FUNNEL</a:t>
            </a:r>
          </a:p>
        </p:txBody>
      </p:sp>
      <p:sp>
        <p:nvSpPr>
          <p:cNvPr id="25" name="">
            <a:extLst xmlns:a="http://schemas.openxmlformats.org/drawingml/2006/main">
              <a:ext uri="{FF2B5EF4-FFF2-40B4-BE49-F238E27FC236}">
                <a16:creationId xmlns:a16="http://schemas.microsoft.com/office/drawing/2014/main" id="{5B505CB4-8406-430C-AD7E-2EDB9EE7C8BB}"/>
              </a:ext>
            </a:extLst>
          </p:cNvPr>
          <p:cNvSpPr>
            <a:spLocks xmlns:a="http://schemas.openxmlformats.org/drawingml/2006/main" noGrp="1"/>
          </p:cNvSpPr>
          <p:nvPr/>
        </p:nvSpPr>
        <p:spPr>
          <a:xfrm xmlns:a="http://schemas.openxmlformats.org/drawingml/2006/main">
            <a:off x="9810750" y="3257550"/>
            <a:ext cx="95250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26" name="">
            <a:extLst xmlns:a="http://schemas.openxmlformats.org/drawingml/2006/main">
              <a:ext uri="{FF2B5EF4-FFF2-40B4-BE49-F238E27FC236}">
                <a16:creationId xmlns:a16="http://schemas.microsoft.com/office/drawing/2014/main" id="{43BD9741-002F-460A-93FF-DB93AB390954}"/>
              </a:ext>
            </a:extLst>
          </p:cNvPr>
          <p:cNvSpPr>
            <a:spLocks xmlns:a="http://schemas.openxmlformats.org/drawingml/2006/main" noGrp="1"/>
          </p:cNvSpPr>
          <p:nvPr/>
        </p:nvSpPr>
        <p:spPr>
          <a:xfrm xmlns:a="http://schemas.openxmlformats.org/drawingml/2006/main">
            <a:off x="9820275" y="335280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222"/>
          </a:bodyPr>
          <a:lstStyle xmlns:a="http://schemas.openxmlformats.org/drawingml/2006/main"/>
          <a:p xmlns:a="http://schemas.openxmlformats.org/drawingml/2006/main">
            <a:pPr algn="ctr">
              <a:lnSpc>
                <a:spcPct val="100000"/>
              </a:lnSpc>
              <a:buNone/>
              <a:defRPr sz="2700" b="1">
                <a:solidFill>
                  <a:srgbClr val="F5F7FA"/>
                </a:solidFill>
                <a:latin typeface="Arial"/>
                <a:ea typeface="Arial"/>
                <a:cs typeface="Arial"/>
              </a:defRPr>
            </a:pPr>
            <a:r>
              <a:rPr sz="2700" b="1">
                <a:solidFill>
                  <a:srgbClr val="F5F7FA"/>
                </a:solidFill>
                <a:latin typeface="Arial"/>
                <a:ea typeface="Arial"/>
                <a:cs typeface="Arial"/>
              </a:rPr>
              <a:t>60</a:t>
            </a:r>
          </a:p>
        </p:txBody>
      </p:sp>
      <p:sp>
        <p:nvSpPr>
          <p:cNvPr id="27" name="">
            <a:extLst xmlns:a="http://schemas.openxmlformats.org/drawingml/2006/main">
              <a:ext uri="{FF2B5EF4-FFF2-40B4-BE49-F238E27FC236}">
                <a16:creationId xmlns:a16="http://schemas.microsoft.com/office/drawing/2014/main" id="{084112E0-CC6B-4249-BBEA-9E0684BE586B}"/>
              </a:ext>
            </a:extLst>
          </p:cNvPr>
          <p:cNvSpPr>
            <a:spLocks xmlns:a="http://schemas.openxmlformats.org/drawingml/2006/main" noGrp="1"/>
          </p:cNvSpPr>
          <p:nvPr/>
        </p:nvSpPr>
        <p:spPr>
          <a:xfrm xmlns:a="http://schemas.openxmlformats.org/drawingml/2006/main">
            <a:off x="9972675" y="37909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9286"/>
          </a:bodyPr>
          <a:lstStyle xmlns:a="http://schemas.openxmlformats.org/drawingml/2006/main"/>
          <a:p xmlns:a="http://schemas.openxmlformats.org/drawingml/2006/main">
            <a:pPr algn="ctr">
              <a:lnSpc>
                <a:spcPct val="100000"/>
              </a:lnSpc>
              <a:buNone/>
              <a:defRPr sz="2100" b="1">
                <a:solidFill>
                  <a:srgbClr val="FF6B6B"/>
                </a:solidFill>
                <a:latin typeface="Arial"/>
                <a:ea typeface="Arial"/>
                <a:cs typeface="Arial"/>
              </a:defRPr>
            </a:pPr>
            <a:r>
              <a:rPr sz="2100" b="1">
                <a:solidFill>
                  <a:srgbClr val="FF6B6B"/>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B0F42931-6F7E-4C74-8BC0-C17B7C61D66E}"/>
              </a:ext>
            </a:extLst>
          </p:cNvPr>
          <p:cNvSpPr>
            <a:spLocks xmlns:a="http://schemas.openxmlformats.org/drawingml/2006/main" noGrp="1"/>
          </p:cNvSpPr>
          <p:nvPr/>
        </p:nvSpPr>
        <p:spPr>
          <a:xfrm xmlns:a="http://schemas.openxmlformats.org/drawingml/2006/main">
            <a:off x="9982200" y="4248150"/>
            <a:ext cx="628650" cy="628650"/>
          </a:xfrm>
          <a:prstGeom xmlns:a="http://schemas.openxmlformats.org/drawingml/2006/main" prst="ellipse">
            <a:avLst/>
          </a:prstGeom>
          <a:solidFill xmlns:a="http://schemas.openxmlformats.org/drawingml/2006/main">
            <a:srgbClr val="FF6B6B"/>
          </a:solidFill>
          <a:ln xmlns:a="http://schemas.openxmlformats.org/drawingml/2006/main" w="19050">
            <a:solidFill>
              <a:srgbClr val="FF6B6B"/>
            </a:solidFill>
            <a:prstDash val="solid"/>
          </a:ln>
        </p:spPr>
      </p:sp>
      <p:sp>
        <p:nvSpPr>
          <p:cNvPr id="29" name="">
            <a:extLst xmlns:a="http://schemas.openxmlformats.org/drawingml/2006/main">
              <a:ext uri="{FF2B5EF4-FFF2-40B4-BE49-F238E27FC236}">
                <a16:creationId xmlns:a16="http://schemas.microsoft.com/office/drawing/2014/main" id="{D4404464-1BE8-48D6-AE84-36233F67D90C}"/>
              </a:ext>
            </a:extLst>
          </p:cNvPr>
          <p:cNvSpPr>
            <a:spLocks xmlns:a="http://schemas.openxmlformats.org/drawingml/2006/main" noGrp="1"/>
          </p:cNvSpPr>
          <p:nvPr/>
        </p:nvSpPr>
        <p:spPr>
          <a:xfrm xmlns:a="http://schemas.openxmlformats.org/drawingml/2006/main">
            <a:off x="9982200" y="42481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400" b="1">
                <a:solidFill>
                  <a:srgbClr val="0B1320"/>
                </a:solidFill>
                <a:latin typeface="Arial"/>
                <a:ea typeface="Arial"/>
                <a:cs typeface="Arial"/>
              </a:defRPr>
            </a:pPr>
            <a:r>
              <a:rPr sz="2400" b="1">
                <a:solidFill>
                  <a:srgbClr val="0B1320"/>
                </a:solidFill>
                <a:latin typeface="Arial"/>
                <a:ea typeface="Arial"/>
                <a:cs typeface="Arial"/>
              </a:rPr>
              <a:t>0</a:t>
            </a:r>
          </a:p>
        </p:txBody>
      </p:sp>
      <p:sp>
        <p:nvSpPr>
          <p:cNvPr id="30" name="">
            <a:extLst xmlns:a="http://schemas.openxmlformats.org/drawingml/2006/main">
              <a:ext uri="{FF2B5EF4-FFF2-40B4-BE49-F238E27FC236}">
                <a16:creationId xmlns:a16="http://schemas.microsoft.com/office/drawing/2014/main" id="{1E97DDB1-6D9D-49D3-BB1D-1223D6938CCD}"/>
              </a:ext>
            </a:extLst>
          </p:cNvPr>
          <p:cNvSpPr>
            <a:spLocks xmlns:a="http://schemas.openxmlformats.org/drawingml/2006/main" noGrp="1"/>
          </p:cNvSpPr>
          <p:nvPr/>
        </p:nvSpPr>
        <p:spPr>
          <a:xfrm xmlns:a="http://schemas.openxmlformats.org/drawingml/2006/main">
            <a:off x="9582150" y="4953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eligible trades</a:t>
            </a:r>
          </a:p>
        </p:txBody>
      </p:sp>
      <p:sp>
        <p:nvSpPr>
          <p:cNvPr id="31" name="">
            <a:extLst xmlns:a="http://schemas.openxmlformats.org/drawingml/2006/main">
              <a:ext uri="{FF2B5EF4-FFF2-40B4-BE49-F238E27FC236}">
                <a16:creationId xmlns:a16="http://schemas.microsoft.com/office/drawing/2014/main" id="{68087FED-9E49-4EEF-B96E-1CB60CD3AAE5}"/>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32" name="">
            <a:extLst xmlns:a="http://schemas.openxmlformats.org/drawingml/2006/main">
              <a:ext uri="{FF2B5EF4-FFF2-40B4-BE49-F238E27FC236}">
                <a16:creationId xmlns:a16="http://schemas.microsoft.com/office/drawing/2014/main" id="{859E70E9-A2B8-47FD-9921-D34789FA46A6}"/>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3" name="">
            <a:extLst xmlns:a="http://schemas.openxmlformats.org/drawingml/2006/main">
              <a:ext uri="{FF2B5EF4-FFF2-40B4-BE49-F238E27FC236}">
                <a16:creationId xmlns:a16="http://schemas.microsoft.com/office/drawing/2014/main" id="{A3391DC0-6205-456A-95B9-F8F94EF0385C}"/>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34" name="">
            <a:extLst xmlns:a="http://schemas.openxmlformats.org/drawingml/2006/main">
              <a:ext uri="{FF2B5EF4-FFF2-40B4-BE49-F238E27FC236}">
                <a16:creationId xmlns:a16="http://schemas.microsoft.com/office/drawing/2014/main" id="{87F5A81B-F3D9-4126-93AB-A28B773F9128}"/>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5" name="">
            <a:extLst xmlns:a="http://schemas.openxmlformats.org/drawingml/2006/main">
              <a:ext uri="{FF2B5EF4-FFF2-40B4-BE49-F238E27FC236}">
                <a16:creationId xmlns:a16="http://schemas.microsoft.com/office/drawing/2014/main" id="{DAB6048C-6CA4-496B-8B6F-A13987C1F7A1}"/>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6" name="">
            <a:extLst xmlns:a="http://schemas.openxmlformats.org/drawingml/2006/main">
              <a:ext uri="{FF2B5EF4-FFF2-40B4-BE49-F238E27FC236}">
                <a16:creationId xmlns:a16="http://schemas.microsoft.com/office/drawing/2014/main" id="{E5D2BBD4-65DD-4974-9111-AB5C45B7C1DA}"/>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7" name="">
            <a:extLst xmlns:a="http://schemas.openxmlformats.org/drawingml/2006/main">
              <a:ext uri="{FF2B5EF4-FFF2-40B4-BE49-F238E27FC236}">
                <a16:creationId xmlns:a16="http://schemas.microsoft.com/office/drawing/2014/main" id="{18912324-774E-44D3-AC3C-A2A754892793}"/>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38" name="">
            <a:extLst xmlns:a="http://schemas.openxmlformats.org/drawingml/2006/main">
              <a:ext uri="{FF2B5EF4-FFF2-40B4-BE49-F238E27FC236}">
                <a16:creationId xmlns:a16="http://schemas.microsoft.com/office/drawing/2014/main" id="{5F5B48C9-B5CD-4552-BB8E-4A166E07CE91}"/>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9" name="">
            <a:extLst xmlns:a="http://schemas.openxmlformats.org/drawingml/2006/main">
              <a:ext uri="{FF2B5EF4-FFF2-40B4-BE49-F238E27FC236}">
                <a16:creationId xmlns:a16="http://schemas.microsoft.com/office/drawing/2014/main" id="{863A6014-492E-4B5B-AE66-A6264C6EB458}"/>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40" name="">
            <a:extLst xmlns:a="http://schemas.openxmlformats.org/drawingml/2006/main">
              <a:ext uri="{FF2B5EF4-FFF2-40B4-BE49-F238E27FC236}">
                <a16:creationId xmlns:a16="http://schemas.microsoft.com/office/drawing/2014/main" id="{655CB355-A9F5-457A-B157-67DF8302BFFE}"/>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1" name="">
            <a:extLst xmlns:a="http://schemas.openxmlformats.org/drawingml/2006/main">
              <a:ext uri="{FF2B5EF4-FFF2-40B4-BE49-F238E27FC236}">
                <a16:creationId xmlns:a16="http://schemas.microsoft.com/office/drawing/2014/main" id="{A76E3F13-13FF-4D6E-B031-54A25B0BE17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120336882"/>
      </p:ext>
    </p:extLst>
  </p:cSld>
</p:sld>
</file>

<file path=ppt/slides/slide6.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AA98086-284E-48D6-BFE1-2B552C4A66C9}"/>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SEARCH EXPANSION</a:t>
            </a:r>
          </a:p>
        </p:txBody>
      </p:sp>
      <p:sp>
        <p:nvSpPr>
          <p:cNvPr id="2" name="">
            <a:extLst xmlns:a="http://schemas.openxmlformats.org/drawingml/2006/main">
              <a:ext uri="{FF2B5EF4-FFF2-40B4-BE49-F238E27FC236}">
                <a16:creationId xmlns:a16="http://schemas.microsoft.com/office/drawing/2014/main" id="{6865D2BB-6015-4D2F-8555-89B72E159251}"/>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V4: search the opportunity space</a:t>
            </a:r>
          </a:p>
        </p:txBody>
      </p:sp>
      <p:sp>
        <p:nvSpPr>
          <p:cNvPr id="3" name="">
            <a:extLst xmlns:a="http://schemas.openxmlformats.org/drawingml/2006/main">
              <a:ext uri="{FF2B5EF4-FFF2-40B4-BE49-F238E27FC236}">
                <a16:creationId xmlns:a16="http://schemas.microsoft.com/office/drawing/2014/main" id="{DD3BD240-C7A9-45CD-B906-6E08F1F0E59B}"/>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88F64F65-D3C6-4377-A0B8-608FEC8E491F}"/>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9F5A6A77-0440-46B8-8BF8-21D180EF0277}"/>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EB814A6A-0C2A-4275-B45F-A1C2CEDF9075}"/>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A2432A40-A245-42D5-8BA7-3C57597404B5}"/>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3,072 frozen research plans</a:t>
            </a:r>
          </a:p>
        </p:txBody>
      </p:sp>
      <p:sp>
        <p:nvSpPr>
          <p:cNvPr id="8" name="">
            <a:extLst xmlns:a="http://schemas.openxmlformats.org/drawingml/2006/main">
              <a:ext uri="{FF2B5EF4-FFF2-40B4-BE49-F238E27FC236}">
                <a16:creationId xmlns:a16="http://schemas.microsoft.com/office/drawing/2014/main" id="{BE0929B0-A75A-421B-BD59-44120D3D3A9D}"/>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48FD362D-24FE-4A36-B568-87324323DE12}"/>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decision times • 4 model tracks</a:t>
            </a:r>
          </a:p>
        </p:txBody>
      </p:sp>
      <p:sp>
        <p:nvSpPr>
          <p:cNvPr id="10" name="">
            <a:extLst xmlns:a="http://schemas.openxmlformats.org/drawingml/2006/main">
              <a:ext uri="{FF2B5EF4-FFF2-40B4-BE49-F238E27FC236}">
                <a16:creationId xmlns:a16="http://schemas.microsoft.com/office/drawing/2014/main" id="{2F413C06-E6B7-4EA4-9CE6-568C8275257A}"/>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49DD938B-C225-4902-A09E-86FF6D23CF4E}"/>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82 candidates tested</a:t>
            </a:r>
          </a:p>
        </p:txBody>
      </p:sp>
      <p:sp>
        <p:nvSpPr>
          <p:cNvPr id="12" name="">
            <a:extLst xmlns:a="http://schemas.openxmlformats.org/drawingml/2006/main">
              <a:ext uri="{FF2B5EF4-FFF2-40B4-BE49-F238E27FC236}">
                <a16:creationId xmlns:a16="http://schemas.microsoft.com/office/drawing/2014/main" id="{B31DF8FF-1A32-45D4-B62B-58D286147853}"/>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3AFFD656-A83A-4C80-A735-1D39BCA1D0A3}"/>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67"/>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local model returned an invalid nomination format. A format failure stopped the campaign, not a scientific conclusion.</a:t>
            </a:r>
          </a:p>
        </p:txBody>
      </p:sp>
      <p:sp>
        <p:nvSpPr>
          <p:cNvPr id="14" name="">
            <a:extLst xmlns:a="http://schemas.openxmlformats.org/drawingml/2006/main">
              <a:ext uri="{FF2B5EF4-FFF2-40B4-BE49-F238E27FC236}">
                <a16:creationId xmlns:a16="http://schemas.microsoft.com/office/drawing/2014/main" id="{64EA0C1F-3136-4A81-8F81-7D04D0E52AD5}"/>
              </a:ext>
            </a:extLst>
          </p:cNvPr>
          <p:cNvSpPr>
            <a:spLocks xmlns:a="http://schemas.openxmlformats.org/drawingml/2006/main" noGrp="1"/>
          </p:cNvSpPr>
          <p:nvPr/>
        </p:nvSpPr>
        <p:spPr>
          <a:xfrm xmlns:a="http://schemas.openxmlformats.org/drawingml/2006/main">
            <a:off x="7086600"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13:30</a:t>
            </a:r>
          </a:p>
        </p:txBody>
      </p:sp>
      <p:sp>
        <p:nvSpPr>
          <p:cNvPr id="15" name="">
            <a:extLst xmlns:a="http://schemas.openxmlformats.org/drawingml/2006/main">
              <a:ext uri="{FF2B5EF4-FFF2-40B4-BE49-F238E27FC236}">
                <a16:creationId xmlns:a16="http://schemas.microsoft.com/office/drawing/2014/main" id="{2E87C67D-543D-4635-BC6D-01F762C4EA92}"/>
              </a:ext>
            </a:extLst>
          </p:cNvPr>
          <p:cNvSpPr>
            <a:spLocks xmlns:a="http://schemas.openxmlformats.org/drawingml/2006/main" noGrp="1"/>
          </p:cNvSpPr>
          <p:nvPr/>
        </p:nvSpPr>
        <p:spPr>
          <a:xfrm xmlns:a="http://schemas.openxmlformats.org/drawingml/2006/main">
            <a:off x="8467725"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15:00</a:t>
            </a:r>
          </a:p>
        </p:txBody>
      </p:sp>
      <p:sp>
        <p:nvSpPr>
          <p:cNvPr id="16" name="">
            <a:extLst xmlns:a="http://schemas.openxmlformats.org/drawingml/2006/main">
              <a:ext uri="{FF2B5EF4-FFF2-40B4-BE49-F238E27FC236}">
                <a16:creationId xmlns:a16="http://schemas.microsoft.com/office/drawing/2014/main" id="{C275D546-C4C3-461D-ABE2-5A1BA7012A2D}"/>
              </a:ext>
            </a:extLst>
          </p:cNvPr>
          <p:cNvSpPr>
            <a:spLocks xmlns:a="http://schemas.openxmlformats.org/drawingml/2006/main" noGrp="1"/>
          </p:cNvSpPr>
          <p:nvPr/>
        </p:nvSpPr>
        <p:spPr>
          <a:xfrm xmlns:a="http://schemas.openxmlformats.org/drawingml/2006/main">
            <a:off x="9848850"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18:00</a:t>
            </a:r>
          </a:p>
        </p:txBody>
      </p:sp>
      <p:sp>
        <p:nvSpPr>
          <p:cNvPr id="17" name="">
            <a:extLst xmlns:a="http://schemas.openxmlformats.org/drawingml/2006/main">
              <a:ext uri="{FF2B5EF4-FFF2-40B4-BE49-F238E27FC236}">
                <a16:creationId xmlns:a16="http://schemas.microsoft.com/office/drawing/2014/main" id="{6E125382-17BF-4106-873E-7AD800CDB792}"/>
              </a:ext>
            </a:extLst>
          </p:cNvPr>
          <p:cNvSpPr>
            <a:spLocks xmlns:a="http://schemas.openxmlformats.org/drawingml/2006/main" noGrp="1"/>
          </p:cNvSpPr>
          <p:nvPr/>
        </p:nvSpPr>
        <p:spPr>
          <a:xfrm xmlns:a="http://schemas.openxmlformats.org/drawingml/2006/main">
            <a:off x="5286375" y="22193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Baseline</a:t>
            </a:r>
          </a:p>
        </p:txBody>
      </p:sp>
      <p:sp>
        <p:nvSpPr>
          <p:cNvPr id="18" name="">
            <a:extLst xmlns:a="http://schemas.openxmlformats.org/drawingml/2006/main">
              <a:ext uri="{FF2B5EF4-FFF2-40B4-BE49-F238E27FC236}">
                <a16:creationId xmlns:a16="http://schemas.microsoft.com/office/drawing/2014/main" id="{13CAFCC1-1E6D-4153-893E-7C1189F04BA9}"/>
              </a:ext>
            </a:extLst>
          </p:cNvPr>
          <p:cNvSpPr>
            <a:spLocks xmlns:a="http://schemas.openxmlformats.org/drawingml/2006/main" noGrp="1"/>
          </p:cNvSpPr>
          <p:nvPr/>
        </p:nvSpPr>
        <p:spPr>
          <a:xfrm xmlns:a="http://schemas.openxmlformats.org/drawingml/2006/main">
            <a:off x="7343775"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81D7CB60-988F-449F-BA9F-8DEABFA7E107}"/>
              </a:ext>
            </a:extLst>
          </p:cNvPr>
          <p:cNvSpPr>
            <a:spLocks xmlns:a="http://schemas.openxmlformats.org/drawingml/2006/main" noGrp="1"/>
          </p:cNvSpPr>
          <p:nvPr/>
        </p:nvSpPr>
        <p:spPr>
          <a:xfrm xmlns:a="http://schemas.openxmlformats.org/drawingml/2006/main">
            <a:off x="7343775"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E54DBEE-BD6C-4BBA-AEDE-3B8788D0E82B}"/>
              </a:ext>
            </a:extLst>
          </p:cNvPr>
          <p:cNvSpPr>
            <a:spLocks xmlns:a="http://schemas.openxmlformats.org/drawingml/2006/main" noGrp="1"/>
          </p:cNvSpPr>
          <p:nvPr/>
        </p:nvSpPr>
        <p:spPr>
          <a:xfrm xmlns:a="http://schemas.openxmlformats.org/drawingml/2006/main">
            <a:off x="8724900"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1" name="">
            <a:extLst xmlns:a="http://schemas.openxmlformats.org/drawingml/2006/main">
              <a:ext uri="{FF2B5EF4-FFF2-40B4-BE49-F238E27FC236}">
                <a16:creationId xmlns:a16="http://schemas.microsoft.com/office/drawing/2014/main" id="{4BAB3D2D-B3DC-4831-A125-68D84B5AAC29}"/>
              </a:ext>
            </a:extLst>
          </p:cNvPr>
          <p:cNvSpPr>
            <a:spLocks xmlns:a="http://schemas.openxmlformats.org/drawingml/2006/main" noGrp="1"/>
          </p:cNvSpPr>
          <p:nvPr/>
        </p:nvSpPr>
        <p:spPr>
          <a:xfrm xmlns:a="http://schemas.openxmlformats.org/drawingml/2006/main">
            <a:off x="8724900"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EFE2A622-A1D4-4922-9852-40DD49041A5D}"/>
              </a:ext>
            </a:extLst>
          </p:cNvPr>
          <p:cNvSpPr>
            <a:spLocks xmlns:a="http://schemas.openxmlformats.org/drawingml/2006/main" noGrp="1"/>
          </p:cNvSpPr>
          <p:nvPr/>
        </p:nvSpPr>
        <p:spPr>
          <a:xfrm xmlns:a="http://schemas.openxmlformats.org/drawingml/2006/main">
            <a:off x="10106025"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3" name="">
            <a:extLst xmlns:a="http://schemas.openxmlformats.org/drawingml/2006/main">
              <a:ext uri="{FF2B5EF4-FFF2-40B4-BE49-F238E27FC236}">
                <a16:creationId xmlns:a16="http://schemas.microsoft.com/office/drawing/2014/main" id="{EBA93153-E8D1-4DF7-BFAE-812C910F8AF0}"/>
              </a:ext>
            </a:extLst>
          </p:cNvPr>
          <p:cNvSpPr>
            <a:spLocks xmlns:a="http://schemas.openxmlformats.org/drawingml/2006/main" noGrp="1"/>
          </p:cNvSpPr>
          <p:nvPr/>
        </p:nvSpPr>
        <p:spPr>
          <a:xfrm xmlns:a="http://schemas.openxmlformats.org/drawingml/2006/main">
            <a:off x="10106025"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65071826-88D6-4EA6-AD30-65F4A883B5C5}"/>
              </a:ext>
            </a:extLst>
          </p:cNvPr>
          <p:cNvSpPr>
            <a:spLocks xmlns:a="http://schemas.openxmlformats.org/drawingml/2006/main" noGrp="1"/>
          </p:cNvSpPr>
          <p:nvPr/>
        </p:nvSpPr>
        <p:spPr>
          <a:xfrm xmlns:a="http://schemas.openxmlformats.org/drawingml/2006/main">
            <a:off x="5286375" y="29051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Bias</a:t>
            </a:r>
          </a:p>
        </p:txBody>
      </p:sp>
      <p:sp>
        <p:nvSpPr>
          <p:cNvPr id="25" name="">
            <a:extLst xmlns:a="http://schemas.openxmlformats.org/drawingml/2006/main">
              <a:ext uri="{FF2B5EF4-FFF2-40B4-BE49-F238E27FC236}">
                <a16:creationId xmlns:a16="http://schemas.microsoft.com/office/drawing/2014/main" id="{FC9F99E1-01E3-4CAE-A327-A32FE7F90ED0}"/>
              </a:ext>
            </a:extLst>
          </p:cNvPr>
          <p:cNvSpPr>
            <a:spLocks xmlns:a="http://schemas.openxmlformats.org/drawingml/2006/main" noGrp="1"/>
          </p:cNvSpPr>
          <p:nvPr/>
        </p:nvSpPr>
        <p:spPr>
          <a:xfrm xmlns:a="http://schemas.openxmlformats.org/drawingml/2006/main">
            <a:off x="7343775"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6" name="">
            <a:extLst xmlns:a="http://schemas.openxmlformats.org/drawingml/2006/main">
              <a:ext uri="{FF2B5EF4-FFF2-40B4-BE49-F238E27FC236}">
                <a16:creationId xmlns:a16="http://schemas.microsoft.com/office/drawing/2014/main" id="{F30F3931-B5E4-419D-B2FF-865E141DD3EE}"/>
              </a:ext>
            </a:extLst>
          </p:cNvPr>
          <p:cNvSpPr>
            <a:spLocks xmlns:a="http://schemas.openxmlformats.org/drawingml/2006/main" noGrp="1"/>
          </p:cNvSpPr>
          <p:nvPr/>
        </p:nvSpPr>
        <p:spPr>
          <a:xfrm xmlns:a="http://schemas.openxmlformats.org/drawingml/2006/main">
            <a:off x="7343775"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1A070E29-162A-4F08-90DD-9893122EA2D4}"/>
              </a:ext>
            </a:extLst>
          </p:cNvPr>
          <p:cNvSpPr>
            <a:spLocks xmlns:a="http://schemas.openxmlformats.org/drawingml/2006/main" noGrp="1"/>
          </p:cNvSpPr>
          <p:nvPr/>
        </p:nvSpPr>
        <p:spPr>
          <a:xfrm xmlns:a="http://schemas.openxmlformats.org/drawingml/2006/main">
            <a:off x="8724900"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8" name="">
            <a:extLst xmlns:a="http://schemas.openxmlformats.org/drawingml/2006/main">
              <a:ext uri="{FF2B5EF4-FFF2-40B4-BE49-F238E27FC236}">
                <a16:creationId xmlns:a16="http://schemas.microsoft.com/office/drawing/2014/main" id="{2F6971C2-DC6E-44A1-8D17-9FB8CC9BBBDB}"/>
              </a:ext>
            </a:extLst>
          </p:cNvPr>
          <p:cNvSpPr>
            <a:spLocks xmlns:a="http://schemas.openxmlformats.org/drawingml/2006/main" noGrp="1"/>
          </p:cNvSpPr>
          <p:nvPr/>
        </p:nvSpPr>
        <p:spPr>
          <a:xfrm xmlns:a="http://schemas.openxmlformats.org/drawingml/2006/main">
            <a:off x="8724900"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BEE9E722-2B4A-4647-BB48-82080DA417A0}"/>
              </a:ext>
            </a:extLst>
          </p:cNvPr>
          <p:cNvSpPr>
            <a:spLocks xmlns:a="http://schemas.openxmlformats.org/drawingml/2006/main" noGrp="1"/>
          </p:cNvSpPr>
          <p:nvPr/>
        </p:nvSpPr>
        <p:spPr>
          <a:xfrm xmlns:a="http://schemas.openxmlformats.org/drawingml/2006/main">
            <a:off x="10106025"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30" name="">
            <a:extLst xmlns:a="http://schemas.openxmlformats.org/drawingml/2006/main">
              <a:ext uri="{FF2B5EF4-FFF2-40B4-BE49-F238E27FC236}">
                <a16:creationId xmlns:a16="http://schemas.microsoft.com/office/drawing/2014/main" id="{CC75B709-C716-4FFA-8F76-097790CF487A}"/>
              </a:ext>
            </a:extLst>
          </p:cNvPr>
          <p:cNvSpPr>
            <a:spLocks xmlns:a="http://schemas.openxmlformats.org/drawingml/2006/main" noGrp="1"/>
          </p:cNvSpPr>
          <p:nvPr/>
        </p:nvSpPr>
        <p:spPr>
          <a:xfrm xmlns:a="http://schemas.openxmlformats.org/drawingml/2006/main">
            <a:off x="10106025"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1FD6E1DB-EBFF-4D0D-805A-C95E63858943}"/>
              </a:ext>
            </a:extLst>
          </p:cNvPr>
          <p:cNvSpPr>
            <a:spLocks xmlns:a="http://schemas.openxmlformats.org/drawingml/2006/main" noGrp="1"/>
          </p:cNvSpPr>
          <p:nvPr/>
        </p:nvSpPr>
        <p:spPr>
          <a:xfrm xmlns:a="http://schemas.openxmlformats.org/drawingml/2006/main">
            <a:off x="5286375" y="35909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Probabilities</a:t>
            </a:r>
          </a:p>
        </p:txBody>
      </p:sp>
      <p:sp>
        <p:nvSpPr>
          <p:cNvPr id="32" name="">
            <a:extLst xmlns:a="http://schemas.openxmlformats.org/drawingml/2006/main">
              <a:ext uri="{FF2B5EF4-FFF2-40B4-BE49-F238E27FC236}">
                <a16:creationId xmlns:a16="http://schemas.microsoft.com/office/drawing/2014/main" id="{442750C5-7DD5-4178-BB13-AEE746E7511F}"/>
              </a:ext>
            </a:extLst>
          </p:cNvPr>
          <p:cNvSpPr>
            <a:spLocks xmlns:a="http://schemas.openxmlformats.org/drawingml/2006/main" noGrp="1"/>
          </p:cNvSpPr>
          <p:nvPr/>
        </p:nvSpPr>
        <p:spPr>
          <a:xfrm xmlns:a="http://schemas.openxmlformats.org/drawingml/2006/main">
            <a:off x="7343775"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3" name="">
            <a:extLst xmlns:a="http://schemas.openxmlformats.org/drawingml/2006/main">
              <a:ext uri="{FF2B5EF4-FFF2-40B4-BE49-F238E27FC236}">
                <a16:creationId xmlns:a16="http://schemas.microsoft.com/office/drawing/2014/main" id="{AAAAB994-E59A-4539-A06B-E89BB4138674}"/>
              </a:ext>
            </a:extLst>
          </p:cNvPr>
          <p:cNvSpPr>
            <a:spLocks xmlns:a="http://schemas.openxmlformats.org/drawingml/2006/main" noGrp="1"/>
          </p:cNvSpPr>
          <p:nvPr/>
        </p:nvSpPr>
        <p:spPr>
          <a:xfrm xmlns:a="http://schemas.openxmlformats.org/drawingml/2006/main">
            <a:off x="7343775"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174577BA-F53A-4ED4-A713-B206046F3614}"/>
              </a:ext>
            </a:extLst>
          </p:cNvPr>
          <p:cNvSpPr>
            <a:spLocks xmlns:a="http://schemas.openxmlformats.org/drawingml/2006/main" noGrp="1"/>
          </p:cNvSpPr>
          <p:nvPr/>
        </p:nvSpPr>
        <p:spPr>
          <a:xfrm xmlns:a="http://schemas.openxmlformats.org/drawingml/2006/main">
            <a:off x="8724900"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5" name="">
            <a:extLst xmlns:a="http://schemas.openxmlformats.org/drawingml/2006/main">
              <a:ext uri="{FF2B5EF4-FFF2-40B4-BE49-F238E27FC236}">
                <a16:creationId xmlns:a16="http://schemas.microsoft.com/office/drawing/2014/main" id="{3CF57215-8D04-4386-AAA1-6B2F7A44CAF4}"/>
              </a:ext>
            </a:extLst>
          </p:cNvPr>
          <p:cNvSpPr>
            <a:spLocks xmlns:a="http://schemas.openxmlformats.org/drawingml/2006/main" noGrp="1"/>
          </p:cNvSpPr>
          <p:nvPr/>
        </p:nvSpPr>
        <p:spPr>
          <a:xfrm xmlns:a="http://schemas.openxmlformats.org/drawingml/2006/main">
            <a:off x="8724900"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9554AECD-3970-491B-890D-CFBD3CF2AE53}"/>
              </a:ext>
            </a:extLst>
          </p:cNvPr>
          <p:cNvSpPr>
            <a:spLocks xmlns:a="http://schemas.openxmlformats.org/drawingml/2006/main" noGrp="1"/>
          </p:cNvSpPr>
          <p:nvPr/>
        </p:nvSpPr>
        <p:spPr>
          <a:xfrm xmlns:a="http://schemas.openxmlformats.org/drawingml/2006/main">
            <a:off x="10106025"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7" name="">
            <a:extLst xmlns:a="http://schemas.openxmlformats.org/drawingml/2006/main">
              <a:ext uri="{FF2B5EF4-FFF2-40B4-BE49-F238E27FC236}">
                <a16:creationId xmlns:a16="http://schemas.microsoft.com/office/drawing/2014/main" id="{2D1C32CF-FAD7-4DCE-B11F-CCE04036B9A2}"/>
              </a:ext>
            </a:extLst>
          </p:cNvPr>
          <p:cNvSpPr>
            <a:spLocks xmlns:a="http://schemas.openxmlformats.org/drawingml/2006/main" noGrp="1"/>
          </p:cNvSpPr>
          <p:nvPr/>
        </p:nvSpPr>
        <p:spPr>
          <a:xfrm xmlns:a="http://schemas.openxmlformats.org/drawingml/2006/main">
            <a:off x="10106025"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D88C528F-2D15-466A-8543-B891E415227F}"/>
              </a:ext>
            </a:extLst>
          </p:cNvPr>
          <p:cNvSpPr>
            <a:spLocks xmlns:a="http://schemas.openxmlformats.org/drawingml/2006/main" noGrp="1"/>
          </p:cNvSpPr>
          <p:nvPr/>
        </p:nvSpPr>
        <p:spPr>
          <a:xfrm xmlns:a="http://schemas.openxmlformats.org/drawingml/2006/main">
            <a:off x="5286375" y="42767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Regimes</a:t>
            </a:r>
          </a:p>
        </p:txBody>
      </p:sp>
      <p:sp>
        <p:nvSpPr>
          <p:cNvPr id="39" name="">
            <a:extLst xmlns:a="http://schemas.openxmlformats.org/drawingml/2006/main">
              <a:ext uri="{FF2B5EF4-FFF2-40B4-BE49-F238E27FC236}">
                <a16:creationId xmlns:a16="http://schemas.microsoft.com/office/drawing/2014/main" id="{F42BE877-2BD3-4A36-9755-3F4A2CB41103}"/>
              </a:ext>
            </a:extLst>
          </p:cNvPr>
          <p:cNvSpPr>
            <a:spLocks xmlns:a="http://schemas.openxmlformats.org/drawingml/2006/main" noGrp="1"/>
          </p:cNvSpPr>
          <p:nvPr/>
        </p:nvSpPr>
        <p:spPr>
          <a:xfrm xmlns:a="http://schemas.openxmlformats.org/drawingml/2006/main">
            <a:off x="7343775"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0" name="">
            <a:extLst xmlns:a="http://schemas.openxmlformats.org/drawingml/2006/main">
              <a:ext uri="{FF2B5EF4-FFF2-40B4-BE49-F238E27FC236}">
                <a16:creationId xmlns:a16="http://schemas.microsoft.com/office/drawing/2014/main" id="{D63D8245-740C-4189-865F-17D0BBC72688}"/>
              </a:ext>
            </a:extLst>
          </p:cNvPr>
          <p:cNvSpPr>
            <a:spLocks xmlns:a="http://schemas.openxmlformats.org/drawingml/2006/main" noGrp="1"/>
          </p:cNvSpPr>
          <p:nvPr/>
        </p:nvSpPr>
        <p:spPr>
          <a:xfrm xmlns:a="http://schemas.openxmlformats.org/drawingml/2006/main">
            <a:off x="7343775"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15778C09-13E6-4E84-BFBC-A82E95A75317}"/>
              </a:ext>
            </a:extLst>
          </p:cNvPr>
          <p:cNvSpPr>
            <a:spLocks xmlns:a="http://schemas.openxmlformats.org/drawingml/2006/main" noGrp="1"/>
          </p:cNvSpPr>
          <p:nvPr/>
        </p:nvSpPr>
        <p:spPr>
          <a:xfrm xmlns:a="http://schemas.openxmlformats.org/drawingml/2006/main">
            <a:off x="8724900"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2" name="">
            <a:extLst xmlns:a="http://schemas.openxmlformats.org/drawingml/2006/main">
              <a:ext uri="{FF2B5EF4-FFF2-40B4-BE49-F238E27FC236}">
                <a16:creationId xmlns:a16="http://schemas.microsoft.com/office/drawing/2014/main" id="{25931FC9-2CD9-401C-A16E-C96773478376}"/>
              </a:ext>
            </a:extLst>
          </p:cNvPr>
          <p:cNvSpPr>
            <a:spLocks xmlns:a="http://schemas.openxmlformats.org/drawingml/2006/main" noGrp="1"/>
          </p:cNvSpPr>
          <p:nvPr/>
        </p:nvSpPr>
        <p:spPr>
          <a:xfrm xmlns:a="http://schemas.openxmlformats.org/drawingml/2006/main">
            <a:off x="8724900"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3" name="">
            <a:extLst xmlns:a="http://schemas.openxmlformats.org/drawingml/2006/main">
              <a:ext uri="{FF2B5EF4-FFF2-40B4-BE49-F238E27FC236}">
                <a16:creationId xmlns:a16="http://schemas.microsoft.com/office/drawing/2014/main" id="{A72769C2-5E76-4B89-A95A-76C29D92FC95}"/>
              </a:ext>
            </a:extLst>
          </p:cNvPr>
          <p:cNvSpPr>
            <a:spLocks xmlns:a="http://schemas.openxmlformats.org/drawingml/2006/main" noGrp="1"/>
          </p:cNvSpPr>
          <p:nvPr/>
        </p:nvSpPr>
        <p:spPr>
          <a:xfrm xmlns:a="http://schemas.openxmlformats.org/drawingml/2006/main">
            <a:off x="10106025"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4" name="">
            <a:extLst xmlns:a="http://schemas.openxmlformats.org/drawingml/2006/main">
              <a:ext uri="{FF2B5EF4-FFF2-40B4-BE49-F238E27FC236}">
                <a16:creationId xmlns:a16="http://schemas.microsoft.com/office/drawing/2014/main" id="{D278BC58-D422-4537-96F7-EC124E7D464D}"/>
              </a:ext>
            </a:extLst>
          </p:cNvPr>
          <p:cNvSpPr>
            <a:spLocks xmlns:a="http://schemas.openxmlformats.org/drawingml/2006/main" noGrp="1"/>
          </p:cNvSpPr>
          <p:nvPr/>
        </p:nvSpPr>
        <p:spPr>
          <a:xfrm xmlns:a="http://schemas.openxmlformats.org/drawingml/2006/main">
            <a:off x="10106025"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5E05E4A5-669D-4D13-819A-D15621F77DCA}"/>
              </a:ext>
            </a:extLst>
          </p:cNvPr>
          <p:cNvSpPr>
            <a:spLocks xmlns:a="http://schemas.openxmlformats.org/drawingml/2006/main" noGrp="1"/>
          </p:cNvSpPr>
          <p:nvPr/>
        </p:nvSpPr>
        <p:spPr>
          <a:xfrm xmlns:a="http://schemas.openxmlformats.org/drawingml/2006/main">
            <a:off x="6924675" y="4733925"/>
            <a:ext cx="4286250" cy="552450"/>
          </a:xfrm>
          <a:prstGeom xmlns:a="http://schemas.openxmlformats.org/drawingml/2006/main" prst="roundRect">
            <a:avLst>
              <a:gd name="adj" fmla="val 31034"/>
            </a:avLst>
          </a:prstGeom>
          <a:solidFill xmlns:a="http://schemas.openxmlformats.org/drawingml/2006/main">
            <a:srgbClr val="142941"/>
          </a:solidFill>
          <a:ln xmlns:a="http://schemas.openxmlformats.org/drawingml/2006/main" w="14288">
            <a:solidFill>
              <a:srgbClr val="4EA1FF"/>
            </a:solidFill>
            <a:prstDash val="solid"/>
          </a:ln>
        </p:spPr>
      </p:sp>
      <p:sp>
        <p:nvSpPr>
          <p:cNvPr id="46" name="">
            <a:extLst xmlns:a="http://schemas.openxmlformats.org/drawingml/2006/main">
              <a:ext uri="{FF2B5EF4-FFF2-40B4-BE49-F238E27FC236}">
                <a16:creationId xmlns:a16="http://schemas.microsoft.com/office/drawing/2014/main" id="{D114E044-284D-479D-A3BC-C4E8FD3FC7C8}"/>
              </a:ext>
            </a:extLst>
          </p:cNvPr>
          <p:cNvSpPr>
            <a:spLocks xmlns:a="http://schemas.openxmlformats.org/drawingml/2006/main" noGrp="1"/>
          </p:cNvSpPr>
          <p:nvPr/>
        </p:nvSpPr>
        <p:spPr>
          <a:xfrm xmlns:a="http://schemas.openxmlformats.org/drawingml/2006/main">
            <a:off x="7134225" y="4848225"/>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price • spread • age • width • side • threshold</a:t>
            </a:r>
          </a:p>
        </p:txBody>
      </p:sp>
      <p:sp>
        <p:nvSpPr>
          <p:cNvPr id="47" name="">
            <a:extLst xmlns:a="http://schemas.openxmlformats.org/drawingml/2006/main">
              <a:ext uri="{FF2B5EF4-FFF2-40B4-BE49-F238E27FC236}">
                <a16:creationId xmlns:a16="http://schemas.microsoft.com/office/drawing/2014/main" id="{1AE9813D-6CE4-4A67-9F1C-F8A218BCF99F}"/>
              </a:ext>
            </a:extLst>
          </p:cNvPr>
          <p:cNvSpPr>
            <a:spLocks xmlns:a="http://schemas.openxmlformats.org/drawingml/2006/main" noGrp="1"/>
          </p:cNvSpPr>
          <p:nvPr/>
        </p:nvSpPr>
        <p:spPr>
          <a:xfrm xmlns:a="http://schemas.openxmlformats.org/drawingml/2006/main">
            <a:off x="7905750" y="5391150"/>
            <a:ext cx="2333625" cy="342900"/>
          </a:xfrm>
          <a:prstGeom xmlns:a="http://schemas.openxmlformats.org/drawingml/2006/main" prst="roundRect">
            <a:avLst>
              <a:gd name="adj" fmla="val 50000"/>
            </a:avLst>
          </a:prstGeom>
          <a:solidFill xmlns:a="http://schemas.openxmlformats.org/drawingml/2006/main">
            <a:srgbClr val="4EA1FF">
              <a:alpha val="13333"/>
            </a:srgbClr>
          </a:solidFill>
          <a:ln xmlns:a="http://schemas.openxmlformats.org/drawingml/2006/main" w="9525">
            <a:solidFill>
              <a:srgbClr val="4EA1FF"/>
            </a:solidFill>
            <a:prstDash val="solid"/>
          </a:ln>
        </p:spPr>
      </p:sp>
      <p:sp>
        <p:nvSpPr>
          <p:cNvPr id="48" name="">
            <a:extLst xmlns:a="http://schemas.openxmlformats.org/drawingml/2006/main">
              <a:ext uri="{FF2B5EF4-FFF2-40B4-BE49-F238E27FC236}">
                <a16:creationId xmlns:a16="http://schemas.microsoft.com/office/drawing/2014/main" id="{FB8DEB8B-185B-45C8-8CDA-715FCC7C71A7}"/>
              </a:ext>
            </a:extLst>
          </p:cNvPr>
          <p:cNvSpPr>
            <a:spLocks xmlns:a="http://schemas.openxmlformats.org/drawingml/2006/main" noGrp="1"/>
          </p:cNvSpPr>
          <p:nvPr/>
        </p:nvSpPr>
        <p:spPr>
          <a:xfrm xmlns:a="http://schemas.openxmlformats.org/drawingml/2006/main">
            <a:off x="7905750" y="540067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3,072 PLAN COMBINATIONS</a:t>
            </a:r>
          </a:p>
        </p:txBody>
      </p:sp>
    </p:spTree>
    <p:extLst>
      <p:ext uri="{BB962C8B-B14F-4D97-AF65-F5344CB8AC3E}">
        <p14:creationId xmlns:p14="http://schemas.microsoft.com/office/powerpoint/2010/main" val="692915949"/>
      </p:ext>
    </p:extLst>
  </p:cSld>
</p:sld>
</file>

<file path=ppt/slides/slide7.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FEBC997-0B38-4B4A-861B-9B6D401EA4BB}"/>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4.1</a:t>
            </a:r>
          </a:p>
        </p:txBody>
      </p:sp>
      <p:sp>
        <p:nvSpPr>
          <p:cNvPr id="2" name="">
            <a:extLst xmlns:a="http://schemas.openxmlformats.org/drawingml/2006/main">
              <a:ext uri="{FF2B5EF4-FFF2-40B4-BE49-F238E27FC236}">
                <a16:creationId xmlns:a16="http://schemas.microsoft.com/office/drawing/2014/main" id="{4FCABAF4-F8C9-40E6-8BA2-428A27D5A53B}"/>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V4.1: continue without resetting</a:t>
            </a:r>
          </a:p>
        </p:txBody>
      </p:sp>
      <p:sp>
        <p:nvSpPr>
          <p:cNvPr id="3" name="">
            <a:extLst xmlns:a="http://schemas.openxmlformats.org/drawingml/2006/main">
              <a:ext uri="{FF2B5EF4-FFF2-40B4-BE49-F238E27FC236}">
                <a16:creationId xmlns:a16="http://schemas.microsoft.com/office/drawing/2014/main" id="{831F9074-3D35-409B-8CE7-2BDE83308069}"/>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3018483B-F826-46BB-9AFB-6091EB456BD9}"/>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A91767B0-A48B-42E5-AC29-74DC3A84C948}"/>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7256939F-B26B-40D0-A478-6D7B98130E6E}"/>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4FC1494E-74BA-4A77-8839-9C465837320A}"/>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Preserved 82 candidates + original deadline</a:t>
            </a:r>
          </a:p>
        </p:txBody>
      </p:sp>
      <p:sp>
        <p:nvSpPr>
          <p:cNvPr id="8" name="">
            <a:extLst xmlns:a="http://schemas.openxmlformats.org/drawingml/2006/main">
              <a:ext uri="{FF2B5EF4-FFF2-40B4-BE49-F238E27FC236}">
                <a16:creationId xmlns:a16="http://schemas.microsoft.com/office/drawing/2014/main" id="{8C545577-6D32-4AD5-9295-5A4950FC0AE5}"/>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2952167B-BE06-4E63-BFAC-EB00BA410509}"/>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Reached 240 candidates • 20 epochs</a:t>
            </a:r>
          </a:p>
        </p:txBody>
      </p:sp>
      <p:sp>
        <p:nvSpPr>
          <p:cNvPr id="10" name="">
            <a:extLst xmlns:a="http://schemas.openxmlformats.org/drawingml/2006/main">
              <a:ext uri="{FF2B5EF4-FFF2-40B4-BE49-F238E27FC236}">
                <a16:creationId xmlns:a16="http://schemas.microsoft.com/office/drawing/2014/main" id="{F0446B52-2203-435F-9FE3-1FCA07EB556C}"/>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B88D8DF2-A5BF-409D-B625-2A8406AB73D7}"/>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Stopped at malformed synthesis JSON</a:t>
            </a:r>
          </a:p>
        </p:txBody>
      </p:sp>
      <p:sp>
        <p:nvSpPr>
          <p:cNvPr id="12" name="">
            <a:extLst xmlns:a="http://schemas.openxmlformats.org/drawingml/2006/main">
              <a:ext uri="{FF2B5EF4-FFF2-40B4-BE49-F238E27FC236}">
                <a16:creationId xmlns:a16="http://schemas.microsoft.com/office/drawing/2014/main" id="{BD0E47C9-63DE-4ACE-AD35-FB827885C794}"/>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058DE7A0-C09A-4816-AF42-A30CDA712E5F}"/>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476"/>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evidence survived the restart, but the campaign ended incomplete rather than issuing a final scientific result.</a:t>
            </a:r>
          </a:p>
        </p:txBody>
      </p:sp>
      <p:sp>
        <p:nvSpPr>
          <p:cNvPr id="14" name="">
            <a:extLst xmlns:a="http://schemas.openxmlformats.org/drawingml/2006/main">
              <a:ext uri="{FF2B5EF4-FFF2-40B4-BE49-F238E27FC236}">
                <a16:creationId xmlns:a16="http://schemas.microsoft.com/office/drawing/2014/main" id="{66629FAA-D684-4E9D-AC37-35ABE35F1987}"/>
              </a:ext>
            </a:extLst>
          </p:cNvPr>
          <p:cNvSpPr>
            <a:spLocks xmlns:a="http://schemas.openxmlformats.org/drawingml/2006/main" noGrp="1"/>
          </p:cNvSpPr>
          <p:nvPr/>
        </p:nvSpPr>
        <p:spPr>
          <a:xfrm xmlns:a="http://schemas.openxmlformats.org/drawingml/2006/main">
            <a:off x="5715000" y="3219450"/>
            <a:ext cx="4933950" cy="0"/>
          </a:xfrm>
          <a:prstGeom xmlns:a="http://schemas.openxmlformats.org/drawingml/2006/main" prst="line">
            <a:avLst/>
          </a:prstGeom>
          <a:noFill xmlns:a="http://schemas.openxmlformats.org/drawingml/2006/main"/>
          <a:ln xmlns:a="http://schemas.openxmlformats.org/drawingml/2006/main" w="66675">
            <a:solidFill>
              <a:srgbClr val="31445D"/>
            </a:solidFill>
            <a:prstDash val="solid"/>
          </a:ln>
        </p:spPr>
      </p:sp>
      <p:sp>
        <p:nvSpPr>
          <p:cNvPr id="15" name="">
            <a:extLst xmlns:a="http://schemas.openxmlformats.org/drawingml/2006/main">
              <a:ext uri="{FF2B5EF4-FFF2-40B4-BE49-F238E27FC236}">
                <a16:creationId xmlns:a16="http://schemas.microsoft.com/office/drawing/2014/main" id="{74568075-60AD-455C-A2C3-A9B67F9E4223}"/>
              </a:ext>
            </a:extLst>
          </p:cNvPr>
          <p:cNvSpPr>
            <a:spLocks xmlns:a="http://schemas.openxmlformats.org/drawingml/2006/main" noGrp="1"/>
          </p:cNvSpPr>
          <p:nvPr/>
        </p:nvSpPr>
        <p:spPr>
          <a:xfrm xmlns:a="http://schemas.openxmlformats.org/drawingml/2006/main">
            <a:off x="5543550" y="2857500"/>
            <a:ext cx="781050" cy="7810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6" name="">
            <a:extLst xmlns:a="http://schemas.openxmlformats.org/drawingml/2006/main">
              <a:ext uri="{FF2B5EF4-FFF2-40B4-BE49-F238E27FC236}">
                <a16:creationId xmlns:a16="http://schemas.microsoft.com/office/drawing/2014/main" id="{962F96BB-DFFE-4519-A771-39CDD9D042DB}"/>
              </a:ext>
            </a:extLst>
          </p:cNvPr>
          <p:cNvSpPr>
            <a:spLocks xmlns:a="http://schemas.openxmlformats.org/drawingml/2006/main" noGrp="1"/>
          </p:cNvSpPr>
          <p:nvPr/>
        </p:nvSpPr>
        <p:spPr>
          <a:xfrm xmlns:a="http://schemas.openxmlformats.org/drawingml/2006/main">
            <a:off x="5543550" y="285750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a:solidFill>
                  <a:srgbClr val="0B1320"/>
                </a:solidFill>
                <a:latin typeface="Arial"/>
                <a:ea typeface="Arial"/>
                <a:cs typeface="Arial"/>
              </a:defRPr>
            </a:pPr>
            <a:r>
              <a:rPr sz="2175" b="1">
                <a:solidFill>
                  <a:srgbClr val="0B1320"/>
                </a:solidFill>
                <a:latin typeface="Arial"/>
                <a:ea typeface="Arial"/>
                <a:cs typeface="Arial"/>
              </a:rPr>
              <a:t>82</a:t>
            </a:r>
          </a:p>
        </p:txBody>
      </p:sp>
      <p:sp>
        <p:nvSpPr>
          <p:cNvPr id="17" name="">
            <a:extLst xmlns:a="http://schemas.openxmlformats.org/drawingml/2006/main">
              <a:ext uri="{FF2B5EF4-FFF2-40B4-BE49-F238E27FC236}">
                <a16:creationId xmlns:a16="http://schemas.microsoft.com/office/drawing/2014/main" id="{E3969CC4-78FF-443B-B6B5-68A77F606444}"/>
              </a:ext>
            </a:extLst>
          </p:cNvPr>
          <p:cNvSpPr>
            <a:spLocks xmlns:a="http://schemas.openxmlformats.org/drawingml/2006/main" noGrp="1"/>
          </p:cNvSpPr>
          <p:nvPr/>
        </p:nvSpPr>
        <p:spPr>
          <a:xfrm xmlns:a="http://schemas.openxmlformats.org/drawingml/2006/main">
            <a:off x="5324475" y="37719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V4 checkpoint</a:t>
            </a:r>
          </a:p>
        </p:txBody>
      </p:sp>
      <p:sp>
        <p:nvSpPr>
          <p:cNvPr id="18" name="">
            <a:extLst xmlns:a="http://schemas.openxmlformats.org/drawingml/2006/main">
              <a:ext uri="{FF2B5EF4-FFF2-40B4-BE49-F238E27FC236}">
                <a16:creationId xmlns:a16="http://schemas.microsoft.com/office/drawing/2014/main" id="{6C4FFEB5-A279-457D-9D5F-9F3642CAFE39}"/>
              </a:ext>
            </a:extLst>
          </p:cNvPr>
          <p:cNvSpPr>
            <a:spLocks xmlns:a="http://schemas.openxmlformats.org/drawingml/2006/main" noGrp="1"/>
          </p:cNvSpPr>
          <p:nvPr/>
        </p:nvSpPr>
        <p:spPr>
          <a:xfrm xmlns:a="http://schemas.openxmlformats.org/drawingml/2006/main">
            <a:off x="7124700" y="2505075"/>
            <a:ext cx="1809750" cy="1428750"/>
          </a:xfrm>
          <a:prstGeom xmlns:a="http://schemas.openxmlformats.org/drawingml/2006/main" prst="roundRect">
            <a:avLst>
              <a:gd name="adj" fmla="val 14667"/>
            </a:avLst>
          </a:prstGeom>
          <a:solidFill xmlns:a="http://schemas.openxmlformats.org/drawingml/2006/main">
            <a:srgbClr val="142941"/>
          </a:solidFill>
          <a:ln xmlns:a="http://schemas.openxmlformats.org/drawingml/2006/main" w="19050">
            <a:solidFill>
              <a:srgbClr val="47D7D0"/>
            </a:solidFill>
            <a:prstDash val="solid"/>
          </a:ln>
        </p:spPr>
      </p:sp>
      <p:sp>
        <p:nvSpPr>
          <p:cNvPr id="19" name="">
            <a:extLst xmlns:a="http://schemas.openxmlformats.org/drawingml/2006/main">
              <a:ext uri="{FF2B5EF4-FFF2-40B4-BE49-F238E27FC236}">
                <a16:creationId xmlns:a16="http://schemas.microsoft.com/office/drawing/2014/main" id="{55B4F447-022B-4E71-AA1C-0B5C6030CA8A}"/>
              </a:ext>
            </a:extLst>
          </p:cNvPr>
          <p:cNvSpPr>
            <a:spLocks xmlns:a="http://schemas.openxmlformats.org/drawingml/2006/main" noGrp="1"/>
          </p:cNvSpPr>
          <p:nvPr/>
        </p:nvSpPr>
        <p:spPr>
          <a:xfrm xmlns:a="http://schemas.openxmlformats.org/drawingml/2006/main">
            <a:off x="7286625" y="2686050"/>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CONTINUATION</a:t>
            </a:r>
          </a:p>
        </p:txBody>
      </p:sp>
      <p:sp>
        <p:nvSpPr>
          <p:cNvPr id="20" name="">
            <a:extLst xmlns:a="http://schemas.openxmlformats.org/drawingml/2006/main">
              <a:ext uri="{FF2B5EF4-FFF2-40B4-BE49-F238E27FC236}">
                <a16:creationId xmlns:a16="http://schemas.microsoft.com/office/drawing/2014/main" id="{C2A06026-8959-4EAF-A6FC-02A8F85F0F83}"/>
              </a:ext>
            </a:extLst>
          </p:cNvPr>
          <p:cNvSpPr>
            <a:spLocks xmlns:a="http://schemas.openxmlformats.org/drawingml/2006/main" noGrp="1"/>
          </p:cNvSpPr>
          <p:nvPr/>
        </p:nvSpPr>
        <p:spPr>
          <a:xfrm xmlns:a="http://schemas.openxmlformats.org/drawingml/2006/main">
            <a:off x="7334250" y="3038475"/>
            <a:ext cx="1390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697"/>
          </a:bodyPr>
          <a:lstStyle xmlns:a="http://schemas.openxmlformats.org/drawingml/2006/main"/>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data</a:t>
            </a:r>
          </a:p>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budget</a:t>
            </a:r>
          </a:p>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clock</a:t>
            </a:r>
          </a:p>
        </p:txBody>
      </p:sp>
      <p:sp>
        <p:nvSpPr>
          <p:cNvPr id="21" name="">
            <a:extLst xmlns:a="http://schemas.openxmlformats.org/drawingml/2006/main">
              <a:ext uri="{FF2B5EF4-FFF2-40B4-BE49-F238E27FC236}">
                <a16:creationId xmlns:a16="http://schemas.microsoft.com/office/drawing/2014/main" id="{20B1E4D0-0EC8-4C8E-ADC0-E784315FA06F}"/>
              </a:ext>
            </a:extLst>
          </p:cNvPr>
          <p:cNvSpPr>
            <a:spLocks xmlns:a="http://schemas.openxmlformats.org/drawingml/2006/main" noGrp="1"/>
          </p:cNvSpPr>
          <p:nvPr/>
        </p:nvSpPr>
        <p:spPr>
          <a:xfrm xmlns:a="http://schemas.openxmlformats.org/drawingml/2006/main">
            <a:off x="9715500" y="2857500"/>
            <a:ext cx="781050" cy="78105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2" name="">
            <a:extLst xmlns:a="http://schemas.openxmlformats.org/drawingml/2006/main">
              <a:ext uri="{FF2B5EF4-FFF2-40B4-BE49-F238E27FC236}">
                <a16:creationId xmlns:a16="http://schemas.microsoft.com/office/drawing/2014/main" id="{BDE4C5AF-DAB9-4232-9F9A-B5757F9C0861}"/>
              </a:ext>
            </a:extLst>
          </p:cNvPr>
          <p:cNvSpPr>
            <a:spLocks xmlns:a="http://schemas.openxmlformats.org/drawingml/2006/main" noGrp="1"/>
          </p:cNvSpPr>
          <p:nvPr/>
        </p:nvSpPr>
        <p:spPr>
          <a:xfrm xmlns:a="http://schemas.openxmlformats.org/drawingml/2006/main">
            <a:off x="9715500" y="285750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a:solidFill>
                  <a:srgbClr val="0B1320"/>
                </a:solidFill>
                <a:latin typeface="Arial"/>
                <a:ea typeface="Arial"/>
                <a:cs typeface="Arial"/>
              </a:defRPr>
            </a:pPr>
            <a:r>
              <a:rPr sz="2175" b="1">
                <a:solidFill>
                  <a:srgbClr val="0B1320"/>
                </a:solidFill>
                <a:latin typeface="Arial"/>
                <a:ea typeface="Arial"/>
                <a:cs typeface="Arial"/>
              </a:rPr>
              <a:t>240</a:t>
            </a:r>
          </a:p>
        </p:txBody>
      </p:sp>
      <p:sp>
        <p:nvSpPr>
          <p:cNvPr id="23" name="">
            <a:extLst xmlns:a="http://schemas.openxmlformats.org/drawingml/2006/main">
              <a:ext uri="{FF2B5EF4-FFF2-40B4-BE49-F238E27FC236}">
                <a16:creationId xmlns:a16="http://schemas.microsoft.com/office/drawing/2014/main" id="{93F9DA5E-A2B1-4F71-9AFD-AA2A64DA8183}"/>
              </a:ext>
            </a:extLst>
          </p:cNvPr>
          <p:cNvSpPr>
            <a:spLocks xmlns:a="http://schemas.openxmlformats.org/drawingml/2006/main" noGrp="1"/>
          </p:cNvSpPr>
          <p:nvPr/>
        </p:nvSpPr>
        <p:spPr>
          <a:xfrm xmlns:a="http://schemas.openxmlformats.org/drawingml/2006/main">
            <a:off x="9496425" y="37719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V4.1 reached</a:t>
            </a:r>
          </a:p>
        </p:txBody>
      </p:sp>
      <p:sp>
        <p:nvSpPr>
          <p:cNvPr id="24" name="">
            <a:extLst xmlns:a="http://schemas.openxmlformats.org/drawingml/2006/main">
              <a:ext uri="{FF2B5EF4-FFF2-40B4-BE49-F238E27FC236}">
                <a16:creationId xmlns:a16="http://schemas.microsoft.com/office/drawing/2014/main" id="{2410C22C-96C3-4653-9BD7-9EA87BAB23A9}"/>
              </a:ext>
            </a:extLst>
          </p:cNvPr>
          <p:cNvSpPr>
            <a:spLocks xmlns:a="http://schemas.openxmlformats.org/drawingml/2006/main" noGrp="1"/>
          </p:cNvSpPr>
          <p:nvPr/>
        </p:nvSpPr>
        <p:spPr>
          <a:xfrm xmlns:a="http://schemas.openxmlformats.org/drawingml/2006/main">
            <a:off x="7315200" y="4457700"/>
            <a:ext cx="2914650" cy="628650"/>
          </a:xfrm>
          <a:prstGeom xmlns:a="http://schemas.openxmlformats.org/drawingml/2006/main" prst="roundRect">
            <a:avLst>
              <a:gd name="adj" fmla="val 24242"/>
            </a:avLst>
          </a:prstGeom>
          <a:solidFill xmlns:a="http://schemas.openxmlformats.org/drawingml/2006/main">
            <a:srgbClr val="321D29"/>
          </a:solidFill>
          <a:ln xmlns:a="http://schemas.openxmlformats.org/drawingml/2006/main" w="19050">
            <a:solidFill>
              <a:srgbClr val="FF6B6B"/>
            </a:solidFill>
            <a:prstDash val="solid"/>
          </a:ln>
        </p:spPr>
      </p:sp>
      <p:sp>
        <p:nvSpPr>
          <p:cNvPr id="25" name="">
            <a:extLst xmlns:a="http://schemas.openxmlformats.org/drawingml/2006/main">
              <a:ext uri="{FF2B5EF4-FFF2-40B4-BE49-F238E27FC236}">
                <a16:creationId xmlns:a16="http://schemas.microsoft.com/office/drawing/2014/main" id="{85A134A5-0529-4878-B006-9FA0823B928D}"/>
              </a:ext>
            </a:extLst>
          </p:cNvPr>
          <p:cNvSpPr>
            <a:spLocks xmlns:a="http://schemas.openxmlformats.org/drawingml/2006/main" noGrp="1"/>
          </p:cNvSpPr>
          <p:nvPr/>
        </p:nvSpPr>
        <p:spPr>
          <a:xfrm xmlns:a="http://schemas.openxmlformats.org/drawingml/2006/main">
            <a:off x="7496175" y="460057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439"/>
          </a:bodyPr>
          <a:lstStyle xmlns:a="http://schemas.openxmlformats.org/drawingml/2006/main"/>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SYNTHESIS FORMAT FAILED 3×</a:t>
            </a:r>
          </a:p>
        </p:txBody>
      </p:sp>
      <p:sp>
        <p:nvSpPr>
          <p:cNvPr id="26" name="">
            <a:extLst xmlns:a="http://schemas.openxmlformats.org/drawingml/2006/main">
              <a:ext uri="{FF2B5EF4-FFF2-40B4-BE49-F238E27FC236}">
                <a16:creationId xmlns:a16="http://schemas.microsoft.com/office/drawing/2014/main" id="{FF1A546B-EF80-4FDA-B96F-44EDA2D2FD3B}"/>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27" name="">
            <a:extLst xmlns:a="http://schemas.openxmlformats.org/drawingml/2006/main">
              <a:ext uri="{FF2B5EF4-FFF2-40B4-BE49-F238E27FC236}">
                <a16:creationId xmlns:a16="http://schemas.microsoft.com/office/drawing/2014/main" id="{0C1A574C-C2A5-4EE1-B5D4-6B43AD06A34F}"/>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8" name="">
            <a:extLst xmlns:a="http://schemas.openxmlformats.org/drawingml/2006/main">
              <a:ext uri="{FF2B5EF4-FFF2-40B4-BE49-F238E27FC236}">
                <a16:creationId xmlns:a16="http://schemas.microsoft.com/office/drawing/2014/main" id="{1E203990-599A-4A75-9401-0F78BC623665}"/>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29" name="">
            <a:extLst xmlns:a="http://schemas.openxmlformats.org/drawingml/2006/main">
              <a:ext uri="{FF2B5EF4-FFF2-40B4-BE49-F238E27FC236}">
                <a16:creationId xmlns:a16="http://schemas.microsoft.com/office/drawing/2014/main" id="{E20882B2-BA17-431B-866F-E5ADE42FB6E5}"/>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0" name="">
            <a:extLst xmlns:a="http://schemas.openxmlformats.org/drawingml/2006/main">
              <a:ext uri="{FF2B5EF4-FFF2-40B4-BE49-F238E27FC236}">
                <a16:creationId xmlns:a16="http://schemas.microsoft.com/office/drawing/2014/main" id="{6D21E812-8A42-4C2D-9024-36D219AE478E}"/>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1" name="">
            <a:extLst xmlns:a="http://schemas.openxmlformats.org/drawingml/2006/main">
              <a:ext uri="{FF2B5EF4-FFF2-40B4-BE49-F238E27FC236}">
                <a16:creationId xmlns:a16="http://schemas.microsoft.com/office/drawing/2014/main" id="{0FD94258-0F91-4CC3-A746-EDD3133498A4}"/>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2" name="">
            <a:extLst xmlns:a="http://schemas.openxmlformats.org/drawingml/2006/main">
              <a:ext uri="{FF2B5EF4-FFF2-40B4-BE49-F238E27FC236}">
                <a16:creationId xmlns:a16="http://schemas.microsoft.com/office/drawing/2014/main" id="{35F1C35E-0BD8-42F2-8EAD-241EC3A57BF5}"/>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33" name="">
            <a:extLst xmlns:a="http://schemas.openxmlformats.org/drawingml/2006/main">
              <a:ext uri="{FF2B5EF4-FFF2-40B4-BE49-F238E27FC236}">
                <a16:creationId xmlns:a16="http://schemas.microsoft.com/office/drawing/2014/main" id="{7D80EBC6-076F-4C2F-968D-AA974D884ACD}"/>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4" name="">
            <a:extLst xmlns:a="http://schemas.openxmlformats.org/drawingml/2006/main">
              <a:ext uri="{FF2B5EF4-FFF2-40B4-BE49-F238E27FC236}">
                <a16:creationId xmlns:a16="http://schemas.microsoft.com/office/drawing/2014/main" id="{4D91D7A4-4D5B-4C7D-AB4B-4FB78E13ED51}"/>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35" name="">
            <a:extLst xmlns:a="http://schemas.openxmlformats.org/drawingml/2006/main">
              <a:ext uri="{FF2B5EF4-FFF2-40B4-BE49-F238E27FC236}">
                <a16:creationId xmlns:a16="http://schemas.microsoft.com/office/drawing/2014/main" id="{677E0391-211A-415F-8241-E96C4333C5F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6" name="">
            <a:extLst xmlns:a="http://schemas.openxmlformats.org/drawingml/2006/main">
              <a:ext uri="{FF2B5EF4-FFF2-40B4-BE49-F238E27FC236}">
                <a16:creationId xmlns:a16="http://schemas.microsoft.com/office/drawing/2014/main" id="{A1E1824C-FEB1-462D-9808-288A1EE21819}"/>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103522384"/>
      </p:ext>
    </p:extLst>
  </p:cSld>
</p:sld>
</file>

<file path=ppt/slides/slide8.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6C2A0C-746F-439A-AA68-BB37515190E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CURRENT EVIDENCE</a:t>
            </a:r>
          </a:p>
        </p:txBody>
      </p:sp>
      <p:sp>
        <p:nvSpPr>
          <p:cNvPr id="2" name="">
            <a:extLst xmlns:a="http://schemas.openxmlformats.org/drawingml/2006/main">
              <a:ext uri="{FF2B5EF4-FFF2-40B4-BE49-F238E27FC236}">
                <a16:creationId xmlns:a16="http://schemas.microsoft.com/office/drawing/2014/main" id="{D4427DDF-ECA3-443B-B8D1-1D8E4078FD07}"/>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What the 240-candidate search found</a:t>
            </a:r>
          </a:p>
        </p:txBody>
      </p:sp>
      <p:sp>
        <p:nvSpPr>
          <p:cNvPr id="3" name="">
            <a:extLst xmlns:a="http://schemas.openxmlformats.org/drawingml/2006/main">
              <a:ext uri="{FF2B5EF4-FFF2-40B4-BE49-F238E27FC236}">
                <a16:creationId xmlns:a16="http://schemas.microsoft.com/office/drawing/2014/main" id="{D7298D19-F8A2-43AF-B6AF-CC4F905B545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F0D184D5-E86E-4BFD-8318-DE23ACB8AEA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F47DE984-35F8-40EE-B03B-9578FB7C1D11}"/>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0C8C4F4-0A24-441A-9396-B4EE0BF42794}"/>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8E429E16-EA01-43B9-B87C-03E564CDB978}"/>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135 showed positive raw return</a:t>
            </a:r>
          </a:p>
        </p:txBody>
      </p:sp>
      <p:sp>
        <p:nvSpPr>
          <p:cNvPr id="8" name="">
            <a:extLst xmlns:a="http://schemas.openxmlformats.org/drawingml/2006/main">
              <a:ext uri="{FF2B5EF4-FFF2-40B4-BE49-F238E27FC236}">
                <a16:creationId xmlns:a16="http://schemas.microsoft.com/office/drawing/2014/main" id="{09EA83CD-8FA1-4DEF-866D-D11685B3D8A5}"/>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F10064CA-2645-497C-BC32-44F48D488AFB}"/>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7D7D0"/>
                </a:solidFill>
                <a:latin typeface="Arial"/>
                <a:ea typeface="Arial"/>
                <a:cs typeface="Arial"/>
              </a:defRPr>
            </a:pPr>
            <a:r>
              <a:rPr sz="1875" b="1">
                <a:solidFill>
                  <a:srgbClr val="47D7D0"/>
                </a:solidFill>
                <a:latin typeface="Arial"/>
                <a:ea typeface="Arial"/>
                <a:cs typeface="Arial"/>
              </a:rPr>
              <a:t>108 cleared 10% raw return</a:t>
            </a:r>
          </a:p>
        </p:txBody>
      </p:sp>
      <p:sp>
        <p:nvSpPr>
          <p:cNvPr id="10" name="">
            <a:extLst xmlns:a="http://schemas.openxmlformats.org/drawingml/2006/main">
              <a:ext uri="{FF2B5EF4-FFF2-40B4-BE49-F238E27FC236}">
                <a16:creationId xmlns:a16="http://schemas.microsoft.com/office/drawing/2014/main" id="{099E4FAB-5ABC-4C70-AEC9-517116FD0953}"/>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6FDD5-6E08-4359-93C7-CA256037DCCC}"/>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4 had positive lower bounds</a:t>
            </a:r>
          </a:p>
        </p:txBody>
      </p:sp>
      <p:sp>
        <p:nvSpPr>
          <p:cNvPr id="12" name="">
            <a:extLst xmlns:a="http://schemas.openxmlformats.org/drawingml/2006/main">
              <a:ext uri="{FF2B5EF4-FFF2-40B4-BE49-F238E27FC236}">
                <a16:creationId xmlns:a16="http://schemas.microsoft.com/office/drawing/2014/main" id="{4E38F7C1-CF1A-4024-BEE3-2B16FB7D3638}"/>
              </a:ext>
            </a:extLst>
          </p:cNvPr>
          <p:cNvSpPr>
            <a:spLocks xmlns:a="http://schemas.openxmlformats.org/drawingml/2006/main" noGrp="1"/>
          </p:cNvSpPr>
          <p:nvPr/>
        </p:nvSpPr>
        <p:spPr>
          <a:xfrm xmlns:a="http://schemas.openxmlformats.org/drawingml/2006/main">
            <a:off x="628650" y="42481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3" name="">
            <a:extLst xmlns:a="http://schemas.openxmlformats.org/drawingml/2006/main">
              <a:ext uri="{FF2B5EF4-FFF2-40B4-BE49-F238E27FC236}">
                <a16:creationId xmlns:a16="http://schemas.microsoft.com/office/drawing/2014/main" id="{A232342B-25C9-4D3B-9903-FA2824C92E5A}"/>
              </a:ext>
            </a:extLst>
          </p:cNvPr>
          <p:cNvSpPr>
            <a:spLocks xmlns:a="http://schemas.openxmlformats.org/drawingml/2006/main" noGrp="1"/>
          </p:cNvSpPr>
          <p:nvPr/>
        </p:nvSpPr>
        <p:spPr>
          <a:xfrm xmlns:a="http://schemas.openxmlformats.org/drawingml/2006/main">
            <a:off x="933450" y="41052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F6B6B"/>
                </a:solidFill>
                <a:latin typeface="Arial"/>
                <a:ea typeface="Arial"/>
                <a:cs typeface="Arial"/>
              </a:defRPr>
            </a:pPr>
            <a:r>
              <a:rPr sz="1875" b="1">
                <a:solidFill>
                  <a:srgbClr val="FF6B6B"/>
                </a:solidFill>
                <a:latin typeface="Arial"/>
                <a:ea typeface="Arial"/>
                <a:cs typeface="Arial"/>
              </a:rPr>
              <a:t>0 passed every gate</a:t>
            </a:r>
          </a:p>
        </p:txBody>
      </p:sp>
      <p:sp>
        <p:nvSpPr>
          <p:cNvPr id="14" name="">
            <a:extLst xmlns:a="http://schemas.openxmlformats.org/drawingml/2006/main">
              <a:ext uri="{FF2B5EF4-FFF2-40B4-BE49-F238E27FC236}">
                <a16:creationId xmlns:a16="http://schemas.microsoft.com/office/drawing/2014/main" id="{04E45EE5-9839-4D04-AB50-57FBF9B08F3A}"/>
              </a:ext>
            </a:extLst>
          </p:cNvPr>
          <p:cNvSpPr>
            <a:spLocks xmlns:a="http://schemas.openxmlformats.org/drawingml/2006/main" noGrp="1"/>
          </p:cNvSpPr>
          <p:nvPr/>
        </p:nvSpPr>
        <p:spPr>
          <a:xfrm xmlns:a="http://schemas.openxmlformats.org/drawingml/2006/main">
            <a:off x="628650" y="51816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funnel narrowed sharply once uncertainty and execution evidence were required.</a:t>
            </a:r>
          </a:p>
        </p:txBody>
      </p:sp>
      <p:graphicFrame>
        <p:nvGraphicFramePr>
          <p:cNvPr id="33" name="Chart"/>
          <p:cNvGraphicFramePr/>
          <p:nvPr/>
        </p:nvGraphicFramePr>
        <p:xfrm>
          <a:off xmlns:a="http://schemas.openxmlformats.org/drawingml/2006/main" x="5286375" y="1752600"/>
          <a:ext xmlns:a="http://schemas.openxmlformats.org/drawingml/2006/main" cx="5810250" cy="3790950"/>
        </p:xfrm>
        <a:graphic xmlns:a="http://schemas.openxmlformats.org/drawingml/2006/main">
          <a:graphicData uri="http://schemas.openxmlformats.org/drawingml/2006/chart">
            <c:chart xmlns:r="http://schemas.openxmlformats.org/officeDocument/2006/relationships" xmlns:c="http://schemas.openxmlformats.org/drawingml/2006/chart" r:id="R1aa2c601ccf74144"/>
          </a:graphicData>
        </a:graphic>
      </p:graphicFrame>
      <p:sp>
        <p:nvSpPr>
          <p:cNvPr id="16" name="">
            <a:extLst xmlns:a="http://schemas.openxmlformats.org/drawingml/2006/main">
              <a:ext uri="{FF2B5EF4-FFF2-40B4-BE49-F238E27FC236}">
                <a16:creationId xmlns:a16="http://schemas.microsoft.com/office/drawing/2014/main" id="{2BD9726B-423E-405B-A0F6-CA15E2B5F23A}"/>
              </a:ext>
            </a:extLst>
          </p:cNvPr>
          <p:cNvSpPr>
            <a:spLocks xmlns:a="http://schemas.openxmlformats.org/drawingml/2006/main" noGrp="1"/>
          </p:cNvSpPr>
          <p:nvPr/>
        </p:nvSpPr>
        <p:spPr>
          <a:xfrm xmlns:a="http://schemas.openxmlformats.org/drawingml/2006/main">
            <a:off x="5981700" y="5619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881"/>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raw simulated return → uncertainty → all registered gates</a:t>
            </a:r>
          </a:p>
        </p:txBody>
      </p:sp>
    </p:spTree>
    <p:extLst>
      <p:ext uri="{BB962C8B-B14F-4D97-AF65-F5344CB8AC3E}">
        <p14:creationId xmlns:p14="http://schemas.microsoft.com/office/powerpoint/2010/main" val="576582170"/>
      </p:ext>
    </p:extLst>
  </p:cSld>
</p:sld>
</file>

<file path=ppt/slides/slide9.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8F04616-087E-423B-A89D-734FA458F10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BEST RESEARCH DIRECTION</a:t>
            </a:r>
          </a:p>
        </p:txBody>
      </p:sp>
      <p:sp>
        <p:nvSpPr>
          <p:cNvPr id="2" name="">
            <a:extLst xmlns:a="http://schemas.openxmlformats.org/drawingml/2006/main">
              <a:ext uri="{FF2B5EF4-FFF2-40B4-BE49-F238E27FC236}">
                <a16:creationId xmlns:a16="http://schemas.microsoft.com/office/drawing/2014/main" id="{E2A0D7F9-2E0C-412B-B787-97564B6AF7E3}"/>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strongest signal was promising</a:t>
            </a:r>
          </a:p>
        </p:txBody>
      </p:sp>
      <p:sp>
        <p:nvSpPr>
          <p:cNvPr id="3" name="">
            <a:extLst xmlns:a="http://schemas.openxmlformats.org/drawingml/2006/main">
              <a:ext uri="{FF2B5EF4-FFF2-40B4-BE49-F238E27FC236}">
                <a16:creationId xmlns:a16="http://schemas.microsoft.com/office/drawing/2014/main" id="{AF8CF0CE-1FDA-4A39-9DD8-7DB089AFDDB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CDF263CB-701F-4856-8067-B80EAC84278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A9E30D96-7E93-4AC2-BA77-250BE97B017C}"/>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14004C43-9781-44A6-9BFF-8515CE03E87C}"/>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E85BFC2E-88D8-4C85-85CD-3FDA9100ADB2}"/>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HRRR + GEFS probabilities</a:t>
            </a:r>
          </a:p>
        </p:txBody>
      </p:sp>
      <p:sp>
        <p:nvSpPr>
          <p:cNvPr id="8" name="">
            <a:extLst xmlns:a="http://schemas.openxmlformats.org/drawingml/2006/main">
              <a:ext uri="{FF2B5EF4-FFF2-40B4-BE49-F238E27FC236}">
                <a16:creationId xmlns:a16="http://schemas.microsoft.com/office/drawing/2014/main" id="{AAD5A2D2-4E06-4F60-817D-CD40ABC5AFDB}"/>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B4CE7237-4F2B-45D5-AAED-788D815F01D4}"/>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18:00 UTC • narrow LAX brackets</a:t>
            </a:r>
          </a:p>
        </p:txBody>
      </p:sp>
      <p:sp>
        <p:nvSpPr>
          <p:cNvPr id="10" name="">
            <a:extLst xmlns:a="http://schemas.openxmlformats.org/drawingml/2006/main">
              <a:ext uri="{FF2B5EF4-FFF2-40B4-BE49-F238E27FC236}">
                <a16:creationId xmlns:a16="http://schemas.microsoft.com/office/drawing/2014/main" id="{FB6EC42C-CAF9-4F7F-95FC-15F63B1E83D0}"/>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84794-0D2C-4F8C-80A3-98F3CD37CEB6}"/>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13 simulated trades • 70.2% capital return</a:t>
            </a:r>
          </a:p>
        </p:txBody>
      </p:sp>
      <p:sp>
        <p:nvSpPr>
          <p:cNvPr id="12" name="">
            <a:extLst xmlns:a="http://schemas.openxmlformats.org/drawingml/2006/main">
              <a:ext uri="{FF2B5EF4-FFF2-40B4-BE49-F238E27FC236}">
                <a16:creationId xmlns:a16="http://schemas.microsoft.com/office/drawing/2014/main" id="{4BDCBCE9-E502-49DD-9BD1-2ACF499C019D}"/>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46A7B01C-9BCB-4458-AAA6-964682039998}"/>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172"/>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Two time folds lost 100%, fills were assumed, fees were not date-verified and the sample missed the 30-trade minimum.</a:t>
            </a:r>
          </a:p>
        </p:txBody>
      </p:sp>
      <p:sp>
        <p:nvSpPr>
          <p:cNvPr id="14" name="">
            <a:extLst xmlns:a="http://schemas.openxmlformats.org/drawingml/2006/main">
              <a:ext uri="{FF2B5EF4-FFF2-40B4-BE49-F238E27FC236}">
                <a16:creationId xmlns:a16="http://schemas.microsoft.com/office/drawing/2014/main" id="{41558D80-02CA-4A25-B4DD-36B3303C1F5E}"/>
              </a:ext>
            </a:extLst>
          </p:cNvPr>
          <p:cNvSpPr>
            <a:spLocks xmlns:a="http://schemas.openxmlformats.org/drawingml/2006/main" noGrp="1"/>
          </p:cNvSpPr>
          <p:nvPr/>
        </p:nvSpPr>
        <p:spPr>
          <a:xfrm xmlns:a="http://schemas.openxmlformats.org/drawingml/2006/main">
            <a:off x="5476875" y="1743075"/>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LEADING CANDIDATE: FOLD RETURNS</a:t>
            </a:r>
          </a:p>
        </p:txBody>
      </p:sp>
      <p:sp>
        <p:nvSpPr>
          <p:cNvPr id="15" name="">
            <a:extLst xmlns:a="http://schemas.openxmlformats.org/drawingml/2006/main">
              <a:ext uri="{FF2B5EF4-FFF2-40B4-BE49-F238E27FC236}">
                <a16:creationId xmlns:a16="http://schemas.microsoft.com/office/drawing/2014/main" id="{ABE0EED8-CDD5-4838-B0FD-3578CF65DF3F}"/>
              </a:ext>
            </a:extLst>
          </p:cNvPr>
          <p:cNvSpPr>
            <a:spLocks xmlns:a="http://schemas.openxmlformats.org/drawingml/2006/main" noGrp="1"/>
          </p:cNvSpPr>
          <p:nvPr/>
        </p:nvSpPr>
        <p:spPr>
          <a:xfrm xmlns:a="http://schemas.openxmlformats.org/drawingml/2006/main">
            <a:off x="5810250" y="3810000"/>
            <a:ext cx="4857750" cy="0"/>
          </a:xfrm>
          <a:prstGeom xmlns:a="http://schemas.openxmlformats.org/drawingml/2006/main" prst="line">
            <a:avLst/>
          </a:prstGeom>
          <a:noFill xmlns:a="http://schemas.openxmlformats.org/drawingml/2006/main"/>
          <a:ln xmlns:a="http://schemas.openxmlformats.org/drawingml/2006/main" w="19050">
            <a:solidFill>
              <a:srgbClr val="AEBBCD"/>
            </a:solidFill>
            <a:prstDash val="solid"/>
          </a:ln>
        </p:spPr>
      </p:sp>
      <p:sp>
        <p:nvSpPr>
          <p:cNvPr id="16" name="">
            <a:extLst xmlns:a="http://schemas.openxmlformats.org/drawingml/2006/main">
              <a:ext uri="{FF2B5EF4-FFF2-40B4-BE49-F238E27FC236}">
                <a16:creationId xmlns:a16="http://schemas.microsoft.com/office/drawing/2014/main" id="{A3CF3812-AA38-470C-B31C-3684CF76EF67}"/>
              </a:ext>
            </a:extLst>
          </p:cNvPr>
          <p:cNvSpPr>
            <a:spLocks xmlns:a="http://schemas.openxmlformats.org/drawingml/2006/main" noGrp="1"/>
          </p:cNvSpPr>
          <p:nvPr/>
        </p:nvSpPr>
        <p:spPr>
          <a:xfrm xmlns:a="http://schemas.openxmlformats.org/drawingml/2006/main">
            <a:off x="6143625" y="2225231"/>
            <a:ext cx="628650" cy="1584770"/>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2483EB-512B-4E38-B914-DB9D0BD1D961}"/>
              </a:ext>
            </a:extLst>
          </p:cNvPr>
          <p:cNvSpPr>
            <a:spLocks xmlns:a="http://schemas.openxmlformats.org/drawingml/2006/main" noGrp="1"/>
          </p:cNvSpPr>
          <p:nvPr/>
        </p:nvSpPr>
        <p:spPr>
          <a:xfrm xmlns:a="http://schemas.openxmlformats.org/drawingml/2006/main">
            <a:off x="6067425" y="1920431"/>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+141%</a:t>
            </a:r>
          </a:p>
        </p:txBody>
      </p:sp>
      <p:sp>
        <p:nvSpPr>
          <p:cNvPr id="18" name="">
            <a:extLst xmlns:a="http://schemas.openxmlformats.org/drawingml/2006/main">
              <a:ext uri="{FF2B5EF4-FFF2-40B4-BE49-F238E27FC236}">
                <a16:creationId xmlns:a16="http://schemas.microsoft.com/office/drawing/2014/main" id="{8CC0D8A5-9327-4979-8B2D-03058FF73D20}"/>
              </a:ext>
            </a:extLst>
          </p:cNvPr>
          <p:cNvSpPr>
            <a:spLocks xmlns:a="http://schemas.openxmlformats.org/drawingml/2006/main" noGrp="1"/>
          </p:cNvSpPr>
          <p:nvPr/>
        </p:nvSpPr>
        <p:spPr>
          <a:xfrm xmlns:a="http://schemas.openxmlformats.org/drawingml/2006/main">
            <a:off x="60483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1</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2 trades</a:t>
            </a:r>
          </a:p>
        </p:txBody>
      </p:sp>
      <p:sp>
        <p:nvSpPr>
          <p:cNvPr id="19" name="">
            <a:extLst xmlns:a="http://schemas.openxmlformats.org/drawingml/2006/main">
              <a:ext uri="{FF2B5EF4-FFF2-40B4-BE49-F238E27FC236}">
                <a16:creationId xmlns:a16="http://schemas.microsoft.com/office/drawing/2014/main" id="{76027018-590A-4457-8300-2C7582248A9E}"/>
              </a:ext>
            </a:extLst>
          </p:cNvPr>
          <p:cNvSpPr>
            <a:spLocks xmlns:a="http://schemas.openxmlformats.org/drawingml/2006/main" noGrp="1"/>
          </p:cNvSpPr>
          <p:nvPr/>
        </p:nvSpPr>
        <p:spPr>
          <a:xfrm xmlns:a="http://schemas.openxmlformats.org/drawingml/2006/main">
            <a:off x="7077075" y="2436533"/>
            <a:ext cx="628650" cy="1373467"/>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0B8D1C-D503-4696-AE72-7382C91AD060}"/>
              </a:ext>
            </a:extLst>
          </p:cNvPr>
          <p:cNvSpPr>
            <a:spLocks xmlns:a="http://schemas.openxmlformats.org/drawingml/2006/main" noGrp="1"/>
          </p:cNvSpPr>
          <p:nvPr/>
        </p:nvSpPr>
        <p:spPr>
          <a:xfrm xmlns:a="http://schemas.openxmlformats.org/drawingml/2006/main">
            <a:off x="7000875" y="2131733"/>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+122%</a:t>
            </a:r>
          </a:p>
        </p:txBody>
      </p:sp>
      <p:sp>
        <p:nvSpPr>
          <p:cNvPr id="21" name="">
            <a:extLst xmlns:a="http://schemas.openxmlformats.org/drawingml/2006/main">
              <a:ext uri="{FF2B5EF4-FFF2-40B4-BE49-F238E27FC236}">
                <a16:creationId xmlns:a16="http://schemas.microsoft.com/office/drawing/2014/main" id="{073AE037-29B5-4963-8217-B51C219266FA}"/>
              </a:ext>
            </a:extLst>
          </p:cNvPr>
          <p:cNvSpPr>
            <a:spLocks xmlns:a="http://schemas.openxmlformats.org/drawingml/2006/main" noGrp="1"/>
          </p:cNvSpPr>
          <p:nvPr/>
        </p:nvSpPr>
        <p:spPr>
          <a:xfrm xmlns:a="http://schemas.openxmlformats.org/drawingml/2006/main">
            <a:off x="69818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2</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1 trades</a:t>
            </a:r>
          </a:p>
        </p:txBody>
      </p:sp>
      <p:sp>
        <p:nvSpPr>
          <p:cNvPr id="22" name="">
            <a:extLst xmlns:a="http://schemas.openxmlformats.org/drawingml/2006/main">
              <a:ext uri="{FF2B5EF4-FFF2-40B4-BE49-F238E27FC236}">
                <a16:creationId xmlns:a16="http://schemas.microsoft.com/office/drawing/2014/main" id="{BF790AC1-E9A5-4203-B33F-DC7BD4E9FC1E}"/>
              </a:ext>
            </a:extLst>
          </p:cNvPr>
          <p:cNvSpPr>
            <a:spLocks xmlns:a="http://schemas.openxmlformats.org/drawingml/2006/main" noGrp="1"/>
          </p:cNvSpPr>
          <p:nvPr/>
        </p:nvSpPr>
        <p:spPr>
          <a:xfrm xmlns:a="http://schemas.openxmlformats.org/drawingml/2006/main">
            <a:off x="8010525" y="2969285"/>
            <a:ext cx="628650" cy="840715"/>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2EC333-36C3-42EA-8BC8-3059BFA1A3E2}"/>
              </a:ext>
            </a:extLst>
          </p:cNvPr>
          <p:cNvSpPr>
            <a:spLocks xmlns:a="http://schemas.openxmlformats.org/drawingml/2006/main" noGrp="1"/>
          </p:cNvSpPr>
          <p:nvPr/>
        </p:nvSpPr>
        <p:spPr>
          <a:xfrm xmlns:a="http://schemas.openxmlformats.org/drawingml/2006/main">
            <a:off x="7934325" y="266448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+75%</a:t>
            </a:r>
          </a:p>
        </p:txBody>
      </p:sp>
      <p:sp>
        <p:nvSpPr>
          <p:cNvPr id="24" name="">
            <a:extLst xmlns:a="http://schemas.openxmlformats.org/drawingml/2006/main">
              <a:ext uri="{FF2B5EF4-FFF2-40B4-BE49-F238E27FC236}">
                <a16:creationId xmlns:a16="http://schemas.microsoft.com/office/drawing/2014/main" id="{6D669BAC-8B27-4816-93F4-E09B957E788D}"/>
              </a:ext>
            </a:extLst>
          </p:cNvPr>
          <p:cNvSpPr>
            <a:spLocks xmlns:a="http://schemas.openxmlformats.org/drawingml/2006/main" noGrp="1"/>
          </p:cNvSpPr>
          <p:nvPr/>
        </p:nvSpPr>
        <p:spPr>
          <a:xfrm xmlns:a="http://schemas.openxmlformats.org/drawingml/2006/main">
            <a:off x="79152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3</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5 trades</a:t>
            </a:r>
          </a:p>
        </p:txBody>
      </p:sp>
      <p:sp>
        <p:nvSpPr>
          <p:cNvPr id="25" name="">
            <a:extLst xmlns:a="http://schemas.openxmlformats.org/drawingml/2006/main">
              <a:ext uri="{FF2B5EF4-FFF2-40B4-BE49-F238E27FC236}">
                <a16:creationId xmlns:a16="http://schemas.microsoft.com/office/drawing/2014/main" id="{5A34C5AE-ADCC-4993-8010-2EF3CE968D07}"/>
              </a:ext>
            </a:extLst>
          </p:cNvPr>
          <p:cNvSpPr>
            <a:spLocks xmlns:a="http://schemas.openxmlformats.org/drawingml/2006/main" noGrp="1"/>
          </p:cNvSpPr>
          <p:nvPr/>
        </p:nvSpPr>
        <p:spPr>
          <a:xfrm xmlns:a="http://schemas.openxmlformats.org/drawingml/2006/main">
            <a:off x="8943975" y="3810000"/>
            <a:ext cx="628650" cy="1123950"/>
          </a:xfrm>
          <a:prstGeom xmlns:a="http://schemas.openxmlformats.org/drawingml/2006/main" prst="roundRect">
            <a:avLst>
              <a:gd name="adj" fmla="val 9091"/>
            </a:avLst>
          </a:prstGeom>
          <a:solidFill xmlns:a="http://schemas.openxmlformats.org/drawingml/2006/main">
            <a:srgbClr val="FF6B6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9EFEC64-D611-43C8-8541-2C4810A9762F}"/>
              </a:ext>
            </a:extLst>
          </p:cNvPr>
          <p:cNvSpPr>
            <a:spLocks xmlns:a="http://schemas.openxmlformats.org/drawingml/2006/main" noGrp="1"/>
          </p:cNvSpPr>
          <p:nvPr/>
        </p:nvSpPr>
        <p:spPr>
          <a:xfrm xmlns:a="http://schemas.openxmlformats.org/drawingml/2006/main">
            <a:off x="8867775" y="498157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-100%</a:t>
            </a:r>
          </a:p>
        </p:txBody>
      </p:sp>
      <p:sp>
        <p:nvSpPr>
          <p:cNvPr id="27" name="">
            <a:extLst xmlns:a="http://schemas.openxmlformats.org/drawingml/2006/main">
              <a:ext uri="{FF2B5EF4-FFF2-40B4-BE49-F238E27FC236}">
                <a16:creationId xmlns:a16="http://schemas.microsoft.com/office/drawing/2014/main" id="{4AC55180-22FB-47A1-83DD-BAEF367DD2C5}"/>
              </a:ext>
            </a:extLst>
          </p:cNvPr>
          <p:cNvSpPr>
            <a:spLocks xmlns:a="http://schemas.openxmlformats.org/drawingml/2006/main" noGrp="1"/>
          </p:cNvSpPr>
          <p:nvPr/>
        </p:nvSpPr>
        <p:spPr>
          <a:xfrm xmlns:a="http://schemas.openxmlformats.org/drawingml/2006/main">
            <a:off x="88487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4</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2 trades</a:t>
            </a:r>
          </a:p>
        </p:txBody>
      </p:sp>
      <p:sp>
        <p:nvSpPr>
          <p:cNvPr id="28" name="">
            <a:extLst xmlns:a="http://schemas.openxmlformats.org/drawingml/2006/main">
              <a:ext uri="{FF2B5EF4-FFF2-40B4-BE49-F238E27FC236}">
                <a16:creationId xmlns:a16="http://schemas.microsoft.com/office/drawing/2014/main" id="{E30286DD-3F47-40A6-9580-9CD19B54E600}"/>
              </a:ext>
            </a:extLst>
          </p:cNvPr>
          <p:cNvSpPr>
            <a:spLocks xmlns:a="http://schemas.openxmlformats.org/drawingml/2006/main" noGrp="1"/>
          </p:cNvSpPr>
          <p:nvPr/>
        </p:nvSpPr>
        <p:spPr>
          <a:xfrm xmlns:a="http://schemas.openxmlformats.org/drawingml/2006/main">
            <a:off x="9877425" y="3810000"/>
            <a:ext cx="628650" cy="1123950"/>
          </a:xfrm>
          <a:prstGeom xmlns:a="http://schemas.openxmlformats.org/drawingml/2006/main" prst="roundRect">
            <a:avLst>
              <a:gd name="adj" fmla="val 9091"/>
            </a:avLst>
          </a:prstGeom>
          <a:solidFill xmlns:a="http://schemas.openxmlformats.org/drawingml/2006/main">
            <a:srgbClr val="FF6B6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B91F43B-2D69-45B5-B84F-763707F5BC5A}"/>
              </a:ext>
            </a:extLst>
          </p:cNvPr>
          <p:cNvSpPr>
            <a:spLocks xmlns:a="http://schemas.openxmlformats.org/drawingml/2006/main" noGrp="1"/>
          </p:cNvSpPr>
          <p:nvPr/>
        </p:nvSpPr>
        <p:spPr>
          <a:xfrm xmlns:a="http://schemas.openxmlformats.org/drawingml/2006/main">
            <a:off x="9801225" y="498157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44161546-1D50-457B-8603-7C032B30FB35}"/>
              </a:ext>
            </a:extLst>
          </p:cNvPr>
          <p:cNvSpPr>
            <a:spLocks xmlns:a="http://schemas.openxmlformats.org/drawingml/2006/main" noGrp="1"/>
          </p:cNvSpPr>
          <p:nvPr/>
        </p:nvSpPr>
        <p:spPr>
          <a:xfrm xmlns:a="http://schemas.openxmlformats.org/drawingml/2006/main">
            <a:off x="97821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5</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3 trades</a:t>
            </a:r>
          </a:p>
        </p:txBody>
      </p:sp>
      <p:sp>
        <p:nvSpPr>
          <p:cNvPr id="31" name="">
            <a:extLst xmlns:a="http://schemas.openxmlformats.org/drawingml/2006/main">
              <a:ext uri="{FF2B5EF4-FFF2-40B4-BE49-F238E27FC236}">
                <a16:creationId xmlns:a16="http://schemas.microsoft.com/office/drawing/2014/main" id="{5B45E164-1A00-4486-BFFD-598076E9DF7D}"/>
              </a:ext>
            </a:extLst>
          </p:cNvPr>
          <p:cNvSpPr>
            <a:spLocks xmlns:a="http://schemas.openxmlformats.org/drawingml/2006/main" noGrp="1"/>
          </p:cNvSpPr>
          <p:nvPr/>
        </p:nvSpPr>
        <p:spPr>
          <a:xfrm xmlns:a="http://schemas.openxmlformats.org/drawingml/2006/main">
            <a:off x="7486650" y="5962650"/>
            <a:ext cx="2095500" cy="342900"/>
          </a:xfrm>
          <a:prstGeom xmlns:a="http://schemas.openxmlformats.org/drawingml/2006/main" prst="roundRect">
            <a:avLst>
              <a:gd name="adj" fmla="val 50000"/>
            </a:avLst>
          </a:prstGeom>
          <a:solidFill xmlns:a="http://schemas.openxmlformats.org/drawingml/2006/main">
            <a:srgbClr val="F4B860">
              <a:alpha val="13333"/>
            </a:srgbClr>
          </a:solidFill>
          <a:ln xmlns:a="http://schemas.openxmlformats.org/drawingml/2006/main" w="9525">
            <a:solidFill>
              <a:srgbClr val="F4B860"/>
            </a:solidFill>
            <a:prstDash val="solid"/>
          </a:ln>
        </p:spPr>
      </p:sp>
      <p:sp>
        <p:nvSpPr>
          <p:cNvPr id="32" name="">
            <a:extLst xmlns:a="http://schemas.openxmlformats.org/drawingml/2006/main">
              <a:ext uri="{FF2B5EF4-FFF2-40B4-BE49-F238E27FC236}">
                <a16:creationId xmlns:a16="http://schemas.microsoft.com/office/drawing/2014/main" id="{373EE64D-D702-4290-884D-EB2541A742A9}"/>
              </a:ext>
            </a:extLst>
          </p:cNvPr>
          <p:cNvSpPr>
            <a:spLocks xmlns:a="http://schemas.openxmlformats.org/drawingml/2006/main" noGrp="1"/>
          </p:cNvSpPr>
          <p:nvPr/>
        </p:nvSpPr>
        <p:spPr>
          <a:xfrm xmlns:a="http://schemas.openxmlformats.org/drawingml/2006/main">
            <a:off x="7486650" y="59721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PROMISING ≠ VERIFIED</a:t>
            </a:r>
          </a:p>
        </p:txBody>
      </p:sp>
    </p:spTree>
    <p:extLst>
      <p:ext uri="{BB962C8B-B14F-4D97-AF65-F5344CB8AC3E}">
        <p14:creationId xmlns:p14="http://schemas.microsoft.com/office/powerpoint/2010/main" val="596345615"/>
      </p:ext>
    </p:extLst>
  </p:cSld>
</p:sld>
</file>

<file path=ppt/slides/slide10.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82F706C-32CC-4713-AFB7-0D45AB1978C2}"/>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FOCUSED VERIFICATION</a:t>
            </a:r>
          </a:p>
        </p:txBody>
      </p:sp>
      <p:sp>
        <p:nvSpPr>
          <p:cNvPr id="2" name="">
            <a:extLst xmlns:a="http://schemas.openxmlformats.org/drawingml/2006/main">
              <a:ext uri="{FF2B5EF4-FFF2-40B4-BE49-F238E27FC236}">
                <a16:creationId xmlns:a16="http://schemas.microsoft.com/office/drawing/2014/main" id="{7EF6FEBA-14A9-490B-94B1-81B9C708FB60}"/>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What the next campaign needed</a:t>
            </a:r>
          </a:p>
        </p:txBody>
      </p:sp>
      <p:sp>
        <p:nvSpPr>
          <p:cNvPr id="3" name="">
            <a:extLst xmlns:a="http://schemas.openxmlformats.org/drawingml/2006/main">
              <a:ext uri="{FF2B5EF4-FFF2-40B4-BE49-F238E27FC236}">
                <a16:creationId xmlns:a16="http://schemas.microsoft.com/office/drawing/2014/main" id="{C6892076-5D5C-4A28-83B7-4B8C5E64532C}"/>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6F6BAF7-BEE9-4B43-8524-E7B65DFEDCA2}"/>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19FC8D1C-610B-4692-BA18-62A1D17FE2FE}"/>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82C4ACE6-056D-45BE-B96E-95FE22ABD040}"/>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78C17E99-A948-4851-9978-CD88C937B52F}"/>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Verify executable historical quotes</a:t>
            </a:r>
          </a:p>
        </p:txBody>
      </p:sp>
      <p:sp>
        <p:nvSpPr>
          <p:cNvPr id="8" name="">
            <a:extLst xmlns:a="http://schemas.openxmlformats.org/drawingml/2006/main">
              <a:ext uri="{FF2B5EF4-FFF2-40B4-BE49-F238E27FC236}">
                <a16:creationId xmlns:a16="http://schemas.microsoft.com/office/drawing/2014/main" id="{517AB103-88D3-4DBA-AF52-7FD315D7162A}"/>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01AB1B62-FB6C-45F5-926F-959438B094F6}"/>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Bind exact fees + settlement</a:t>
            </a:r>
          </a:p>
        </p:txBody>
      </p:sp>
      <p:sp>
        <p:nvSpPr>
          <p:cNvPr id="10" name="">
            <a:extLst xmlns:a="http://schemas.openxmlformats.org/drawingml/2006/main">
              <a:ext uri="{FF2B5EF4-FFF2-40B4-BE49-F238E27FC236}">
                <a16:creationId xmlns:a16="http://schemas.microsoft.com/office/drawing/2014/main" id="{99466C56-1F40-4AE6-8A6A-4E7D67BEEC87}"/>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2306F57-C194-4C52-A1B7-867764A14FC9}"/>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Expand independent dates + regimes</a:t>
            </a:r>
          </a:p>
        </p:txBody>
      </p:sp>
      <p:sp>
        <p:nvSpPr>
          <p:cNvPr id="12" name="">
            <a:extLst xmlns:a="http://schemas.openxmlformats.org/drawingml/2006/main">
              <a:ext uri="{FF2B5EF4-FFF2-40B4-BE49-F238E27FC236}">
                <a16:creationId xmlns:a16="http://schemas.microsoft.com/office/drawing/2014/main" id="{DD5C3FC7-8C95-4AE4-BE36-41D7167BDAC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7765EB2F-3F9A-47E5-AD70-805E4D932C22}"/>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Only open the protected holdout after the signal passes every gate. Keep the next campaign offline.</a:t>
            </a:r>
          </a:p>
        </p:txBody>
      </p:sp>
      <p:sp>
        <p:nvSpPr>
          <p:cNvPr id="14" name="">
            <a:extLst xmlns:a="http://schemas.openxmlformats.org/drawingml/2006/main">
              <a:ext uri="{FF2B5EF4-FFF2-40B4-BE49-F238E27FC236}">
                <a16:creationId xmlns:a16="http://schemas.microsoft.com/office/drawing/2014/main" id="{F784CA16-BE86-4545-945F-AFA791E1F8C2}"/>
              </a:ext>
            </a:extLst>
          </p:cNvPr>
          <p:cNvSpPr>
            <a:spLocks xmlns:a="http://schemas.openxmlformats.org/drawingml/2006/main" noGrp="1"/>
          </p:cNvSpPr>
          <p:nvPr/>
        </p:nvSpPr>
        <p:spPr>
          <a:xfrm xmlns:a="http://schemas.openxmlformats.org/drawingml/2006/main">
            <a:off x="9382125" y="2590800"/>
            <a:ext cx="1952625" cy="1809750"/>
          </a:xfrm>
          <a:prstGeom xmlns:a="http://schemas.openxmlformats.org/drawingml/2006/main" prst="roundRect">
            <a:avLst>
              <a:gd name="adj" fmla="val 13684"/>
            </a:avLst>
          </a:prstGeom>
          <a:solidFill xmlns:a="http://schemas.openxmlformats.org/drawingml/2006/main">
            <a:srgbClr val="142941"/>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9FD99EF8-6785-492F-8C60-C2F07A382D2A}"/>
              </a:ext>
            </a:extLst>
          </p:cNvPr>
          <p:cNvSpPr>
            <a:spLocks xmlns:a="http://schemas.openxmlformats.org/drawingml/2006/main" noGrp="1"/>
          </p:cNvSpPr>
          <p:nvPr/>
        </p:nvSpPr>
        <p:spPr>
          <a:xfrm xmlns:a="http://schemas.openxmlformats.org/drawingml/2006/main">
            <a:off x="9563100" y="2857500"/>
            <a:ext cx="1590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DETERMINISTIC</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EVALUATOR</a:t>
            </a:r>
          </a:p>
        </p:txBody>
      </p:sp>
      <p:sp>
        <p:nvSpPr>
          <p:cNvPr id="16" name="">
            <a:extLst xmlns:a="http://schemas.openxmlformats.org/drawingml/2006/main">
              <a:ext uri="{FF2B5EF4-FFF2-40B4-BE49-F238E27FC236}">
                <a16:creationId xmlns:a16="http://schemas.microsoft.com/office/drawing/2014/main" id="{8F23CA18-239B-434E-9369-EB8F5AB92379}"/>
              </a:ext>
            </a:extLst>
          </p:cNvPr>
          <p:cNvSpPr>
            <a:spLocks xmlns:a="http://schemas.openxmlformats.org/drawingml/2006/main" noGrp="1"/>
          </p:cNvSpPr>
          <p:nvPr/>
        </p:nvSpPr>
        <p:spPr>
          <a:xfrm xmlns:a="http://schemas.openxmlformats.org/drawingml/2006/main">
            <a:off x="9829800" y="3581400"/>
            <a:ext cx="104775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17" name="">
            <a:extLst xmlns:a="http://schemas.openxmlformats.org/drawingml/2006/main">
              <a:ext uri="{FF2B5EF4-FFF2-40B4-BE49-F238E27FC236}">
                <a16:creationId xmlns:a16="http://schemas.microsoft.com/office/drawing/2014/main" id="{CFA81FC7-5B14-47D0-95F4-44E76CC52A43}"/>
              </a:ext>
            </a:extLst>
          </p:cNvPr>
          <p:cNvSpPr>
            <a:spLocks xmlns:a="http://schemas.openxmlformats.org/drawingml/2006/main" noGrp="1"/>
          </p:cNvSpPr>
          <p:nvPr/>
        </p:nvSpPr>
        <p:spPr>
          <a:xfrm xmlns:a="http://schemas.openxmlformats.org/drawingml/2006/main">
            <a:off x="9677400" y="3676650"/>
            <a:ext cx="1362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ADVERSARIAL</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CRITIC</a:t>
            </a:r>
          </a:p>
        </p:txBody>
      </p:sp>
      <p:sp>
        <p:nvSpPr>
          <p:cNvPr id="18" name="">
            <a:extLst xmlns:a="http://schemas.openxmlformats.org/drawingml/2006/main">
              <a:ext uri="{FF2B5EF4-FFF2-40B4-BE49-F238E27FC236}">
                <a16:creationId xmlns:a16="http://schemas.microsoft.com/office/drawing/2014/main" id="{E269BAE6-815D-4FC5-8C03-1DF7A2A3D3A4}"/>
              </a:ext>
            </a:extLst>
          </p:cNvPr>
          <p:cNvSpPr>
            <a:spLocks xmlns:a="http://schemas.openxmlformats.org/drawingml/2006/main" noGrp="1"/>
          </p:cNvSpPr>
          <p:nvPr/>
        </p:nvSpPr>
        <p:spPr>
          <a:xfrm xmlns:a="http://schemas.openxmlformats.org/drawingml/2006/main">
            <a:off x="5448300" y="1781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4F920131-A0D3-4240-B42E-6EA11CC0ABC9}"/>
              </a:ext>
            </a:extLst>
          </p:cNvPr>
          <p:cNvSpPr>
            <a:spLocks xmlns:a="http://schemas.openxmlformats.org/drawingml/2006/main" noGrp="1"/>
          </p:cNvSpPr>
          <p:nvPr/>
        </p:nvSpPr>
        <p:spPr>
          <a:xfrm xmlns:a="http://schemas.openxmlformats.org/drawingml/2006/main">
            <a:off x="5619750" y="1857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D3DC9181-439A-4700-8303-69908E3B06E3}"/>
              </a:ext>
            </a:extLst>
          </p:cNvPr>
          <p:cNvSpPr>
            <a:spLocks xmlns:a="http://schemas.openxmlformats.org/drawingml/2006/main" noGrp="1"/>
          </p:cNvSpPr>
          <p:nvPr/>
        </p:nvSpPr>
        <p:spPr>
          <a:xfrm xmlns:a="http://schemas.openxmlformats.org/drawingml/2006/main">
            <a:off x="5619750" y="2105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observed bid / ask</a:t>
            </a:r>
          </a:p>
        </p:txBody>
      </p:sp>
      <p:cxnSp>
        <p:nvCxnSpPr>
          <p:cNvPr id="289" name=""/>
          <p:cNvCxnSpPr>
            <a:stCxn xmlns:a="http://schemas.openxmlformats.org/drawingml/2006/main" id="18" idx="3"/>
            <a:endCxn xmlns:a="http://schemas.openxmlformats.org/drawingml/2006/main" id="14" idx="1"/>
          </p:cNvCxnSpPr>
          <p:nvPr/>
        </p:nvCxnSpPr>
        <p:spPr>
          <a:xfrm xmlns:a="http://schemas.openxmlformats.org/drawingml/2006/main">
            <a:off x="8448675" y="2124075"/>
            <a:ext cx="933450" cy="13716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0D047E77-33E4-4F20-B023-F9DE2A0E4835}"/>
              </a:ext>
            </a:extLst>
          </p:cNvPr>
          <p:cNvSpPr>
            <a:spLocks xmlns:a="http://schemas.openxmlformats.org/drawingml/2006/main" noGrp="1"/>
          </p:cNvSpPr>
          <p:nvPr/>
        </p:nvSpPr>
        <p:spPr>
          <a:xfrm xmlns:a="http://schemas.openxmlformats.org/drawingml/2006/main">
            <a:off x="5448300" y="2733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8446BFD6-1000-490D-A029-491402C4A97B}"/>
              </a:ext>
            </a:extLst>
          </p:cNvPr>
          <p:cNvSpPr>
            <a:spLocks xmlns:a="http://schemas.openxmlformats.org/drawingml/2006/main" noGrp="1"/>
          </p:cNvSpPr>
          <p:nvPr/>
        </p:nvSpPr>
        <p:spPr>
          <a:xfrm xmlns:a="http://schemas.openxmlformats.org/drawingml/2006/main">
            <a:off x="5619750" y="2809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FEES</a:t>
            </a:r>
          </a:p>
        </p:txBody>
      </p:sp>
      <p:sp>
        <p:nvSpPr>
          <p:cNvPr id="24" name="">
            <a:extLst xmlns:a="http://schemas.openxmlformats.org/drawingml/2006/main">
              <a:ext uri="{FF2B5EF4-FFF2-40B4-BE49-F238E27FC236}">
                <a16:creationId xmlns:a16="http://schemas.microsoft.com/office/drawing/2014/main" id="{740D5789-56B5-4FBC-88BC-457102D71292}"/>
              </a:ext>
            </a:extLst>
          </p:cNvPr>
          <p:cNvSpPr>
            <a:spLocks xmlns:a="http://schemas.openxmlformats.org/drawingml/2006/main" noGrp="1"/>
          </p:cNvSpPr>
          <p:nvPr/>
        </p:nvSpPr>
        <p:spPr>
          <a:xfrm xmlns:a="http://schemas.openxmlformats.org/drawingml/2006/main">
            <a:off x="5619750" y="3057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exact historical schedule</a:t>
            </a:r>
          </a:p>
        </p:txBody>
      </p:sp>
      <p:cxnSp>
        <p:nvCxnSpPr>
          <p:cNvPr id="293" name=""/>
          <p:cNvCxnSpPr>
            <a:stCxn xmlns:a="http://schemas.openxmlformats.org/drawingml/2006/main" id="22" idx="3"/>
            <a:endCxn xmlns:a="http://schemas.openxmlformats.org/drawingml/2006/main" id="14" idx="1"/>
          </p:cNvCxnSpPr>
          <p:nvPr/>
        </p:nvCxnSpPr>
        <p:spPr>
          <a:xfrm xmlns:a="http://schemas.openxmlformats.org/drawingml/2006/main">
            <a:off x="8448675" y="3076575"/>
            <a:ext cx="933450" cy="4191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6" name="">
            <a:extLst xmlns:a="http://schemas.openxmlformats.org/drawingml/2006/main">
              <a:ext uri="{FF2B5EF4-FFF2-40B4-BE49-F238E27FC236}">
                <a16:creationId xmlns:a16="http://schemas.microsoft.com/office/drawing/2014/main" id="{394AB9A1-AB2E-4F99-B657-3615FD3F9CF1}"/>
              </a:ext>
            </a:extLst>
          </p:cNvPr>
          <p:cNvSpPr>
            <a:spLocks xmlns:a="http://schemas.openxmlformats.org/drawingml/2006/main" noGrp="1"/>
          </p:cNvSpPr>
          <p:nvPr/>
        </p:nvSpPr>
        <p:spPr>
          <a:xfrm xmlns:a="http://schemas.openxmlformats.org/drawingml/2006/main">
            <a:off x="5448300" y="3686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7D7D0"/>
            </a:solidFill>
            <a:prstDash val="solid"/>
          </a:ln>
        </p:spPr>
      </p:sp>
      <p:sp>
        <p:nvSpPr>
          <p:cNvPr id="27" name="">
            <a:extLst xmlns:a="http://schemas.openxmlformats.org/drawingml/2006/main">
              <a:ext uri="{FF2B5EF4-FFF2-40B4-BE49-F238E27FC236}">
                <a16:creationId xmlns:a16="http://schemas.microsoft.com/office/drawing/2014/main" id="{7A9EF3D8-3821-4064-BC8D-6A9B7D7EBF6C}"/>
              </a:ext>
            </a:extLst>
          </p:cNvPr>
          <p:cNvSpPr>
            <a:spLocks xmlns:a="http://schemas.openxmlformats.org/drawingml/2006/main" noGrp="1"/>
          </p:cNvSpPr>
          <p:nvPr/>
        </p:nvSpPr>
        <p:spPr>
          <a:xfrm xmlns:a="http://schemas.openxmlformats.org/drawingml/2006/main">
            <a:off x="5619750" y="3762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PROBABILITY</a:t>
            </a:r>
          </a:p>
        </p:txBody>
      </p:sp>
      <p:sp>
        <p:nvSpPr>
          <p:cNvPr id="28" name="">
            <a:extLst xmlns:a="http://schemas.openxmlformats.org/drawingml/2006/main">
              <a:ext uri="{FF2B5EF4-FFF2-40B4-BE49-F238E27FC236}">
                <a16:creationId xmlns:a16="http://schemas.microsoft.com/office/drawing/2014/main" id="{867C2099-930D-44CF-B2AE-B55A9572395E}"/>
              </a:ext>
            </a:extLst>
          </p:cNvPr>
          <p:cNvSpPr>
            <a:spLocks xmlns:a="http://schemas.openxmlformats.org/drawingml/2006/main" noGrp="1"/>
          </p:cNvSpPr>
          <p:nvPr/>
        </p:nvSpPr>
        <p:spPr>
          <a:xfrm xmlns:a="http://schemas.openxmlformats.org/drawingml/2006/main">
            <a:off x="5619750" y="4010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frozen calibration</a:t>
            </a:r>
          </a:p>
        </p:txBody>
      </p:sp>
      <p:cxnSp>
        <p:nvCxnSpPr>
          <p:cNvPr id="297" name=""/>
          <p:cNvCxnSpPr>
            <a:stCxn xmlns:a="http://schemas.openxmlformats.org/drawingml/2006/main" id="26" idx="3"/>
            <a:endCxn xmlns:a="http://schemas.openxmlformats.org/drawingml/2006/main" id="14" idx="1"/>
          </p:cNvCxnSpPr>
          <p:nvPr/>
        </p:nvCxnSpPr>
        <p:spPr>
          <a:xfrm xmlns:a="http://schemas.openxmlformats.org/drawingml/2006/main" flipV="1">
            <a:off x="8448675" y="3495675"/>
            <a:ext cx="933450" cy="5334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0" name="">
            <a:extLst xmlns:a="http://schemas.openxmlformats.org/drawingml/2006/main">
              <a:ext uri="{FF2B5EF4-FFF2-40B4-BE49-F238E27FC236}">
                <a16:creationId xmlns:a16="http://schemas.microsoft.com/office/drawing/2014/main" id="{269A7AA7-7961-40BE-AB89-130F7C078970}"/>
              </a:ext>
            </a:extLst>
          </p:cNvPr>
          <p:cNvSpPr>
            <a:spLocks xmlns:a="http://schemas.openxmlformats.org/drawingml/2006/main" noGrp="1"/>
          </p:cNvSpPr>
          <p:nvPr/>
        </p:nvSpPr>
        <p:spPr>
          <a:xfrm xmlns:a="http://schemas.openxmlformats.org/drawingml/2006/main">
            <a:off x="5448300" y="4638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DD28A"/>
            </a:solidFill>
            <a:prstDash val="solid"/>
          </a:ln>
        </p:spPr>
      </p:sp>
      <p:sp>
        <p:nvSpPr>
          <p:cNvPr id="31" name="">
            <a:extLst xmlns:a="http://schemas.openxmlformats.org/drawingml/2006/main">
              <a:ext uri="{FF2B5EF4-FFF2-40B4-BE49-F238E27FC236}">
                <a16:creationId xmlns:a16="http://schemas.microsoft.com/office/drawing/2014/main" id="{099F6736-39C1-47F0-AB00-F155AE07C55E}"/>
              </a:ext>
            </a:extLst>
          </p:cNvPr>
          <p:cNvSpPr>
            <a:spLocks xmlns:a="http://schemas.openxmlformats.org/drawingml/2006/main" noGrp="1"/>
          </p:cNvSpPr>
          <p:nvPr/>
        </p:nvSpPr>
        <p:spPr>
          <a:xfrm xmlns:a="http://schemas.openxmlformats.org/drawingml/2006/main">
            <a:off x="5619750" y="4714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DD28A"/>
                </a:solidFill>
                <a:latin typeface="Arial"/>
                <a:ea typeface="Arial"/>
                <a:cs typeface="Arial"/>
              </a:defRPr>
            </a:pPr>
            <a:r>
              <a:rPr sz="1200" b="1">
                <a:solidFill>
                  <a:srgbClr val="4DD28A"/>
                </a:solidFill>
                <a:latin typeface="Arial"/>
                <a:ea typeface="Arial"/>
                <a:cs typeface="Arial"/>
              </a:rPr>
              <a:t>SAMPLE</a:t>
            </a:r>
          </a:p>
        </p:txBody>
      </p:sp>
      <p:sp>
        <p:nvSpPr>
          <p:cNvPr id="32" name="">
            <a:extLst xmlns:a="http://schemas.openxmlformats.org/drawingml/2006/main">
              <a:ext uri="{FF2B5EF4-FFF2-40B4-BE49-F238E27FC236}">
                <a16:creationId xmlns:a16="http://schemas.microsoft.com/office/drawing/2014/main" id="{AD7ABE22-C3F2-41A8-9FE2-2908122B509B}"/>
              </a:ext>
            </a:extLst>
          </p:cNvPr>
          <p:cNvSpPr>
            <a:spLocks xmlns:a="http://schemas.openxmlformats.org/drawingml/2006/main" noGrp="1"/>
          </p:cNvSpPr>
          <p:nvPr/>
        </p:nvSpPr>
        <p:spPr>
          <a:xfrm xmlns:a="http://schemas.openxmlformats.org/drawingml/2006/main">
            <a:off x="5619750" y="4962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more dates + regimes</a:t>
            </a:r>
          </a:p>
        </p:txBody>
      </p:sp>
      <p:cxnSp>
        <p:nvCxnSpPr>
          <p:cNvPr id="301" name=""/>
          <p:cNvCxnSpPr>
            <a:stCxn xmlns:a="http://schemas.openxmlformats.org/drawingml/2006/main" id="30" idx="3"/>
            <a:endCxn xmlns:a="http://schemas.openxmlformats.org/drawingml/2006/main" id="14" idx="1"/>
          </p:cNvCxnSpPr>
          <p:nvPr/>
        </p:nvCxnSpPr>
        <p:spPr>
          <a:xfrm xmlns:a="http://schemas.openxmlformats.org/drawingml/2006/main" flipV="1">
            <a:off x="8448675" y="3495675"/>
            <a:ext cx="933450" cy="14859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4" name="">
            <a:extLst xmlns:a="http://schemas.openxmlformats.org/drawingml/2006/main">
              <a:ext uri="{FF2B5EF4-FFF2-40B4-BE49-F238E27FC236}">
                <a16:creationId xmlns:a16="http://schemas.microsoft.com/office/drawing/2014/main" id="{080C5284-F2A5-43FF-A8DF-726E15E2E193}"/>
              </a:ext>
            </a:extLst>
          </p:cNvPr>
          <p:cNvSpPr>
            <a:spLocks xmlns:a="http://schemas.openxmlformats.org/drawingml/2006/main" noGrp="1"/>
          </p:cNvSpPr>
          <p:nvPr/>
        </p:nvSpPr>
        <p:spPr>
          <a:xfrm xmlns:a="http://schemas.openxmlformats.org/drawingml/2006/main">
            <a:off x="9191625" y="4905375"/>
            <a:ext cx="2286000" cy="533400"/>
          </a:xfrm>
          <a:prstGeom xmlns:a="http://schemas.openxmlformats.org/drawingml/2006/main" prst="roundRect">
            <a:avLst>
              <a:gd name="adj" fmla="val 28571"/>
            </a:avLst>
          </a:prstGeom>
          <a:solidFill xmlns:a="http://schemas.openxmlformats.org/drawingml/2006/main">
            <a:srgbClr val="153323"/>
          </a:solidFill>
          <a:ln xmlns:a="http://schemas.openxmlformats.org/drawingml/2006/main" w="19050">
            <a:solidFill>
              <a:srgbClr val="4DD28A"/>
            </a:solidFill>
            <a:prstDash val="solid"/>
          </a:ln>
        </p:spPr>
      </p:sp>
      <p:sp>
        <p:nvSpPr>
          <p:cNvPr id="35" name="">
            <a:extLst xmlns:a="http://schemas.openxmlformats.org/drawingml/2006/main">
              <a:ext uri="{FF2B5EF4-FFF2-40B4-BE49-F238E27FC236}">
                <a16:creationId xmlns:a16="http://schemas.microsoft.com/office/drawing/2014/main" id="{6F943BE9-1923-4917-9298-D128B96DB752}"/>
              </a:ext>
            </a:extLst>
          </p:cNvPr>
          <p:cNvSpPr>
            <a:spLocks xmlns:a="http://schemas.openxmlformats.org/drawingml/2006/main" noGrp="1"/>
          </p:cNvSpPr>
          <p:nvPr/>
        </p:nvSpPr>
        <p:spPr>
          <a:xfrm xmlns:a="http://schemas.openxmlformats.org/drawingml/2006/main">
            <a:off x="9315450" y="501015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691"/>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PASS → protected holdout</a:t>
            </a:r>
          </a:p>
        </p:txBody>
      </p:sp>
      <p:sp>
        <p:nvSpPr>
          <p:cNvPr id="36" name="">
            <a:extLst xmlns:a="http://schemas.openxmlformats.org/drawingml/2006/main">
              <a:ext uri="{FF2B5EF4-FFF2-40B4-BE49-F238E27FC236}">
                <a16:creationId xmlns:a16="http://schemas.microsoft.com/office/drawing/2014/main" id="{84FFD6B6-F873-4CB5-9292-BD15EA97DB96}"/>
              </a:ext>
            </a:extLst>
          </p:cNvPr>
          <p:cNvSpPr>
            <a:spLocks xmlns:a="http://schemas.openxmlformats.org/drawingml/2006/main" noGrp="1"/>
          </p:cNvSpPr>
          <p:nvPr/>
        </p:nvSpPr>
        <p:spPr>
          <a:xfrm xmlns:a="http://schemas.openxmlformats.org/drawingml/2006/main">
            <a:off x="9191625" y="5600700"/>
            <a:ext cx="2286000" cy="533400"/>
          </a:xfrm>
          <a:prstGeom xmlns:a="http://schemas.openxmlformats.org/drawingml/2006/main" prst="roundRect">
            <a:avLst>
              <a:gd name="adj" fmla="val 28571"/>
            </a:avLst>
          </a:prstGeom>
          <a:solidFill xmlns:a="http://schemas.openxmlformats.org/drawingml/2006/main">
            <a:srgbClr val="321D29"/>
          </a:solidFill>
          <a:ln xmlns:a="http://schemas.openxmlformats.org/drawingml/2006/main" w="19050">
            <a:solidFill>
              <a:srgbClr val="FF6B6B"/>
            </a:solidFill>
            <a:prstDash val="solid"/>
          </a:ln>
        </p:spPr>
      </p:sp>
      <p:sp>
        <p:nvSpPr>
          <p:cNvPr id="37" name="">
            <a:extLst xmlns:a="http://schemas.openxmlformats.org/drawingml/2006/main">
              <a:ext uri="{FF2B5EF4-FFF2-40B4-BE49-F238E27FC236}">
                <a16:creationId xmlns:a16="http://schemas.microsoft.com/office/drawing/2014/main" id="{FD90C948-00C9-4CB1-8B5A-7C20FA2123F7}"/>
              </a:ext>
            </a:extLst>
          </p:cNvPr>
          <p:cNvSpPr>
            <a:spLocks xmlns:a="http://schemas.openxmlformats.org/drawingml/2006/main" noGrp="1"/>
          </p:cNvSpPr>
          <p:nvPr/>
        </p:nvSpPr>
        <p:spPr>
          <a:xfrm xmlns:a="http://schemas.openxmlformats.org/drawingml/2006/main">
            <a:off x="9315450" y="570547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FAIL → learn + iterate</a:t>
            </a:r>
          </a:p>
        </p:txBody>
      </p:sp>
    </p:spTree>
    <p:extLst>
      <p:ext uri="{BB962C8B-B14F-4D97-AF65-F5344CB8AC3E}">
        <p14:creationId xmlns:p14="http://schemas.microsoft.com/office/powerpoint/2010/main" val="827757664"/>
      </p:ext>
    </p:extLst>
  </p:cSld>
</p:sld>
</file>

<file path=ppt/slides/slide11.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82F706C-32CC-4713-AFB7-0D45AB1978C2}"/>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DATA RECOVERY</a:t>
            </a:r>
          </a:p>
        </p:txBody>
      </p:sp>
      <p:sp>
        <p:nvSpPr>
          <p:cNvPr id="2" name="">
            <a:extLst xmlns:a="http://schemas.openxmlformats.org/drawingml/2006/main">
              <a:ext uri="{FF2B5EF4-FFF2-40B4-BE49-F238E27FC236}">
                <a16:creationId xmlns:a16="http://schemas.microsoft.com/office/drawing/2014/main" id="{7EF6FEBA-14A9-490B-94B1-81B9C708FB60}"/>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V5: the missing evidence arrived</a:t>
            </a:r>
          </a:p>
        </p:txBody>
      </p:sp>
      <p:sp>
        <p:nvSpPr>
          <p:cNvPr id="3" name="">
            <a:extLst xmlns:a="http://schemas.openxmlformats.org/drawingml/2006/main">
              <a:ext uri="{FF2B5EF4-FFF2-40B4-BE49-F238E27FC236}">
                <a16:creationId xmlns:a16="http://schemas.microsoft.com/office/drawing/2014/main" id="{C6892076-5D5C-4A28-83B7-4B8C5E64532C}"/>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6F6BAF7-BEE9-4B43-8524-E7B65DFEDCA2}"/>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19FC8D1C-610B-4692-BA18-62A1D17FE2FE}"/>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82C4ACE6-056D-45BE-B96E-95FE22ABD040}"/>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78C17E99-A948-4851-9978-CD88C937B52F}"/>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92 HRRR + GEFS dates</a:t>
            </a:r>
          </a:p>
        </p:txBody>
      </p:sp>
      <p:sp>
        <p:nvSpPr>
          <p:cNvPr id="8" name="">
            <a:extLst xmlns:a="http://schemas.openxmlformats.org/drawingml/2006/main">
              <a:ext uri="{FF2B5EF4-FFF2-40B4-BE49-F238E27FC236}">
                <a16:creationId xmlns:a16="http://schemas.microsoft.com/office/drawing/2014/main" id="{517AB103-88D3-4DBA-AF52-7FD315D7162A}"/>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01AB1B62-FB6C-45F5-926F-959438B094F6}"/>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2.08M paid order-book snapshots</a:t>
            </a:r>
          </a:p>
        </p:txBody>
      </p:sp>
      <p:sp>
        <p:nvSpPr>
          <p:cNvPr id="10" name="">
            <a:extLst xmlns:a="http://schemas.openxmlformats.org/drawingml/2006/main">
              <a:ext uri="{FF2B5EF4-FFF2-40B4-BE49-F238E27FC236}">
                <a16:creationId xmlns:a16="http://schemas.microsoft.com/office/drawing/2014/main" id="{99466C56-1F40-4AE6-8A6A-4E7D67BEEC87}"/>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2306F57-C194-4C52-A1B7-867764A14FC9}"/>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Exact fees + event rules</a:t>
            </a:r>
          </a:p>
        </p:txBody>
      </p:sp>
      <p:sp>
        <p:nvSpPr>
          <p:cNvPr id="12" name="">
            <a:extLst xmlns:a="http://schemas.openxmlformats.org/drawingml/2006/main">
              <a:ext uri="{FF2B5EF4-FFF2-40B4-BE49-F238E27FC236}">
                <a16:creationId xmlns:a16="http://schemas.microsoft.com/office/drawing/2014/main" id="{DD5C3FC7-8C95-4AE4-BE36-41D7167BDAC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WHAT CHANGED</a:t>
            </a:r>
          </a:p>
        </p:txBody>
      </p:sp>
      <p:sp>
        <p:nvSpPr>
          <p:cNvPr id="13" name="">
            <a:extLst xmlns:a="http://schemas.openxmlformats.org/drawingml/2006/main">
              <a:ext uri="{FF2B5EF4-FFF2-40B4-BE49-F238E27FC236}">
                <a16:creationId xmlns:a16="http://schemas.microsoft.com/office/drawing/2014/main" id="{7765EB2F-3F9A-47E5-AD70-805E4D932C22}"/>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072"/>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We could finally test the frozen signal against historical market structure.</a:t>
            </a:r>
          </a:p>
        </p:txBody>
      </p:sp>
      <p:sp>
        <p:nvSpPr>
          <p:cNvPr id="14" name="">
            <a:extLst xmlns:a="http://schemas.openxmlformats.org/drawingml/2006/main">
              <a:ext uri="{FF2B5EF4-FFF2-40B4-BE49-F238E27FC236}">
                <a16:creationId xmlns:a16="http://schemas.microsoft.com/office/drawing/2014/main" id="{F784CA16-BE86-4545-945F-AFA791E1F8C2}"/>
              </a:ext>
            </a:extLst>
          </p:cNvPr>
          <p:cNvSpPr>
            <a:spLocks xmlns:a="http://schemas.openxmlformats.org/drawingml/2006/main" noGrp="1"/>
          </p:cNvSpPr>
          <p:nvPr/>
        </p:nvSpPr>
        <p:spPr>
          <a:xfrm xmlns:a="http://schemas.openxmlformats.org/drawingml/2006/main">
            <a:off x="9382125" y="2590800"/>
            <a:ext cx="1952625" cy="1809750"/>
          </a:xfrm>
          <a:prstGeom xmlns:a="http://schemas.openxmlformats.org/drawingml/2006/main" prst="roundRect">
            <a:avLst>
              <a:gd name="adj" fmla="val 13684"/>
            </a:avLst>
          </a:prstGeom>
          <a:solidFill xmlns:a="http://schemas.openxmlformats.org/drawingml/2006/main">
            <a:srgbClr val="142941"/>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9FD99EF8-6785-492F-8C60-C2F07A382D2A}"/>
              </a:ext>
            </a:extLst>
          </p:cNvPr>
          <p:cNvSpPr>
            <a:spLocks xmlns:a="http://schemas.openxmlformats.org/drawingml/2006/main" noGrp="1"/>
          </p:cNvSpPr>
          <p:nvPr/>
        </p:nvSpPr>
        <p:spPr>
          <a:xfrm xmlns:a="http://schemas.openxmlformats.org/drawingml/2006/main">
            <a:off x="9563100" y="2857500"/>
            <a:ext cx="1590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FROZEN V4</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SIGNAL</a:t>
            </a:r>
          </a:p>
        </p:txBody>
      </p:sp>
      <p:sp>
        <p:nvSpPr>
          <p:cNvPr id="16" name="">
            <a:extLst xmlns:a="http://schemas.openxmlformats.org/drawingml/2006/main">
              <a:ext uri="{FF2B5EF4-FFF2-40B4-BE49-F238E27FC236}">
                <a16:creationId xmlns:a16="http://schemas.microsoft.com/office/drawing/2014/main" id="{8F23CA18-239B-434E-9369-EB8F5AB92379}"/>
              </a:ext>
            </a:extLst>
          </p:cNvPr>
          <p:cNvSpPr>
            <a:spLocks xmlns:a="http://schemas.openxmlformats.org/drawingml/2006/main" noGrp="1"/>
          </p:cNvSpPr>
          <p:nvPr/>
        </p:nvSpPr>
        <p:spPr>
          <a:xfrm xmlns:a="http://schemas.openxmlformats.org/drawingml/2006/main">
            <a:off x="9829800" y="3581400"/>
            <a:ext cx="104775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17" name="">
            <a:extLst xmlns:a="http://schemas.openxmlformats.org/drawingml/2006/main">
              <a:ext uri="{FF2B5EF4-FFF2-40B4-BE49-F238E27FC236}">
                <a16:creationId xmlns:a16="http://schemas.microsoft.com/office/drawing/2014/main" id="{CFA81FC7-5B14-47D0-95F4-44E76CC52A43}"/>
              </a:ext>
            </a:extLst>
          </p:cNvPr>
          <p:cNvSpPr>
            <a:spLocks xmlns:a="http://schemas.openxmlformats.org/drawingml/2006/main" noGrp="1"/>
          </p:cNvSpPr>
          <p:nvPr/>
        </p:nvSpPr>
        <p:spPr>
          <a:xfrm xmlns:a="http://schemas.openxmlformats.org/drawingml/2006/main">
            <a:off x="9677400" y="3676650"/>
            <a:ext cx="1362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BLINDED</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INPUTS</a:t>
            </a:r>
          </a:p>
        </p:txBody>
      </p:sp>
      <p:sp>
        <p:nvSpPr>
          <p:cNvPr id="18" name="">
            <a:extLst xmlns:a="http://schemas.openxmlformats.org/drawingml/2006/main">
              <a:ext uri="{FF2B5EF4-FFF2-40B4-BE49-F238E27FC236}">
                <a16:creationId xmlns:a16="http://schemas.microsoft.com/office/drawing/2014/main" id="{E269BAE6-815D-4FC5-8C03-1DF7A2A3D3A4}"/>
              </a:ext>
            </a:extLst>
          </p:cNvPr>
          <p:cNvSpPr>
            <a:spLocks xmlns:a="http://schemas.openxmlformats.org/drawingml/2006/main" noGrp="1"/>
          </p:cNvSpPr>
          <p:nvPr/>
        </p:nvSpPr>
        <p:spPr>
          <a:xfrm xmlns:a="http://schemas.openxmlformats.org/drawingml/2006/main">
            <a:off x="5448300" y="1781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4F920131-A0D3-4240-B42E-6EA11CC0ABC9}"/>
              </a:ext>
            </a:extLst>
          </p:cNvPr>
          <p:cNvSpPr>
            <a:spLocks xmlns:a="http://schemas.openxmlformats.org/drawingml/2006/main" noGrp="1"/>
          </p:cNvSpPr>
          <p:nvPr/>
        </p:nvSpPr>
        <p:spPr>
          <a:xfrm xmlns:a="http://schemas.openxmlformats.org/drawingml/2006/main">
            <a:off x="5619750" y="1857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WEATHER</a:t>
            </a:r>
          </a:p>
        </p:txBody>
      </p:sp>
      <p:sp>
        <p:nvSpPr>
          <p:cNvPr id="20" name="">
            <a:extLst xmlns:a="http://schemas.openxmlformats.org/drawingml/2006/main">
              <a:ext uri="{FF2B5EF4-FFF2-40B4-BE49-F238E27FC236}">
                <a16:creationId xmlns:a16="http://schemas.microsoft.com/office/drawing/2014/main" id="{D3DC9181-439A-4700-8303-69908E3B06E3}"/>
              </a:ext>
            </a:extLst>
          </p:cNvPr>
          <p:cNvSpPr>
            <a:spLocks xmlns:a="http://schemas.openxmlformats.org/drawingml/2006/main" noGrp="1"/>
          </p:cNvSpPr>
          <p:nvPr/>
        </p:nvSpPr>
        <p:spPr>
          <a:xfrm xmlns:a="http://schemas.openxmlformats.org/drawingml/2006/main">
            <a:off x="5619750" y="2105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92 complete dates</a:t>
            </a:r>
          </a:p>
        </p:txBody>
      </p:sp>
      <p:cxnSp>
        <p:nvCxnSpPr>
          <p:cNvPr id="289" name=""/>
          <p:cNvCxnSpPr>
            <a:stCxn xmlns:a="http://schemas.openxmlformats.org/drawingml/2006/main" id="18" idx="3"/>
            <a:endCxn xmlns:a="http://schemas.openxmlformats.org/drawingml/2006/main" id="14" idx="1"/>
          </p:cNvCxnSpPr>
          <p:nvPr/>
        </p:nvCxnSpPr>
        <p:spPr>
          <a:xfrm xmlns:a="http://schemas.openxmlformats.org/drawingml/2006/main">
            <a:off x="8448675" y="2124075"/>
            <a:ext cx="933450" cy="13716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0D047E77-33E4-4F20-B023-F9DE2A0E4835}"/>
              </a:ext>
            </a:extLst>
          </p:cNvPr>
          <p:cNvSpPr>
            <a:spLocks xmlns:a="http://schemas.openxmlformats.org/drawingml/2006/main" noGrp="1"/>
          </p:cNvSpPr>
          <p:nvPr/>
        </p:nvSpPr>
        <p:spPr>
          <a:xfrm xmlns:a="http://schemas.openxmlformats.org/drawingml/2006/main">
            <a:off x="5448300" y="2733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8446BFD6-1000-490D-A029-491402C4A97B}"/>
              </a:ext>
            </a:extLst>
          </p:cNvPr>
          <p:cNvSpPr>
            <a:spLocks xmlns:a="http://schemas.openxmlformats.org/drawingml/2006/main" noGrp="1"/>
          </p:cNvSpPr>
          <p:nvPr/>
        </p:nvSpPr>
        <p:spPr>
          <a:xfrm xmlns:a="http://schemas.openxmlformats.org/drawingml/2006/main">
            <a:off x="5619750" y="2809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47"/>
          </a:bodyPr>
          <a:lstStyle xmlns:a="http://schemas.openxmlformats.org/drawingml/2006/main"/>
          <a:p xmlns:a="http://schemas.openxmlformats.org/drawingml/2006/main">
            <a:pPr algn="l">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ORDER BOOKS</a:t>
            </a:r>
          </a:p>
        </p:txBody>
      </p:sp>
      <p:sp>
        <p:nvSpPr>
          <p:cNvPr id="24" name="">
            <a:extLst xmlns:a="http://schemas.openxmlformats.org/drawingml/2006/main">
              <a:ext uri="{FF2B5EF4-FFF2-40B4-BE49-F238E27FC236}">
                <a16:creationId xmlns:a16="http://schemas.microsoft.com/office/drawing/2014/main" id="{740D5789-56B5-4FBC-88BC-457102D71292}"/>
              </a:ext>
            </a:extLst>
          </p:cNvPr>
          <p:cNvSpPr>
            <a:spLocks xmlns:a="http://schemas.openxmlformats.org/drawingml/2006/main" noGrp="1"/>
          </p:cNvSpPr>
          <p:nvPr/>
        </p:nvSpPr>
        <p:spPr>
          <a:xfrm xmlns:a="http://schemas.openxmlformats.org/drawingml/2006/main">
            <a:off x="5619750" y="3057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2.08M paid snapshots</a:t>
            </a:r>
          </a:p>
        </p:txBody>
      </p:sp>
      <p:cxnSp>
        <p:nvCxnSpPr>
          <p:cNvPr id="293" name=""/>
          <p:cNvCxnSpPr>
            <a:stCxn xmlns:a="http://schemas.openxmlformats.org/drawingml/2006/main" id="22" idx="3"/>
            <a:endCxn xmlns:a="http://schemas.openxmlformats.org/drawingml/2006/main" id="14" idx="1"/>
          </p:cNvCxnSpPr>
          <p:nvPr/>
        </p:nvCxnSpPr>
        <p:spPr>
          <a:xfrm xmlns:a="http://schemas.openxmlformats.org/drawingml/2006/main">
            <a:off x="8448675" y="3076575"/>
            <a:ext cx="933450" cy="4191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6" name="">
            <a:extLst xmlns:a="http://schemas.openxmlformats.org/drawingml/2006/main">
              <a:ext uri="{FF2B5EF4-FFF2-40B4-BE49-F238E27FC236}">
                <a16:creationId xmlns:a16="http://schemas.microsoft.com/office/drawing/2014/main" id="{394AB9A1-AB2E-4F99-B657-3615FD3F9CF1}"/>
              </a:ext>
            </a:extLst>
          </p:cNvPr>
          <p:cNvSpPr>
            <a:spLocks xmlns:a="http://schemas.openxmlformats.org/drawingml/2006/main" noGrp="1"/>
          </p:cNvSpPr>
          <p:nvPr/>
        </p:nvSpPr>
        <p:spPr>
          <a:xfrm xmlns:a="http://schemas.openxmlformats.org/drawingml/2006/main">
            <a:off x="5448300" y="3686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7D7D0"/>
            </a:solidFill>
            <a:prstDash val="solid"/>
          </a:ln>
        </p:spPr>
      </p:sp>
      <p:sp>
        <p:nvSpPr>
          <p:cNvPr id="27" name="">
            <a:extLst xmlns:a="http://schemas.openxmlformats.org/drawingml/2006/main">
              <a:ext uri="{FF2B5EF4-FFF2-40B4-BE49-F238E27FC236}">
                <a16:creationId xmlns:a16="http://schemas.microsoft.com/office/drawing/2014/main" id="{7A9EF3D8-3821-4064-BC8D-6A9B7D7EBF6C}"/>
              </a:ext>
            </a:extLst>
          </p:cNvPr>
          <p:cNvSpPr>
            <a:spLocks xmlns:a="http://schemas.openxmlformats.org/drawingml/2006/main" noGrp="1"/>
          </p:cNvSpPr>
          <p:nvPr/>
        </p:nvSpPr>
        <p:spPr>
          <a:xfrm xmlns:a="http://schemas.openxmlformats.org/drawingml/2006/main">
            <a:off x="5619750" y="3762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RULES</a:t>
            </a:r>
          </a:p>
        </p:txBody>
      </p:sp>
      <p:sp>
        <p:nvSpPr>
          <p:cNvPr id="28" name="">
            <a:extLst xmlns:a="http://schemas.openxmlformats.org/drawingml/2006/main">
              <a:ext uri="{FF2B5EF4-FFF2-40B4-BE49-F238E27FC236}">
                <a16:creationId xmlns:a16="http://schemas.microsoft.com/office/drawing/2014/main" id="{867C2099-930D-44CF-B2AE-B55A9572395E}"/>
              </a:ext>
            </a:extLst>
          </p:cNvPr>
          <p:cNvSpPr>
            <a:spLocks xmlns:a="http://schemas.openxmlformats.org/drawingml/2006/main" noGrp="1"/>
          </p:cNvSpPr>
          <p:nvPr/>
        </p:nvSpPr>
        <p:spPr>
          <a:xfrm xmlns:a="http://schemas.openxmlformats.org/drawingml/2006/main">
            <a:off x="5619750" y="4010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552 exact contracts</a:t>
            </a:r>
          </a:p>
        </p:txBody>
      </p:sp>
      <p:cxnSp>
        <p:nvCxnSpPr>
          <p:cNvPr id="297" name=""/>
          <p:cNvCxnSpPr>
            <a:stCxn xmlns:a="http://schemas.openxmlformats.org/drawingml/2006/main" id="26" idx="3"/>
            <a:endCxn xmlns:a="http://schemas.openxmlformats.org/drawingml/2006/main" id="14" idx="1"/>
          </p:cNvCxnSpPr>
          <p:nvPr/>
        </p:nvCxnSpPr>
        <p:spPr>
          <a:xfrm xmlns:a="http://schemas.openxmlformats.org/drawingml/2006/main" flipV="1">
            <a:off x="8448675" y="3495675"/>
            <a:ext cx="933450" cy="5334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0" name="">
            <a:extLst xmlns:a="http://schemas.openxmlformats.org/drawingml/2006/main">
              <a:ext uri="{FF2B5EF4-FFF2-40B4-BE49-F238E27FC236}">
                <a16:creationId xmlns:a16="http://schemas.microsoft.com/office/drawing/2014/main" id="{269A7AA7-7961-40BE-AB89-130F7C078970}"/>
              </a:ext>
            </a:extLst>
          </p:cNvPr>
          <p:cNvSpPr>
            <a:spLocks xmlns:a="http://schemas.openxmlformats.org/drawingml/2006/main" noGrp="1"/>
          </p:cNvSpPr>
          <p:nvPr/>
        </p:nvSpPr>
        <p:spPr>
          <a:xfrm xmlns:a="http://schemas.openxmlformats.org/drawingml/2006/main">
            <a:off x="5448300" y="4638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DD28A"/>
            </a:solidFill>
            <a:prstDash val="solid"/>
          </a:ln>
        </p:spPr>
      </p:sp>
      <p:sp>
        <p:nvSpPr>
          <p:cNvPr id="31" name="">
            <a:extLst xmlns:a="http://schemas.openxmlformats.org/drawingml/2006/main">
              <a:ext uri="{FF2B5EF4-FFF2-40B4-BE49-F238E27FC236}">
                <a16:creationId xmlns:a16="http://schemas.microsoft.com/office/drawing/2014/main" id="{099F6736-39C1-47F0-AB00-F155AE07C55E}"/>
              </a:ext>
            </a:extLst>
          </p:cNvPr>
          <p:cNvSpPr>
            <a:spLocks xmlns:a="http://schemas.openxmlformats.org/drawingml/2006/main" noGrp="1"/>
          </p:cNvSpPr>
          <p:nvPr/>
        </p:nvSpPr>
        <p:spPr>
          <a:xfrm xmlns:a="http://schemas.openxmlformats.org/drawingml/2006/main">
            <a:off x="5619750" y="4714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DD28A"/>
                </a:solidFill>
                <a:latin typeface="Arial"/>
                <a:ea typeface="Arial"/>
                <a:cs typeface="Arial"/>
              </a:defRPr>
            </a:pPr>
            <a:r>
              <a:rPr sz="1200" b="1">
                <a:solidFill>
                  <a:srgbClr val="4DD28A"/>
                </a:solidFill>
                <a:latin typeface="Arial"/>
                <a:ea typeface="Arial"/>
                <a:cs typeface="Arial"/>
              </a:rPr>
              <a:t>ECONOMICS</a:t>
            </a:r>
          </a:p>
        </p:txBody>
      </p:sp>
      <p:sp>
        <p:nvSpPr>
          <p:cNvPr id="32" name="">
            <a:extLst xmlns:a="http://schemas.openxmlformats.org/drawingml/2006/main">
              <a:ext uri="{FF2B5EF4-FFF2-40B4-BE49-F238E27FC236}">
                <a16:creationId xmlns:a16="http://schemas.microsoft.com/office/drawing/2014/main" id="{AD7ABE22-C3F2-41A8-9FE2-2908122B509B}"/>
              </a:ext>
            </a:extLst>
          </p:cNvPr>
          <p:cNvSpPr>
            <a:spLocks xmlns:a="http://schemas.openxmlformats.org/drawingml/2006/main" noGrp="1"/>
          </p:cNvSpPr>
          <p:nvPr/>
        </p:nvSpPr>
        <p:spPr>
          <a:xfrm xmlns:a="http://schemas.openxmlformats.org/drawingml/2006/main">
            <a:off x="5619750" y="4962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92 fee dates</a:t>
            </a:r>
          </a:p>
        </p:txBody>
      </p:sp>
      <p:cxnSp>
        <p:nvCxnSpPr>
          <p:cNvPr id="301" name=""/>
          <p:cNvCxnSpPr>
            <a:stCxn xmlns:a="http://schemas.openxmlformats.org/drawingml/2006/main" id="30" idx="3"/>
            <a:endCxn xmlns:a="http://schemas.openxmlformats.org/drawingml/2006/main" id="14" idx="1"/>
          </p:cNvCxnSpPr>
          <p:nvPr/>
        </p:nvCxnSpPr>
        <p:spPr>
          <a:xfrm xmlns:a="http://schemas.openxmlformats.org/drawingml/2006/main" flipV="1">
            <a:off x="8448675" y="3495675"/>
            <a:ext cx="933450" cy="14859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4" name="">
            <a:extLst xmlns:a="http://schemas.openxmlformats.org/drawingml/2006/main">
              <a:ext uri="{FF2B5EF4-FFF2-40B4-BE49-F238E27FC236}">
                <a16:creationId xmlns:a16="http://schemas.microsoft.com/office/drawing/2014/main" id="{080C5284-F2A5-43FF-A8DF-726E15E2E193}"/>
              </a:ext>
            </a:extLst>
          </p:cNvPr>
          <p:cNvSpPr>
            <a:spLocks xmlns:a="http://schemas.openxmlformats.org/drawingml/2006/main" noGrp="1"/>
          </p:cNvSpPr>
          <p:nvPr/>
        </p:nvSpPr>
        <p:spPr>
          <a:xfrm xmlns:a="http://schemas.openxmlformats.org/drawingml/2006/main">
            <a:off x="9191625" y="4905375"/>
            <a:ext cx="2286000" cy="533400"/>
          </a:xfrm>
          <a:prstGeom xmlns:a="http://schemas.openxmlformats.org/drawingml/2006/main" prst="roundRect">
            <a:avLst>
              <a:gd name="adj" fmla="val 28571"/>
            </a:avLst>
          </a:prstGeom>
          <a:solidFill xmlns:a="http://schemas.openxmlformats.org/drawingml/2006/main">
            <a:srgbClr val="153323"/>
          </a:solidFill>
          <a:ln xmlns:a="http://schemas.openxmlformats.org/drawingml/2006/main" w="19050">
            <a:solidFill>
              <a:srgbClr val="4DD28A"/>
            </a:solidFill>
            <a:prstDash val="solid"/>
          </a:ln>
        </p:spPr>
      </p:sp>
      <p:sp>
        <p:nvSpPr>
          <p:cNvPr id="35" name="">
            <a:extLst xmlns:a="http://schemas.openxmlformats.org/drawingml/2006/main">
              <a:ext uri="{FF2B5EF4-FFF2-40B4-BE49-F238E27FC236}">
                <a16:creationId xmlns:a16="http://schemas.microsoft.com/office/drawing/2014/main" id="{6F943BE9-1923-4917-9298-D128B96DB752}"/>
              </a:ext>
            </a:extLst>
          </p:cNvPr>
          <p:cNvSpPr>
            <a:spLocks xmlns:a="http://schemas.openxmlformats.org/drawingml/2006/main" noGrp="1"/>
          </p:cNvSpPr>
          <p:nvPr/>
        </p:nvSpPr>
        <p:spPr>
          <a:xfrm xmlns:a="http://schemas.openxmlformats.org/drawingml/2006/main">
            <a:off x="9315450" y="501015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82 dates with prices</a:t>
            </a:r>
          </a:p>
        </p:txBody>
      </p:sp>
      <p:sp>
        <p:nvSpPr>
          <p:cNvPr id="36" name="">
            <a:extLst xmlns:a="http://schemas.openxmlformats.org/drawingml/2006/main">
              <a:ext uri="{FF2B5EF4-FFF2-40B4-BE49-F238E27FC236}">
                <a16:creationId xmlns:a16="http://schemas.microsoft.com/office/drawing/2014/main" id="{84FFD6B6-F873-4CB5-9292-BD15EA97DB96}"/>
              </a:ext>
            </a:extLst>
          </p:cNvPr>
          <p:cNvSpPr>
            <a:spLocks xmlns:a="http://schemas.openxmlformats.org/drawingml/2006/main" noGrp="1"/>
          </p:cNvSpPr>
          <p:nvPr/>
        </p:nvSpPr>
        <p:spPr>
          <a:xfrm xmlns:a="http://schemas.openxmlformats.org/drawingml/2006/main">
            <a:off x="9191625" y="5600700"/>
            <a:ext cx="2286000" cy="533400"/>
          </a:xfrm>
          <a:prstGeom xmlns:a="http://schemas.openxmlformats.org/drawingml/2006/main" prst="roundRect">
            <a:avLst>
              <a:gd name="adj" fmla="val 28571"/>
            </a:avLst>
          </a:prstGeom>
          <a:solidFill xmlns:a="http://schemas.openxmlformats.org/drawingml/2006/main">
            <a:srgbClr val="321D29"/>
          </a:solidFill>
          <a:ln xmlns:a="http://schemas.openxmlformats.org/drawingml/2006/main" w="19050">
            <a:solidFill>
              <a:srgbClr val="FF6B6B"/>
            </a:solidFill>
            <a:prstDash val="solid"/>
          </a:ln>
        </p:spPr>
      </p:sp>
      <p:sp>
        <p:nvSpPr>
          <p:cNvPr id="37" name="">
            <a:extLst xmlns:a="http://schemas.openxmlformats.org/drawingml/2006/main">
              <a:ext uri="{FF2B5EF4-FFF2-40B4-BE49-F238E27FC236}">
                <a16:creationId xmlns:a16="http://schemas.microsoft.com/office/drawing/2014/main" id="{FD90C948-00C9-4CB1-8B5A-7C20FA2123F7}"/>
              </a:ext>
            </a:extLst>
          </p:cNvPr>
          <p:cNvSpPr>
            <a:spLocks xmlns:a="http://schemas.openxmlformats.org/drawingml/2006/main" noGrp="1"/>
          </p:cNvSpPr>
          <p:nvPr/>
        </p:nvSpPr>
        <p:spPr>
          <a:xfrm xmlns:a="http://schemas.openxmlformats.org/drawingml/2006/main">
            <a:off x="9315450" y="570547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 execution abstentions</a:t>
            </a:r>
          </a:p>
        </p:txBody>
      </p:sp>
    </p:spTree>
    <p:extLst>
      <p:ext uri="{BB962C8B-B14F-4D97-AF65-F5344CB8AC3E}">
        <p14:creationId xmlns:p14="http://schemas.microsoft.com/office/powerpoint/2010/main" val="827757664"/>
      </p:ext>
    </p:extLst>
  </p:cSld>
</p:sld>
</file>

<file path=ppt/slides/slide12.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6C2A0C-746F-439A-AA68-BB37515190E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EVIDENCE LADDER</a:t>
            </a:r>
          </a:p>
        </p:txBody>
      </p:sp>
      <p:sp>
        <p:nvSpPr>
          <p:cNvPr id="2" name="">
            <a:extLst xmlns:a="http://schemas.openxmlformats.org/drawingml/2006/main">
              <a:ext uri="{FF2B5EF4-FFF2-40B4-BE49-F238E27FC236}">
                <a16:creationId xmlns:a16="http://schemas.microsoft.com/office/drawing/2014/main" id="{D4427DDF-ECA3-443B-B8D1-1D8E4078FD07}"/>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92-day universe stayed honest</a:t>
            </a:r>
          </a:p>
        </p:txBody>
      </p:sp>
      <p:sp>
        <p:nvSpPr>
          <p:cNvPr id="3" name="">
            <a:extLst xmlns:a="http://schemas.openxmlformats.org/drawingml/2006/main">
              <a:ext uri="{FF2B5EF4-FFF2-40B4-BE49-F238E27FC236}">
                <a16:creationId xmlns:a16="http://schemas.microsoft.com/office/drawing/2014/main" id="{D7298D19-F8A2-43AF-B6AF-CC4F905B545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F0D184D5-E86E-4BFD-8318-DE23ACB8AEA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F47DE984-35F8-40EE-B03B-9578FB7C1D11}"/>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20C8C4F4-0A24-441A-9396-B4EE0BF42794}"/>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8E429E16-EA01-43B9-B87C-03E564CDB978}"/>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92 probability dates</a:t>
            </a:r>
          </a:p>
        </p:txBody>
      </p:sp>
      <p:sp>
        <p:nvSpPr>
          <p:cNvPr id="8" name="">
            <a:extLst xmlns:a="http://schemas.openxmlformats.org/drawingml/2006/main">
              <a:ext uri="{FF2B5EF4-FFF2-40B4-BE49-F238E27FC236}">
                <a16:creationId xmlns:a16="http://schemas.microsoft.com/office/drawing/2014/main" id="{09EA83CD-8FA1-4DEF-866D-D11685B3D8A5}"/>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F10064CA-2645-497C-BC32-44F48D488AFB}"/>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7D7D0"/>
                </a:solidFill>
                <a:latin typeface="Arial"/>
                <a:ea typeface="Arial"/>
                <a:cs typeface="Arial"/>
              </a:defRPr>
            </a:pPr>
            <a:r>
              <a:rPr sz="1875" b="1">
                <a:solidFill>
                  <a:srgbClr val="47D7D0"/>
                </a:solidFill>
                <a:latin typeface="Arial"/>
                <a:ea typeface="Arial"/>
                <a:cs typeface="Arial"/>
              </a:rPr>
              <a:t>82 dates with a usable price</a:t>
            </a:r>
          </a:p>
        </p:txBody>
      </p:sp>
      <p:sp>
        <p:nvSpPr>
          <p:cNvPr id="10" name="">
            <a:extLst xmlns:a="http://schemas.openxmlformats.org/drawingml/2006/main">
              <a:ext uri="{FF2B5EF4-FFF2-40B4-BE49-F238E27FC236}">
                <a16:creationId xmlns:a16="http://schemas.microsoft.com/office/drawing/2014/main" id="{099E4FAB-5ABC-4C70-AEC9-517116FD0953}"/>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6FDD5-6E08-4359-93C7-CA256037DCCC}"/>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80 dates from paid full books</a:t>
            </a:r>
          </a:p>
        </p:txBody>
      </p:sp>
      <p:sp>
        <p:nvSpPr>
          <p:cNvPr id="12" name="">
            <a:extLst xmlns:a="http://schemas.openxmlformats.org/drawingml/2006/main">
              <a:ext uri="{FF2B5EF4-FFF2-40B4-BE49-F238E27FC236}">
                <a16:creationId xmlns:a16="http://schemas.microsoft.com/office/drawing/2014/main" id="{4E38F7C1-CF1A-4024-BEE3-2B16FB7D3638}"/>
              </a:ext>
            </a:extLst>
          </p:cNvPr>
          <p:cNvSpPr>
            <a:spLocks xmlns:a="http://schemas.openxmlformats.org/drawingml/2006/main" noGrp="1"/>
          </p:cNvSpPr>
          <p:nvPr/>
        </p:nvSpPr>
        <p:spPr>
          <a:xfrm xmlns:a="http://schemas.openxmlformats.org/drawingml/2006/main">
            <a:off x="628650" y="42481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3" name="">
            <a:extLst xmlns:a="http://schemas.openxmlformats.org/drawingml/2006/main">
              <a:ext uri="{FF2B5EF4-FFF2-40B4-BE49-F238E27FC236}">
                <a16:creationId xmlns:a16="http://schemas.microsoft.com/office/drawing/2014/main" id="{A232342B-25C9-4D3B-9903-FA2824C92E5A}"/>
              </a:ext>
            </a:extLst>
          </p:cNvPr>
          <p:cNvSpPr>
            <a:spLocks xmlns:a="http://schemas.openxmlformats.org/drawingml/2006/main" noGrp="1"/>
          </p:cNvSpPr>
          <p:nvPr/>
        </p:nvSpPr>
        <p:spPr>
          <a:xfrm xmlns:a="http://schemas.openxmlformats.org/drawingml/2006/main">
            <a:off x="933450" y="41052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F6B6B"/>
                </a:solidFill>
                <a:latin typeface="Arial"/>
                <a:ea typeface="Arial"/>
                <a:cs typeface="Arial"/>
              </a:defRPr>
            </a:pPr>
            <a:r>
              <a:rPr sz="1875" b="1">
                <a:solidFill>
                  <a:srgbClr val="FF6B6B"/>
                </a:solidFill>
                <a:latin typeface="Arial"/>
                <a:ea typeface="Arial"/>
                <a:cs typeface="Arial"/>
              </a:rPr>
              <a:t>19 dates with any Grade A</a:t>
            </a:r>
          </a:p>
        </p:txBody>
      </p:sp>
      <p:sp>
        <p:nvSpPr>
          <p:cNvPr id="14" name="">
            <a:extLst xmlns:a="http://schemas.openxmlformats.org/drawingml/2006/main">
              <a:ext uri="{FF2B5EF4-FFF2-40B4-BE49-F238E27FC236}">
                <a16:creationId xmlns:a16="http://schemas.microsoft.com/office/drawing/2014/main" id="{04E45EE5-9839-4D04-AB50-57FBF9B08F3A}"/>
              </a:ext>
            </a:extLst>
          </p:cNvPr>
          <p:cNvSpPr>
            <a:spLocks xmlns:a="http://schemas.openxmlformats.org/drawingml/2006/main" noGrp="1"/>
          </p:cNvSpPr>
          <p:nvPr/>
        </p:nvSpPr>
        <p:spPr>
          <a:xfrm xmlns:a="http://schemas.openxmlformats.org/drawingml/2006/main">
            <a:off x="628650" y="51816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10 dates abstain from execution. B and B+ remain weaker evidence.</a:t>
            </a:r>
          </a:p>
        </p:txBody>
      </p:sp>
      <p:graphicFrame>
        <p:nvGraphicFramePr>
          <p:cNvPr id="33" name="Chart"/>
          <p:cNvGraphicFramePr/>
          <p:nvPr/>
        </p:nvGraphicFramePr>
        <p:xfrm>
          <a:off xmlns:a="http://schemas.openxmlformats.org/drawingml/2006/main" x="5286375" y="1752600"/>
          <a:ext xmlns:a="http://schemas.openxmlformats.org/drawingml/2006/main" cx="5810250" cy="3790950"/>
        </p:xfrm>
        <a:graphic xmlns:a="http://schemas.openxmlformats.org/drawingml/2006/main">
          <a:graphicData uri="http://schemas.openxmlformats.org/drawingml/2006/chart">
            <c:chart xmlns:r="http://schemas.openxmlformats.org/officeDocument/2006/relationships" xmlns:c="http://schemas.openxmlformats.org/drawingml/2006/chart" r:id="Reb0d99b2914248df"/>
          </a:graphicData>
        </a:graphic>
      </p:graphicFrame>
      <p:sp>
        <p:nvSpPr>
          <p:cNvPr id="16" name="">
            <a:extLst xmlns:a="http://schemas.openxmlformats.org/drawingml/2006/main">
              <a:ext uri="{FF2B5EF4-FFF2-40B4-BE49-F238E27FC236}">
                <a16:creationId xmlns:a16="http://schemas.microsoft.com/office/drawing/2014/main" id="{2BD9726B-423E-405B-A0F6-CA15E2B5F23A}"/>
              </a:ext>
            </a:extLst>
          </p:cNvPr>
          <p:cNvSpPr>
            <a:spLocks xmlns:a="http://schemas.openxmlformats.org/drawingml/2006/main" noGrp="1"/>
          </p:cNvSpPr>
          <p:nvPr/>
        </p:nvSpPr>
        <p:spPr>
          <a:xfrm xmlns:a="http://schemas.openxmlformats.org/drawingml/2006/main">
            <a:off x="5981700" y="5619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probability coverage and execution evidence by date</a:t>
            </a:r>
          </a:p>
        </p:txBody>
      </p:sp>
    </p:spTree>
    <p:extLst>
      <p:ext uri="{BB962C8B-B14F-4D97-AF65-F5344CB8AC3E}">
        <p14:creationId xmlns:p14="http://schemas.microsoft.com/office/powerpoint/2010/main" val="576582170"/>
      </p:ext>
    </p:extLst>
  </p:cSld>
</p:sld>
</file>

<file path=ppt/slides/slide13.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FED2D7F-0D7C-4182-AD5E-887CC2CFD8B5}"/>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V5A CAMPAIGN</a:t>
            </a:r>
          </a:p>
        </p:txBody>
      </p:sp>
      <p:sp>
        <p:nvSpPr>
          <p:cNvPr id="2" name="">
            <a:extLst xmlns:a="http://schemas.openxmlformats.org/drawingml/2006/main">
              <a:ext uri="{FF2B5EF4-FFF2-40B4-BE49-F238E27FC236}">
                <a16:creationId xmlns:a16="http://schemas.microsoft.com/office/drawing/2014/main" id="{6F0E6B58-C545-447A-8CD9-6C9B4AD2D9A5}"/>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Four colonies test the frozen signal</a:t>
            </a:r>
          </a:p>
        </p:txBody>
      </p:sp>
      <p:sp>
        <p:nvSpPr>
          <p:cNvPr id="3" name="">
            <a:extLst xmlns:a="http://schemas.openxmlformats.org/drawingml/2006/main">
              <a:ext uri="{FF2B5EF4-FFF2-40B4-BE49-F238E27FC236}">
                <a16:creationId xmlns:a16="http://schemas.microsoft.com/office/drawing/2014/main" id="{57A04FB8-2585-4B11-9974-DB07BB26F87A}"/>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BC657DF2-959B-4C14-A61E-6CCF4620D23E}"/>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0CDAD2FE-FB27-4788-B8D3-C8FF8D37BA62}"/>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06B1122D-B5ED-44EE-A140-1B5042955085}"/>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248B2400-7D70-4E6A-B918-094B733F3C53}"/>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4 specialized colonies</a:t>
            </a:r>
          </a:p>
        </p:txBody>
      </p:sp>
      <p:sp>
        <p:nvSpPr>
          <p:cNvPr id="8" name="">
            <a:extLst xmlns:a="http://schemas.openxmlformats.org/drawingml/2006/main">
              <a:ext uri="{FF2B5EF4-FFF2-40B4-BE49-F238E27FC236}">
                <a16:creationId xmlns:a16="http://schemas.microsoft.com/office/drawing/2014/main" id="{E3024D0B-812A-4008-8766-53D10B886C8C}"/>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70DF5772-13BC-4B3E-8023-68C700AE8DF7}"/>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64 development days</a:t>
            </a:r>
          </a:p>
        </p:txBody>
      </p:sp>
      <p:sp>
        <p:nvSpPr>
          <p:cNvPr id="10" name="">
            <a:extLst xmlns:a="http://schemas.openxmlformats.org/drawingml/2006/main">
              <a:ext uri="{FF2B5EF4-FFF2-40B4-BE49-F238E27FC236}">
                <a16:creationId xmlns:a16="http://schemas.microsoft.com/office/drawing/2014/main" id="{764ACA99-5383-48CE-B005-54CB04D6D8FB}"/>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8B2E1F8-1185-4295-91E3-0FEFF814BF7B}"/>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28 holdout days sealed</a:t>
            </a:r>
          </a:p>
        </p:txBody>
      </p:sp>
      <p:sp>
        <p:nvSpPr>
          <p:cNvPr id="12" name="">
            <a:extLst xmlns:a="http://schemas.openxmlformats.org/drawingml/2006/main">
              <a:ext uri="{FF2B5EF4-FFF2-40B4-BE49-F238E27FC236}">
                <a16:creationId xmlns:a16="http://schemas.microsoft.com/office/drawing/2014/main" id="{6E7C86CB-C0F1-4F16-8C32-63043CE89BBF}"/>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HOW IT ITERATES</a:t>
            </a:r>
          </a:p>
        </p:txBody>
      </p:sp>
      <p:sp>
        <p:nvSpPr>
          <p:cNvPr id="13" name="">
            <a:extLst xmlns:a="http://schemas.openxmlformats.org/drawingml/2006/main">
              <a:ext uri="{FF2B5EF4-FFF2-40B4-BE49-F238E27FC236}">
                <a16:creationId xmlns:a16="http://schemas.microsoft.com/office/drawing/2014/main" id="{87C93A36-098F-4819-9BA4-0803D67BFA7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Each colony changes one bounded part. Deterministic code scores every proposal after fees.</a:t>
            </a:r>
          </a:p>
        </p:txBody>
      </p:sp>
      <p:sp>
        <p:nvSpPr>
          <p:cNvPr id="14" name="">
            <a:extLst xmlns:a="http://schemas.openxmlformats.org/drawingml/2006/main">
              <a:ext uri="{FF2B5EF4-FFF2-40B4-BE49-F238E27FC236}">
                <a16:creationId xmlns:a16="http://schemas.microsoft.com/office/drawing/2014/main" id="{09FA2398-A58A-43CD-A62A-37133A9307DF}"/>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ellipse">
            <a:avLst/>
          </a:prstGeom>
          <a:solidFill xmlns:a="http://schemas.openxmlformats.org/drawingml/2006/main">
            <a:srgbClr val="16263A"/>
          </a:solidFill>
          <a:ln xmlns:a="http://schemas.openxmlformats.org/drawingml/2006/main" w="28575">
            <a:solidFill>
              <a:srgbClr val="4DD28A"/>
            </a:solidFill>
            <a:prstDash val="solid"/>
          </a:ln>
        </p:spPr>
      </p:sp>
      <p:sp>
        <p:nvSpPr>
          <p:cNvPr id="15" name="">
            <a:extLst xmlns:a="http://schemas.openxmlformats.org/drawingml/2006/main">
              <a:ext uri="{FF2B5EF4-FFF2-40B4-BE49-F238E27FC236}">
                <a16:creationId xmlns:a16="http://schemas.microsoft.com/office/drawing/2014/main" id="{C184C71F-CF45-4CD8-8A00-DEA87AAB175A}"/>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EVALUATE</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 CRITIC</a:t>
            </a:r>
          </a:p>
        </p:txBody>
      </p:sp>
      <p:sp>
        <p:nvSpPr>
          <p:cNvPr id="16" name="">
            <a:extLst xmlns:a="http://schemas.openxmlformats.org/drawingml/2006/main">
              <a:ext uri="{FF2B5EF4-FFF2-40B4-BE49-F238E27FC236}">
                <a16:creationId xmlns:a16="http://schemas.microsoft.com/office/drawing/2014/main" id="{B2DFB55F-87F2-4A6A-A47E-340229FBB06E}"/>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7" name="">
            <a:extLst xmlns:a="http://schemas.openxmlformats.org/drawingml/2006/main">
              <a:ext uri="{FF2B5EF4-FFF2-40B4-BE49-F238E27FC236}">
                <a16:creationId xmlns:a16="http://schemas.microsoft.com/office/drawing/2014/main" id="{05CA388A-5AE4-4773-ADB3-280666FF15DD}"/>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Probability</a:t>
            </a:r>
          </a:p>
        </p:txBody>
      </p:sp>
      <p:cxnSp>
        <p:nvCxnSpPr>
          <p:cNvPr id="283" name=""/>
          <p:cNvCxnSpPr>
            <a:stCxn xmlns:a="http://schemas.openxmlformats.org/drawingml/2006/main" id="16" idx="5"/>
            <a:endCxn xmlns:a="http://schemas.openxmlformats.org/drawingml/2006/main" id="14" idx="1"/>
          </p:cNvCxnSpPr>
          <p:nvPr/>
        </p:nvCxnSpPr>
        <p:spPr>
          <a:xfrm xmlns:a="http://schemas.openxmlformats.org/drawingml/2006/main">
            <a:off x="7268648" y="2620448"/>
            <a:ext cx="873955" cy="273880"/>
          </a:xfrm>
          <a:prstGeom xmlns:a="http://schemas.openxmlformats.org/drawingml/2006/main" prst="straightConnector1">
            <a:avLst/>
          </a:prstGeom>
          <a:ln xmlns:a="http://schemas.openxmlformats.org/drawingml/2006/main" w="14288">
            <a:solidFill>
              <a:srgbClr val="31445D"/>
            </a:solidFill>
            <a:prstDash val="solid"/>
          </a:ln>
        </p:spPr>
      </p:cxnSp>
      <p:sp>
        <p:nvSpPr>
          <p:cNvPr id="19" name="">
            <a:extLst xmlns:a="http://schemas.openxmlformats.org/drawingml/2006/main">
              <a:ext uri="{FF2B5EF4-FFF2-40B4-BE49-F238E27FC236}">
                <a16:creationId xmlns:a16="http://schemas.microsoft.com/office/drawing/2014/main" id="{6F950F20-EACB-4512-BCFC-8CF8C0815DF7}"/>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0" name="">
            <a:extLst xmlns:a="http://schemas.openxmlformats.org/drawingml/2006/main">
              <a:ext uri="{FF2B5EF4-FFF2-40B4-BE49-F238E27FC236}">
                <a16:creationId xmlns:a16="http://schemas.microsoft.com/office/drawing/2014/main" id="{7D3118E4-D2A2-4CC3-98A8-31F86182473C}"/>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Robustness</a:t>
            </a:r>
          </a:p>
        </p:txBody>
      </p:sp>
      <p:cxnSp>
        <p:nvCxnSpPr>
          <p:cNvPr id="286" name=""/>
          <p:cNvCxnSpPr>
            <a:stCxn xmlns:a="http://schemas.openxmlformats.org/drawingml/2006/main" id="19" idx="4"/>
            <a:endCxn xmlns:a="http://schemas.openxmlformats.org/drawingml/2006/main" id="14" idx="0"/>
          </p:cNvCxnSpPr>
          <p:nvPr/>
        </p:nvCxnSpPr>
        <p:spPr>
          <a:xfrm xmlns:a="http://schemas.openxmlformats.org/drawingml/2006/main" flipH="1">
            <a:off x="8553450" y="2419350"/>
            <a:ext cx="95250" cy="304800"/>
          </a:xfrm>
          <a:prstGeom xmlns:a="http://schemas.openxmlformats.org/drawingml/2006/main" prst="straightConnector1">
            <a:avLst/>
          </a:prstGeom>
          <a:ln xmlns:a="http://schemas.openxmlformats.org/drawingml/2006/main" w="14288">
            <a:solidFill>
              <a:srgbClr val="31445D"/>
            </a:solidFill>
            <a:prstDash val="solid"/>
          </a:ln>
        </p:spPr>
      </p:cxnSp>
      <p:sp>
        <p:nvSpPr>
          <p:cNvPr id="22" name="">
            <a:extLst xmlns:a="http://schemas.openxmlformats.org/drawingml/2006/main">
              <a:ext uri="{FF2B5EF4-FFF2-40B4-BE49-F238E27FC236}">
                <a16:creationId xmlns:a16="http://schemas.microsoft.com/office/drawing/2014/main" id="{D4F84EA7-7A8B-4C00-97C1-1EECFCA68A2A}"/>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B23A599E-5EFB-4E16-BA33-882BE776C05E}"/>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Economics</a:t>
            </a:r>
          </a:p>
        </p:txBody>
      </p:sp>
      <p:cxnSp>
        <p:nvCxnSpPr>
          <p:cNvPr id="289" name=""/>
          <p:cNvCxnSpPr>
            <a:stCxn xmlns:a="http://schemas.openxmlformats.org/drawingml/2006/main" id="22" idx="2"/>
            <a:endCxn xmlns:a="http://schemas.openxmlformats.org/drawingml/2006/main" id="14" idx="7"/>
          </p:cNvCxnSpPr>
          <p:nvPr/>
        </p:nvCxnSpPr>
        <p:spPr>
          <a:xfrm xmlns:a="http://schemas.openxmlformats.org/drawingml/2006/main" flipH="1">
            <a:off x="8964297" y="2457450"/>
            <a:ext cx="846453" cy="436878"/>
          </a:xfrm>
          <a:prstGeom xmlns:a="http://schemas.openxmlformats.org/drawingml/2006/main" prst="straightConnector1">
            <a:avLst/>
          </a:prstGeom>
          <a:ln xmlns:a="http://schemas.openxmlformats.org/drawingml/2006/main" w="14288">
            <a:solidFill>
              <a:srgbClr val="31445D"/>
            </a:solidFill>
            <a:prstDash val="solid"/>
          </a:ln>
        </p:spPr>
      </p:cxnSp>
      <p:sp>
        <p:nvSpPr>
          <p:cNvPr id="25" name="">
            <a:extLst xmlns:a="http://schemas.openxmlformats.org/drawingml/2006/main">
              <a:ext uri="{FF2B5EF4-FFF2-40B4-BE49-F238E27FC236}">
                <a16:creationId xmlns:a16="http://schemas.microsoft.com/office/drawing/2014/main" id="{D77A42C4-3B41-4914-9686-F2C9CEC2E13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26" name="">
            <a:extLst xmlns:a="http://schemas.openxmlformats.org/drawingml/2006/main">
              <a:ext uri="{FF2B5EF4-FFF2-40B4-BE49-F238E27FC236}">
                <a16:creationId xmlns:a16="http://schemas.microsoft.com/office/drawing/2014/main" id="{3BF5C030-C9C1-4938-85BC-F9114FF4E0B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Execution</a:t>
            </a:r>
          </a:p>
        </p:txBody>
      </p:sp>
      <p:cxnSp>
        <p:nvCxnSpPr>
          <p:cNvPr id="292" name=""/>
          <p:cNvCxnSpPr>
            <a:stCxn xmlns:a="http://schemas.openxmlformats.org/drawingml/2006/main" id="25" idx="2"/>
            <a:endCxn xmlns:a="http://schemas.openxmlformats.org/drawingml/2006/main" id="14" idx="5"/>
          </p:cNvCxnSpPr>
          <p:nvPr/>
        </p:nvCxnSpPr>
        <p:spPr>
          <a:xfrm xmlns:a="http://schemas.openxmlformats.org/drawingml/2006/main" flipH="1" flipV="1">
            <a:off x="8964297" y="3716022"/>
            <a:ext cx="846453" cy="513078"/>
          </a:xfrm>
          <a:prstGeom xmlns:a="http://schemas.openxmlformats.org/drawingml/2006/main" prst="straightConnector1">
            <a:avLst/>
          </a:prstGeom>
          <a:ln xmlns:a="http://schemas.openxmlformats.org/drawingml/2006/main" w="14288">
            <a:solidFill>
              <a:srgbClr val="31445D"/>
            </a:solidFill>
            <a:prstDash val="solid"/>
          </a:ln>
        </p:spPr>
      </p:cxnSp>
      <p:sp>
        <p:nvSpPr>
          <p:cNvPr id="28" name="">
            <a:extLst xmlns:a="http://schemas.openxmlformats.org/drawingml/2006/main">
              <a:ext uri="{FF2B5EF4-FFF2-40B4-BE49-F238E27FC236}">
                <a16:creationId xmlns:a16="http://schemas.microsoft.com/office/drawing/2014/main" id="{4F78B4A4-C3A8-41B8-AF10-35C7266DBD2B}"/>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9" name="">
            <a:extLst xmlns:a="http://schemas.openxmlformats.org/drawingml/2006/main">
              <a:ext uri="{FF2B5EF4-FFF2-40B4-BE49-F238E27FC236}">
                <a16:creationId xmlns:a16="http://schemas.microsoft.com/office/drawing/2014/main" id="{1C5FE667-488E-4F96-8B5C-E1E6B47CCB35}"/>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Frozen
signal</a:t>
            </a:r>
          </a:p>
        </p:txBody>
      </p:sp>
      <p:cxnSp>
        <p:nvCxnSpPr>
          <p:cNvPr id="295" name=""/>
          <p:cNvCxnSpPr>
            <a:stCxn xmlns:a="http://schemas.openxmlformats.org/drawingml/2006/main" id="28" idx="0"/>
            <a:endCxn xmlns:a="http://schemas.openxmlformats.org/drawingml/2006/main" id="14" idx="4"/>
          </p:cNvCxnSpPr>
          <p:nvPr/>
        </p:nvCxnSpPr>
        <p:spPr>
          <a:xfrm xmlns:a="http://schemas.openxmlformats.org/drawingml/2006/main" flipH="1" flipV="1">
            <a:off x="8553450" y="3886200"/>
            <a:ext cx="95250" cy="419100"/>
          </a:xfrm>
          <a:prstGeom xmlns:a="http://schemas.openxmlformats.org/drawingml/2006/main" prst="straightConnector1">
            <a:avLst/>
          </a:prstGeom>
          <a:ln xmlns:a="http://schemas.openxmlformats.org/drawingml/2006/main" w="14288">
            <a:solidFill>
              <a:srgbClr val="31445D"/>
            </a:solidFill>
            <a:prstDash val="solid"/>
          </a:ln>
        </p:spPr>
      </p:cxnSp>
      <p:sp>
        <p:nvSpPr>
          <p:cNvPr id="31" name="">
            <a:extLst xmlns:a="http://schemas.openxmlformats.org/drawingml/2006/main">
              <a:ext uri="{FF2B5EF4-FFF2-40B4-BE49-F238E27FC236}">
                <a16:creationId xmlns:a16="http://schemas.microsoft.com/office/drawing/2014/main" id="{3EC6F352-BA02-470E-B8C6-604F2FF91123}"/>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ellipse">
            <a:avLst/>
          </a:prstGeom>
          <a:solidFill xmlns:a="http://schemas.openxmlformats.org/drawingml/2006/main">
            <a:srgbClr val="FF6B6B"/>
          </a:solidFill>
          <a:ln xmlns:a="http://schemas.openxmlformats.org/drawingml/2006/main" w="19050">
            <a:solidFill>
              <a:srgbClr val="FF6B6B"/>
            </a:solidFill>
            <a:prstDash val="solid"/>
          </a:ln>
        </p:spPr>
      </p:sp>
      <p:sp>
        <p:nvSpPr>
          <p:cNvPr id="32" name="">
            <a:extLst xmlns:a="http://schemas.openxmlformats.org/drawingml/2006/main">
              <a:ext uri="{FF2B5EF4-FFF2-40B4-BE49-F238E27FC236}">
                <a16:creationId xmlns:a16="http://schemas.microsoft.com/office/drawing/2014/main" id="{CBB507AE-6A24-4F32-B360-BCB608B89E09}"/>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Sealed
holdout</a:t>
            </a:r>
          </a:p>
        </p:txBody>
      </p:sp>
      <p:cxnSp>
        <p:nvCxnSpPr>
          <p:cNvPr id="298" name=""/>
          <p:cNvCxnSpPr>
            <a:stCxn xmlns:a="http://schemas.openxmlformats.org/drawingml/2006/main" id="31" idx="7"/>
            <a:endCxn xmlns:a="http://schemas.openxmlformats.org/drawingml/2006/main" id="14" idx="3"/>
          </p:cNvCxnSpPr>
          <p:nvPr/>
        </p:nvCxnSpPr>
        <p:spPr>
          <a:xfrm xmlns:a="http://schemas.openxmlformats.org/drawingml/2006/main" flipV="1">
            <a:off x="7268648" y="3716022"/>
            <a:ext cx="873955" cy="216730"/>
          </a:xfrm>
          <a:prstGeom xmlns:a="http://schemas.openxmlformats.org/drawingml/2006/main" prst="straightConnector1">
            <a:avLst/>
          </a:prstGeom>
          <a:ln xmlns:a="http://schemas.openxmlformats.org/drawingml/2006/main" w="14288">
            <a:solidFill>
              <a:srgbClr val="31445D"/>
            </a:solidFill>
            <a:prstDash val="solid"/>
          </a:ln>
        </p:spPr>
      </p:cxnSp>
      <p:sp>
        <p:nvSpPr>
          <p:cNvPr id="34" name="">
            <a:extLst xmlns:a="http://schemas.openxmlformats.org/drawingml/2006/main">
              <a:ext uri="{FF2B5EF4-FFF2-40B4-BE49-F238E27FC236}">
                <a16:creationId xmlns:a16="http://schemas.microsoft.com/office/drawing/2014/main" id="{9BC9AACF-B567-47DD-8490-C12D7CE7D82B}"/>
              </a:ext>
            </a:extLst>
          </p:cNvPr>
          <p:cNvSpPr>
            <a:spLocks xmlns:a="http://schemas.openxmlformats.org/drawingml/2006/main" noGrp="1"/>
          </p:cNvSpPr>
          <p:nvPr/>
        </p:nvSpPr>
        <p:spPr>
          <a:xfrm xmlns:a="http://schemas.openxmlformats.org/drawingml/2006/main">
            <a:off x="6486525" y="5219700"/>
            <a:ext cx="431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propose / test / compare / iterate</a:t>
            </a:r>
          </a:p>
        </p:txBody>
      </p:sp>
    </p:spTree>
    <p:extLst>
      <p:ext uri="{BB962C8B-B14F-4D97-AF65-F5344CB8AC3E}">
        <p14:creationId xmlns:p14="http://schemas.microsoft.com/office/powerpoint/2010/main" val="1486480449"/>
      </p:ext>
    </p:extLst>
  </p:cSld>
</p:sld>
</file>

<file path=ppt/slides/slide14.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8F04616-087E-423B-A89D-734FA458F10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EARLY V5A RESULT</a:t>
            </a:r>
          </a:p>
        </p:txBody>
      </p:sp>
      <p:sp>
        <p:nvSpPr>
          <p:cNvPr id="2" name="">
            <a:extLst xmlns:a="http://schemas.openxmlformats.org/drawingml/2006/main">
              <a:ext uri="{FF2B5EF4-FFF2-40B4-BE49-F238E27FC236}">
                <a16:creationId xmlns:a16="http://schemas.microsoft.com/office/drawing/2014/main" id="{E2A0D7F9-2E0C-412B-B787-97564B6AF7E3}"/>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Positive, but still unstable</a:t>
            </a:r>
          </a:p>
        </p:txBody>
      </p:sp>
      <p:sp>
        <p:nvSpPr>
          <p:cNvPr id="3" name="">
            <a:extLst xmlns:a="http://schemas.openxmlformats.org/drawingml/2006/main">
              <a:ext uri="{FF2B5EF4-FFF2-40B4-BE49-F238E27FC236}">
                <a16:creationId xmlns:a16="http://schemas.microsoft.com/office/drawing/2014/main" id="{AF8CF0CE-1FDA-4A39-9DD8-7DB089AFDDB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CDF263CB-701F-4856-8067-B80EAC84278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A9E30D96-7E93-4AC2-BA77-250BE97B017C}"/>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14004C43-9781-44A6-9BFF-8515CE03E87C}"/>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E85BFC2E-88D8-4C85-85CD-3FDA9100ADB2}"/>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36 simulated trades</a:t>
            </a:r>
          </a:p>
        </p:txBody>
      </p:sp>
      <p:sp>
        <p:nvSpPr>
          <p:cNvPr id="8" name="">
            <a:extLst xmlns:a="http://schemas.openxmlformats.org/drawingml/2006/main">
              <a:ext uri="{FF2B5EF4-FFF2-40B4-BE49-F238E27FC236}">
                <a16:creationId xmlns:a16="http://schemas.microsoft.com/office/drawing/2014/main" id="{AAD5A2D2-4E06-4F60-817D-CD40ABC5AFDB}"/>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B4CE7237-4F2B-45D5-AAED-788D815F01D4}"/>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+17.7% after exact fees</a:t>
            </a:r>
          </a:p>
        </p:txBody>
      </p:sp>
      <p:sp>
        <p:nvSpPr>
          <p:cNvPr id="10" name="">
            <a:extLst xmlns:a="http://schemas.openxmlformats.org/drawingml/2006/main">
              <a:ext uri="{FF2B5EF4-FFF2-40B4-BE49-F238E27FC236}">
                <a16:creationId xmlns:a16="http://schemas.microsoft.com/office/drawing/2014/main" id="{FB6EC42C-CAF9-4F7F-95FC-15F63B1E83D0}"/>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84794-0D2C-4F8C-80A3-98F3CD37CEB6}"/>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4 of 5 time folds positive</a:t>
            </a:r>
          </a:p>
        </p:txBody>
      </p:sp>
      <p:sp>
        <p:nvSpPr>
          <p:cNvPr id="12" name="">
            <a:extLst xmlns:a="http://schemas.openxmlformats.org/drawingml/2006/main">
              <a:ext uri="{FF2B5EF4-FFF2-40B4-BE49-F238E27FC236}">
                <a16:creationId xmlns:a16="http://schemas.microsoft.com/office/drawing/2014/main" id="{4BDCBCE9-E502-49DD-9BD1-2ACF499C019D}"/>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IT KEEPS RUNNING</a:t>
            </a:r>
          </a:p>
        </p:txBody>
      </p:sp>
      <p:sp>
        <p:nvSpPr>
          <p:cNvPr id="13" name="">
            <a:extLst xmlns:a="http://schemas.openxmlformats.org/drawingml/2006/main">
              <a:ext uri="{FF2B5EF4-FFF2-40B4-BE49-F238E27FC236}">
                <a16:creationId xmlns:a16="http://schemas.microsoft.com/office/drawing/2014/main" id="{46A7B01C-9BCB-4458-AAA6-964682039998}"/>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One fold still lost 100%. Most selected trades use B+ evidence. The 10% target is not confirmed.</a:t>
            </a:r>
          </a:p>
        </p:txBody>
      </p:sp>
      <p:sp>
        <p:nvSpPr>
          <p:cNvPr id="14" name="">
            <a:extLst xmlns:a="http://schemas.openxmlformats.org/drawingml/2006/main">
              <a:ext uri="{FF2B5EF4-FFF2-40B4-BE49-F238E27FC236}">
                <a16:creationId xmlns:a16="http://schemas.microsoft.com/office/drawing/2014/main" id="{41558D80-02CA-4A25-B4DD-36B3303C1F5E}"/>
              </a:ext>
            </a:extLst>
          </p:cNvPr>
          <p:cNvSpPr>
            <a:spLocks xmlns:a="http://schemas.openxmlformats.org/drawingml/2006/main" noGrp="1"/>
          </p:cNvSpPr>
          <p:nvPr/>
        </p:nvSpPr>
        <p:spPr>
          <a:xfrm xmlns:a="http://schemas.openxmlformats.org/drawingml/2006/main">
            <a:off x="5476875" y="1743075"/>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EARLY LEADER: FOLD RETURNS</a:t>
            </a:r>
          </a:p>
        </p:txBody>
      </p:sp>
      <p:sp>
        <p:nvSpPr>
          <p:cNvPr id="15" name="">
            <a:extLst xmlns:a="http://schemas.openxmlformats.org/drawingml/2006/main">
              <a:ext uri="{FF2B5EF4-FFF2-40B4-BE49-F238E27FC236}">
                <a16:creationId xmlns:a16="http://schemas.microsoft.com/office/drawing/2014/main" id="{ABE0EED8-CDD5-4838-B0FD-3578CF65DF3F}"/>
              </a:ext>
            </a:extLst>
          </p:cNvPr>
          <p:cNvSpPr>
            <a:spLocks xmlns:a="http://schemas.openxmlformats.org/drawingml/2006/main" noGrp="1"/>
          </p:cNvSpPr>
          <p:nvPr/>
        </p:nvSpPr>
        <p:spPr>
          <a:xfrm xmlns:a="http://schemas.openxmlformats.org/drawingml/2006/main">
            <a:off x="5810250" y="3810000"/>
            <a:ext cx="4857750" cy="0"/>
          </a:xfrm>
          <a:prstGeom xmlns:a="http://schemas.openxmlformats.org/drawingml/2006/main" prst="line">
            <a:avLst/>
          </a:prstGeom>
          <a:noFill xmlns:a="http://schemas.openxmlformats.org/drawingml/2006/main"/>
          <a:ln xmlns:a="http://schemas.openxmlformats.org/drawingml/2006/main" w="19050">
            <a:solidFill>
              <a:srgbClr val="AEBBCD"/>
            </a:solidFill>
            <a:prstDash val="solid"/>
          </a:ln>
        </p:spPr>
      </p:sp>
      <p:sp>
        <p:nvSpPr>
          <p:cNvPr id="16" name="">
            <a:extLst xmlns:a="http://schemas.openxmlformats.org/drawingml/2006/main">
              <a:ext uri="{FF2B5EF4-FFF2-40B4-BE49-F238E27FC236}">
                <a16:creationId xmlns:a16="http://schemas.microsoft.com/office/drawing/2014/main" id="{A3CF3812-AA38-470C-B31C-3684CF76EF67}"/>
              </a:ext>
            </a:extLst>
          </p:cNvPr>
          <p:cNvSpPr>
            <a:spLocks xmlns:a="http://schemas.openxmlformats.org/drawingml/2006/main" noGrp="1"/>
          </p:cNvSpPr>
          <p:nvPr/>
        </p:nvSpPr>
        <p:spPr>
          <a:xfrm xmlns:a="http://schemas.openxmlformats.org/drawingml/2006/main">
            <a:off x="6143625" y="3168015"/>
            <a:ext cx="628650" cy="641985"/>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2483EB-512B-4E38-B914-DB9D0BD1D961}"/>
              </a:ext>
            </a:extLst>
          </p:cNvPr>
          <p:cNvSpPr>
            <a:spLocks xmlns:a="http://schemas.openxmlformats.org/drawingml/2006/main" noGrp="1"/>
          </p:cNvSpPr>
          <p:nvPr/>
        </p:nvSpPr>
        <p:spPr>
          <a:xfrm xmlns:a="http://schemas.openxmlformats.org/drawingml/2006/main">
            <a:off x="6067425" y="286321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+57.1%</a:t>
            </a:r>
          </a:p>
        </p:txBody>
      </p:sp>
      <p:sp>
        <p:nvSpPr>
          <p:cNvPr id="18" name="">
            <a:extLst xmlns:a="http://schemas.openxmlformats.org/drawingml/2006/main">
              <a:ext uri="{FF2B5EF4-FFF2-40B4-BE49-F238E27FC236}">
                <a16:creationId xmlns:a16="http://schemas.microsoft.com/office/drawing/2014/main" id="{8CC0D8A5-9327-4979-8B2D-03058FF73D20}"/>
              </a:ext>
            </a:extLst>
          </p:cNvPr>
          <p:cNvSpPr>
            <a:spLocks xmlns:a="http://schemas.openxmlformats.org/drawingml/2006/main" noGrp="1"/>
          </p:cNvSpPr>
          <p:nvPr/>
        </p:nvSpPr>
        <p:spPr>
          <a:xfrm xmlns:a="http://schemas.openxmlformats.org/drawingml/2006/main">
            <a:off x="60483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1</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8 trades</a:t>
            </a:r>
          </a:p>
        </p:txBody>
      </p:sp>
      <p:sp>
        <p:nvSpPr>
          <p:cNvPr id="19" name="">
            <a:extLst xmlns:a="http://schemas.openxmlformats.org/drawingml/2006/main">
              <a:ext uri="{FF2B5EF4-FFF2-40B4-BE49-F238E27FC236}">
                <a16:creationId xmlns:a16="http://schemas.microsoft.com/office/drawing/2014/main" id="{76027018-590A-4457-8300-2C7582248A9E}"/>
              </a:ext>
            </a:extLst>
          </p:cNvPr>
          <p:cNvSpPr>
            <a:spLocks xmlns:a="http://schemas.openxmlformats.org/drawingml/2006/main" noGrp="1"/>
          </p:cNvSpPr>
          <p:nvPr/>
        </p:nvSpPr>
        <p:spPr>
          <a:xfrm xmlns:a="http://schemas.openxmlformats.org/drawingml/2006/main">
            <a:off x="7077075" y="3372803"/>
            <a:ext cx="628650" cy="437198"/>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0B8D1C-D503-4696-AE72-7382C91AD060}"/>
              </a:ext>
            </a:extLst>
          </p:cNvPr>
          <p:cNvSpPr>
            <a:spLocks xmlns:a="http://schemas.openxmlformats.org/drawingml/2006/main" noGrp="1"/>
          </p:cNvSpPr>
          <p:nvPr/>
        </p:nvSpPr>
        <p:spPr>
          <a:xfrm xmlns:a="http://schemas.openxmlformats.org/drawingml/2006/main">
            <a:off x="7000875" y="3068003"/>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+38.9%</a:t>
            </a:r>
          </a:p>
        </p:txBody>
      </p:sp>
      <p:sp>
        <p:nvSpPr>
          <p:cNvPr id="21" name="">
            <a:extLst xmlns:a="http://schemas.openxmlformats.org/drawingml/2006/main">
              <a:ext uri="{FF2B5EF4-FFF2-40B4-BE49-F238E27FC236}">
                <a16:creationId xmlns:a16="http://schemas.microsoft.com/office/drawing/2014/main" id="{073AE037-29B5-4963-8217-B51C219266FA}"/>
              </a:ext>
            </a:extLst>
          </p:cNvPr>
          <p:cNvSpPr>
            <a:spLocks xmlns:a="http://schemas.openxmlformats.org/drawingml/2006/main" noGrp="1"/>
          </p:cNvSpPr>
          <p:nvPr/>
        </p:nvSpPr>
        <p:spPr>
          <a:xfrm xmlns:a="http://schemas.openxmlformats.org/drawingml/2006/main">
            <a:off x="69818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2</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8 trades</a:t>
            </a:r>
          </a:p>
        </p:txBody>
      </p:sp>
      <p:sp>
        <p:nvSpPr>
          <p:cNvPr id="22" name="">
            <a:extLst xmlns:a="http://schemas.openxmlformats.org/drawingml/2006/main">
              <a:ext uri="{FF2B5EF4-FFF2-40B4-BE49-F238E27FC236}">
                <a16:creationId xmlns:a16="http://schemas.microsoft.com/office/drawing/2014/main" id="{BF790AC1-E9A5-4203-B33F-DC7BD4E9FC1E}"/>
              </a:ext>
            </a:extLst>
          </p:cNvPr>
          <p:cNvSpPr>
            <a:spLocks xmlns:a="http://schemas.openxmlformats.org/drawingml/2006/main" noGrp="1"/>
          </p:cNvSpPr>
          <p:nvPr/>
        </p:nvSpPr>
        <p:spPr>
          <a:xfrm xmlns:a="http://schemas.openxmlformats.org/drawingml/2006/main">
            <a:off x="8010525" y="3752850"/>
            <a:ext cx="628650" cy="57150"/>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2EC333-36C3-42EA-8BC8-3059BFA1A3E2}"/>
              </a:ext>
            </a:extLst>
          </p:cNvPr>
          <p:cNvSpPr>
            <a:spLocks xmlns:a="http://schemas.openxmlformats.org/drawingml/2006/main" noGrp="1"/>
          </p:cNvSpPr>
          <p:nvPr/>
        </p:nvSpPr>
        <p:spPr>
          <a:xfrm xmlns:a="http://schemas.openxmlformats.org/drawingml/2006/main">
            <a:off x="7934325" y="3448050"/>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+2.9%</a:t>
            </a:r>
          </a:p>
        </p:txBody>
      </p:sp>
      <p:sp>
        <p:nvSpPr>
          <p:cNvPr id="24" name="">
            <a:extLst xmlns:a="http://schemas.openxmlformats.org/drawingml/2006/main">
              <a:ext uri="{FF2B5EF4-FFF2-40B4-BE49-F238E27FC236}">
                <a16:creationId xmlns:a16="http://schemas.microsoft.com/office/drawing/2014/main" id="{6D669BAC-8B27-4816-93F4-E09B957E788D}"/>
              </a:ext>
            </a:extLst>
          </p:cNvPr>
          <p:cNvSpPr>
            <a:spLocks xmlns:a="http://schemas.openxmlformats.org/drawingml/2006/main" noGrp="1"/>
          </p:cNvSpPr>
          <p:nvPr/>
        </p:nvSpPr>
        <p:spPr>
          <a:xfrm xmlns:a="http://schemas.openxmlformats.org/drawingml/2006/main">
            <a:off x="79152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3</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8 trades</a:t>
            </a:r>
          </a:p>
        </p:txBody>
      </p:sp>
      <p:sp>
        <p:nvSpPr>
          <p:cNvPr id="25" name="">
            <a:extLst xmlns:a="http://schemas.openxmlformats.org/drawingml/2006/main">
              <a:ext uri="{FF2B5EF4-FFF2-40B4-BE49-F238E27FC236}">
                <a16:creationId xmlns:a16="http://schemas.microsoft.com/office/drawing/2014/main" id="{5A34C5AE-ADCC-4993-8010-2EF3CE968D07}"/>
              </a:ext>
            </a:extLst>
          </p:cNvPr>
          <p:cNvSpPr>
            <a:spLocks xmlns:a="http://schemas.openxmlformats.org/drawingml/2006/main" noGrp="1"/>
          </p:cNvSpPr>
          <p:nvPr/>
        </p:nvSpPr>
        <p:spPr>
          <a:xfrm xmlns:a="http://schemas.openxmlformats.org/drawingml/2006/main">
            <a:off x="8943975" y="3810000"/>
            <a:ext cx="628650" cy="1123950"/>
          </a:xfrm>
          <a:prstGeom xmlns:a="http://schemas.openxmlformats.org/drawingml/2006/main" prst="roundRect">
            <a:avLst>
              <a:gd name="adj" fmla="val 9091"/>
            </a:avLst>
          </a:prstGeom>
          <a:solidFill xmlns:a="http://schemas.openxmlformats.org/drawingml/2006/main">
            <a:srgbClr val="FF6B6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9EFEC64-D611-43C8-8541-2C4810A9762F}"/>
              </a:ext>
            </a:extLst>
          </p:cNvPr>
          <p:cNvSpPr>
            <a:spLocks xmlns:a="http://schemas.openxmlformats.org/drawingml/2006/main" noGrp="1"/>
          </p:cNvSpPr>
          <p:nvPr/>
        </p:nvSpPr>
        <p:spPr>
          <a:xfrm xmlns:a="http://schemas.openxmlformats.org/drawingml/2006/main">
            <a:off x="8867775" y="498157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-100%</a:t>
            </a:r>
          </a:p>
        </p:txBody>
      </p:sp>
      <p:sp>
        <p:nvSpPr>
          <p:cNvPr id="27" name="">
            <a:extLst xmlns:a="http://schemas.openxmlformats.org/drawingml/2006/main">
              <a:ext uri="{FF2B5EF4-FFF2-40B4-BE49-F238E27FC236}">
                <a16:creationId xmlns:a16="http://schemas.microsoft.com/office/drawing/2014/main" id="{4AC55180-22FB-47A1-83DD-BAEF367DD2C5}"/>
              </a:ext>
            </a:extLst>
          </p:cNvPr>
          <p:cNvSpPr>
            <a:spLocks xmlns:a="http://schemas.openxmlformats.org/drawingml/2006/main" noGrp="1"/>
          </p:cNvSpPr>
          <p:nvPr/>
        </p:nvSpPr>
        <p:spPr>
          <a:xfrm xmlns:a="http://schemas.openxmlformats.org/drawingml/2006/main">
            <a:off x="88487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4</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7 trades</a:t>
            </a:r>
          </a:p>
        </p:txBody>
      </p:sp>
      <p:sp>
        <p:nvSpPr>
          <p:cNvPr id="28" name="">
            <a:extLst xmlns:a="http://schemas.openxmlformats.org/drawingml/2006/main">
              <a:ext uri="{FF2B5EF4-FFF2-40B4-BE49-F238E27FC236}">
                <a16:creationId xmlns:a16="http://schemas.microsoft.com/office/drawing/2014/main" id="{E30286DD-3F47-40A6-9580-9CD19B54E600}"/>
              </a:ext>
            </a:extLst>
          </p:cNvPr>
          <p:cNvSpPr>
            <a:spLocks xmlns:a="http://schemas.openxmlformats.org/drawingml/2006/main" noGrp="1"/>
          </p:cNvSpPr>
          <p:nvPr/>
        </p:nvSpPr>
        <p:spPr>
          <a:xfrm xmlns:a="http://schemas.openxmlformats.org/drawingml/2006/main">
            <a:off x="9877425" y="3348038"/>
            <a:ext cx="628650" cy="461963"/>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B91F43B-2D69-45B5-B84F-763707F5BC5A}"/>
              </a:ext>
            </a:extLst>
          </p:cNvPr>
          <p:cNvSpPr>
            <a:spLocks xmlns:a="http://schemas.openxmlformats.org/drawingml/2006/main" noGrp="1"/>
          </p:cNvSpPr>
          <p:nvPr/>
        </p:nvSpPr>
        <p:spPr>
          <a:xfrm xmlns:a="http://schemas.openxmlformats.org/drawingml/2006/main">
            <a:off x="9801225" y="3043238"/>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4DD28A"/>
                </a:solidFill>
                <a:latin typeface="Arial"/>
                <a:ea typeface="Arial"/>
                <a:cs typeface="Arial"/>
              </a:rPr>
              <a:t>+41.1%</a:t>
            </a:r>
          </a:p>
        </p:txBody>
      </p:sp>
      <p:sp>
        <p:nvSpPr>
          <p:cNvPr id="30" name="">
            <a:extLst xmlns:a="http://schemas.openxmlformats.org/drawingml/2006/main">
              <a:ext uri="{FF2B5EF4-FFF2-40B4-BE49-F238E27FC236}">
                <a16:creationId xmlns:a16="http://schemas.microsoft.com/office/drawing/2014/main" id="{44161546-1D50-457B-8603-7C032B30FB35}"/>
              </a:ext>
            </a:extLst>
          </p:cNvPr>
          <p:cNvSpPr>
            <a:spLocks xmlns:a="http://schemas.openxmlformats.org/drawingml/2006/main" noGrp="1"/>
          </p:cNvSpPr>
          <p:nvPr/>
        </p:nvSpPr>
        <p:spPr>
          <a:xfrm xmlns:a="http://schemas.openxmlformats.org/drawingml/2006/main">
            <a:off x="97821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5</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5 trades</a:t>
            </a:r>
          </a:p>
        </p:txBody>
      </p:sp>
      <p:sp>
        <p:nvSpPr>
          <p:cNvPr id="31" name="">
            <a:extLst xmlns:a="http://schemas.openxmlformats.org/drawingml/2006/main">
              <a:ext uri="{FF2B5EF4-FFF2-40B4-BE49-F238E27FC236}">
                <a16:creationId xmlns:a16="http://schemas.microsoft.com/office/drawing/2014/main" id="{5B45E164-1A00-4486-BFFD-598076E9DF7D}"/>
              </a:ext>
            </a:extLst>
          </p:cNvPr>
          <p:cNvSpPr>
            <a:spLocks xmlns:a="http://schemas.openxmlformats.org/drawingml/2006/main" noGrp="1"/>
          </p:cNvSpPr>
          <p:nvPr/>
        </p:nvSpPr>
        <p:spPr>
          <a:xfrm xmlns:a="http://schemas.openxmlformats.org/drawingml/2006/main">
            <a:off x="7486650" y="5962650"/>
            <a:ext cx="2095500" cy="342900"/>
          </a:xfrm>
          <a:prstGeom xmlns:a="http://schemas.openxmlformats.org/drawingml/2006/main" prst="roundRect">
            <a:avLst>
              <a:gd name="adj" fmla="val 50000"/>
            </a:avLst>
          </a:prstGeom>
          <a:solidFill xmlns:a="http://schemas.openxmlformats.org/drawingml/2006/main">
            <a:srgbClr val="F4B860">
              <a:alpha val="13333"/>
            </a:srgbClr>
          </a:solidFill>
          <a:ln xmlns:a="http://schemas.openxmlformats.org/drawingml/2006/main" w="9525">
            <a:solidFill>
              <a:srgbClr val="F4B860"/>
            </a:solidFill>
            <a:prstDash val="solid"/>
          </a:ln>
        </p:spPr>
      </p:sp>
      <p:sp>
        <p:nvSpPr>
          <p:cNvPr id="32" name="">
            <a:extLst xmlns:a="http://schemas.openxmlformats.org/drawingml/2006/main">
              <a:ext uri="{FF2B5EF4-FFF2-40B4-BE49-F238E27FC236}">
                <a16:creationId xmlns:a16="http://schemas.microsoft.com/office/drawing/2014/main" id="{373EE64D-D702-4290-884D-EB2541A742A9}"/>
              </a:ext>
            </a:extLst>
          </p:cNvPr>
          <p:cNvSpPr>
            <a:spLocks xmlns:a="http://schemas.openxmlformats.org/drawingml/2006/main" noGrp="1"/>
          </p:cNvSpPr>
          <p:nvPr/>
        </p:nvSpPr>
        <p:spPr>
          <a:xfrm xmlns:a="http://schemas.openxmlformats.org/drawingml/2006/main">
            <a:off x="7486650" y="59721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PROMISING ≠ CONFIRMED</a:t>
            </a:r>
          </a:p>
        </p:txBody>
      </p:sp>
    </p:spTree>
    <p:extLst>
      <p:ext uri="{BB962C8B-B14F-4D97-AF65-F5344CB8AC3E}">
        <p14:creationId xmlns:p14="http://schemas.microsoft.com/office/powerpoint/2010/main" val="596345615"/>
      </p:ext>
    </p:extLst>
  </p:cSld>
</p:sld>
</file>

<file path=ppt/slides/slide15.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82F706C-32CC-4713-AFB7-0D45AB1978C2}"/>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ONE-SHOT TEST</a:t>
            </a:r>
          </a:p>
        </p:txBody>
      </p:sp>
      <p:sp>
        <p:nvSpPr>
          <p:cNvPr id="2" name="">
            <a:extLst xmlns:a="http://schemas.openxmlformats.org/drawingml/2006/main">
              <a:ext uri="{FF2B5EF4-FFF2-40B4-BE49-F238E27FC236}">
                <a16:creationId xmlns:a16="http://schemas.microsoft.com/office/drawing/2014/main" id="{7EF6FEBA-14A9-490B-94B1-81B9C708FB60}"/>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final answer comes from 28 sealed days</a:t>
            </a:r>
          </a:p>
        </p:txBody>
      </p:sp>
      <p:sp>
        <p:nvSpPr>
          <p:cNvPr id="3" name="">
            <a:extLst xmlns:a="http://schemas.openxmlformats.org/drawingml/2006/main">
              <a:ext uri="{FF2B5EF4-FFF2-40B4-BE49-F238E27FC236}">
                <a16:creationId xmlns:a16="http://schemas.microsoft.com/office/drawing/2014/main" id="{C6892076-5D5C-4A28-83B7-4B8C5E64532C}"/>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6F6BAF7-BEE9-4B43-8524-E7B65DFEDCA2}"/>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19FC8D1C-610B-4692-BA18-62A1D17FE2FE}"/>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82C4ACE6-056D-45BE-B96E-95FE22ABD040}"/>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78C17E99-A948-4851-9978-CD88C937B52F}"/>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Finish the 12-hour search</a:t>
            </a:r>
          </a:p>
        </p:txBody>
      </p:sp>
      <p:sp>
        <p:nvSpPr>
          <p:cNvPr id="8" name="">
            <a:extLst xmlns:a="http://schemas.openxmlformats.org/drawingml/2006/main">
              <a:ext uri="{FF2B5EF4-FFF2-40B4-BE49-F238E27FC236}">
                <a16:creationId xmlns:a16="http://schemas.microsoft.com/office/drawing/2014/main" id="{517AB103-88D3-4DBA-AF52-7FD315D7162A}"/>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01AB1B62-FB6C-45F5-926F-959438B094F6}"/>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Freeze one strategy</a:t>
            </a:r>
          </a:p>
        </p:txBody>
      </p:sp>
      <p:sp>
        <p:nvSpPr>
          <p:cNvPr id="10" name="">
            <a:extLst xmlns:a="http://schemas.openxmlformats.org/drawingml/2006/main">
              <a:ext uri="{FF2B5EF4-FFF2-40B4-BE49-F238E27FC236}">
                <a16:creationId xmlns:a16="http://schemas.microsoft.com/office/drawing/2014/main" id="{99466C56-1F40-4AE6-8A6A-4E7D67BEEC87}"/>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2306F57-C194-4C52-A1B7-867764A14FC9}"/>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Open the holdout once</a:t>
            </a:r>
          </a:p>
        </p:txBody>
      </p:sp>
      <p:sp>
        <p:nvSpPr>
          <p:cNvPr id="12" name="">
            <a:extLst xmlns:a="http://schemas.openxmlformats.org/drawingml/2006/main">
              <a:ext uri="{FF2B5EF4-FFF2-40B4-BE49-F238E27FC236}">
                <a16:creationId xmlns:a16="http://schemas.microsoft.com/office/drawing/2014/main" id="{DD5C3FC7-8C95-4AE4-BE36-41D7167BDAC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WHAT WE WILL LEARN</a:t>
            </a:r>
          </a:p>
        </p:txBody>
      </p:sp>
      <p:sp>
        <p:nvSpPr>
          <p:cNvPr id="13" name="">
            <a:extLst xmlns:a="http://schemas.openxmlformats.org/drawingml/2006/main">
              <a:ext uri="{FF2B5EF4-FFF2-40B4-BE49-F238E27FC236}">
                <a16:creationId xmlns:a16="http://schemas.microsoft.com/office/drawing/2014/main" id="{7765EB2F-3F9A-47E5-AD70-805E4D932C22}"/>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Whether the 10% return survives unseen dates, exact fees and graded execution evidence.</a:t>
            </a:r>
          </a:p>
        </p:txBody>
      </p:sp>
      <p:sp>
        <p:nvSpPr>
          <p:cNvPr id="14" name="">
            <a:extLst xmlns:a="http://schemas.openxmlformats.org/drawingml/2006/main">
              <a:ext uri="{FF2B5EF4-FFF2-40B4-BE49-F238E27FC236}">
                <a16:creationId xmlns:a16="http://schemas.microsoft.com/office/drawing/2014/main" id="{F784CA16-BE86-4545-945F-AFA791E1F8C2}"/>
              </a:ext>
            </a:extLst>
          </p:cNvPr>
          <p:cNvSpPr>
            <a:spLocks xmlns:a="http://schemas.openxmlformats.org/drawingml/2006/main" noGrp="1"/>
          </p:cNvSpPr>
          <p:nvPr/>
        </p:nvSpPr>
        <p:spPr>
          <a:xfrm xmlns:a="http://schemas.openxmlformats.org/drawingml/2006/main">
            <a:off x="9382125" y="2590800"/>
            <a:ext cx="1952625" cy="1809750"/>
          </a:xfrm>
          <a:prstGeom xmlns:a="http://schemas.openxmlformats.org/drawingml/2006/main" prst="roundRect">
            <a:avLst>
              <a:gd name="adj" fmla="val 13684"/>
            </a:avLst>
          </a:prstGeom>
          <a:solidFill xmlns:a="http://schemas.openxmlformats.org/drawingml/2006/main">
            <a:srgbClr val="142941"/>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9FD99EF8-6785-492F-8C60-C2F07A382D2A}"/>
              </a:ext>
            </a:extLst>
          </p:cNvPr>
          <p:cNvSpPr>
            <a:spLocks xmlns:a="http://schemas.openxmlformats.org/drawingml/2006/main" noGrp="1"/>
          </p:cNvSpPr>
          <p:nvPr/>
        </p:nvSpPr>
        <p:spPr>
          <a:xfrm xmlns:a="http://schemas.openxmlformats.org/drawingml/2006/main">
            <a:off x="9563100" y="2857500"/>
            <a:ext cx="1590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ONE-SHOT</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EVALUATOR</a:t>
            </a:r>
          </a:p>
        </p:txBody>
      </p:sp>
      <p:sp>
        <p:nvSpPr>
          <p:cNvPr id="16" name="">
            <a:extLst xmlns:a="http://schemas.openxmlformats.org/drawingml/2006/main">
              <a:ext uri="{FF2B5EF4-FFF2-40B4-BE49-F238E27FC236}">
                <a16:creationId xmlns:a16="http://schemas.microsoft.com/office/drawing/2014/main" id="{8F23CA18-239B-434E-9369-EB8F5AB92379}"/>
              </a:ext>
            </a:extLst>
          </p:cNvPr>
          <p:cNvSpPr>
            <a:spLocks xmlns:a="http://schemas.openxmlformats.org/drawingml/2006/main" noGrp="1"/>
          </p:cNvSpPr>
          <p:nvPr/>
        </p:nvSpPr>
        <p:spPr>
          <a:xfrm xmlns:a="http://schemas.openxmlformats.org/drawingml/2006/main">
            <a:off x="9829800" y="3581400"/>
            <a:ext cx="104775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17" name="">
            <a:extLst xmlns:a="http://schemas.openxmlformats.org/drawingml/2006/main">
              <a:ext uri="{FF2B5EF4-FFF2-40B4-BE49-F238E27FC236}">
                <a16:creationId xmlns:a16="http://schemas.microsoft.com/office/drawing/2014/main" id="{CFA81FC7-5B14-47D0-95F4-44E76CC52A43}"/>
              </a:ext>
            </a:extLst>
          </p:cNvPr>
          <p:cNvSpPr>
            <a:spLocks xmlns:a="http://schemas.openxmlformats.org/drawingml/2006/main" noGrp="1"/>
          </p:cNvSpPr>
          <p:nvPr/>
        </p:nvSpPr>
        <p:spPr>
          <a:xfrm xmlns:a="http://schemas.openxmlformats.org/drawingml/2006/main">
            <a:off x="9677400" y="3676650"/>
            <a:ext cx="1362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NO SECOND</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TRY</a:t>
            </a:r>
          </a:p>
        </p:txBody>
      </p:sp>
      <p:sp>
        <p:nvSpPr>
          <p:cNvPr id="18" name="">
            <a:extLst xmlns:a="http://schemas.openxmlformats.org/drawingml/2006/main">
              <a:ext uri="{FF2B5EF4-FFF2-40B4-BE49-F238E27FC236}">
                <a16:creationId xmlns:a16="http://schemas.microsoft.com/office/drawing/2014/main" id="{E269BAE6-815D-4FC5-8C03-1DF7A2A3D3A4}"/>
              </a:ext>
            </a:extLst>
          </p:cNvPr>
          <p:cNvSpPr>
            <a:spLocks xmlns:a="http://schemas.openxmlformats.org/drawingml/2006/main" noGrp="1"/>
          </p:cNvSpPr>
          <p:nvPr/>
        </p:nvSpPr>
        <p:spPr>
          <a:xfrm xmlns:a="http://schemas.openxmlformats.org/drawingml/2006/main">
            <a:off x="5448300" y="1781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4F920131-A0D3-4240-B42E-6EA11CC0ABC9}"/>
              </a:ext>
            </a:extLst>
          </p:cNvPr>
          <p:cNvSpPr>
            <a:spLocks xmlns:a="http://schemas.openxmlformats.org/drawingml/2006/main" noGrp="1"/>
          </p:cNvSpPr>
          <p:nvPr/>
        </p:nvSpPr>
        <p:spPr>
          <a:xfrm xmlns:a="http://schemas.openxmlformats.org/drawingml/2006/main">
            <a:off x="5619750" y="1857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091"/>
          </a:bodyPr>
          <a:lstStyle xmlns:a="http://schemas.openxmlformats.org/drawingml/2006/main"/>
          <a:p xmlns:a="http://schemas.openxmlformats.org/drawingml/2006/main">
            <a:pPr algn="l">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DEVELOPMENT</a:t>
            </a:r>
          </a:p>
        </p:txBody>
      </p:sp>
      <p:sp>
        <p:nvSpPr>
          <p:cNvPr id="20" name="">
            <a:extLst xmlns:a="http://schemas.openxmlformats.org/drawingml/2006/main">
              <a:ext uri="{FF2B5EF4-FFF2-40B4-BE49-F238E27FC236}">
                <a16:creationId xmlns:a16="http://schemas.microsoft.com/office/drawing/2014/main" id="{D3DC9181-439A-4700-8303-69908E3B06E3}"/>
              </a:ext>
            </a:extLst>
          </p:cNvPr>
          <p:cNvSpPr>
            <a:spLocks xmlns:a="http://schemas.openxmlformats.org/drawingml/2006/main" noGrp="1"/>
          </p:cNvSpPr>
          <p:nvPr/>
        </p:nvSpPr>
        <p:spPr>
          <a:xfrm xmlns:a="http://schemas.openxmlformats.org/drawingml/2006/main">
            <a:off x="5619750" y="2105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64 visible dates</a:t>
            </a:r>
          </a:p>
        </p:txBody>
      </p:sp>
      <p:cxnSp>
        <p:nvCxnSpPr>
          <p:cNvPr id="289" name=""/>
          <p:cNvCxnSpPr>
            <a:stCxn xmlns:a="http://schemas.openxmlformats.org/drawingml/2006/main" id="18" idx="3"/>
            <a:endCxn xmlns:a="http://schemas.openxmlformats.org/drawingml/2006/main" id="14" idx="1"/>
          </p:cNvCxnSpPr>
          <p:nvPr/>
        </p:nvCxnSpPr>
        <p:spPr>
          <a:xfrm xmlns:a="http://schemas.openxmlformats.org/drawingml/2006/main">
            <a:off x="8448675" y="2124075"/>
            <a:ext cx="933450" cy="13716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0D047E77-33E4-4F20-B023-F9DE2A0E4835}"/>
              </a:ext>
            </a:extLst>
          </p:cNvPr>
          <p:cNvSpPr>
            <a:spLocks xmlns:a="http://schemas.openxmlformats.org/drawingml/2006/main" noGrp="1"/>
          </p:cNvSpPr>
          <p:nvPr/>
        </p:nvSpPr>
        <p:spPr>
          <a:xfrm xmlns:a="http://schemas.openxmlformats.org/drawingml/2006/main">
            <a:off x="5448300" y="2733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8446BFD6-1000-490D-A029-491402C4A97B}"/>
              </a:ext>
            </a:extLst>
          </p:cNvPr>
          <p:cNvSpPr>
            <a:spLocks xmlns:a="http://schemas.openxmlformats.org/drawingml/2006/main" noGrp="1"/>
          </p:cNvSpPr>
          <p:nvPr/>
        </p:nvSpPr>
        <p:spPr>
          <a:xfrm xmlns:a="http://schemas.openxmlformats.org/drawingml/2006/main">
            <a:off x="5619750" y="2809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7134"/>
          </a:bodyPr>
          <a:lstStyle xmlns:a="http://schemas.openxmlformats.org/drawingml/2006/main"/>
          <a:p xmlns:a="http://schemas.openxmlformats.org/drawingml/2006/main">
            <a:pPr algn="l">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STRATEGY FREEZE</a:t>
            </a:r>
          </a:p>
        </p:txBody>
      </p:sp>
      <p:sp>
        <p:nvSpPr>
          <p:cNvPr id="24" name="">
            <a:extLst xmlns:a="http://schemas.openxmlformats.org/drawingml/2006/main">
              <a:ext uri="{FF2B5EF4-FFF2-40B4-BE49-F238E27FC236}">
                <a16:creationId xmlns:a16="http://schemas.microsoft.com/office/drawing/2014/main" id="{740D5789-56B5-4FBC-88BC-457102D71292}"/>
              </a:ext>
            </a:extLst>
          </p:cNvPr>
          <p:cNvSpPr>
            <a:spLocks xmlns:a="http://schemas.openxmlformats.org/drawingml/2006/main" noGrp="1"/>
          </p:cNvSpPr>
          <p:nvPr/>
        </p:nvSpPr>
        <p:spPr>
          <a:xfrm xmlns:a="http://schemas.openxmlformats.org/drawingml/2006/main">
            <a:off x="5619750" y="3057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one immutable policy</a:t>
            </a:r>
          </a:p>
        </p:txBody>
      </p:sp>
      <p:cxnSp>
        <p:nvCxnSpPr>
          <p:cNvPr id="293" name=""/>
          <p:cNvCxnSpPr>
            <a:stCxn xmlns:a="http://schemas.openxmlformats.org/drawingml/2006/main" id="22" idx="3"/>
            <a:endCxn xmlns:a="http://schemas.openxmlformats.org/drawingml/2006/main" id="14" idx="1"/>
          </p:cNvCxnSpPr>
          <p:nvPr/>
        </p:nvCxnSpPr>
        <p:spPr>
          <a:xfrm xmlns:a="http://schemas.openxmlformats.org/drawingml/2006/main">
            <a:off x="8448675" y="3076575"/>
            <a:ext cx="933450" cy="4191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6" name="">
            <a:extLst xmlns:a="http://schemas.openxmlformats.org/drawingml/2006/main">
              <a:ext uri="{FF2B5EF4-FFF2-40B4-BE49-F238E27FC236}">
                <a16:creationId xmlns:a16="http://schemas.microsoft.com/office/drawing/2014/main" id="{394AB9A1-AB2E-4F99-B657-3615FD3F9CF1}"/>
              </a:ext>
            </a:extLst>
          </p:cNvPr>
          <p:cNvSpPr>
            <a:spLocks xmlns:a="http://schemas.openxmlformats.org/drawingml/2006/main" noGrp="1"/>
          </p:cNvSpPr>
          <p:nvPr/>
        </p:nvSpPr>
        <p:spPr>
          <a:xfrm xmlns:a="http://schemas.openxmlformats.org/drawingml/2006/main">
            <a:off x="5448300" y="3686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7D7D0"/>
            </a:solidFill>
            <a:prstDash val="solid"/>
          </a:ln>
        </p:spPr>
      </p:sp>
      <p:sp>
        <p:nvSpPr>
          <p:cNvPr id="27" name="">
            <a:extLst xmlns:a="http://schemas.openxmlformats.org/drawingml/2006/main">
              <a:ext uri="{FF2B5EF4-FFF2-40B4-BE49-F238E27FC236}">
                <a16:creationId xmlns:a16="http://schemas.microsoft.com/office/drawing/2014/main" id="{7A9EF3D8-3821-4064-BC8D-6A9B7D7EBF6C}"/>
              </a:ext>
            </a:extLst>
          </p:cNvPr>
          <p:cNvSpPr>
            <a:spLocks xmlns:a="http://schemas.openxmlformats.org/drawingml/2006/main" noGrp="1"/>
          </p:cNvSpPr>
          <p:nvPr/>
        </p:nvSpPr>
        <p:spPr>
          <a:xfrm xmlns:a="http://schemas.openxmlformats.org/drawingml/2006/main">
            <a:off x="5619750" y="3762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HOLDOUT</a:t>
            </a:r>
          </a:p>
        </p:txBody>
      </p:sp>
      <p:sp>
        <p:nvSpPr>
          <p:cNvPr id="28" name="">
            <a:extLst xmlns:a="http://schemas.openxmlformats.org/drawingml/2006/main">
              <a:ext uri="{FF2B5EF4-FFF2-40B4-BE49-F238E27FC236}">
                <a16:creationId xmlns:a16="http://schemas.microsoft.com/office/drawing/2014/main" id="{867C2099-930D-44CF-B2AE-B55A9572395E}"/>
              </a:ext>
            </a:extLst>
          </p:cNvPr>
          <p:cNvSpPr>
            <a:spLocks xmlns:a="http://schemas.openxmlformats.org/drawingml/2006/main" noGrp="1"/>
          </p:cNvSpPr>
          <p:nvPr/>
        </p:nvSpPr>
        <p:spPr>
          <a:xfrm xmlns:a="http://schemas.openxmlformats.org/drawingml/2006/main">
            <a:off x="5619750" y="4010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28 unseen dates</a:t>
            </a:r>
          </a:p>
        </p:txBody>
      </p:sp>
      <p:cxnSp>
        <p:nvCxnSpPr>
          <p:cNvPr id="297" name=""/>
          <p:cNvCxnSpPr>
            <a:stCxn xmlns:a="http://schemas.openxmlformats.org/drawingml/2006/main" id="26" idx="3"/>
            <a:endCxn xmlns:a="http://schemas.openxmlformats.org/drawingml/2006/main" id="14" idx="1"/>
          </p:cNvCxnSpPr>
          <p:nvPr/>
        </p:nvCxnSpPr>
        <p:spPr>
          <a:xfrm xmlns:a="http://schemas.openxmlformats.org/drawingml/2006/main" flipV="1">
            <a:off x="8448675" y="3495675"/>
            <a:ext cx="933450" cy="5334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0" name="">
            <a:extLst xmlns:a="http://schemas.openxmlformats.org/drawingml/2006/main">
              <a:ext uri="{FF2B5EF4-FFF2-40B4-BE49-F238E27FC236}">
                <a16:creationId xmlns:a16="http://schemas.microsoft.com/office/drawing/2014/main" id="{269A7AA7-7961-40BE-AB89-130F7C078970}"/>
              </a:ext>
            </a:extLst>
          </p:cNvPr>
          <p:cNvSpPr>
            <a:spLocks xmlns:a="http://schemas.openxmlformats.org/drawingml/2006/main" noGrp="1"/>
          </p:cNvSpPr>
          <p:nvPr/>
        </p:nvSpPr>
        <p:spPr>
          <a:xfrm xmlns:a="http://schemas.openxmlformats.org/drawingml/2006/main">
            <a:off x="5448300" y="4638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DD28A"/>
            </a:solidFill>
            <a:prstDash val="solid"/>
          </a:ln>
        </p:spPr>
      </p:sp>
      <p:sp>
        <p:nvSpPr>
          <p:cNvPr id="31" name="">
            <a:extLst xmlns:a="http://schemas.openxmlformats.org/drawingml/2006/main">
              <a:ext uri="{FF2B5EF4-FFF2-40B4-BE49-F238E27FC236}">
                <a16:creationId xmlns:a16="http://schemas.microsoft.com/office/drawing/2014/main" id="{099F6736-39C1-47F0-AB00-F155AE07C55E}"/>
              </a:ext>
            </a:extLst>
          </p:cNvPr>
          <p:cNvSpPr>
            <a:spLocks xmlns:a="http://schemas.openxmlformats.org/drawingml/2006/main" noGrp="1"/>
          </p:cNvSpPr>
          <p:nvPr/>
        </p:nvSpPr>
        <p:spPr>
          <a:xfrm xmlns:a="http://schemas.openxmlformats.org/drawingml/2006/main">
            <a:off x="5619750" y="4714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9709"/>
          </a:bodyPr>
          <a:lstStyle xmlns:a="http://schemas.openxmlformats.org/drawingml/2006/main"/>
          <a:p xmlns:a="http://schemas.openxmlformats.org/drawingml/2006/main">
            <a:pPr algn="l">
              <a:lnSpc>
                <a:spcPct val="100000"/>
              </a:lnSpc>
              <a:buNone/>
              <a:defRPr sz="1200" b="1">
                <a:solidFill>
                  <a:srgbClr val="4DD28A"/>
                </a:solidFill>
                <a:latin typeface="Arial"/>
                <a:ea typeface="Arial"/>
                <a:cs typeface="Arial"/>
              </a:defRPr>
            </a:pPr>
            <a:r>
              <a:rPr sz="1200" b="1">
                <a:solidFill>
                  <a:srgbClr val="4DD28A"/>
                </a:solidFill>
                <a:latin typeface="Arial"/>
                <a:ea typeface="Arial"/>
                <a:cs typeface="Arial"/>
              </a:rPr>
              <a:t>FINAL REPORT</a:t>
            </a:r>
          </a:p>
        </p:txBody>
      </p:sp>
      <p:sp>
        <p:nvSpPr>
          <p:cNvPr id="32" name="">
            <a:extLst xmlns:a="http://schemas.openxmlformats.org/drawingml/2006/main">
              <a:ext uri="{FF2B5EF4-FFF2-40B4-BE49-F238E27FC236}">
                <a16:creationId xmlns:a16="http://schemas.microsoft.com/office/drawing/2014/main" id="{AD7ABE22-C3F2-41A8-9FE2-2908122B509B}"/>
              </a:ext>
            </a:extLst>
          </p:cNvPr>
          <p:cNvSpPr>
            <a:spLocks xmlns:a="http://schemas.openxmlformats.org/drawingml/2006/main" noGrp="1"/>
          </p:cNvSpPr>
          <p:nvPr/>
        </p:nvSpPr>
        <p:spPr>
          <a:xfrm xmlns:a="http://schemas.openxmlformats.org/drawingml/2006/main">
            <a:off x="5619750" y="4962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confirm or reject</a:t>
            </a:r>
          </a:p>
        </p:txBody>
      </p:sp>
      <p:cxnSp>
        <p:nvCxnSpPr>
          <p:cNvPr id="301" name=""/>
          <p:cNvCxnSpPr>
            <a:stCxn xmlns:a="http://schemas.openxmlformats.org/drawingml/2006/main" id="30" idx="3"/>
            <a:endCxn xmlns:a="http://schemas.openxmlformats.org/drawingml/2006/main" id="14" idx="1"/>
          </p:cNvCxnSpPr>
          <p:nvPr/>
        </p:nvCxnSpPr>
        <p:spPr>
          <a:xfrm xmlns:a="http://schemas.openxmlformats.org/drawingml/2006/main" flipV="1">
            <a:off x="8448675" y="3495675"/>
            <a:ext cx="933450" cy="14859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4" name="">
            <a:extLst xmlns:a="http://schemas.openxmlformats.org/drawingml/2006/main">
              <a:ext uri="{FF2B5EF4-FFF2-40B4-BE49-F238E27FC236}">
                <a16:creationId xmlns:a16="http://schemas.microsoft.com/office/drawing/2014/main" id="{080C5284-F2A5-43FF-A8DF-726E15E2E193}"/>
              </a:ext>
            </a:extLst>
          </p:cNvPr>
          <p:cNvSpPr>
            <a:spLocks xmlns:a="http://schemas.openxmlformats.org/drawingml/2006/main" noGrp="1"/>
          </p:cNvSpPr>
          <p:nvPr/>
        </p:nvSpPr>
        <p:spPr>
          <a:xfrm xmlns:a="http://schemas.openxmlformats.org/drawingml/2006/main">
            <a:off x="9191625" y="4905375"/>
            <a:ext cx="2286000" cy="533400"/>
          </a:xfrm>
          <a:prstGeom xmlns:a="http://schemas.openxmlformats.org/drawingml/2006/main" prst="roundRect">
            <a:avLst>
              <a:gd name="adj" fmla="val 28571"/>
            </a:avLst>
          </a:prstGeom>
          <a:solidFill xmlns:a="http://schemas.openxmlformats.org/drawingml/2006/main">
            <a:srgbClr val="153323"/>
          </a:solidFill>
          <a:ln xmlns:a="http://schemas.openxmlformats.org/drawingml/2006/main" w="19050">
            <a:solidFill>
              <a:srgbClr val="4DD28A"/>
            </a:solidFill>
            <a:prstDash val="solid"/>
          </a:ln>
        </p:spPr>
      </p:sp>
      <p:sp>
        <p:nvSpPr>
          <p:cNvPr id="35" name="">
            <a:extLst xmlns:a="http://schemas.openxmlformats.org/drawingml/2006/main">
              <a:ext uri="{FF2B5EF4-FFF2-40B4-BE49-F238E27FC236}">
                <a16:creationId xmlns:a16="http://schemas.microsoft.com/office/drawing/2014/main" id="{6F943BE9-1923-4917-9298-D128B96DB752}"/>
              </a:ext>
            </a:extLst>
          </p:cNvPr>
          <p:cNvSpPr>
            <a:spLocks xmlns:a="http://schemas.openxmlformats.org/drawingml/2006/main" noGrp="1"/>
          </p:cNvSpPr>
          <p:nvPr/>
        </p:nvSpPr>
        <p:spPr>
          <a:xfrm xmlns:a="http://schemas.openxmlformats.org/drawingml/2006/main">
            <a:off x="9315450" y="501015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10% target confirmed</a:t>
            </a:r>
          </a:p>
        </p:txBody>
      </p:sp>
      <p:sp>
        <p:nvSpPr>
          <p:cNvPr id="36" name="">
            <a:extLst xmlns:a="http://schemas.openxmlformats.org/drawingml/2006/main">
              <a:ext uri="{FF2B5EF4-FFF2-40B4-BE49-F238E27FC236}">
                <a16:creationId xmlns:a16="http://schemas.microsoft.com/office/drawing/2014/main" id="{84FFD6B6-F873-4CB5-9292-BD15EA97DB96}"/>
              </a:ext>
            </a:extLst>
          </p:cNvPr>
          <p:cNvSpPr>
            <a:spLocks xmlns:a="http://schemas.openxmlformats.org/drawingml/2006/main" noGrp="1"/>
          </p:cNvSpPr>
          <p:nvPr/>
        </p:nvSpPr>
        <p:spPr>
          <a:xfrm xmlns:a="http://schemas.openxmlformats.org/drawingml/2006/main">
            <a:off x="9191625" y="5600700"/>
            <a:ext cx="2286000" cy="533400"/>
          </a:xfrm>
          <a:prstGeom xmlns:a="http://schemas.openxmlformats.org/drawingml/2006/main" prst="roundRect">
            <a:avLst>
              <a:gd name="adj" fmla="val 28571"/>
            </a:avLst>
          </a:prstGeom>
          <a:solidFill xmlns:a="http://schemas.openxmlformats.org/drawingml/2006/main">
            <a:srgbClr val="321D29"/>
          </a:solidFill>
          <a:ln xmlns:a="http://schemas.openxmlformats.org/drawingml/2006/main" w="19050">
            <a:solidFill>
              <a:srgbClr val="FF6B6B"/>
            </a:solidFill>
            <a:prstDash val="solid"/>
          </a:ln>
        </p:spPr>
      </p:sp>
      <p:sp>
        <p:nvSpPr>
          <p:cNvPr id="37" name="">
            <a:extLst xmlns:a="http://schemas.openxmlformats.org/drawingml/2006/main">
              <a:ext uri="{FF2B5EF4-FFF2-40B4-BE49-F238E27FC236}">
                <a16:creationId xmlns:a16="http://schemas.microsoft.com/office/drawing/2014/main" id="{FD90C948-00C9-4CB1-8B5A-7C20FA2123F7}"/>
              </a:ext>
            </a:extLst>
          </p:cNvPr>
          <p:cNvSpPr>
            <a:spLocks xmlns:a="http://schemas.openxmlformats.org/drawingml/2006/main" noGrp="1"/>
          </p:cNvSpPr>
          <p:nvPr/>
        </p:nvSpPr>
        <p:spPr>
          <a:xfrm xmlns:a="http://schemas.openxmlformats.org/drawingml/2006/main">
            <a:off x="9315450" y="570547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Target not confirmed</a:t>
            </a:r>
          </a:p>
        </p:txBody>
      </p:sp>
    </p:spTree>
    <p:extLst>
      <p:ext uri="{BB962C8B-B14F-4D97-AF65-F5344CB8AC3E}">
        <p14:creationId xmlns:p14="http://schemas.microsoft.com/office/powerpoint/2010/main" val="827757664"/>
      </p:ext>
    </p:extLst>
  </p:cSld>
</p:sld>
</file>

<file path=ppt/theme/theme1.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2026-09-27T18:01:00.6860000Z</dcterms:created>
  <dcterms:modified xsi:type="dcterms:W3CDTF">2026-09-27T18:01:00.6860000Z</dcterms:modified>
</coreProperties>
</file>