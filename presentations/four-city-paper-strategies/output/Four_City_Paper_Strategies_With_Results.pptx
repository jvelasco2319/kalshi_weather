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2.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3.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4.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5.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6.xml" ContentType="application/vnd.openxmlformats-officedocument.drawingml.chart+xml"/>
  <Override PartName="/ppt/slides/charts/chart7.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8.xml" ContentType="application/vnd.openxmlformats-officedocument.drawingml.chart+xml"/>
  <Override PartName="/ppt/slides/charts/chart9.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0.xml" ContentType="application/vnd.openxmlformats-officedocument.drawingml.chart+xml"/>
  <Override PartName="/ppt/slides/charts/chart1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4.xml" ContentType="application/vnd.openxmlformats-officedocument.drawingml.chart+xml"/>
  <Override PartName="/ppt/slides/charts/chart1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6.xml" ContentType="application/vnd.openxmlformats-officedocument.drawingml.chart+xml"/>
  <Override PartName="/ppt/slides/charts/chart17.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8.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9.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20.xml" ContentType="application/vnd.openxmlformats-officedocument.drawingml.chart+xml"/>
  <Override PartName="/ppt/slides/charts/chart2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22.xml" ContentType="application/vnd.openxmlformats-officedocument.drawingml.chart+xml"/>
  <Override PartName="/ppt/slides/charts/chart23.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24.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5.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26.xml" ContentType="application/vnd.openxmlformats-officedocument.drawingml.chart+xml"/>
  <Override PartName="/ppt/slides/charts/chart27.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28.xml" ContentType="application/vnd.openxmlformats-officedocument.drawingml.chart+xml"/>
  <Override PartName="/ppt/slides/charts/chart29.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30.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31.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32.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33.xml" ContentType="application/vnd.openxmlformats-officedocument.drawingml.chart+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c46e742878040be" /><Relationship Type="http://schemas.openxmlformats.org/officeDocument/2006/relationships/extended-properties" Target="/docProps/app.xml" Id="R42784349b343490f" /><Relationship Type="http://schemas.openxmlformats.org/officeDocument/2006/relationships/officeDocument" Target="/ppt/presentation.xml" Id="R5c2b0a058f134c3b" /></Relationships>
</file>

<file path=ppt/presentation.xml><?xml version="1.0" encoding="utf-8"?>
<p:presentation xmlns:p="http://schemas.openxmlformats.org/presentationml/2006/main">
  <p:sldMasterIdLst>
    <p:sldMasterId xmlns:r="http://schemas.openxmlformats.org/officeDocument/2006/relationships" id="2147483648" r:id="R8f56abd293a646c2"/>
  </p:sldMasterIdLst>
  <p:notesMasterIdLst>
    <p:notesMasterId xmlns:r="http://schemas.openxmlformats.org/officeDocument/2006/relationships" r:id="R8d31e5f710fd4ce9"/>
  </p:notesMasterIdLst>
  <p:sldIdLst>
    <p:sldId xmlns:r="http://schemas.openxmlformats.org/officeDocument/2006/relationships" id="256" r:id="R9ada864462064099"/>
    <p:sldId xmlns:r="http://schemas.openxmlformats.org/officeDocument/2006/relationships" id="257" r:id="R3a6717556aa54738"/>
    <p:sldId xmlns:r="http://schemas.openxmlformats.org/officeDocument/2006/relationships" id="258" r:id="Rec0d3b4c9ee94685"/>
    <p:sldId xmlns:r="http://schemas.openxmlformats.org/officeDocument/2006/relationships" id="259" r:id="R5c4123b82cbc4a3c"/>
    <p:sldId xmlns:r="http://schemas.openxmlformats.org/officeDocument/2006/relationships" id="260" r:id="R5b862d4b88074630"/>
    <p:sldId xmlns:r="http://schemas.openxmlformats.org/officeDocument/2006/relationships" id="261" r:id="R2c630dcd6b6f4e7a"/>
    <p:sldId xmlns:r="http://schemas.openxmlformats.org/officeDocument/2006/relationships" id="262" r:id="R665b2dd2093143ac"/>
    <p:sldId xmlns:r="http://schemas.openxmlformats.org/officeDocument/2006/relationships" id="263" r:id="R48f9b92f041c4ec5"/>
    <p:sldId xmlns:r="http://schemas.openxmlformats.org/officeDocument/2006/relationships" id="264" r:id="R380a302ce7934870"/>
    <p:sldId xmlns:r="http://schemas.openxmlformats.org/officeDocument/2006/relationships" id="265" r:id="R32862ba650bc43dc"/>
    <p:sldId xmlns:r="http://schemas.openxmlformats.org/officeDocument/2006/relationships" id="266" r:id="R3c3eadceb1e5410f"/>
    <p:sldId xmlns:r="http://schemas.openxmlformats.org/officeDocument/2006/relationships" id="267" r:id="Rf3243de2bd724e96"/>
    <p:sldId xmlns:r="http://schemas.openxmlformats.org/officeDocument/2006/relationships" id="268" r:id="R47ae4c0b32da47bb"/>
    <p:sldId xmlns:r="http://schemas.openxmlformats.org/officeDocument/2006/relationships" id="269" r:id="R11cc4470460041ba"/>
    <p:sldId xmlns:r="http://schemas.openxmlformats.org/officeDocument/2006/relationships" id="270" r:id="Rd0fbcce15dd14720"/>
    <p:sldId xmlns:r="http://schemas.openxmlformats.org/officeDocument/2006/relationships" id="271" r:id="R21729d03d6ff48b3"/>
    <p:sldId xmlns:r="http://schemas.openxmlformats.org/officeDocument/2006/relationships" id="272" r:id="R293fab8a80fe4087"/>
    <p:sldId xmlns:r="http://schemas.openxmlformats.org/officeDocument/2006/relationships" id="273" r:id="R88220b32fe4c486d"/>
    <p:sldId xmlns:r="http://schemas.openxmlformats.org/officeDocument/2006/relationships" id="274" r:id="R53d2ecbde3204702"/>
    <p:sldId xmlns:r="http://schemas.openxmlformats.org/officeDocument/2006/relationships" id="275" r:id="R2121110ab3aa448e"/>
    <p:sldId xmlns:r="http://schemas.openxmlformats.org/officeDocument/2006/relationships" id="276" r:id="R2afef60366964f0f"/>
    <p:sldId xmlns:r="http://schemas.openxmlformats.org/officeDocument/2006/relationships" id="277" r:id="R61cbca0f84bd46c6"/>
    <p:sldId xmlns:r="http://schemas.openxmlformats.org/officeDocument/2006/relationships" id="278" r:id="R3ace50fb3e524754"/>
    <p:sldId xmlns:r="http://schemas.openxmlformats.org/officeDocument/2006/relationships" id="279" r:id="R9af162bee18d497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d6f75299244610" /><Relationship Type="http://schemas.openxmlformats.org/officeDocument/2006/relationships/slideMaster" Target="/ppt/slideMasters/slideMaster1.xml" Id="R8f56abd293a646c2" /><Relationship Type="http://schemas.openxmlformats.org/officeDocument/2006/relationships/notesMaster" Target="/ppt/notesMasters/notesMaster1.xml" Id="R8d31e5f710fd4ce9" /><Relationship Type="http://schemas.openxmlformats.org/officeDocument/2006/relationships/presProps" Target="/ppt/presProps.xml" Id="Re204bdd05cc74e33" /><Relationship Type="http://schemas.openxmlformats.org/officeDocument/2006/relationships/tableStyles" Target="/ppt/tableStyles.xml" Id="R938215c2ed0c474a" /><Relationship Type="http://schemas.openxmlformats.org/officeDocument/2006/relationships/slide" Target="/ppt/slides/slide1.xml" Id="R9ada864462064099" /><Relationship Type="http://schemas.openxmlformats.org/officeDocument/2006/relationships/slide" Target="/ppt/slides/slide2.xml" Id="R3a6717556aa54738" /><Relationship Type="http://schemas.openxmlformats.org/officeDocument/2006/relationships/slide" Target="/ppt/slides/slide3.xml" Id="Rec0d3b4c9ee94685" /><Relationship Type="http://schemas.openxmlformats.org/officeDocument/2006/relationships/slide" Target="/ppt/slides/slide4.xml" Id="R5c4123b82cbc4a3c" /><Relationship Type="http://schemas.openxmlformats.org/officeDocument/2006/relationships/slide" Target="/ppt/slides/slide5.xml" Id="R5b862d4b88074630" /><Relationship Type="http://schemas.openxmlformats.org/officeDocument/2006/relationships/slide" Target="/ppt/slides/slide6.xml" Id="R2c630dcd6b6f4e7a" /><Relationship Type="http://schemas.openxmlformats.org/officeDocument/2006/relationships/slide" Target="/ppt/slides/slide7.xml" Id="R665b2dd2093143ac" /><Relationship Type="http://schemas.openxmlformats.org/officeDocument/2006/relationships/slide" Target="/ppt/slides/slide8.xml" Id="R48f9b92f041c4ec5" /><Relationship Type="http://schemas.openxmlformats.org/officeDocument/2006/relationships/slide" Target="/ppt/slides/slide9.xml" Id="R380a302ce7934870" /><Relationship Type="http://schemas.openxmlformats.org/officeDocument/2006/relationships/slide" Target="/ppt/slides/slide10.xml" Id="R32862ba650bc43dc" /><Relationship Type="http://schemas.openxmlformats.org/officeDocument/2006/relationships/slide" Target="/ppt/slides/slide11.xml" Id="R3c3eadceb1e5410f" /><Relationship Type="http://schemas.openxmlformats.org/officeDocument/2006/relationships/slide" Target="/ppt/slides/slide12.xml" Id="Rf3243de2bd724e96" /><Relationship Type="http://schemas.openxmlformats.org/officeDocument/2006/relationships/slide" Target="/ppt/slides/slide13.xml" Id="R47ae4c0b32da47bb" /><Relationship Type="http://schemas.openxmlformats.org/officeDocument/2006/relationships/slide" Target="/ppt/slides/slide14.xml" Id="R11cc4470460041ba" /><Relationship Type="http://schemas.openxmlformats.org/officeDocument/2006/relationships/slide" Target="/ppt/slides/slide15.xml" Id="Rd0fbcce15dd14720" /><Relationship Type="http://schemas.openxmlformats.org/officeDocument/2006/relationships/slide" Target="/ppt/slides/slide16.xml" Id="R21729d03d6ff48b3" /><Relationship Type="http://schemas.openxmlformats.org/officeDocument/2006/relationships/slide" Target="/ppt/slides/slide17.xml" Id="R293fab8a80fe4087" /><Relationship Type="http://schemas.openxmlformats.org/officeDocument/2006/relationships/slide" Target="/ppt/slides/slide18.xml" Id="R88220b32fe4c486d" /><Relationship Type="http://schemas.openxmlformats.org/officeDocument/2006/relationships/slide" Target="/ppt/slides/slide19.xml" Id="R53d2ecbde3204702" /><Relationship Type="http://schemas.openxmlformats.org/officeDocument/2006/relationships/slide" Target="/ppt/slides/slide20.xml" Id="R2121110ab3aa448e" /><Relationship Type="http://schemas.openxmlformats.org/officeDocument/2006/relationships/slide" Target="/ppt/slides/slide21.xml" Id="R2afef60366964f0f" /><Relationship Type="http://schemas.openxmlformats.org/officeDocument/2006/relationships/slide" Target="/ppt/slides/slide22.xml" Id="R61cbca0f84bd46c6" /><Relationship Type="http://schemas.openxmlformats.org/officeDocument/2006/relationships/slide" Target="/ppt/slides/slide23.xml" Id="R3ace50fb3e524754" /><Relationship Type="http://schemas.openxmlformats.org/officeDocument/2006/relationships/slide" Target="/ppt/slides/slide24.xml" Id="R9af162bee18d497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6c0bd5fbe504a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0ccd9f40204a80" /><Relationship Type="http://schemas.openxmlformats.org/officeDocument/2006/relationships/notesMaster" Target="/ppt/notesMasters/notesMaster1.xml" Id="Rf0ca8b9bc2504f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503a9a7630064ab4" /><Relationship Type="http://schemas.openxmlformats.org/officeDocument/2006/relationships/notesMaster" Target="/ppt/notesMasters/notesMaster1.xml" Id="R5e10ab205959467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901307c2294be6" /><Relationship Type="http://schemas.openxmlformats.org/officeDocument/2006/relationships/notesMaster" Target="/ppt/notesMasters/notesMaster1.xml" Id="R85f752e2f5954ea7" /></Relationships>
</file>

<file path=ppt/notesSlides/_rels/notesSlide4.xml.rels>&#65279;<?xml version="1.0" encoding="utf-8"?><Relationships xmlns="http://schemas.openxmlformats.org/package/2006/relationships"><Relationship Type="http://schemas.openxmlformats.org/officeDocument/2006/relationships/slide" Target="/ppt/slides/slide4.xml" Id="Rd76f19f15643418a" /><Relationship Type="http://schemas.openxmlformats.org/officeDocument/2006/relationships/notesMaster" Target="/ppt/notesMasters/notesMaster1.xml" Id="R1c7fde884ecb471f" /></Relationships>
</file>

<file path=ppt/notesSlides/_rels/notesSlide5.xml.rels>&#65279;<?xml version="1.0" encoding="utf-8"?><Relationships xmlns="http://schemas.openxmlformats.org/package/2006/relationships"><Relationship Type="http://schemas.openxmlformats.org/officeDocument/2006/relationships/slide" Target="/ppt/slides/slide5.xml" Id="Rb534e070d25c4430" /><Relationship Type="http://schemas.openxmlformats.org/officeDocument/2006/relationships/notesMaster" Target="/ppt/notesMasters/notesMaster1.xml" Id="R4babfa3afeec4a2d"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302c12a1bc42d2" /><Relationship Type="http://schemas.openxmlformats.org/officeDocument/2006/relationships/notesMaster" Target="/ppt/notesMasters/notesMaster1.xml" Id="R8778ce17a44741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9b642b8870d8414f" /><Relationship Type="http://schemas.openxmlformats.org/officeDocument/2006/relationships/notesMaster" Target="/ppt/notesMasters/notesMaster1.xml" Id="R0e04cdee2c604eaa" /></Relationships>
</file>

<file path=ppt/notesSlides/_rels/notesSlide8.xml.rels>&#65279;<?xml version="1.0" encoding="utf-8"?><Relationships xmlns="http://schemas.openxmlformats.org/package/2006/relationships"><Relationship Type="http://schemas.openxmlformats.org/officeDocument/2006/relationships/slide" Target="/ppt/slides/slide8.xml" Id="Rd354c1e03aee4237" /><Relationship Type="http://schemas.openxmlformats.org/officeDocument/2006/relationships/notesMaster" Target="/ppt/notesMasters/notesMaster1.xml" Id="R5817f17c58bb4699" /></Relationships>
</file>

<file path=ppt/notesSlides/_rels/notesSlide9.xml.rels>&#65279;<?xml version="1.0" encoding="utf-8"?><Relationships xmlns="http://schemas.openxmlformats.org/package/2006/relationships"><Relationship Type="http://schemas.openxmlformats.org/officeDocument/2006/relationships/slide" Target="/ppt/slides/slide9.xml" Id="Rced0273a9bb44100" /><Relationship Type="http://schemas.openxmlformats.org/officeDocument/2006/relationships/notesMaster" Target="/ppt/notesMasters/notesMaster1.xml" Id="R4a68e2e735664af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036ce1e5b7346a4" /><Relationship Type="http://schemas.openxmlformats.org/officeDocument/2006/relationships/notesMaster" Target="/ppt/notesMasters/notesMaster1.xml" Id="R7f7ea3a9816a409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a8f315f6d604ade" /><Relationship Type="http://schemas.openxmlformats.org/officeDocument/2006/relationships/notesMaster" Target="/ppt/notesMasters/notesMaster1.xml" Id="R5b27c7d5415547d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1934ac8d2844acd" /><Relationship Type="http://schemas.openxmlformats.org/officeDocument/2006/relationships/notesMaster" Target="/ppt/notesMasters/notesMaster1.xml" Id="Rfc9a4053aa5c46d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20c4a8916ab487e" /><Relationship Type="http://schemas.openxmlformats.org/officeDocument/2006/relationships/notesMaster" Target="/ppt/notesMasters/notesMaster1.xml" Id="R13cace9290aa4f5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a331dd423ec46e6" /><Relationship Type="http://schemas.openxmlformats.org/officeDocument/2006/relationships/notesMaster" Target="/ppt/notesMasters/notesMaster1.xml" Id="Rf3a394bffac04a4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f3d70ed99d24927" /><Relationship Type="http://schemas.openxmlformats.org/officeDocument/2006/relationships/notesMaster" Target="/ppt/notesMasters/notesMaster1.xml" Id="R15619a6f35394c0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b1da58cf3e04de4" /><Relationship Type="http://schemas.openxmlformats.org/officeDocument/2006/relationships/notesMaster" Target="/ppt/notesMasters/notesMaster1.xml" Id="R6b7e6bb45cd5430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33f6a79668d46ca" /><Relationship Type="http://schemas.openxmlformats.org/officeDocument/2006/relationships/notesMaster" Target="/ppt/notesMasters/notesMaster1.xml" Id="Rf44f69152d3944b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1bc885acd444e11" /><Relationship Type="http://schemas.openxmlformats.org/officeDocument/2006/relationships/notesMaster" Target="/ppt/notesMasters/notesMaster1.xml" Id="R88685f9af44b437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8c446355bee4a40" /><Relationship Type="http://schemas.openxmlformats.org/officeDocument/2006/relationships/notesMaster" Target="/ppt/notesMasters/notesMaster1.xml" Id="R50ddf3e4c05943e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196ca7ce84d4629" /><Relationship Type="http://schemas.openxmlformats.org/officeDocument/2006/relationships/notesMaster" Target="/ppt/notesMasters/notesMaster1.xml" Id="Re5d58e85dc614e4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7a9a68c05ec4958" /><Relationship Type="http://schemas.openxmlformats.org/officeDocument/2006/relationships/notesMaster" Target="/ppt/notesMasters/notesMaster1.xml" Id="R8d11c7bdc02645c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133a893e1914f23" /><Relationship Type="http://schemas.openxmlformats.org/officeDocument/2006/relationships/notesMaster" Target="/ppt/notesMasters/notesMaster1.xml" Id="R78f0716fb30444c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26c51192080445a" /><Relationship Type="http://schemas.openxmlformats.org/officeDocument/2006/relationships/notesMaster" Target="/ppt/notesMasters/notesMaster1.xml" Id="Re176b433dbec445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7cca1d3db464f5f" /><Relationship Type="http://schemas.openxmlformats.org/officeDocument/2006/relationships/notesMaster" Target="/ppt/notesMasters/notesMaster1.xml" Id="Rb6a9a6f8130348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City series: KXHIGHLAX, KXHIGHNY, KXHIGHMIA, KXHIGHTPHX. Nine separate wallets are comparison accounts, not proof that all isolated fills can happen together.</a:t>
            </a:r>
          </a:p>
          <a:p xmlns:a="http://schemas.openxmlformats.org/drawingml/2006/main">
            <a:r>
              <a:t>Sources:</a:t>
            </a:r>
          </a:p>
          <a:p xmlns:a="http://schemas.openxmlformats.org/drawingml/2006/main">
            <a:r>
              <a:t>C:/Users/jarve/Documents/Codex/kalshi_weather_final_testing/final_testing/README.md</a:t>
            </a:r>
          </a:p>
          <a:p xmlns:a="http://schemas.openxmlformats.org/drawingml/2006/main">
            <a:r>
              <a:t>C:/Users/jarve/Documents/Codex/kalshi_weather_final_testing/final_testing/evidence/native-describe.json</a:t>
            </a:r>
          </a:p>
          <a:p xmlns:a="http://schemas.openxmlformats.org/drawingml/2006/main">
            <a:r>
              <a:t>Release: FOUR-CITY-PAPER-F1F-20261012. Manifest SHA256 2bce4471615758e8a2b26f79c31ef51ff333ea5ce14cb5d04f465368417e2bbc.</a:t>
            </a:r>
          </a:p>
          <a:p xmlns:a="http://schemas.openxmlformats.org/drawingml/2006/main">
            <a:r>
              <a:t>Offline release: FOUR-CITY-OFFLINE-H1B-20261012. Manifest SHA256 d47c3684706e0e5c47cd62a3edcccedd8eeb4a7cf46bd2138b69e8ac0655bdfb.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Quote source SHA256 6fc014420d37fd88a7cfa2208d325215edf0aca54b6206b9b213efeb330cd60b. Native array top NO bid at exact selected decision cutoffs. First19c,last29c. Both-side quantities and clocks remain in source evidence. Chart illustrates observed book prices only. It does not claim future liquidity, private bot receipt timing or actual order fills. Historical tests often depend on an explicit source-event availability assumption. Unknown opportunities remain unknown.</a:t>
            </a:r>
          </a:p>
          <a:p xmlns:a="http://schemas.openxmlformats.org/drawingml/2006/main">
            <a:r>
              <a:t>Sources:</a:t>
            </a:r>
          </a:p>
          <a:p xmlns:a="http://schemas.openxmlformats.org/drawingml/2006/main">
            <a:r>
              <a:t>C:\Users\jarve\Documents\Codex\Kalshi Temp Bot\Los Angeles\runs\la-three-bot-oct11-20261012\market\native-exact\la-oct11-000-030-exact-v2.json</a:t>
            </a:r>
          </a:p>
          <a:p xmlns:a="http://schemas.openxmlformats.org/drawingml/2006/main">
            <a:r>
              <a:t>C:/Users/jarve/Documents/Codex/Kalshi Temp Bot/Development/Phoenix/PHOENIX-REALITY-SIM-v1-20261012/README-v2.md</a:t>
            </a:r>
          </a:p>
          <a:p xmlns:a="http://schemas.openxmlformats.org/drawingml/2006/main">
            <a:r>
              <a:t>C:/Users/jarve/Documents/Codex/kalshi_weather_final_testing/final_testing/README.md</a:t>
            </a:r>
          </a:p>
          <a:p xmlns:a="http://schemas.openxmlformats.org/drawingml/2006/main">
            <a:r>
              <a:t>C:/Users/jarve/Documents/Codex/kalshi_weather_final_testing/final_testing/evidence/native-describe.json</a:t>
            </a:r>
          </a:p>
          <a:p xmlns:a="http://schemas.openxmlformats.org/drawingml/2006/main">
            <a:r>
              <a:t>Release: FOUR-CITY-PAPER-F1F-20261012. Manifest SHA256 2bce4471615758e8a2b26f79c31ef51ff333ea5ce14cb5d04f465368417e2bbc.</a:t>
            </a:r>
          </a:p>
          <a:p xmlns:a="http://schemas.openxmlformats.org/drawingml/2006/main">
            <a:r>
              <a:t>Offline release: FOUR-CITY-OFFLINE-H1B-20261012. Manifest SHA256 d47c3684706e0e5c47cd62a3edcccedd8eeb4a7cf46bd2138b69e8ac0655bdfb.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paired donor-block pilots preserve source-day gaps, official outcomes and original settlement delays. Three fixed seeded30daycash sequences use contiguous1,2,3dayblocks. These addzero independentobserved days. Avoid claiming artificially generated temperatures, prices or maker queues were validated. Capacity and outage recipes are explicit hypothetical execution stresses. They do not establish the real probability of a future month or all-season generalization.</a:t>
            </a:r>
          </a:p>
          <a:p xmlns:a="http://schemas.openxmlformats.org/drawingml/2006/main">
            <a:r>
              <a:t>Sources:</a:t>
            </a:r>
          </a:p>
          <a:p xmlns:a="http://schemas.openxmlformats.org/drawingml/2006/main">
            <a:r>
              <a:t>C:/Users/jarve/Documents/Codex/Kalshi Temp Bot/Development/Phoenix/PHOENIX-REALITY-SIM-v1-20261012/README-v2.md</a:t>
            </a:r>
          </a:p>
          <a:p xmlns:a="http://schemas.openxmlformats.org/drawingml/2006/main">
            <a:r>
              <a:t>C:\Users\jarve\Documents\Codex\Kalshi Temp Bot\Los Angeles\runs\la-september-robustness-20261012\paired-stress-results-v1.json</a:t>
            </a:r>
          </a:p>
          <a:p xmlns:a="http://schemas.openxmlformats.org/drawingml/2006/main">
            <a:r>
              <a:t>C:/Users/jarve/Documents/Codex/kalshi_weather_final_testing/final_testing/README.md</a:t>
            </a:r>
          </a:p>
          <a:p xmlns:a="http://schemas.openxmlformats.org/drawingml/2006/main">
            <a:r>
              <a:t>C:/Users/jarve/Documents/Codex/kalshi_weather_final_testing/final_testing/evidence/native-describe.json</a:t>
            </a:r>
          </a:p>
          <a:p xmlns:a="http://schemas.openxmlformats.org/drawingml/2006/main">
            <a:r>
              <a:t>Release: FOUR-CITY-PAPER-F1F-20261012. Manifest SHA256 2bce4471615758e8a2b26f79c31ef51ff333ea5ce14cb5d04f465368417e2bbc.</a:t>
            </a:r>
          </a:p>
          <a:p xmlns:a="http://schemas.openxmlformats.org/drawingml/2006/main">
            <a:r>
              <a:t>Offline release: FOUR-CITY-OFFLINE-H1B-20261012. Manifest SHA256 d47c3684706e0e5c47cd62a3edcccedd8eeb4a7cf46bd2138b69e8ac0655bdfb.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fixed seeded donor-block pilots: ensemble ending90.0054,116.4459,101.4032; V19 ending96.0598,108.6091,92.9898. Contiguous1-,2-,3-day blocks preserve weather/books/gaps/outcomes/cash delay. This is sensitivity evidence, not out-of-sample annual reliability. NYC contrasts baseline vs smaller staged safety; Miami contrasts calibrated vs raw; Phoenix contrasts ensemble vs protected range. Multiple independent wallets are not a coordinated fill simulation.</a:t>
            </a:r>
          </a:p>
          <a:p xmlns:a="http://schemas.openxmlformats.org/drawingml/2006/main">
            <a:r>
              <a:t>Sources:</a:t>
            </a:r>
          </a:p>
          <a:p xmlns:a="http://schemas.openxmlformats.org/drawingml/2006/main">
            <a:r>
              <a:t>C:/Users/jarve/Documents/Codex/Kalshi Temp Bot/Development/Phoenix/PHOENIX-REALITY-SIM-v1-20261012/README-v2.md</a:t>
            </a:r>
          </a:p>
          <a:p xmlns:a="http://schemas.openxmlformats.org/drawingml/2006/main">
            <a:r>
              <a:t>C:/Users/jarve/Documents/Codex/kalshi_weather_final_testing/final_testing/README.md</a:t>
            </a:r>
          </a:p>
          <a:p xmlns:a="http://schemas.openxmlformats.org/drawingml/2006/main">
            <a:r>
              <a:t>C:/Users/jarve/Documents/Codex/kalshi_weather_final_testing/final_testing/evidence/native-describe.json</a:t>
            </a:r>
          </a:p>
          <a:p xmlns:a="http://schemas.openxmlformats.org/drawingml/2006/main">
            <a:r>
              <a:t>Release: FOUR-CITY-PAPER-F1F-20261012. Manifest SHA256 2bce4471615758e8a2b26f79c31ef51ff333ea5ce14cb5d04f465368417e2bbc.</a:t>
            </a:r>
          </a:p>
          <a:p xmlns:a="http://schemas.openxmlformats.org/drawingml/2006/main">
            <a:r>
              <a:t>Offline release: FOUR-CITY-OFFLINE-H1B-20261012. Manifest SHA256 d47c3684706e0e5c47cd62a3edcccedd8eeb4a7cf46bd2138b69e8ac0655bdfb.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Paired source SHA256 123f673556c87b602e7f51dc4eae6c692f11493e2d24911fa066173e0aa4d563. Mean DEPTH_HALF ending cash changes: F3 -98.7421875, F6 -24.069375, V8D -31.237034375. These are paired sensitivity changes, not absolute profit. F6 has a smaller5% cap vs10% forF3/V8D. Therefore this chart is not a risk-adjusted model-quality ranking. Half-depth reduced simulated endingcash19/32F6,27/32F3,29/32V8D. Three saved strategies are not assurance of year-round net profit.</a:t>
            </a:r>
          </a:p>
          <a:p xmlns:a="http://schemas.openxmlformats.org/drawingml/2006/main">
            <a:r>
              <a:t>Sources:</a:t>
            </a:r>
          </a:p>
          <a:p xmlns:a="http://schemas.openxmlformats.org/drawingml/2006/main">
            <a:r>
              <a:t>C:\Users\jarve\Documents\Codex\Kalshi Temp Bot\Los Angeles\runs\la-september-robustness-20261012\paired-stress-results-v1.json</a:t>
            </a:r>
          </a:p>
          <a:p xmlns:a="http://schemas.openxmlformats.org/drawingml/2006/main">
            <a:r>
              <a:t>C:/Users/jarve/Documents/Codex/Kalshi Temp Bot/Los Angeles/runs/la-september-robustness-20261012/root-results-acceptance-v1.json</a:t>
            </a:r>
          </a:p>
          <a:p xmlns:a="http://schemas.openxmlformats.org/drawingml/2006/main">
            <a:r>
              <a:t>C:/Users/jarve/Documents/Codex/kalshi_weather_final_testing/final_testing/README.md</a:t>
            </a:r>
          </a:p>
          <a:p xmlns:a="http://schemas.openxmlformats.org/drawingml/2006/main">
            <a:r>
              <a:t>C:/Users/jarve/Documents/Codex/kalshi_weather_final_testing/final_testing/evidence/native-describe.json</a:t>
            </a:r>
          </a:p>
          <a:p xmlns:a="http://schemas.openxmlformats.org/drawingml/2006/main">
            <a:r>
              <a:t>Release: FOUR-CITY-PAPER-F1F-20261012. Manifest SHA256 2bce4471615758e8a2b26f79c31ef51ff333ea5ce14cb5d04f465368417e2bbc.</a:t>
            </a:r>
          </a:p>
          <a:p xmlns:a="http://schemas.openxmlformats.org/drawingml/2006/main">
            <a:r>
              <a:t>Offline release: FOUR-CITY-OFFLINE-H1B-20261012. Manifest SHA256 d47c3684706e0e5c47cd62a3edcccedd8eeb4a7cf46bd2138b69e8ac0655bdfb.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UTC clocks stay fixed. Pacific times shown apply during October daylight saving time. Forecast publications at 17 and 18 UTC; minute checks reuse that publication cache. UPDATED_PROBABILITY trigger: full executable net proceeds / quantity &gt; upper forecast probability. Buyer depth and a supported delayed arrival are necessary. A signal does not guarantee an actual sale. 60-second quote age, half displayed depth, 5-second arrival, RETAIL_CENT fees. No later stage.</a:t>
            </a:r>
          </a:p>
          <a:p xmlns:a="http://schemas.openxmlformats.org/drawingml/2006/main">
            <a:r>
              <a:t>Sources:</a:t>
            </a:r>
          </a:p>
          <a:p xmlns:a="http://schemas.openxmlformats.org/drawingml/2006/main">
            <a:r>
              <a:t>C:/Users/jarve/Documents/Codex/Kalshi Temp Bot/Los Angeles/experiments/LA-F4-COLONIES-20261010-2H/trading/fixed_kernel/engine.py</a:t>
            </a:r>
          </a:p>
          <a:p xmlns:a="http://schemas.openxmlformats.org/drawingml/2006/main">
            <a:r>
              <a:t>C:/Users/jarve/Documents/Codex/kalshi_weather_final_testing/final_testing/README.md</a:t>
            </a:r>
          </a:p>
          <a:p xmlns:a="http://schemas.openxmlformats.org/drawingml/2006/main">
            <a:r>
              <a:t>C:/Users/jarve/Documents/Codex/kalshi_weather_final_testing/final_testing/evidence/native-describe.json</a:t>
            </a:r>
          </a:p>
          <a:p xmlns:a="http://schemas.openxmlformats.org/drawingml/2006/main">
            <a:r>
              <a:t>Release: FOUR-CITY-PAPER-F1F-20261012. Manifest SHA256 2bce4471615758e8a2b26f79c31ef51ff333ea5ce14cb5d04f465368417e2bbc.</a:t>
            </a:r>
          </a:p>
          <a:p xmlns:a="http://schemas.openxmlformats.org/drawingml/2006/main">
            <a:r>
              <a:t>Offline release: FOUR-CITY-OFFLINE-H1B-20261012. Manifest SHA256 d47c3684706e0e5c47cd62a3edcccedd8eeb4a7cf46bd2138b69e8ac0655bdfb.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F6 saved hybrid model: F6-Daggett-Palmdale-2026-10. Fractional quarter-Kelly sizing can spend less than the caps. Lower forecast probability bound, protect modal/plausible NO brackets, 80% plausible mass. Confirmation requires advancing source timestamps at consecutive 60-second checks, bid &gt;= initial bid+0.01, first fill age &gt;=900 seconds. No automatic drawdown reset. Half displayed depth, 60-second quote age, retail-cent fees, 5-second arrival. Limits refer to opening available daily cash, not a new percentage at every check.</a:t>
            </a:r>
          </a:p>
          <a:p xmlns:a="http://schemas.openxmlformats.org/drawingml/2006/main">
            <a:r>
              <a:t>Sources:</a:t>
            </a:r>
          </a:p>
          <a:p xmlns:a="http://schemas.openxmlformats.org/drawingml/2006/main">
            <a:r>
              <a:t>C:/Users/jarve/Documents/Codex/Kalshi Temp Bot/Los Angeles/runs/la-three-bot-oct11-20261012/modern/F6_HYBRID_STAGED5.json</a:t>
            </a:r>
          </a:p>
          <a:p xmlns:a="http://schemas.openxmlformats.org/drawingml/2006/main">
            <a:r>
              <a:t>C:/Users/jarve/Documents/Codex/Kalshi Temp Bot/Los Angeles/experiments/LA-F4-COLONIES-20261010-2H/trading/fixed_kernel/engine.py</a:t>
            </a:r>
          </a:p>
          <a:p xmlns:a="http://schemas.openxmlformats.org/drawingml/2006/main">
            <a:r>
              <a:t>C:/Users/jarve/Documents/Codex/kalshi_weather_final_testing/final_testing/README.md</a:t>
            </a:r>
          </a:p>
          <a:p xmlns:a="http://schemas.openxmlformats.org/drawingml/2006/main">
            <a:r>
              <a:t>C:/Users/jarve/Documents/Codex/kalshi_weather_final_testing/final_testing/evidence/native-describe.json</a:t>
            </a:r>
          </a:p>
          <a:p xmlns:a="http://schemas.openxmlformats.org/drawingml/2006/main">
            <a:r>
              <a:t>Release: FOUR-CITY-PAPER-F1F-20261012. Manifest SHA256 2bce4471615758e8a2b26f79c31ef51ff333ea5ce14cb5d04f465368417e2bbc.</a:t>
            </a:r>
          </a:p>
          <a:p xmlns:a="http://schemas.openxmlformats.org/drawingml/2006/main">
            <a:r>
              <a:t>Offline release: FOUR-CITY-OFFLINE-H1B-20261012. Manifest SHA256 d47c3684706e0e5c47cd62a3edcccedd8eeb4a7cf46bd2138b69e8ac0655bdfb.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legacy native profile differs from F3/F6 execution assumptions: 30-minute historical quote-age allowance, full supported depth, LEGACY_RAW_4DP fees, five-second arrival. Preserve these distinctions when comparing results. No new calibration is fit by the packaged dashboard.</a:t>
            </a:r>
          </a:p>
          <a:p xmlns:a="http://schemas.openxmlformats.org/drawingml/2006/main">
            <a:r>
              <a:t>Sources:</a:t>
            </a:r>
          </a:p>
          <a:p xmlns:a="http://schemas.openxmlformats.org/drawingml/2006/main">
            <a:r>
              <a:t>C:/Users/jarve/Documents/Codex/kalshi_weather_final_testing/final_testing/README.md</a:t>
            </a:r>
          </a:p>
          <a:p xmlns:a="http://schemas.openxmlformats.org/drawingml/2006/main">
            <a:r>
              <a:t>C:/Users/jarve/Documents/Codex/kalshi_weather_final_testing/final_testing/evidence/native-describe.json</a:t>
            </a:r>
          </a:p>
          <a:p xmlns:a="http://schemas.openxmlformats.org/drawingml/2006/main">
            <a:r>
              <a:t>Release: FOUR-CITY-PAPER-F1F-20261012. Manifest SHA256 2bce4471615758e8a2b26f79c31ef51ff333ea5ce14cb5d04f465368417e2bbc.</a:t>
            </a:r>
          </a:p>
          <a:p xmlns:a="http://schemas.openxmlformats.org/drawingml/2006/main">
            <a:r>
              <a:t>Offline release: FOUR-CITY-OFFLINE-H1B-20261012. Manifest SHA256 d47c3684706e0e5c47cd62a3edcccedd8eeb4a7cf46bd2138b69e8ac0655bdfb.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City: Los Angeles. Period: September 1–30, 2026.</a:t>
            </a:r>
          </a:p>
          <a:p xmlns:a="http://schemas.openxmlformats.org/drawingml/2006/main">
            <a:r>
              <a:t>Separate $100 wallet for each strategy and period; no daily reset. Eventual recorded payout balances include fees.</a:t>
            </a:r>
          </a:p>
          <a:p xmlns:a="http://schemas.openxmlformats.org/drawingml/2006/main">
            <a:r>
              <a:t>Metric: Profitable/losing days among recorded resolved trade episodes. Missing opportunities do not count as no trade.</a:t>
            </a:r>
          </a:p>
          <a:p xmlns:a="http://schemas.openxmlformats.org/drawingml/2006/main">
            <a:r>
              <a:t>October1–11,2026 saved replay. No extrapolation to full month.</a:t>
            </a:r>
          </a:p>
          <a:p xmlns:a="http://schemas.openxmlformats.org/drawingml/2006/main">
            <a:r>
              <a:t>These are the three accepted native September wallets, not donor resamples. Pre-month weather states exclude September targets, but September policy research is exposed. F6 uses a5% daily cap; F3/V8D10%. F6 biggest day Sep15 +132.38; F3 Sep23 +137.03. Combined isolated eventual cash653.9399 is not demonstrated shared physical fills. Trade-day wins/losses refer to net fee-positive/negative day episodes, not the percentage of contracts settling correctly.</a:t>
            </a:r>
          </a:p>
          <a:p xmlns:a="http://schemas.openxmlformats.org/drawingml/2006/main">
            <a:r>
              <a:t>Exact chart and metric rows:</a:t>
            </a:r>
          </a:p>
          <a:p xmlns:a="http://schemas.openxmlformats.org/drawingml/2006/main">
            <a:r>
              <a:t>[</a:t>
            </a:r>
          </a:p>
          <a:p xmlns:a="http://schemas.openxmlformats.org/drawingml/2006/main">
            <a:r>
              <a:t>  {</a:t>
            </a:r>
          </a:p>
          <a:p xmlns:a="http://schemas.openxmlformats.org/drawingml/2006/main">
            <a:r>
              <a:t>    "label": "V10 forecast exit",</a:t>
            </a:r>
          </a:p>
          <a:p xmlns:a="http://schemas.openxmlformats.org/drawingml/2006/main">
            <a:r>
              <a:t>    "cash": "291.34",</a:t>
            </a:r>
          </a:p>
          <a:p xmlns:a="http://schemas.openxmlformats.org/drawingml/2006/main">
            <a:r>
              <a:t>    "net": "191.34",</a:t>
            </a:r>
          </a:p>
          <a:p xmlns:a="http://schemas.openxmlformats.org/drawingml/2006/main">
            <a:r>
              <a:t>    "wins": 10,</a:t>
            </a:r>
          </a:p>
          <a:p xmlns:a="http://schemas.openxmlformats.org/drawingml/2006/main">
            <a:r>
              <a:t>    "losses": 17,</a:t>
            </a:r>
          </a:p>
          <a:p xmlns:a="http://schemas.openxmlformats.org/drawingml/2006/main">
            <a:r>
              <a:t>    "contracts": 2569,</a:t>
            </a:r>
          </a:p>
          <a:p xmlns:a="http://schemas.openxmlformats.org/drawingml/2006/main">
            <a:r>
              <a:t>    "fees": "23.200000",</a:t>
            </a:r>
          </a:p>
          <a:p xmlns:a="http://schemas.openxmlformats.org/drawingml/2006/main">
            <a:r>
              <a:t>    "partial": false</a:t>
            </a:r>
          </a:p>
          <a:p xmlns:a="http://schemas.openxmlformats.org/drawingml/2006/main">
            <a:r>
              <a:t>  },</a:t>
            </a:r>
          </a:p>
          <a:p xmlns:a="http://schemas.openxmlformats.org/drawingml/2006/main">
            <a:r>
              <a:t>  {</a:t>
            </a:r>
          </a:p>
          <a:p xmlns:a="http://schemas.openxmlformats.org/drawingml/2006/main">
            <a:r>
              <a:t>    "label": "Hybrid staged safety",</a:t>
            </a:r>
          </a:p>
          <a:p xmlns:a="http://schemas.openxmlformats.org/drawingml/2006/main">
            <a:r>
              <a:t>    "cash": "235.79",</a:t>
            </a:r>
          </a:p>
          <a:p xmlns:a="http://schemas.openxmlformats.org/drawingml/2006/main">
            <a:r>
              <a:t>    "net": "135.79",</a:t>
            </a:r>
          </a:p>
          <a:p xmlns:a="http://schemas.openxmlformats.org/drawingml/2006/main">
            <a:r>
              <a:t>    "wins": 6,</a:t>
            </a:r>
          </a:p>
          <a:p xmlns:a="http://schemas.openxmlformats.org/drawingml/2006/main">
            <a:r>
              <a:t>    "losses": 15,</a:t>
            </a:r>
          </a:p>
          <a:p xmlns:a="http://schemas.openxmlformats.org/drawingml/2006/main">
            <a:r>
              <a:t>    "contracts": 931,</a:t>
            </a:r>
          </a:p>
          <a:p xmlns:a="http://schemas.openxmlformats.org/drawingml/2006/main">
            <a:r>
              <a:t>    "fees": "4.320000",</a:t>
            </a:r>
          </a:p>
          <a:p xmlns:a="http://schemas.openxmlformats.org/drawingml/2006/main">
            <a:r>
              <a:t>    "partial": false</a:t>
            </a:r>
          </a:p>
          <a:p xmlns:a="http://schemas.openxmlformats.org/drawingml/2006/main">
            <a:r>
              <a:t>  },</a:t>
            </a:r>
          </a:p>
          <a:p xmlns:a="http://schemas.openxmlformats.org/drawingml/2006/main">
            <a:r>
              <a:t>  {</a:t>
            </a:r>
          </a:p>
          <a:p xmlns:a="http://schemas.openxmlformats.org/drawingml/2006/main">
            <a:r>
              <a:t>    "label": "V8D hold",</a:t>
            </a:r>
          </a:p>
          <a:p xmlns:a="http://schemas.openxmlformats.org/drawingml/2006/main">
            <a:r>
              <a:t>    "cash": "126.8099",</a:t>
            </a:r>
          </a:p>
          <a:p xmlns:a="http://schemas.openxmlformats.org/drawingml/2006/main">
            <a:r>
              <a:t>    "net": "26.8099",</a:t>
            </a:r>
          </a:p>
          <a:p xmlns:a="http://schemas.openxmlformats.org/drawingml/2006/main">
            <a:r>
              <a:t>    "wins": 10,</a:t>
            </a:r>
          </a:p>
          <a:p xmlns:a="http://schemas.openxmlformats.org/drawingml/2006/main">
            <a:r>
              <a:t>    "losses": 7,</a:t>
            </a:r>
          </a:p>
          <a:p xmlns:a="http://schemas.openxmlformats.org/drawingml/2006/main">
            <a:r>
              <a:t>    "contracts": 359,</a:t>
            </a:r>
          </a:p>
          <a:p xmlns:a="http://schemas.openxmlformats.org/drawingml/2006/main">
            <a:r>
              <a:t>    "fees": "5.630100",</a:t>
            </a:r>
          </a:p>
          <a:p xmlns:a="http://schemas.openxmlformats.org/drawingml/2006/main">
            <a:r>
              <a:t>    "partial": false</a:t>
            </a:r>
          </a:p>
          <a:p xmlns:a="http://schemas.openxmlformats.org/drawingml/2006/main">
            <a:r>
              <a:t>  }</a:t>
            </a:r>
          </a:p>
          <a:p xmlns:a="http://schemas.openxmlformats.org/drawingml/2006/main">
            <a:r>
              <a:t>]</a:t>
            </a:r>
          </a:p>
          <a:p xmlns:a="http://schemas.openxmlformats.org/drawingml/2006/main">
            <a:r>
              <a:t>Sources:</a:t>
            </a:r>
          </a:p>
          <a:p xmlns:a="http://schemas.openxmlformats.org/drawingml/2006/main">
            <a:r>
              <a:t>C:\Users\jarve\Documents\Codex\Kalshi Temp Bot\Los Angeles\runs\la-three-bot-september-20261012\results\compiled-results-v1.json</a:t>
            </a:r>
          </a:p>
          <a:p xmlns:a="http://schemas.openxmlformats.org/drawingml/2006/main">
            <a:r>
              <a:t>SHA256 88c65ca76810d0ce3a81619753a9fd1f45d088d787ae5bacede7cb252951594d</a:t>
            </a:r>
          </a:p>
          <a:p xmlns:a="http://schemas.openxmlformats.org/drawingml/2006/main">
            <a:r>
              <a:t>C:\Users\jarve\Documents\Codex\Kalshi Temp Bot\Los Angeles\runs\la-three-bot-september-20261012\results\final-acceptance-v1.json</a:t>
            </a:r>
          </a:p>
          <a:p xmlns:a="http://schemas.openxmlformats.org/drawingml/2006/main">
            <a:r>
              <a:t>SHA256 e30fd980a76a542b29f5faba221d5479ea2897eab8e5270a5ce61b284bf05847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City: Los Angeles. Period: October 1–11, 2026.</a:t>
            </a:r>
          </a:p>
          <a:p xmlns:a="http://schemas.openxmlformats.org/drawingml/2006/main">
            <a:r>
              <a:t>Separate $100 wallet for each strategy and period; no daily reset. Eventual recorded payout balances include fees.</a:t>
            </a:r>
          </a:p>
          <a:p xmlns:a="http://schemas.openxmlformats.org/drawingml/2006/main">
            <a:r>
              <a:t>Metric: Profitable/losing days among recorded resolved trade episodes. Missing opportunities do not count as no trade.</a:t>
            </a:r>
          </a:p>
          <a:p xmlns:a="http://schemas.openxmlformats.org/drawingml/2006/main">
            <a:r>
              <a:t>October1–11,2026 saved replay. No extrapolation to full month.</a:t>
            </a:r>
          </a:p>
          <a:p xmlns:a="http://schemas.openxmlformats.org/drawingml/2006/main">
            <a:r>
              <a:t>Use the pinned native history, restricted through Oct11 inclusive. This is a retrospective fixed-state counterfactual. F3 is tainted by a missing economic day beginning Oct4 and shows only a known prefix; full ending cash and complete return are unknown. F6 and V8D have identified native cash through Oct11. Per-date known resolved episode signs define profitable/losing days. Official dated payout timing and the saved native fees/caps remain unchanged.</a:t>
            </a:r>
          </a:p>
          <a:p xmlns:a="http://schemas.openxmlformats.org/drawingml/2006/main">
            <a:r>
              <a:t>Exact chart and metric rows:</a:t>
            </a:r>
          </a:p>
          <a:p xmlns:a="http://schemas.openxmlformats.org/drawingml/2006/main">
            <a:r>
              <a:t>[</a:t>
            </a:r>
          </a:p>
          <a:p xmlns:a="http://schemas.openxmlformats.org/drawingml/2006/main">
            <a:r>
              <a:t>  {</a:t>
            </a:r>
          </a:p>
          <a:p xmlns:a="http://schemas.openxmlformats.org/drawingml/2006/main">
            <a:r>
              <a:t>    "label": "V10 forecast exit*",</a:t>
            </a:r>
          </a:p>
          <a:p xmlns:a="http://schemas.openxmlformats.org/drawingml/2006/main">
            <a:r>
              <a:t>    "cash": "94.61",</a:t>
            </a:r>
          </a:p>
          <a:p xmlns:a="http://schemas.openxmlformats.org/drawingml/2006/main">
            <a:r>
              <a:t>    "net": null,</a:t>
            </a:r>
          </a:p>
          <a:p xmlns:a="http://schemas.openxmlformats.org/drawingml/2006/main">
            <a:r>
              <a:t>    "wins": 1,</a:t>
            </a:r>
          </a:p>
          <a:p xmlns:a="http://schemas.openxmlformats.org/drawingml/2006/main">
            <a:r>
              <a:t>    "losses": 2,</a:t>
            </a:r>
          </a:p>
          <a:p xmlns:a="http://schemas.openxmlformats.org/drawingml/2006/main">
            <a:r>
              <a:t>    "contracts": 208,</a:t>
            </a:r>
          </a:p>
          <a:p xmlns:a="http://schemas.openxmlformats.org/drawingml/2006/main">
            <a:r>
              <a:t>    "fees": "0.57",</a:t>
            </a:r>
          </a:p>
          <a:p xmlns:a="http://schemas.openxmlformats.org/drawingml/2006/main">
            <a:r>
              <a:t>    "partial": true</a:t>
            </a:r>
          </a:p>
          <a:p xmlns:a="http://schemas.openxmlformats.org/drawingml/2006/main">
            <a:r>
              <a:t>  },</a:t>
            </a:r>
          </a:p>
          <a:p xmlns:a="http://schemas.openxmlformats.org/drawingml/2006/main">
            <a:r>
              <a:t>  {</a:t>
            </a:r>
          </a:p>
          <a:p xmlns:a="http://schemas.openxmlformats.org/drawingml/2006/main">
            <a:r>
              <a:t>    "label": "Hybrid staged safety",</a:t>
            </a:r>
          </a:p>
          <a:p xmlns:a="http://schemas.openxmlformats.org/drawingml/2006/main">
            <a:r>
              <a:t>    "cash": "104.52",</a:t>
            </a:r>
          </a:p>
          <a:p xmlns:a="http://schemas.openxmlformats.org/drawingml/2006/main">
            <a:r>
              <a:t>    "net": "4.52",</a:t>
            </a:r>
          </a:p>
          <a:p xmlns:a="http://schemas.openxmlformats.org/drawingml/2006/main">
            <a:r>
              <a:t>    "wins": 2,</a:t>
            </a:r>
          </a:p>
          <a:p xmlns:a="http://schemas.openxmlformats.org/drawingml/2006/main">
            <a:r>
              <a:t>    "losses": 5,</a:t>
            </a:r>
          </a:p>
          <a:p xmlns:a="http://schemas.openxmlformats.org/drawingml/2006/main">
            <a:r>
              <a:t>    "contracts": 157,</a:t>
            </a:r>
          </a:p>
          <a:p xmlns:a="http://schemas.openxmlformats.org/drawingml/2006/main">
            <a:r>
              <a:t>    "fees": "1.130000",</a:t>
            </a:r>
          </a:p>
          <a:p xmlns:a="http://schemas.openxmlformats.org/drawingml/2006/main">
            <a:r>
              <a:t>    "partial": false</a:t>
            </a:r>
          </a:p>
          <a:p xmlns:a="http://schemas.openxmlformats.org/drawingml/2006/main">
            <a:r>
              <a:t>  },</a:t>
            </a:r>
          </a:p>
          <a:p xmlns:a="http://schemas.openxmlformats.org/drawingml/2006/main">
            <a:r>
              <a:t>  {</a:t>
            </a:r>
          </a:p>
          <a:p xmlns:a="http://schemas.openxmlformats.org/drawingml/2006/main">
            <a:r>
              <a:t>    "label": "V8D hold",</a:t>
            </a:r>
          </a:p>
          <a:p xmlns:a="http://schemas.openxmlformats.org/drawingml/2006/main">
            <a:r>
              <a:t>    "cash": "150.1253",</a:t>
            </a:r>
          </a:p>
          <a:p xmlns:a="http://schemas.openxmlformats.org/drawingml/2006/main">
            <a:r>
              <a:t>    "net": "50.1253",</a:t>
            </a:r>
          </a:p>
          <a:p xmlns:a="http://schemas.openxmlformats.org/drawingml/2006/main">
            <a:r>
              <a:t>    "wins": 3,</a:t>
            </a:r>
          </a:p>
          <a:p xmlns:a="http://schemas.openxmlformats.org/drawingml/2006/main">
            <a:r>
              <a:t>    "losses": 2,</a:t>
            </a:r>
          </a:p>
          <a:p xmlns:a="http://schemas.openxmlformats.org/drawingml/2006/main">
            <a:r>
              <a:t>    "contracts": 262,</a:t>
            </a:r>
          </a:p>
          <a:p xmlns:a="http://schemas.openxmlformats.org/drawingml/2006/main">
            <a:r>
              <a:t>    "fees": "2.664700",</a:t>
            </a:r>
          </a:p>
          <a:p xmlns:a="http://schemas.openxmlformats.org/drawingml/2006/main">
            <a:r>
              <a:t>    "partial": false</a:t>
            </a:r>
          </a:p>
          <a:p xmlns:a="http://schemas.openxmlformats.org/drawingml/2006/main">
            <a:r>
              <a:t>  }</a:t>
            </a:r>
          </a:p>
          <a:p xmlns:a="http://schemas.openxmlformats.org/drawingml/2006/main">
            <a:r>
              <a:t>]</a:t>
            </a:r>
          </a:p>
          <a:p xmlns:a="http://schemas.openxmlformats.org/drawingml/2006/main">
            <a:r>
              <a:t>Sources:</a:t>
            </a:r>
          </a:p>
          <a:p xmlns:a="http://schemas.openxmlformats.org/drawingml/2006/main">
            <a:r>
              <a:t>C:\Users\jarve\Documents\Codex\kalshi_weather_final_testing\final_testing\evidence\native-history.json</a:t>
            </a:r>
          </a:p>
          <a:p xmlns:a="http://schemas.openxmlformats.org/drawingml/2006/main">
            <a:r>
              <a:t>SHA256 98ee44d825858659f82cc973116c33b2a1e31a6b40de3b5461ed7922ec9c6e51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NY forecast snapshot is fixed at 10:00 America/New_York. In October daylight saving time this is 14 UTC. Use matching frozen NY checkpoints only, no automatic November fallback. Full displayed depth. Probabilities describe a saved physical whole-degree target hypothesis, not a proven equivalence to TWC settlement.</a:t>
            </a:r>
          </a:p>
          <a:p xmlns:a="http://schemas.openxmlformats.org/drawingml/2006/main">
            <a:r>
              <a:t>Sources:</a:t>
            </a:r>
          </a:p>
          <a:p xmlns:a="http://schemas.openxmlformats.org/drawingml/2006/main">
            <a:r>
              <a:t>C:/Users/jarve/Documents/Codex/kalshi_weather_final_testing/final_testing/README.md</a:t>
            </a:r>
          </a:p>
          <a:p xmlns:a="http://schemas.openxmlformats.org/drawingml/2006/main">
            <a:r>
              <a:t>C:/Users/jarve/Documents/Codex/kalshi_weather_final_testing/final_testing/evidence/native-describe.json</a:t>
            </a:r>
          </a:p>
          <a:p xmlns:a="http://schemas.openxmlformats.org/drawingml/2006/main">
            <a:r>
              <a:t>Release: FOUR-CITY-PAPER-F1F-20261012. Manifest SHA256 2bce4471615758e8a2b26f79c31ef51ff333ea5ce14cb5d04f465368417e2bbc.</a:t>
            </a:r>
          </a:p>
          <a:p xmlns:a="http://schemas.openxmlformats.org/drawingml/2006/main">
            <a:r>
              <a:t>Offline release: FOUR-CITY-OFFLINE-H1B-20261012. Manifest SHA256 d47c3684706e0e5c47cd62a3edcccedd8eeb4a7cf46bd2138b69e8ac0655bdfb.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Same-contract stage 2 with changed-source minute confirmation. Five-second quote-age limit, complete six-contract book evidence, quarter-Kelly exact sizing, lower/conservative probability treatment, target binding. Strict prospective admission rejects reconstructed issuance receipts. Chart shows maxima, not guaranteed expenditure. The common offline ledger runs chronological independent $100 wallets with no reset; the original experiment description used separate monthly wallets.</a:t>
            </a:r>
          </a:p>
          <a:p xmlns:a="http://schemas.openxmlformats.org/drawingml/2006/main">
            <a:r>
              <a:t>Sources:</a:t>
            </a:r>
          </a:p>
          <a:p xmlns:a="http://schemas.openxmlformats.org/drawingml/2006/main">
            <a:r>
              <a:t>C:/Users/jarve/Documents/Codex/Kalshi Temp Bot/Development/New York/NY-V10-SAFE-v1-20261011/policy-frozen-v1.json</a:t>
            </a:r>
          </a:p>
          <a:p xmlns:a="http://schemas.openxmlformats.org/drawingml/2006/main">
            <a:r>
              <a:t>C:/Users/jarve/Documents/Codex/Kalshi Temp Bot/Development/New York/NY-V10-SAFE-v1-20261011/ny_safe.py</a:t>
            </a:r>
          </a:p>
          <a:p xmlns:a="http://schemas.openxmlformats.org/drawingml/2006/main">
            <a:r>
              <a:t>C:/Users/jarve/Documents/Codex/kalshi_weather_final_testing/final_testing/README.md</a:t>
            </a:r>
          </a:p>
          <a:p xmlns:a="http://schemas.openxmlformats.org/drawingml/2006/main">
            <a:r>
              <a:t>C:/Users/jarve/Documents/Codex/kalshi_weather_final_testing/final_testing/evidence/native-describe.json</a:t>
            </a:r>
          </a:p>
          <a:p xmlns:a="http://schemas.openxmlformats.org/drawingml/2006/main">
            <a:r>
              <a:t>Release: FOUR-CITY-PAPER-F1F-20261012. Manifest SHA256 2bce4471615758e8a2b26f79c31ef51ff333ea5ce14cb5d04f465368417e2bbc.</a:t>
            </a:r>
          </a:p>
          <a:p xmlns:a="http://schemas.openxmlformats.org/drawingml/2006/main">
            <a:r>
              <a:t>Offline release: FOUR-CITY-OFFLINE-H1B-20261012. Manifest SHA256 d47c3684706e0e5c47cd62a3edcccedd8eeb4a7cf46bd2138b69e8ac0655bdfb.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City: New York. Period: September 1–30, 2026.</a:t>
            </a:r>
          </a:p>
          <a:p xmlns:a="http://schemas.openxmlformats.org/drawingml/2006/main">
            <a:r>
              <a:t>Separate $100 wallet for each strategy and period; no daily reset. Eventual recorded payout balances include fees.</a:t>
            </a:r>
          </a:p>
          <a:p xmlns:a="http://schemas.openxmlformats.org/drawingml/2006/main">
            <a:r>
              <a:t>Metric: Profitable/losing days among recorded resolved trade episodes. Missing opportunities do not count as no trade.</a:t>
            </a:r>
          </a:p>
          <a:p xmlns:a="http://schemas.openxmlformats.org/drawingml/2006/main">
            <a:r>
              <a:t>October1–11,2026 saved replay. No extrapolation to full month.</a:t>
            </a:r>
          </a:p>
          <a:p xmlns:a="http://schemas.openxmlformats.org/drawingml/2006/main">
            <a:r>
              <a:t>Native full displayed depth Conservative P09 uses its deployed full-depth assumption; targeted safety retains its profile half-capacity sizing. September19 arrival is missing at the fixed five-second arrival clock, with8.8792 gross reservation retained. Known91.7455 cash is neither a cancelled-order assumption nor a full-month ending balance. Targeted safety101.85,6contracts,.10fees came from the one September11 donor day. Expanded624path evidence reproduces these baselines and adds no independent observed days.</a:t>
            </a:r>
          </a:p>
          <a:p xmlns:a="http://schemas.openxmlformats.org/drawingml/2006/main">
            <a:r>
              <a:t>Exact chart and metric rows:</a:t>
            </a:r>
          </a:p>
          <a:p xmlns:a="http://schemas.openxmlformats.org/drawingml/2006/main">
            <a:r>
              <a:t>[</a:t>
            </a:r>
          </a:p>
          <a:p xmlns:a="http://schemas.openxmlformats.org/drawingml/2006/main">
            <a:r>
              <a:t>  {</a:t>
            </a:r>
          </a:p>
          <a:p xmlns:a="http://schemas.openxmlformats.org/drawingml/2006/main">
            <a:r>
              <a:t>    "label": "Conservative P09*",</a:t>
            </a:r>
          </a:p>
          <a:p xmlns:a="http://schemas.openxmlformats.org/drawingml/2006/main">
            <a:r>
              <a:t>    "cash": "91.745500",</a:t>
            </a:r>
          </a:p>
          <a:p xmlns:a="http://schemas.openxmlformats.org/drawingml/2006/main">
            <a:r>
              <a:t>    "net": null,</a:t>
            </a:r>
          </a:p>
          <a:p xmlns:a="http://schemas.openxmlformats.org/drawingml/2006/main">
            <a:r>
              <a:t>    "wins": 2,</a:t>
            </a:r>
          </a:p>
          <a:p xmlns:a="http://schemas.openxmlformats.org/drawingml/2006/main">
            <a:r>
              <a:t>    "losses": 4,</a:t>
            </a:r>
          </a:p>
          <a:p xmlns:a="http://schemas.openxmlformats.org/drawingml/2006/main">
            <a:r>
              <a:t>    "contracts": 97,</a:t>
            </a:r>
          </a:p>
          <a:p xmlns:a="http://schemas.openxmlformats.org/drawingml/2006/main">
            <a:r>
              <a:t>    "fees": "1.494500",</a:t>
            </a:r>
          </a:p>
          <a:p xmlns:a="http://schemas.openxmlformats.org/drawingml/2006/main">
            <a:r>
              <a:t>    "partial": true</a:t>
            </a:r>
          </a:p>
          <a:p xmlns:a="http://schemas.openxmlformats.org/drawingml/2006/main">
            <a:r>
              <a:t>  },</a:t>
            </a:r>
          </a:p>
          <a:p xmlns:a="http://schemas.openxmlformats.org/drawingml/2006/main">
            <a:r>
              <a:t>  {</a:t>
            </a:r>
          </a:p>
          <a:p xmlns:a="http://schemas.openxmlformats.org/drawingml/2006/main">
            <a:r>
              <a:t>    "label": "Targeted safety",</a:t>
            </a:r>
          </a:p>
          <a:p xmlns:a="http://schemas.openxmlformats.org/drawingml/2006/main">
            <a:r>
              <a:t>    "cash": "101.850000",</a:t>
            </a:r>
          </a:p>
          <a:p xmlns:a="http://schemas.openxmlformats.org/drawingml/2006/main">
            <a:r>
              <a:t>    "net": "1.850000",</a:t>
            </a:r>
          </a:p>
          <a:p xmlns:a="http://schemas.openxmlformats.org/drawingml/2006/main">
            <a:r>
              <a:t>    "wins": 1,</a:t>
            </a:r>
          </a:p>
          <a:p xmlns:a="http://schemas.openxmlformats.org/drawingml/2006/main">
            <a:r>
              <a:t>    "losses": 0,</a:t>
            </a:r>
          </a:p>
          <a:p xmlns:a="http://schemas.openxmlformats.org/drawingml/2006/main">
            <a:r>
              <a:t>    "contracts": 6,</a:t>
            </a:r>
          </a:p>
          <a:p xmlns:a="http://schemas.openxmlformats.org/drawingml/2006/main">
            <a:r>
              <a:t>    "fees": "0.100000",</a:t>
            </a:r>
          </a:p>
          <a:p xmlns:a="http://schemas.openxmlformats.org/drawingml/2006/main">
            <a:r>
              <a:t>    "partial": false</a:t>
            </a:r>
          </a:p>
          <a:p xmlns:a="http://schemas.openxmlformats.org/drawingml/2006/main">
            <a:r>
              <a:t>  }</a:t>
            </a:r>
          </a:p>
          <a:p xmlns:a="http://schemas.openxmlformats.org/drawingml/2006/main">
            <a:r>
              <a:t>]</a:t>
            </a:r>
          </a:p>
          <a:p xmlns:a="http://schemas.openxmlformats.org/drawingml/2006/main">
            <a:r>
              <a:t>Sources:</a:t>
            </a:r>
          </a:p>
          <a:p xmlns:a="http://schemas.openxmlformats.org/drawingml/2006/main">
            <a:r>
              <a:t>C:\Users\jarve\Documents\Codex\Kalshi Temp Bot\Development\New York\NY-REALITY-SIM-v1-20261012\results\2026-09\summary.json</a:t>
            </a:r>
          </a:p>
          <a:p xmlns:a="http://schemas.openxmlformats.org/drawingml/2006/main">
            <a:r>
              <a:t>SHA256 726b48697a606f7692e1dad4c4db169331fb71116a19383c11942a2b344cda6d</a:t>
            </a:r>
          </a:p>
          <a:p xmlns:a="http://schemas.openxmlformats.org/drawingml/2006/main">
            <a:r>
              <a:t>C:\Users\jarve\Documents\Codex\Kalshi Temp Bot\Development\New York\NY-SEPTEMBER-EXPANDED-v1-20261012\city-data-delivery-v1.json</a:t>
            </a:r>
          </a:p>
          <a:p xmlns:a="http://schemas.openxmlformats.org/drawingml/2006/main">
            <a:r>
              <a:t>SHA256 2b7ba007c81a3765b8928716717e6f95e7c647218b4db6055db194ec1c36050c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City: New York. Period: October 1–11, 2026.</a:t>
            </a:r>
          </a:p>
          <a:p xmlns:a="http://schemas.openxmlformats.org/drawingml/2006/main">
            <a:r>
              <a:t>Separate $100 wallet for each strategy and period; no daily reset. Eventual recorded payout balances include fees.</a:t>
            </a:r>
          </a:p>
          <a:p xmlns:a="http://schemas.openxmlformats.org/drawingml/2006/main">
            <a:r>
              <a:t>Metric: Profitable/losing days among recorded resolved trade episodes. Missing opportunities do not count as no trade.</a:t>
            </a:r>
          </a:p>
          <a:p xmlns:a="http://schemas.openxmlformats.org/drawingml/2006/main">
            <a:r>
              <a:t>October1–11,2026 saved replay. No extrapolation to full month.</a:t>
            </a:r>
          </a:p>
          <a:p xmlns:a="http://schemas.openxmlformats.org/drawingml/2006/main">
            <a:r>
              <a:t>Conservative native full-depth117.4945 matches the October bundle. Day-based net outcome is2profitable/1losingday; the UI also counts3winning/1losingfilledorder episodes. Both definitions are valid but not interchangeable. This slide consistently uses days across all cities.45contracts,.7555fees. Targeted safety made no trades. Archived opportunity gaps, private first delivery and actual fills remain unproved.</a:t>
            </a:r>
          </a:p>
          <a:p xmlns:a="http://schemas.openxmlformats.org/drawingml/2006/main">
            <a:r>
              <a:t>Exact chart and metric rows:</a:t>
            </a:r>
          </a:p>
          <a:p xmlns:a="http://schemas.openxmlformats.org/drawingml/2006/main">
            <a:r>
              <a:t>[</a:t>
            </a:r>
          </a:p>
          <a:p xmlns:a="http://schemas.openxmlformats.org/drawingml/2006/main">
            <a:r>
              <a:t>  {</a:t>
            </a:r>
          </a:p>
          <a:p xmlns:a="http://schemas.openxmlformats.org/drawingml/2006/main">
            <a:r>
              <a:t>    "label": "Conservative P09",</a:t>
            </a:r>
          </a:p>
          <a:p xmlns:a="http://schemas.openxmlformats.org/drawingml/2006/main">
            <a:r>
              <a:t>    "cash": "117.494500",</a:t>
            </a:r>
          </a:p>
          <a:p xmlns:a="http://schemas.openxmlformats.org/drawingml/2006/main">
            <a:r>
              <a:t>    "net": "17.494500",</a:t>
            </a:r>
          </a:p>
          <a:p xmlns:a="http://schemas.openxmlformats.org/drawingml/2006/main">
            <a:r>
              <a:t>    "wins": 2,</a:t>
            </a:r>
          </a:p>
          <a:p xmlns:a="http://schemas.openxmlformats.org/drawingml/2006/main">
            <a:r>
              <a:t>    "losses": 1,</a:t>
            </a:r>
          </a:p>
          <a:p xmlns:a="http://schemas.openxmlformats.org/drawingml/2006/main">
            <a:r>
              <a:t>    "contracts": 45,</a:t>
            </a:r>
          </a:p>
          <a:p xmlns:a="http://schemas.openxmlformats.org/drawingml/2006/main">
            <a:r>
              <a:t>    "fees": "0.755500",</a:t>
            </a:r>
          </a:p>
          <a:p xmlns:a="http://schemas.openxmlformats.org/drawingml/2006/main">
            <a:r>
              <a:t>    "partial": false</a:t>
            </a:r>
          </a:p>
          <a:p xmlns:a="http://schemas.openxmlformats.org/drawingml/2006/main">
            <a:r>
              <a:t>  },</a:t>
            </a:r>
          </a:p>
          <a:p xmlns:a="http://schemas.openxmlformats.org/drawingml/2006/main">
            <a:r>
              <a:t>  {</a:t>
            </a:r>
          </a:p>
          <a:p xmlns:a="http://schemas.openxmlformats.org/drawingml/2006/main">
            <a:r>
              <a:t>    "label": "Targeted safety",</a:t>
            </a:r>
          </a:p>
          <a:p xmlns:a="http://schemas.openxmlformats.org/drawingml/2006/main">
            <a:r>
              <a:t>    "cash": "100.00",</a:t>
            </a:r>
          </a:p>
          <a:p xmlns:a="http://schemas.openxmlformats.org/drawingml/2006/main">
            <a:r>
              <a:t>    "net": "0.00",</a:t>
            </a:r>
          </a:p>
          <a:p xmlns:a="http://schemas.openxmlformats.org/drawingml/2006/main">
            <a:r>
              <a:t>    "wins": 0,</a:t>
            </a:r>
          </a:p>
          <a:p xmlns:a="http://schemas.openxmlformats.org/drawingml/2006/main">
            <a:r>
              <a:t>    "losses": 0,</a:t>
            </a:r>
          </a:p>
          <a:p xmlns:a="http://schemas.openxmlformats.org/drawingml/2006/main">
            <a:r>
              <a:t>    "contracts": 0,</a:t>
            </a:r>
          </a:p>
          <a:p xmlns:a="http://schemas.openxmlformats.org/drawingml/2006/main">
            <a:r>
              <a:t>    "fees": "0",</a:t>
            </a:r>
          </a:p>
          <a:p xmlns:a="http://schemas.openxmlformats.org/drawingml/2006/main">
            <a:r>
              <a:t>    "partial": false</a:t>
            </a:r>
          </a:p>
          <a:p xmlns:a="http://schemas.openxmlformats.org/drawingml/2006/main">
            <a:r>
              <a:t>  }</a:t>
            </a:r>
          </a:p>
          <a:p xmlns:a="http://schemas.openxmlformats.org/drawingml/2006/main">
            <a:r>
              <a:t>]</a:t>
            </a:r>
          </a:p>
          <a:p xmlns:a="http://schemas.openxmlformats.org/drawingml/2006/main">
            <a:r>
              <a:t>Sources:</a:t>
            </a:r>
          </a:p>
          <a:p xmlns:a="http://schemas.openxmlformats.org/drawingml/2006/main">
            <a:r>
              <a:t>C:\Users\jarve\Documents\Codex\Kalshi Temp Bot\Development\New York\NY-REALITY-SIM-v1-20261012\results\2026-10\summary.json</a:t>
            </a:r>
          </a:p>
          <a:p xmlns:a="http://schemas.openxmlformats.org/drawingml/2006/main">
            <a:r>
              <a:t>SHA256 c6240b8bbad83cfd2ee075c53b0336ef0d0adcb7bd3cf681a28f71477ff41779</a:t>
            </a:r>
          </a:p>
          <a:p xmlns:a="http://schemas.openxmlformats.org/drawingml/2006/main">
            <a:r>
              <a:t>C:\Users\jarve\Documents\Codex\kalshi_weather_final_testing\final_testing\evidence\native-history.json</a:t>
            </a:r>
          </a:p>
          <a:p xmlns:a="http://schemas.openxmlformats.org/drawingml/2006/main">
            <a:r>
              <a:t>SHA256 98ee44d825858659f82cc973116c33b2a1e31a6b40de3b5461ed7922ec9c6e51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MIAMI-IMPROVED-2026-10-SIMPLEX_MIX. Max spread 5 cents, minimum probability gap 0.0, five-second quote freshness and arrival, full frozen top quantity or cancel. Ranked whole-contract round robin can select several brackets. Daily cash fraction 0.10. Fee coefficient0.07 and historical quantum0.0001 are saved conditional assumptions.</a:t>
            </a:r>
          </a:p>
          <a:p xmlns:a="http://schemas.openxmlformats.org/drawingml/2006/main">
            <a:r>
              <a:t>Sources:</a:t>
            </a:r>
          </a:p>
          <a:p xmlns:a="http://schemas.openxmlformats.org/drawingml/2006/main">
            <a:r>
              <a:t>C:/Users/jarve/Documents/Codex/kalshi_weather_final_testing/final_testing/README.md</a:t>
            </a:r>
          </a:p>
          <a:p xmlns:a="http://schemas.openxmlformats.org/drawingml/2006/main">
            <a:r>
              <a:t>C:/Users/jarve/Documents/Codex/kalshi_weather_final_testing/final_testing/evidence/native-describe.json</a:t>
            </a:r>
          </a:p>
          <a:p xmlns:a="http://schemas.openxmlformats.org/drawingml/2006/main">
            <a:r>
              <a:t>Release: FOUR-CITY-PAPER-F1F-20261012. Manifest SHA256 2bce4471615758e8a2b26f79c31ef51ff333ea5ce14cb5d04f465368417e2bbc.</a:t>
            </a:r>
          </a:p>
          <a:p xmlns:a="http://schemas.openxmlformats.org/drawingml/2006/main">
            <a:r>
              <a:t>Offline release: FOUR-CITY-OFFLINE-H1B-20261012. Manifest SHA256 d47c3684706e0e5c47cd62a3edcccedd8eeb4a7cf46bd2138b69e8ac0655bdfb.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MIAMI-2026-10-PASTONLY-V10-RAW. Original P09 rule minimum_probability_gap=0.1. Do not confuse this gap with guaranteed return or add an unsupported definition. Minimum expected net return0.10, max spread0.05, five-second native-source age and arrival, whole-contract ranked round robin, full frozen quantity at native top or cancel.</a:t>
            </a:r>
          </a:p>
          <a:p xmlns:a="http://schemas.openxmlformats.org/drawingml/2006/main">
            <a:r>
              <a:t>Sources:</a:t>
            </a:r>
          </a:p>
          <a:p xmlns:a="http://schemas.openxmlformats.org/drawingml/2006/main">
            <a:r>
              <a:t>C:/Users/jarve/Documents/Codex/kalshi_weather_final_testing/final_testing/README.md</a:t>
            </a:r>
          </a:p>
          <a:p xmlns:a="http://schemas.openxmlformats.org/drawingml/2006/main">
            <a:r>
              <a:t>C:/Users/jarve/Documents/Codex/kalshi_weather_final_testing/final_testing/evidence/native-describe.json</a:t>
            </a:r>
          </a:p>
          <a:p xmlns:a="http://schemas.openxmlformats.org/drawingml/2006/main">
            <a:r>
              <a:t>Release: FOUR-CITY-PAPER-F1F-20261012. Manifest SHA256 2bce4471615758e8a2b26f79c31ef51ff333ea5ce14cb5d04f465368417e2bbc.</a:t>
            </a:r>
          </a:p>
          <a:p xmlns:a="http://schemas.openxmlformats.org/drawingml/2006/main">
            <a:r>
              <a:t>Offline release: FOUR-CITY-OFFLINE-H1B-20261012. Manifest SHA256 d47c3684706e0e5c47cd62a3edcccedd8eeb4a7cf46bd2138b69e8ac0655bdfb.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City: Miami. Period: September 1–30, 2026.</a:t>
            </a:r>
          </a:p>
          <a:p xmlns:a="http://schemas.openxmlformats.org/drawingml/2006/main">
            <a:r>
              <a:t>Separate $100 wallet for each strategy and period; no daily reset. Eventual recorded payout balances include fees.</a:t>
            </a:r>
          </a:p>
          <a:p xmlns:a="http://schemas.openxmlformats.org/drawingml/2006/main">
            <a:r>
              <a:t>Metric: Profitable/losing days among recorded resolved trade episodes. Missing opportunities do not count as no trade.</a:t>
            </a:r>
          </a:p>
          <a:p xmlns:a="http://schemas.openxmlformats.org/drawingml/2006/main">
            <a:r>
              <a:t>October1–11,2026 saved replay. No extrapolation to full month.</a:t>
            </a:r>
          </a:p>
          <a:p xmlns:a="http://schemas.openxmlformats.org/drawingml/2006/main">
            <a:r>
              <a:t>Full native conditional singleton results use saved city-specific pre-month checkpoints, native five-second source age/arrival and whole frozen quantity-or-cancel. Wallets start100separately per month/profile. September/October are exposed archived research, not a blind live execution test. Official binary Kalshi outcomes determine payouts. All30/11weather forecast dates exist for these two profiles, but strict native online receipt reconstruction still leaves unidentifiable opportunities. The displayed balances cover supported settled trades and do not claim complete causal live-equivalent calendar opportunity coverage. Separate wallets cannot be summed as shared fills.</a:t>
            </a:r>
          </a:p>
          <a:p xmlns:a="http://schemas.openxmlformats.org/drawingml/2006/main">
            <a:r>
              <a:t>Exact chart and metric rows:</a:t>
            </a:r>
          </a:p>
          <a:p xmlns:a="http://schemas.openxmlformats.org/drawingml/2006/main">
            <a:r>
              <a:t>[</a:t>
            </a:r>
          </a:p>
          <a:p xmlns:a="http://schemas.openxmlformats.org/drawingml/2006/main">
            <a:r>
              <a:t>  {</a:t>
            </a:r>
          </a:p>
          <a:p xmlns:a="http://schemas.openxmlformats.org/drawingml/2006/main">
            <a:r>
              <a:t>    "label": "Selected calibrated model",</a:t>
            </a:r>
          </a:p>
          <a:p xmlns:a="http://schemas.openxmlformats.org/drawingml/2006/main">
            <a:r>
              <a:t>    "cash": "190.8802",</a:t>
            </a:r>
          </a:p>
          <a:p xmlns:a="http://schemas.openxmlformats.org/drawingml/2006/main">
            <a:r>
              <a:t>    "net": "90.8802",</a:t>
            </a:r>
          </a:p>
          <a:p xmlns:a="http://schemas.openxmlformats.org/drawingml/2006/main">
            <a:r>
              <a:t>    "wins": 12,</a:t>
            </a:r>
          </a:p>
          <a:p xmlns:a="http://schemas.openxmlformats.org/drawingml/2006/main">
            <a:r>
              <a:t>    "losses": 1,</a:t>
            </a:r>
          </a:p>
          <a:p xmlns:a="http://schemas.openxmlformats.org/drawingml/2006/main">
            <a:r>
              <a:t>    "contracts": 276,</a:t>
            </a:r>
          </a:p>
          <a:p xmlns:a="http://schemas.openxmlformats.org/drawingml/2006/main">
            <a:r>
              <a:t>    "fees": "4.689800",</a:t>
            </a:r>
          </a:p>
          <a:p xmlns:a="http://schemas.openxmlformats.org/drawingml/2006/main">
            <a:r>
              <a:t>    "partial": false</a:t>
            </a:r>
          </a:p>
          <a:p xmlns:a="http://schemas.openxmlformats.org/drawingml/2006/main">
            <a:r>
              <a:t>  },</a:t>
            </a:r>
          </a:p>
          <a:p xmlns:a="http://schemas.openxmlformats.org/drawingml/2006/main">
            <a:r>
              <a:t>  {</a:t>
            </a:r>
          </a:p>
          <a:p xmlns:a="http://schemas.openxmlformats.org/drawingml/2006/main">
            <a:r>
              <a:t>    "label": "Original RAW model",</a:t>
            </a:r>
          </a:p>
          <a:p xmlns:a="http://schemas.openxmlformats.org/drawingml/2006/main">
            <a:r>
              <a:t>    "cash": "159.6563",</a:t>
            </a:r>
          </a:p>
          <a:p xmlns:a="http://schemas.openxmlformats.org/drawingml/2006/main">
            <a:r>
              <a:t>    "net": "59.6563",</a:t>
            </a:r>
          </a:p>
          <a:p xmlns:a="http://schemas.openxmlformats.org/drawingml/2006/main">
            <a:r>
              <a:t>    "wins": 9,</a:t>
            </a:r>
          </a:p>
          <a:p xmlns:a="http://schemas.openxmlformats.org/drawingml/2006/main">
            <a:r>
              <a:t>    "losses": 2,</a:t>
            </a:r>
          </a:p>
          <a:p xmlns:a="http://schemas.openxmlformats.org/drawingml/2006/main">
            <a:r>
              <a:t>    "contracts": 197,</a:t>
            </a:r>
          </a:p>
          <a:p xmlns:a="http://schemas.openxmlformats.org/drawingml/2006/main">
            <a:r>
              <a:t>    "fees": "3.243700",</a:t>
            </a:r>
          </a:p>
          <a:p xmlns:a="http://schemas.openxmlformats.org/drawingml/2006/main">
            <a:r>
              <a:t>    "partial": false</a:t>
            </a:r>
          </a:p>
          <a:p xmlns:a="http://schemas.openxmlformats.org/drawingml/2006/main">
            <a:r>
              <a:t>  }</a:t>
            </a:r>
          </a:p>
          <a:p xmlns:a="http://schemas.openxmlformats.org/drawingml/2006/main">
            <a:r>
              <a:t>]</a:t>
            </a:r>
          </a:p>
          <a:p xmlns:a="http://schemas.openxmlformats.org/drawingml/2006/main">
            <a:r>
              <a:t>Sources:</a:t>
            </a:r>
          </a:p>
          <a:p xmlns:a="http://schemas.openxmlformats.org/drawingml/2006/main">
            <a:r>
              <a:t>C:\Users\jarve\Documents\Codex\Kalshi Temp Bot\Development\Miami\MIAMI-REALITY-SIM-v1-20261012\results\city-summary-v2.json</a:t>
            </a:r>
          </a:p>
          <a:p xmlns:a="http://schemas.openxmlformats.org/drawingml/2006/main">
            <a:r>
              <a:t>SHA256 949802660333b9b8642204e34701070e74688a8a00ecef3593f8b3a651981b78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City: Miami. Period: October 1–11, 2026.</a:t>
            </a:r>
          </a:p>
          <a:p xmlns:a="http://schemas.openxmlformats.org/drawingml/2006/main">
            <a:r>
              <a:t>Separate $100 wallet for each strategy and period; no daily reset. Eventual recorded payout balances include fees.</a:t>
            </a:r>
          </a:p>
          <a:p xmlns:a="http://schemas.openxmlformats.org/drawingml/2006/main">
            <a:r>
              <a:t>Metric: Profitable/losing days among recorded resolved trade episodes. Missing opportunities do not count as no trade.</a:t>
            </a:r>
          </a:p>
          <a:p xmlns:a="http://schemas.openxmlformats.org/drawingml/2006/main">
            <a:r>
              <a:t>October1–11,2026 saved replay. No extrapolation to full month.</a:t>
            </a:r>
          </a:p>
          <a:p xmlns:a="http://schemas.openxmlformats.org/drawingml/2006/main">
            <a:r>
              <a:t>Full native conditional singleton results use saved city-specific pre-month checkpoints, native five-second source age/arrival and whole frozen quantity-or-cancel. Wallets start100separately per month/profile. September/October are exposed archived research, not a blind live execution test. Official binary Kalshi outcomes determine payouts. All30/11weather forecast dates exist for these two profiles, but strict native online receipt reconstruction still leaves unidentifiable opportunities. The displayed balances cover supported settled trades and do not claim complete causal live-equivalent calendar opportunity coverage. Separate wallets cannot be summed as shared fills.</a:t>
            </a:r>
          </a:p>
          <a:p xmlns:a="http://schemas.openxmlformats.org/drawingml/2006/main">
            <a:r>
              <a:t>Exact chart and metric rows:</a:t>
            </a:r>
          </a:p>
          <a:p xmlns:a="http://schemas.openxmlformats.org/drawingml/2006/main">
            <a:r>
              <a:t>[</a:t>
            </a:r>
          </a:p>
          <a:p xmlns:a="http://schemas.openxmlformats.org/drawingml/2006/main">
            <a:r>
              <a:t>  {</a:t>
            </a:r>
          </a:p>
          <a:p xmlns:a="http://schemas.openxmlformats.org/drawingml/2006/main">
            <a:r>
              <a:t>    "label": "Selected calibrated model",</a:t>
            </a:r>
          </a:p>
          <a:p xmlns:a="http://schemas.openxmlformats.org/drawingml/2006/main">
            <a:r>
              <a:t>    "cash": "130.0101",</a:t>
            </a:r>
          </a:p>
          <a:p xmlns:a="http://schemas.openxmlformats.org/drawingml/2006/main">
            <a:r>
              <a:t>    "net": "30.0101",</a:t>
            </a:r>
          </a:p>
          <a:p xmlns:a="http://schemas.openxmlformats.org/drawingml/2006/main">
            <a:r>
              <a:t>    "wins": 3,</a:t>
            </a:r>
          </a:p>
          <a:p xmlns:a="http://schemas.openxmlformats.org/drawingml/2006/main">
            <a:r>
              <a:t>    "losses": 3,</a:t>
            </a:r>
          </a:p>
          <a:p xmlns:a="http://schemas.openxmlformats.org/drawingml/2006/main">
            <a:r>
              <a:t>    "contracts": 89,</a:t>
            </a:r>
          </a:p>
          <a:p xmlns:a="http://schemas.openxmlformats.org/drawingml/2006/main">
            <a:r>
              <a:t>    "fees": "1.339900",</a:t>
            </a:r>
          </a:p>
          <a:p xmlns:a="http://schemas.openxmlformats.org/drawingml/2006/main">
            <a:r>
              <a:t>    "partial": false</a:t>
            </a:r>
          </a:p>
          <a:p xmlns:a="http://schemas.openxmlformats.org/drawingml/2006/main">
            <a:r>
              <a:t>  },</a:t>
            </a:r>
          </a:p>
          <a:p xmlns:a="http://schemas.openxmlformats.org/drawingml/2006/main">
            <a:r>
              <a:t>  {</a:t>
            </a:r>
          </a:p>
          <a:p xmlns:a="http://schemas.openxmlformats.org/drawingml/2006/main">
            <a:r>
              <a:t>    "label": "Original RAW model",</a:t>
            </a:r>
          </a:p>
          <a:p xmlns:a="http://schemas.openxmlformats.org/drawingml/2006/main">
            <a:r>
              <a:t>    "cash": "122.7372",</a:t>
            </a:r>
          </a:p>
          <a:p xmlns:a="http://schemas.openxmlformats.org/drawingml/2006/main">
            <a:r>
              <a:t>    "net": "22.7372",</a:t>
            </a:r>
          </a:p>
          <a:p xmlns:a="http://schemas.openxmlformats.org/drawingml/2006/main">
            <a:r>
              <a:t>    "wins": 2,</a:t>
            </a:r>
          </a:p>
          <a:p xmlns:a="http://schemas.openxmlformats.org/drawingml/2006/main">
            <a:r>
              <a:t>    "losses": 2,</a:t>
            </a:r>
          </a:p>
          <a:p xmlns:a="http://schemas.openxmlformats.org/drawingml/2006/main">
            <a:r>
              <a:t>    "contracts": 67,</a:t>
            </a:r>
          </a:p>
          <a:p xmlns:a="http://schemas.openxmlformats.org/drawingml/2006/main">
            <a:r>
              <a:t>    "fees": "0.962800",</a:t>
            </a:r>
          </a:p>
          <a:p xmlns:a="http://schemas.openxmlformats.org/drawingml/2006/main">
            <a:r>
              <a:t>    "partial": false</a:t>
            </a:r>
          </a:p>
          <a:p xmlns:a="http://schemas.openxmlformats.org/drawingml/2006/main">
            <a:r>
              <a:t>  }</a:t>
            </a:r>
          </a:p>
          <a:p xmlns:a="http://schemas.openxmlformats.org/drawingml/2006/main">
            <a:r>
              <a:t>]</a:t>
            </a:r>
          </a:p>
          <a:p xmlns:a="http://schemas.openxmlformats.org/drawingml/2006/main">
            <a:r>
              <a:t>Sources:</a:t>
            </a:r>
          </a:p>
          <a:p xmlns:a="http://schemas.openxmlformats.org/drawingml/2006/main">
            <a:r>
              <a:t>C:\Users\jarve\Documents\Codex\Kalshi Temp Bot\Development\Miami\MIAMI-REALITY-SIM-v1-20261012\results\city-summary-v2.json</a:t>
            </a:r>
          </a:p>
          <a:p xmlns:a="http://schemas.openxmlformats.org/drawingml/2006/main">
            <a:r>
              <a:t>SHA256 949802660333b9b8642204e34701070e74688a8a00ecef3593f8b3a651981b78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PHOENIX-V9-EQUAL-WEIGHT-LAWS-2026-10. Equal-weight selected-law ensemble. NO-only, quarter-Kelly sizing capped0.10 opening cash. UTC clocks17,17:15,17:30,18,19. Chart initial purchase cap10 / later staged allowance0 means no separate confirmation stage; five scheduled opportunities still share the same daily cap. Full original frozen quantity or cancel. Source age and arrivalfive seconds.</a:t>
            </a:r>
          </a:p>
          <a:p xmlns:a="http://schemas.openxmlformats.org/drawingml/2006/main">
            <a:r>
              <a:t>Sources:</a:t>
            </a:r>
          </a:p>
          <a:p xmlns:a="http://schemas.openxmlformats.org/drawingml/2006/main">
            <a:r>
              <a:t>C:/Users/jarve/Documents/Codex/kalshi_weather_final_testing/final_testing/README.md</a:t>
            </a:r>
          </a:p>
          <a:p xmlns:a="http://schemas.openxmlformats.org/drawingml/2006/main">
            <a:r>
              <a:t>C:/Users/jarve/Documents/Codex/kalshi_weather_final_testing/final_testing/evidence/native-describe.json</a:t>
            </a:r>
          </a:p>
          <a:p xmlns:a="http://schemas.openxmlformats.org/drawingml/2006/main">
            <a:r>
              <a:t>Release: FOUR-CITY-PAPER-F1F-20261012. Manifest SHA256 2bce4471615758e8a2b26f79c31ef51ff333ea5ce14cb5d04f465368417e2bbc.</a:t>
            </a:r>
          </a:p>
          <a:p xmlns:a="http://schemas.openxmlformats.org/drawingml/2006/main">
            <a:r>
              <a:t>Offline release: FOUR-CITY-OFFLINE-H1B-20261012. Manifest SHA256 d47c3684706e0e5c47cd62a3edcccedd8eeb4a7cf46bd2138b69e8ac0655bdfb.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model PHOENIX-V5-HRRR14_23-2026-10-HRRR14_23-V2. Family RAW14_CONFORMAL_YES_SET. YES_SET names the protected probability/range construction and does not mean YES trading. Same UTC clocks and shared cap as ensemble. Static17UTC forecast. Quarter-Kelly can spend less than10%.</a:t>
            </a:r>
          </a:p>
          <a:p xmlns:a="http://schemas.openxmlformats.org/drawingml/2006/main">
            <a:r>
              <a:t>Sources:</a:t>
            </a:r>
          </a:p>
          <a:p xmlns:a="http://schemas.openxmlformats.org/drawingml/2006/main">
            <a:r>
              <a:t>C:/Users/jarve/Documents/Codex/kalshi_weather_final_testing/final_testing/README.md</a:t>
            </a:r>
          </a:p>
          <a:p xmlns:a="http://schemas.openxmlformats.org/drawingml/2006/main">
            <a:r>
              <a:t>C:/Users/jarve/Documents/Codex/kalshi_weather_final_testing/final_testing/evidence/native-describe.json</a:t>
            </a:r>
          </a:p>
          <a:p xmlns:a="http://schemas.openxmlformats.org/drawingml/2006/main">
            <a:r>
              <a:t>Release: FOUR-CITY-PAPER-F1F-20261012. Manifest SHA256 2bce4471615758e8a2b26f79c31ef51ff333ea5ce14cb5d04f465368417e2bbc.</a:t>
            </a:r>
          </a:p>
          <a:p xmlns:a="http://schemas.openxmlformats.org/drawingml/2006/main">
            <a:r>
              <a:t>Offline release: FOUR-CITY-OFFLINE-H1B-20261012. Manifest SHA256 d47c3684706e0e5c47cd62a3edcccedd8eeb4a7cf46bd2138b69e8ac0655bdfb.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City: Phoenix. Period: September 1–30, 2026.</a:t>
            </a:r>
          </a:p>
          <a:p xmlns:a="http://schemas.openxmlformats.org/drawingml/2006/main">
            <a:r>
              <a:t>Separate $100 wallet for each strategy and period; no daily reset. Eventual recorded payout balances include fees.</a:t>
            </a:r>
          </a:p>
          <a:p xmlns:a="http://schemas.openxmlformats.org/drawingml/2006/main">
            <a:r>
              <a:t>Metric: Profitable/losing days among recorded resolved trade episodes. Missing opportunities do not count as no trade.</a:t>
            </a:r>
          </a:p>
          <a:p xmlns:a="http://schemas.openxmlformats.org/drawingml/2006/main">
            <a:r>
              <a:t>October1–11,2026 saved replay. No extrapolation to full month.</a:t>
            </a:r>
          </a:p>
          <a:p xmlns:a="http://schemas.openxmlformats.org/drawingml/2006/main">
            <a:r>
              <a:t>Full native TOP, native NO-only quarter-Kelly profiles. Separate100wallets reset at each evaluated period. Saved forecasts and prices unchanged,5secondage/arrival. All30/11weather dates exist, but unknown opportunities occur on28/30September and11/11Octoberdates. Source completeness differs from identified financial outcomes on the supported trade subset. Eventual cash includes delayed official payouts; calendar cutoff September ensemble90.8465,V19range89.5794; Octoberensemble91.8821,V19range103.0637. Independent totals are not the shared-capacity two-wallet result, which was weaker in September.</a:t>
            </a:r>
          </a:p>
          <a:p xmlns:a="http://schemas.openxmlformats.org/drawingml/2006/main">
            <a:r>
              <a:t>Exact chart and metric rows:</a:t>
            </a:r>
          </a:p>
          <a:p xmlns:a="http://schemas.openxmlformats.org/drawingml/2006/main">
            <a:r>
              <a:t>[</a:t>
            </a:r>
          </a:p>
          <a:p xmlns:a="http://schemas.openxmlformats.org/drawingml/2006/main">
            <a:r>
              <a:t>  {</a:t>
            </a:r>
          </a:p>
          <a:p xmlns:a="http://schemas.openxmlformats.org/drawingml/2006/main">
            <a:r>
              <a:t>    "label": "Four-law ensemble",</a:t>
            </a:r>
          </a:p>
          <a:p xmlns:a="http://schemas.openxmlformats.org/drawingml/2006/main">
            <a:r>
              <a:t>    "cash": "100.8465",</a:t>
            </a:r>
          </a:p>
          <a:p xmlns:a="http://schemas.openxmlformats.org/drawingml/2006/main">
            <a:r>
              <a:t>    "net": "0.8465",</a:t>
            </a:r>
          </a:p>
          <a:p xmlns:a="http://schemas.openxmlformats.org/drawingml/2006/main">
            <a:r>
              <a:t>    "wins": 9,</a:t>
            </a:r>
          </a:p>
          <a:p xmlns:a="http://schemas.openxmlformats.org/drawingml/2006/main">
            <a:r>
              <a:t>    "losses": 6,</a:t>
            </a:r>
          </a:p>
          <a:p xmlns:a="http://schemas.openxmlformats.org/drawingml/2006/main">
            <a:r>
              <a:t>    "contracts": 125,</a:t>
            </a:r>
          </a:p>
          <a:p xmlns:a="http://schemas.openxmlformats.org/drawingml/2006/main">
            <a:r>
              <a:t>    "fees": "1.8735",</a:t>
            </a:r>
          </a:p>
          <a:p xmlns:a="http://schemas.openxmlformats.org/drawingml/2006/main">
            <a:r>
              <a:t>    "partial": false</a:t>
            </a:r>
          </a:p>
          <a:p xmlns:a="http://schemas.openxmlformats.org/drawingml/2006/main">
            <a:r>
              <a:t>  },</a:t>
            </a:r>
          </a:p>
          <a:p xmlns:a="http://schemas.openxmlformats.org/drawingml/2006/main">
            <a:r>
              <a:t>  {</a:t>
            </a:r>
          </a:p>
          <a:p xmlns:a="http://schemas.openxmlformats.org/drawingml/2006/main">
            <a:r>
              <a:t>    "label": "V19 protected range",</a:t>
            </a:r>
          </a:p>
          <a:p xmlns:a="http://schemas.openxmlformats.org/drawingml/2006/main">
            <a:r>
              <a:t>    "cash": "99.5794",</a:t>
            </a:r>
          </a:p>
          <a:p xmlns:a="http://schemas.openxmlformats.org/drawingml/2006/main">
            <a:r>
              <a:t>    "net": "-0.4206",</a:t>
            </a:r>
          </a:p>
          <a:p xmlns:a="http://schemas.openxmlformats.org/drawingml/2006/main">
            <a:r>
              <a:t>    "wins": 7,</a:t>
            </a:r>
          </a:p>
          <a:p xmlns:a="http://schemas.openxmlformats.org/drawingml/2006/main">
            <a:r>
              <a:t>    "losses": 3,</a:t>
            </a:r>
          </a:p>
          <a:p xmlns:a="http://schemas.openxmlformats.org/drawingml/2006/main">
            <a:r>
              <a:t>    "contracts": 92,</a:t>
            </a:r>
          </a:p>
          <a:p xmlns:a="http://schemas.openxmlformats.org/drawingml/2006/main">
            <a:r>
              <a:t>    "fees": "1.2406",</a:t>
            </a:r>
          </a:p>
          <a:p xmlns:a="http://schemas.openxmlformats.org/drawingml/2006/main">
            <a:r>
              <a:t>    "partial": false</a:t>
            </a:r>
          </a:p>
          <a:p xmlns:a="http://schemas.openxmlformats.org/drawingml/2006/main">
            <a:r>
              <a:t>  }</a:t>
            </a:r>
          </a:p>
          <a:p xmlns:a="http://schemas.openxmlformats.org/drawingml/2006/main">
            <a:r>
              <a:t>]</a:t>
            </a:r>
          </a:p>
          <a:p xmlns:a="http://schemas.openxmlformats.org/drawingml/2006/main">
            <a:r>
              <a:t>Sources:</a:t>
            </a:r>
          </a:p>
          <a:p xmlns:a="http://schemas.openxmlformats.org/drawingml/2006/main">
            <a:r>
              <a:t>C:\Users\jarve\Documents\Codex\Kalshi Temp Bot\Development\Phoenix\PHOENIX-REALITY-SIM-v1-20261012\all-primary-comparison-v1.csv</a:t>
            </a:r>
          </a:p>
          <a:p xmlns:a="http://schemas.openxmlformats.org/drawingml/2006/main">
            <a:r>
              <a:t>SHA256 235e63ef16a30837256161e8d345e46f8b2d4b1f3779c356bcee3bfaed3eceb3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City: Phoenix. Period: October 1–11, 2026.</a:t>
            </a:r>
          </a:p>
          <a:p xmlns:a="http://schemas.openxmlformats.org/drawingml/2006/main">
            <a:r>
              <a:t>Separate $100 wallet for each strategy and period; no daily reset. Eventual recorded payout balances include fees.</a:t>
            </a:r>
          </a:p>
          <a:p xmlns:a="http://schemas.openxmlformats.org/drawingml/2006/main">
            <a:r>
              <a:t>Metric: Profitable/losing days among recorded resolved trade episodes. Missing opportunities do not count as no trade.</a:t>
            </a:r>
          </a:p>
          <a:p xmlns:a="http://schemas.openxmlformats.org/drawingml/2006/main">
            <a:r>
              <a:t>October1–11,2026 saved replay. No extrapolation to full month.</a:t>
            </a:r>
          </a:p>
          <a:p xmlns:a="http://schemas.openxmlformats.org/drawingml/2006/main">
            <a:r>
              <a:t>Full native TOP, native NO-only quarter-Kelly profiles. Separate100wallets reset at each evaluated period. Saved forecasts and prices unchanged,5secondage/arrival. All30/11weather dates exist, but unknown opportunities occur on28/30September and11/11Octoberdates. Source completeness differs from identified financial outcomes on the supported trade subset. Eventual cash includes delayed official payouts; calendar cutoff September ensemble90.8465,V19range89.5794; Octoberensemble91.8821,V19range103.0637. Independent totals are not the shared-capacity two-wallet result, which was weaker in September.</a:t>
            </a:r>
          </a:p>
          <a:p xmlns:a="http://schemas.openxmlformats.org/drawingml/2006/main">
            <a:r>
              <a:t>Exact chart and metric rows:</a:t>
            </a:r>
          </a:p>
          <a:p xmlns:a="http://schemas.openxmlformats.org/drawingml/2006/main">
            <a:r>
              <a:t>[</a:t>
            </a:r>
          </a:p>
          <a:p xmlns:a="http://schemas.openxmlformats.org/drawingml/2006/main">
            <a:r>
              <a:t>  {</a:t>
            </a:r>
          </a:p>
          <a:p xmlns:a="http://schemas.openxmlformats.org/drawingml/2006/main">
            <a:r>
              <a:t>    "label": "Four-law ensemble",</a:t>
            </a:r>
          </a:p>
          <a:p xmlns:a="http://schemas.openxmlformats.org/drawingml/2006/main">
            <a:r>
              <a:t>    "cash": "104.8821",</a:t>
            </a:r>
          </a:p>
          <a:p xmlns:a="http://schemas.openxmlformats.org/drawingml/2006/main">
            <a:r>
              <a:t>    "net": "4.8821",</a:t>
            </a:r>
          </a:p>
          <a:p xmlns:a="http://schemas.openxmlformats.org/drawingml/2006/main">
            <a:r>
              <a:t>    "wins": 5,</a:t>
            </a:r>
          </a:p>
          <a:p xmlns:a="http://schemas.openxmlformats.org/drawingml/2006/main">
            <a:r>
              <a:t>    "losses": 2,</a:t>
            </a:r>
          </a:p>
          <a:p xmlns:a="http://schemas.openxmlformats.org/drawingml/2006/main">
            <a:r>
              <a:t>    "contracts": 72,</a:t>
            </a:r>
          </a:p>
          <a:p xmlns:a="http://schemas.openxmlformats.org/drawingml/2006/main">
            <a:r>
              <a:t>    "fees": "1.1179",</a:t>
            </a:r>
          </a:p>
          <a:p xmlns:a="http://schemas.openxmlformats.org/drawingml/2006/main">
            <a:r>
              <a:t>    "partial": false</a:t>
            </a:r>
          </a:p>
          <a:p xmlns:a="http://schemas.openxmlformats.org/drawingml/2006/main">
            <a:r>
              <a:t>  },</a:t>
            </a:r>
          </a:p>
          <a:p xmlns:a="http://schemas.openxmlformats.org/drawingml/2006/main">
            <a:r>
              <a:t>  {</a:t>
            </a:r>
          </a:p>
          <a:p xmlns:a="http://schemas.openxmlformats.org/drawingml/2006/main">
            <a:r>
              <a:t>    "label": "V19 protected range",</a:t>
            </a:r>
          </a:p>
          <a:p xmlns:a="http://schemas.openxmlformats.org/drawingml/2006/main">
            <a:r>
              <a:t>    "cash": "103.0637",</a:t>
            </a:r>
          </a:p>
          <a:p xmlns:a="http://schemas.openxmlformats.org/drawingml/2006/main">
            <a:r>
              <a:t>    "net": "3.0637",</a:t>
            </a:r>
          </a:p>
          <a:p xmlns:a="http://schemas.openxmlformats.org/drawingml/2006/main">
            <a:r>
              <a:t>    "wins": 2,</a:t>
            </a:r>
          </a:p>
          <a:p xmlns:a="http://schemas.openxmlformats.org/drawingml/2006/main">
            <a:r>
              <a:t>    "losses": 0,</a:t>
            </a:r>
          </a:p>
          <a:p xmlns:a="http://schemas.openxmlformats.org/drawingml/2006/main">
            <a:r>
              <a:t>    "contracts": 13,</a:t>
            </a:r>
          </a:p>
          <a:p xmlns:a="http://schemas.openxmlformats.org/drawingml/2006/main">
            <a:r>
              <a:t>    "fees": "0.1663",</a:t>
            </a:r>
          </a:p>
          <a:p xmlns:a="http://schemas.openxmlformats.org/drawingml/2006/main">
            <a:r>
              <a:t>    "partial": false</a:t>
            </a:r>
          </a:p>
          <a:p xmlns:a="http://schemas.openxmlformats.org/drawingml/2006/main">
            <a:r>
              <a:t>  }</a:t>
            </a:r>
          </a:p>
          <a:p xmlns:a="http://schemas.openxmlformats.org/drawingml/2006/main">
            <a:r>
              <a:t>]</a:t>
            </a:r>
          </a:p>
          <a:p xmlns:a="http://schemas.openxmlformats.org/drawingml/2006/main">
            <a:r>
              <a:t>Sources:</a:t>
            </a:r>
          </a:p>
          <a:p xmlns:a="http://schemas.openxmlformats.org/drawingml/2006/main">
            <a:r>
              <a:t>C:\Users\jarve\Documents\Codex\Kalshi Temp Bot\Development\Phoenix\PHOENIX-REALITY-SIM-v1-20261012\all-primary-comparison-v1.csv</a:t>
            </a:r>
          </a:p>
          <a:p xmlns:a="http://schemas.openxmlformats.org/drawingml/2006/main">
            <a:r>
              <a:t>SHA256 235e63ef16a30837256161e8d345e46f8b2d4b1f3779c356bcee3bfaed3eceb3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package does not have real exchange order transport. Snapshot smoke checks show nine online wallets, zero real orders, and no enabled entries due to physical NWS versus The Weather Company settlement-target equivalence gap. Do not frame monitoring as a profitable active online paper trader. Saved October checkpoints do not automatically extend to November. Refreshing inputs is not training new weights.</a:t>
            </a:r>
          </a:p>
          <a:p xmlns:a="http://schemas.openxmlformats.org/drawingml/2006/main">
            <a:r>
              <a:t>Sources:</a:t>
            </a:r>
          </a:p>
          <a:p xmlns:a="http://schemas.openxmlformats.org/drawingml/2006/main">
            <a:r>
              <a:t>C:/Users/jarve/Documents/Codex/kalshi_weather_final_testing/final_testing/evidence/service-smoke.json</a:t>
            </a:r>
          </a:p>
          <a:p xmlns:a="http://schemas.openxmlformats.org/drawingml/2006/main">
            <a:r>
              <a:t>C:/Users/jarve/Documents/Codex/kalshi_weather_final_testing/final_testing/evidence/native-describe.json</a:t>
            </a:r>
          </a:p>
          <a:p xmlns:a="http://schemas.openxmlformats.org/drawingml/2006/main">
            <a:r>
              <a:t>C:/Users/jarve/Documents/Codex/kalshi_weather_final_testing/final_testing/README.md</a:t>
            </a:r>
          </a:p>
          <a:p xmlns:a="http://schemas.openxmlformats.org/drawingml/2006/main">
            <a:r>
              <a:t>C:/Users/jarve/Documents/Codex/kalshi_weather_final_testing/final_testing/README.md</a:t>
            </a:r>
          </a:p>
          <a:p xmlns:a="http://schemas.openxmlformats.org/drawingml/2006/main">
            <a:r>
              <a:t>C:/Users/jarve/Documents/Codex/kalshi_weather_final_testing/final_testing/evidence/native-describe.json</a:t>
            </a:r>
          </a:p>
          <a:p xmlns:a="http://schemas.openxmlformats.org/drawingml/2006/main">
            <a:r>
              <a:t>Release: FOUR-CITY-PAPER-F1F-20261012. Manifest SHA256 2bce4471615758e8a2b26f79c31ef51ff333ea5ce14cb5d04f465368417e2bbc.</a:t>
            </a:r>
          </a:p>
          <a:p xmlns:a="http://schemas.openxmlformats.org/drawingml/2006/main">
            <a:r>
              <a:t>Offline release: FOUR-CITY-OFFLINE-H1B-20261012. Manifest SHA256 d47c3684706e0e5c47cd62a3edcccedd8eeb4a7cf46bd2138b69e8ac0655bdfb.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Snapshot is Oct1–12,2026, retrospective fixed-state counterfactual. Ninewallets108calendarrows match native references.59complete49pending/uncertain.913contracts,$8.7071fees and zeroreserves. Supported subset cash total1027.442900 from900initial is not a complete portfolio profit because full endingbalances remainnull. Closed-trade P/L graph assignsprofittoentrydate, while actualreusablecashfollowsofficialpayoutclock. OnlineandOfflineHistorywalletsareseparate. Repeatedclicksdo notduplicatethesameactivejob.</a:t>
            </a:r>
          </a:p>
          <a:p xmlns:a="http://schemas.openxmlformats.org/drawingml/2006/main">
            <a:r>
              <a:t>Sources:</a:t>
            </a:r>
          </a:p>
          <a:p xmlns:a="http://schemas.openxmlformats.org/drawingml/2006/main">
            <a:r>
              <a:t>C:/Users/jarve/Documents/Codex/kalshi_weather_final_testing/final_testing/evidence/native-history.json</a:t>
            </a:r>
          </a:p>
          <a:p xmlns:a="http://schemas.openxmlformats.org/drawingml/2006/main">
            <a:r>
              <a:t>C:/Users/jarve/Documents/Codex/kalshi_weather_final_testing/final_testing/evidence/ny-final-portable-acceptance-v2.json</a:t>
            </a:r>
          </a:p>
          <a:p xmlns:a="http://schemas.openxmlformats.org/drawingml/2006/main">
            <a:r>
              <a:t>C:/Users/jarve/Documents/Codex/kalshi_weather_final_testing/final_testing/expected-history.json</a:t>
            </a:r>
          </a:p>
          <a:p xmlns:a="http://schemas.openxmlformats.org/drawingml/2006/main">
            <a:r>
              <a:t>C:/Users/jarve/Documents/Codex/kalshi_weather_final_testing/final_testing/README.md</a:t>
            </a:r>
          </a:p>
          <a:p xmlns:a="http://schemas.openxmlformats.org/drawingml/2006/main">
            <a:r>
              <a:t>C:/Users/jarve/Documents/Codex/kalshi_weather_final_testing/final_testing/README.md</a:t>
            </a:r>
          </a:p>
          <a:p xmlns:a="http://schemas.openxmlformats.org/drawingml/2006/main">
            <a:r>
              <a:t>C:/Users/jarve/Documents/Codex/kalshi_weather_final_testing/final_testing/evidence/native-describe.json</a:t>
            </a:r>
          </a:p>
          <a:p xmlns:a="http://schemas.openxmlformats.org/drawingml/2006/main">
            <a:r>
              <a:t>Release: FOUR-CITY-PAPER-F1F-20261012. Manifest SHA256 2bce4471615758e8a2b26f79c31ef51ff333ea5ce14cb5d04f465368417e2bbc.</a:t>
            </a:r>
          </a:p>
          <a:p xmlns:a="http://schemas.openxmlformats.org/drawingml/2006/main">
            <a:r>
              <a:t>Offline release: FOUR-CITY-OFFLINE-H1B-20261012. Manifest SHA256 d47c3684706e0e5c47cd62a3edcccedd8eeb4a7cf46bd2138b69e8ac0655bdfb.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a9aa2c4bacd4c0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d02df8085724c2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e674be5743f4e3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6304aa935c74fe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4e038385136448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0611925978d4a9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774617-BD73-47B9-AAA5-ADBBB611464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C83505E-C24B-40E2-B937-62CFC4B43B9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425C8DF-1647-403F-A5BF-1833EA4B1C5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5123DE-6220-4327-AD24-0CDF10600F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4BA8DAC-2DB1-4A1D-938B-D133A43F269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16C5E8E-038D-42D8-901A-70707DB4DF2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33EBB43-40D0-4363-A55B-E1C8AC4C632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DE6C30-BE8B-4404-AFA6-D5A7723A635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3E6AF8E-BC6A-4225-9607-C6301A5797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A7F141F-F87D-43A1-862E-4C12961527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12b734b0ce64bba" /><Relationship Type="http://schemas.openxmlformats.org/officeDocument/2006/relationships/slideLayout" Target="/ppt/slideLayouts/slideLayout1.xml" Id="R81f74815ff7d4640" /><Relationship Type="http://schemas.openxmlformats.org/officeDocument/2006/relationships/slideLayout" Target="/ppt/slideLayouts/slideLayout2.xml" Id="Rd07f0991d73843d5" /><Relationship Type="http://schemas.openxmlformats.org/officeDocument/2006/relationships/slideLayout" Target="/ppt/slideLayouts/slideLayout3.xml" Id="R53a1895cb5744d18" /><Relationship Type="http://schemas.openxmlformats.org/officeDocument/2006/relationships/slideLayout" Target="/ppt/slideLayouts/slideLayout4.xml" Id="Reb9d8f67dd704811" /><Relationship Type="http://schemas.openxmlformats.org/officeDocument/2006/relationships/slideLayout" Target="/ppt/slideLayouts/slideLayout5.xml" Id="R637a71f192fb4283" /><Relationship Type="http://schemas.openxmlformats.org/officeDocument/2006/relationships/slideLayout" Target="/ppt/slideLayouts/slideLayout6.xml" Id="R6efaa5373e9d4b7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f74815ff7d4640"/>
    <p:sldLayoutId xmlns:r="http://schemas.openxmlformats.org/officeDocument/2006/relationships" id="2147483650" r:id="Rd07f0991d73843d5"/>
    <p:sldLayoutId xmlns:r="http://schemas.openxmlformats.org/officeDocument/2006/relationships" id="2147483651" r:id="R53a1895cb5744d18"/>
    <p:sldLayoutId xmlns:r="http://schemas.openxmlformats.org/officeDocument/2006/relationships" id="2147483652" r:id="Reb9d8f67dd704811"/>
    <p:sldLayoutId xmlns:r="http://schemas.openxmlformats.org/officeDocument/2006/relationships" id="2147483653" r:id="R637a71f192fb4283"/>
    <p:sldLayoutId xmlns:r="http://schemas.openxmlformats.org/officeDocument/2006/relationships" id="2147483654" r:id="R6efaa5373e9d4b7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a3dc9b89522466e" /><Relationship Type="http://schemas.openxmlformats.org/officeDocument/2006/relationships/chart" Target="/ppt/slides/charts/chart1.xml" Id="R6314bd8591f24b24" /><Relationship Type="http://schemas.openxmlformats.org/officeDocument/2006/relationships/notesSlide" Target="/ppt/notesSlides/notesSlide1.xml" Id="R849c651d066e4a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f06563de7ab49d9" /><Relationship Type="http://schemas.openxmlformats.org/officeDocument/2006/relationships/chart" Target="/ppt/slides/charts/chart2.xml" Id="R0b61b2a9c3f04ab3" /><Relationship Type="http://schemas.openxmlformats.org/officeDocument/2006/relationships/notesSlide" Target="/ppt/notesSlides/notesSlide2.xml" Id="Rbeb2e2eb5baa427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d66d0f679684d02" /><Relationship Type="http://schemas.openxmlformats.org/officeDocument/2006/relationships/chart" Target="/ppt/slides/charts/chart3.xml" Id="Rd93f489cd9a3401f" /><Relationship Type="http://schemas.openxmlformats.org/officeDocument/2006/relationships/notesSlide" Target="/ppt/notesSlides/notesSlide3.xml" Id="Rf0c45212d01144e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879603d100b44f9" /><Relationship Type="http://schemas.openxmlformats.org/officeDocument/2006/relationships/chart" Target="/ppt/slides/charts/chart4.xml" Id="R52f954e046464c66" /><Relationship Type="http://schemas.openxmlformats.org/officeDocument/2006/relationships/notesSlide" Target="/ppt/notesSlides/notesSlide4.xml" Id="R11d966a204d843f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74347dd50524afb" /><Relationship Type="http://schemas.openxmlformats.org/officeDocument/2006/relationships/chart" Target="/ppt/slides/charts/chart5.xml" Id="R07e8a62a9c594fde" /><Relationship Type="http://schemas.openxmlformats.org/officeDocument/2006/relationships/notesSlide" Target="/ppt/notesSlides/notesSlide5.xml" Id="R47585ba44d614f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716d13bb0ec4649" /><Relationship Type="http://schemas.openxmlformats.org/officeDocument/2006/relationships/chart" Target="/ppt/slides/charts/chart6.xml" Id="R7ae7cb7192454b61" /><Relationship Type="http://schemas.openxmlformats.org/officeDocument/2006/relationships/chart" Target="/ppt/slides/charts/chart7.xml" Id="R914ca9355d054377" /><Relationship Type="http://schemas.openxmlformats.org/officeDocument/2006/relationships/notesSlide" Target="/ppt/notesSlides/notesSlide6.xml" Id="Rdf01724b85134f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b4d77957a384c04" /><Relationship Type="http://schemas.openxmlformats.org/officeDocument/2006/relationships/chart" Target="/ppt/slides/charts/chart8.xml" Id="R4c4dbe8d6307403d" /><Relationship Type="http://schemas.openxmlformats.org/officeDocument/2006/relationships/chart" Target="/ppt/slides/charts/chart9.xml" Id="Rdf9e819ce85a4440" /><Relationship Type="http://schemas.openxmlformats.org/officeDocument/2006/relationships/notesSlide" Target="/ppt/notesSlides/notesSlide7.xml" Id="R3cb55a78fb0946f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c0aab465c1c4cab" /><Relationship Type="http://schemas.openxmlformats.org/officeDocument/2006/relationships/chart" Target="/ppt/slides/charts/chart10.xml" Id="R5c242832eb694b4b" /><Relationship Type="http://schemas.openxmlformats.org/officeDocument/2006/relationships/chart" Target="/ppt/slides/charts/chart11.xml" Id="R4206d424b1114318" /><Relationship Type="http://schemas.openxmlformats.org/officeDocument/2006/relationships/notesSlide" Target="/ppt/notesSlides/notesSlide8.xml" Id="R3cc071114ff444b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91b7167f6994ec0" /><Relationship Type="http://schemas.openxmlformats.org/officeDocument/2006/relationships/chart" Target="/ppt/slides/charts/chart12.xml" Id="Rb24a5afb62604cc2" /><Relationship Type="http://schemas.openxmlformats.org/officeDocument/2006/relationships/notesSlide" Target="/ppt/notesSlides/notesSlide9.xml" Id="Ra8e2b7ee4f9e429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7f7971e2d25459d" /><Relationship Type="http://schemas.openxmlformats.org/officeDocument/2006/relationships/chart" Target="/ppt/slides/charts/chart13.xml" Id="R58f62d22ea3c444d" /><Relationship Type="http://schemas.openxmlformats.org/officeDocument/2006/relationships/notesSlide" Target="/ppt/notesSlides/notesSlide10.xml" Id="R634170da78614af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b70414899bd4108" /><Relationship Type="http://schemas.openxmlformats.org/officeDocument/2006/relationships/chart" Target="/ppt/slides/charts/chart14.xml" Id="R6ed2a86a3fc3493b" /><Relationship Type="http://schemas.openxmlformats.org/officeDocument/2006/relationships/chart" Target="/ppt/slides/charts/chart15.xml" Id="R70013f875e45420c" /><Relationship Type="http://schemas.openxmlformats.org/officeDocument/2006/relationships/notesSlide" Target="/ppt/notesSlides/notesSlide11.xml" Id="R8df13efe7f9d490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524d8759876453e" /><Relationship Type="http://schemas.openxmlformats.org/officeDocument/2006/relationships/chart" Target="/ppt/slides/charts/chart16.xml" Id="R10da81a55a2048e9" /><Relationship Type="http://schemas.openxmlformats.org/officeDocument/2006/relationships/chart" Target="/ppt/slides/charts/chart17.xml" Id="R9245124b994d4b29" /><Relationship Type="http://schemas.openxmlformats.org/officeDocument/2006/relationships/notesSlide" Target="/ppt/notesSlides/notesSlide12.xml" Id="Rca3a8dc79637460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02641ab430341ba" /><Relationship Type="http://schemas.openxmlformats.org/officeDocument/2006/relationships/chart" Target="/ppt/slides/charts/chart18.xml" Id="R7c474776faa147af" /><Relationship Type="http://schemas.openxmlformats.org/officeDocument/2006/relationships/notesSlide" Target="/ppt/notesSlides/notesSlide13.xml" Id="Rfd909012c3bf4f6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010b4401b39449e" /><Relationship Type="http://schemas.openxmlformats.org/officeDocument/2006/relationships/chart" Target="/ppt/slides/charts/chart19.xml" Id="R4fde376a3fa148cd" /><Relationship Type="http://schemas.openxmlformats.org/officeDocument/2006/relationships/notesSlide" Target="/ppt/notesSlides/notesSlide14.xml" Id="R31e2aadb96ca4cf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7229ae01ed84c55" /><Relationship Type="http://schemas.openxmlformats.org/officeDocument/2006/relationships/chart" Target="/ppt/slides/charts/chart20.xml" Id="R657ae93e5688493e" /><Relationship Type="http://schemas.openxmlformats.org/officeDocument/2006/relationships/chart" Target="/ppt/slides/charts/chart21.xml" Id="R842ab2f846ad43e1" /><Relationship Type="http://schemas.openxmlformats.org/officeDocument/2006/relationships/notesSlide" Target="/ppt/notesSlides/notesSlide15.xml" Id="R27903151b741471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69529ad7c034c98" /><Relationship Type="http://schemas.openxmlformats.org/officeDocument/2006/relationships/chart" Target="/ppt/slides/charts/chart22.xml" Id="R4bf4bbce765e4737" /><Relationship Type="http://schemas.openxmlformats.org/officeDocument/2006/relationships/chart" Target="/ppt/slides/charts/chart23.xml" Id="R97c1c2794a074be5" /><Relationship Type="http://schemas.openxmlformats.org/officeDocument/2006/relationships/notesSlide" Target="/ppt/notesSlides/notesSlide16.xml" Id="Raf22a2a6334b4f9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54b9cd00e944a00" /><Relationship Type="http://schemas.openxmlformats.org/officeDocument/2006/relationships/chart" Target="/ppt/slides/charts/chart24.xml" Id="R2313b2da2bb143b9" /><Relationship Type="http://schemas.openxmlformats.org/officeDocument/2006/relationships/notesSlide" Target="/ppt/notesSlides/notesSlide17.xml" Id="Ra951e7b9807845c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2d364046317461e" /><Relationship Type="http://schemas.openxmlformats.org/officeDocument/2006/relationships/chart" Target="/ppt/slides/charts/chart25.xml" Id="Rc9719a064eeb4f6d" /><Relationship Type="http://schemas.openxmlformats.org/officeDocument/2006/relationships/notesSlide" Target="/ppt/notesSlides/notesSlide18.xml" Id="R6cfa986e36e54a2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81d5f28ee3246d7" /><Relationship Type="http://schemas.openxmlformats.org/officeDocument/2006/relationships/chart" Target="/ppt/slides/charts/chart26.xml" Id="R58d4d8af71114ad9" /><Relationship Type="http://schemas.openxmlformats.org/officeDocument/2006/relationships/chart" Target="/ppt/slides/charts/chart27.xml" Id="Re075f2299e584031" /><Relationship Type="http://schemas.openxmlformats.org/officeDocument/2006/relationships/notesSlide" Target="/ppt/notesSlides/notesSlide19.xml" Id="R6e557ef28ff740e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b5bfd90aefb4e64" /><Relationship Type="http://schemas.openxmlformats.org/officeDocument/2006/relationships/chart" Target="/ppt/slides/charts/chart28.xml" Id="R3dde913d85674477" /><Relationship Type="http://schemas.openxmlformats.org/officeDocument/2006/relationships/chart" Target="/ppt/slides/charts/chart29.xml" Id="R8a2c148c95b74c25" /><Relationship Type="http://schemas.openxmlformats.org/officeDocument/2006/relationships/notesSlide" Target="/ppt/notesSlides/notesSlide20.xml" Id="R3223c55993a842a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dcba157121b4f23" /><Relationship Type="http://schemas.openxmlformats.org/officeDocument/2006/relationships/chart" Target="/ppt/slides/charts/chart30.xml" Id="R1bc0ffb8ac5b4fc6" /><Relationship Type="http://schemas.openxmlformats.org/officeDocument/2006/relationships/notesSlide" Target="/ppt/notesSlides/notesSlide21.xml" Id="R03c5a91ad765451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ecf8cf2420f44c6" /><Relationship Type="http://schemas.openxmlformats.org/officeDocument/2006/relationships/chart" Target="/ppt/slides/charts/chart31.xml" Id="Rf21fefc5ef1e413e" /><Relationship Type="http://schemas.openxmlformats.org/officeDocument/2006/relationships/notesSlide" Target="/ppt/notesSlides/notesSlide22.xml" Id="R6814f2bda178495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9431b96328534f4a" /><Relationship Type="http://schemas.openxmlformats.org/officeDocument/2006/relationships/chart" Target="/ppt/slides/charts/chart32.xml" Id="Ra2c1dd62e6c9415d" /><Relationship Type="http://schemas.openxmlformats.org/officeDocument/2006/relationships/notesSlide" Target="/ppt/notesSlides/notesSlide23.xml" Id="Rb6d87a3e879b420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38129f58c9244827" /><Relationship Type="http://schemas.openxmlformats.org/officeDocument/2006/relationships/chart" Target="/ppt/slides/charts/chart33.xml" Id="Rcee0098acbfc4f21" /><Relationship Type="http://schemas.openxmlformats.org/officeDocument/2006/relationships/notesSlide" Target="/ppt/notesSlides/notesSlide24.xml" Id="R04d22c005d804a14"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D44"/>
                </a:solidFill>
                <a:latin typeface="Arial"/>
                <a:ea typeface="Arial"/>
                <a:cs typeface="Arial"/>
              </a:rPr>
              <a:t>Saved strategies per city</a:t>
            </a:r>
          </a:p>
        </c:rich>
      </c:tx>
      <c:overlay val="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title>
    <c:plotArea>
      <c:barChart>
        <c:barDir val="col"/>
        <c:grouping val="clustered"/>
        <c:varyColors val="0"/>
        <c:ser>
          <c:idx val="0"/>
          <c:order val="0"/>
          <c:tx>
            <c:v>Strategies</c:v>
          </c:tx>
          <c:spPr>
            <a:solidFill xmlns:a="http://schemas.openxmlformats.org/drawingml/2006/main">
              <a:srgbClr val="177E89"/>
            </a:solidFill>
          </c:spPr>
          <c:dPt>
            <c:idx val="0"/>
            <c:invertIfNegative val="0"/>
            <c:spPr>
              <a:solidFill xmlns:a="http://schemas.openxmlformats.org/drawingml/2006/main">
                <a:srgbClr val="177E89"/>
              </a:solidFill>
            </c:spPr>
          </c:dPt>
          <c:dPt>
            <c:idx val="1"/>
            <c:invertIfNegative val="0"/>
            <c:spPr>
              <a:solidFill xmlns:a="http://schemas.openxmlformats.org/drawingml/2006/main">
                <a:srgbClr val="4261A0"/>
              </a:solidFill>
            </c:spPr>
          </c:dPt>
          <c:dPt>
            <c:idx val="2"/>
            <c:invertIfNegative val="0"/>
            <c:spPr>
              <a:solidFill xmlns:a="http://schemas.openxmlformats.org/drawingml/2006/main">
                <a:srgbClr val="B36832"/>
              </a:solidFill>
            </c:spPr>
          </c:dPt>
          <c:dPt>
            <c:idx val="3"/>
            <c:invertIfNegative val="0"/>
            <c:spPr>
              <a:solidFill xmlns:a="http://schemas.openxmlformats.org/drawingml/2006/main">
                <a:srgbClr val="77619A"/>
              </a:solidFill>
            </c:spPr>
          </c:dPt>
          <c:cat>
            <c:strLit>
              <c:ptCount val="4"/>
              <c:pt idx="0">
                <c:v>Los Angeles</c:v>
              </c:pt>
              <c:pt idx="1">
                <c:v>New York</c:v>
              </c:pt>
              <c:pt idx="2">
                <c:v>Miami</c:v>
              </c:pt>
              <c:pt idx="3">
                <c:v>Phoenix</c:v>
              </c:pt>
            </c:strLit>
          </c:cat>
          <c:val>
            <c:numLit>
              <c:formatCode>General</c:formatCode>
              <c:ptCount val="4"/>
              <c:pt idx="0">
                <c:v>3</c:v>
              </c:pt>
              <c:pt idx="1">
                <c:v>2</c:v>
              </c:pt>
              <c:pt idx="2">
                <c:v>2</c:v>
              </c:pt>
              <c:pt idx="3">
                <c:v>2</c:v>
              </c:pt>
            </c:numLit>
          </c:val>
        </c:ser>
        <c:dLbls>
          <c:numFmt formatCode="0" sourceLinked="0"/>
          <c:txPr>
            <a:bodyPr xmlns:a="http://schemas.openxmlformats.org/drawingml/2006/main" anchorCtr="1"/>
            <a:lstStyle xmlns:a="http://schemas.openxmlformats.org/drawingml/2006/main"/>
            <a:p xmlns:a="http://schemas.openxmlformats.org/drawingml/2006/main">
              <a:pPr>
                <a:defRPr sz="1725" b="1">
                  <a:solidFill>
                    <a:srgbClr val="142D44"/>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72768"/>
      </c:catAx>
      <c:valAx>
        <c:axId val="48672768"/>
        <c:scaling>
          <c:orientation val="minMax"/>
          <c:max val="4"/>
          <c:min val="0"/>
        </c:scaling>
        <c:delete val="0"/>
        <c:axPos val="l"/>
        <c:majorGridlines>
          <c:spPr>
            <a:ln xmlns:a="http://schemas.openxmlformats.org/drawingml/2006/main" w="9525">
              <a:solidFill>
                <a:srgbClr val="DCE5EB"/>
              </a:solidFill>
            </a:ln>
          </c:spPr>
        </c:majorGridlines>
        <c:numFmt formatCode="General"/>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50112"/>
        <c:crossBetween val="between"/>
        <c:majorUnit val="1"/>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D44"/>
                </a:solidFill>
                <a:latin typeface="Arial"/>
                <a:ea typeface="Arial"/>
                <a:cs typeface="Arial"/>
              </a:rPr>
              <a:t>Real LA NO bids, October 11</a:t>
            </a:r>
          </a:p>
        </c:rich>
      </c:tx>
      <c:overlay val="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title>
    <c:plotArea>
      <c:scatterChart>
        <c:scatterStyle val="line"/>
        <c:varyColors val="0"/>
        <c:ser>
          <c:idx val="0"/>
          <c:order val="0"/>
          <c:tx>
            <c:v>Recorded best NO bid</c:v>
          </c:tx>
          <c:spPr>
            <a:ln xmlns:a="http://schemas.openxmlformats.org/drawingml/2006/main" w="38100">
              <a:solidFill>
                <a:srgbClr val="177E89"/>
              </a:solidFill>
            </a:ln>
          </c:spPr>
          <c:marker>
            <c:symbol val="none"/>
          </c:marker>
          <c:xVal>
            <c:numLit>
              <c:formatCode>General</c:formatCode>
              <c:ptCount val="30"/>
              <c:pt idx="0">
                <c:v>0.7083333333333334</c:v>
              </c:pt>
              <c:pt idx="1">
                <c:v>0.7090277777777777</c:v>
              </c:pt>
              <c:pt idx="2">
                <c:v>0.7097222222222223</c:v>
              </c:pt>
              <c:pt idx="3">
                <c:v>0.7104166666666667</c:v>
              </c:pt>
              <c:pt idx="4">
                <c:v>0.7111111111111111</c:v>
              </c:pt>
              <c:pt idx="5">
                <c:v>0.7118055555555555</c:v>
              </c:pt>
              <c:pt idx="6">
                <c:v>0.7125</c:v>
              </c:pt>
              <c:pt idx="7">
                <c:v>0.7131944444444445</c:v>
              </c:pt>
              <c:pt idx="8">
                <c:v>0.7138888888888889</c:v>
              </c:pt>
              <c:pt idx="9">
                <c:v>0.7145833333333332</c:v>
              </c:pt>
              <c:pt idx="10">
                <c:v>0.7152777777777778</c:v>
              </c:pt>
              <c:pt idx="11">
                <c:v>0.7159722222222222</c:v>
              </c:pt>
              <c:pt idx="12">
                <c:v>0.7166666666666667</c:v>
              </c:pt>
              <c:pt idx="13">
                <c:v>0.717361111111111</c:v>
              </c:pt>
              <c:pt idx="14">
                <c:v>0.7180555555555556</c:v>
              </c:pt>
              <c:pt idx="15">
                <c:v>0.71875</c:v>
              </c:pt>
              <c:pt idx="16">
                <c:v>0.7194444444444444</c:v>
              </c:pt>
              <c:pt idx="17">
                <c:v>0.720138888888889</c:v>
              </c:pt>
              <c:pt idx="18">
                <c:v>0.7208333333333333</c:v>
              </c:pt>
              <c:pt idx="19">
                <c:v>0.7215277777777778</c:v>
              </c:pt>
              <c:pt idx="20">
                <c:v>0.7222222222222222</c:v>
              </c:pt>
              <c:pt idx="21">
                <c:v>0.7229166666666668</c:v>
              </c:pt>
              <c:pt idx="22">
                <c:v>0.7236111111111111</c:v>
              </c:pt>
              <c:pt idx="23">
                <c:v>0.7243055555555555</c:v>
              </c:pt>
              <c:pt idx="24">
                <c:v>0.725</c:v>
              </c:pt>
              <c:pt idx="25">
                <c:v>0.7256944444444445</c:v>
              </c:pt>
              <c:pt idx="26">
                <c:v>0.7263888888888889</c:v>
              </c:pt>
              <c:pt idx="27">
                <c:v>0.7270833333333333</c:v>
              </c:pt>
              <c:pt idx="28">
                <c:v>0.7277777777777777</c:v>
              </c:pt>
              <c:pt idx="29">
                <c:v>0.7284722222222223</c:v>
              </c:pt>
            </c:numLit>
          </c:xVal>
          <c:yVal>
            <c:numLit>
              <c:formatCode>0"¢"</c:formatCode>
              <c:ptCount val="30"/>
              <c:pt idx="0">
                <c:v>19</c:v>
              </c:pt>
              <c:pt idx="1">
                <c:v>21</c:v>
              </c:pt>
              <c:pt idx="2">
                <c:v>24</c:v>
              </c:pt>
              <c:pt idx="3">
                <c:v>23</c:v>
              </c:pt>
              <c:pt idx="4">
                <c:v>24</c:v>
              </c:pt>
              <c:pt idx="5">
                <c:v>26</c:v>
              </c:pt>
              <c:pt idx="6">
                <c:v>28.000000000000004</c:v>
              </c:pt>
              <c:pt idx="7">
                <c:v>27</c:v>
              </c:pt>
              <c:pt idx="8">
                <c:v>32</c:v>
              </c:pt>
              <c:pt idx="9">
                <c:v>32</c:v>
              </c:pt>
              <c:pt idx="10">
                <c:v>32</c:v>
              </c:pt>
              <c:pt idx="11">
                <c:v>33</c:v>
              </c:pt>
              <c:pt idx="12">
                <c:v>33</c:v>
              </c:pt>
              <c:pt idx="13">
                <c:v>27</c:v>
              </c:pt>
              <c:pt idx="14">
                <c:v>25</c:v>
              </c:pt>
              <c:pt idx="15">
                <c:v>21</c:v>
              </c:pt>
              <c:pt idx="16">
                <c:v>20</c:v>
              </c:pt>
              <c:pt idx="17">
                <c:v>20</c:v>
              </c:pt>
              <c:pt idx="18">
                <c:v>20</c:v>
              </c:pt>
              <c:pt idx="19">
                <c:v>20</c:v>
              </c:pt>
              <c:pt idx="20">
                <c:v>20</c:v>
              </c:pt>
              <c:pt idx="21">
                <c:v>21</c:v>
              </c:pt>
              <c:pt idx="22">
                <c:v>21</c:v>
              </c:pt>
              <c:pt idx="23">
                <c:v>22</c:v>
              </c:pt>
              <c:pt idx="24">
                <c:v>22</c:v>
              </c:pt>
              <c:pt idx="25">
                <c:v>24</c:v>
              </c:pt>
              <c:pt idx="26">
                <c:v>30</c:v>
              </c:pt>
              <c:pt idx="27">
                <c:v>28.999999999999996</c:v>
              </c:pt>
              <c:pt idx="28">
                <c:v>30</c:v>
              </c:pt>
              <c:pt idx="29">
                <c:v>28.999999999999996</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40"/>
          <c:min val="0"/>
        </c:scaling>
        <c:delete val="0"/>
        <c:axPos val="l"/>
        <c:majorGridlines>
          <c:spPr>
            <a:ln xmlns:a="http://schemas.openxmlformats.org/drawingml/2006/main" w="9525">
              <a:solidFill>
                <a:srgbClr val="DCE5EB"/>
              </a:solidFill>
            </a:ln>
          </c:spPr>
        </c:majorGridlines>
        <c:numFmt formatCode="0&quot;¢&quot;"/>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50112"/>
        <c:majorUnit val="10"/>
      </c:valAx>
      <c:valAx>
        <c:axId val="48650112"/>
        <c:scaling>
          <c:orientation val="minMax"/>
          <c:max val="0.7291666666666666"/>
          <c:min val="0.7083333333333334"/>
        </c:scaling>
        <c:delete val="0"/>
        <c:axPos val="b"/>
        <c:numFmt formatCode="h:mm"/>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72768"/>
        <c:majorUnit val="0.003472222222222222"/>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D44"/>
                </a:solidFill>
                <a:latin typeface="Arial"/>
                <a:ea typeface="Arial"/>
                <a:cs typeface="Arial"/>
              </a:rPr>
              <a:t>Phoenix ensemble: same source days, new sequences</a:t>
            </a:r>
          </a:p>
        </c:rich>
      </c:tx>
      <c:overlay val="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title>
    <c:plotArea>
      <c:barChart>
        <c:barDir val="col"/>
        <c:grouping val="clustered"/>
        <c:varyColors val="0"/>
        <c:ser>
          <c:idx val="0"/>
          <c:order val="0"/>
          <c:tx>
            <c:v>Ending $100 paper wallet</c:v>
          </c:tx>
          <c:spPr>
            <a:solidFill xmlns:a="http://schemas.openxmlformats.org/drawingml/2006/main">
              <a:srgbClr val="77619A"/>
            </a:solidFill>
          </c:spPr>
          <c:cat>
            <c:strLit>
              <c:ptCount val="3"/>
              <c:pt idx="0">
                <c:v>Sequence 1</c:v>
              </c:pt>
              <c:pt idx="1">
                <c:v>Sequence 2</c:v>
              </c:pt>
              <c:pt idx="2">
                <c:v>Sequence 3</c:v>
              </c:pt>
            </c:strLit>
          </c:cat>
          <c:val>
            <c:numLit>
              <c:formatCode>$0</c:formatCode>
              <c:ptCount val="3"/>
              <c:pt idx="0">
                <c:v>90.0054</c:v>
              </c:pt>
              <c:pt idx="1">
                <c:v>116.4459</c:v>
              </c:pt>
              <c:pt idx="2">
                <c:v>101.4032</c:v>
              </c:pt>
            </c:numLit>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142D44"/>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72768"/>
      </c:catAx>
      <c:valAx>
        <c:axId val="48672768"/>
        <c:scaling>
          <c:orientation val="minMax"/>
          <c:max val="130"/>
          <c:min val="0"/>
        </c:scaling>
        <c:delete val="0"/>
        <c:axPos val="l"/>
        <c:majorGridlines>
          <c:spPr>
            <a:ln xmlns:a="http://schemas.openxmlformats.org/drawingml/2006/main" w="9525">
              <a:solidFill>
                <a:srgbClr val="DCE5EB"/>
              </a:solidFill>
            </a:ln>
          </c:spPr>
        </c:majorGridlines>
        <c:numFmt formatCode="$0"/>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50112"/>
        <c:crossBetween val="between"/>
        <c:majorUnit val="25"/>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D44"/>
                </a:solidFill>
                <a:latin typeface="Arial"/>
                <a:ea typeface="Arial"/>
                <a:cs typeface="Arial"/>
              </a:rPr>
              <a:t>Phoenix: three constructed 30-day sequences</a:t>
            </a:r>
          </a:p>
        </c:rich>
      </c:tx>
      <c:overlay val="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title>
    <c:plotArea>
      <c:barChart>
        <c:barDir val="col"/>
        <c:grouping val="clustered"/>
        <c:varyColors val="0"/>
        <c:ser>
          <c:idx val="0"/>
          <c:order val="0"/>
          <c:tx>
            <c:v>Ensemble</c:v>
          </c:tx>
          <c:spPr>
            <a:solidFill xmlns:a="http://schemas.openxmlformats.org/drawingml/2006/main">
              <a:srgbClr val="77619A"/>
            </a:solidFill>
          </c:spPr>
          <c:invertIfNegative val="0"/>
          <c:cat>
            <c:strLit>
              <c:ptCount val="3"/>
              <c:pt idx="0">
                <c:v>Sequence 1</c:v>
              </c:pt>
              <c:pt idx="1">
                <c:v>Sequence 2</c:v>
              </c:pt>
              <c:pt idx="2">
                <c:v>Sequence 3</c:v>
              </c:pt>
            </c:strLit>
          </c:cat>
          <c:val>
            <c:numLit>
              <c:formatCode>+$0;-$0;$0</c:formatCode>
              <c:ptCount val="3"/>
              <c:pt idx="0">
                <c:v>-9.9946</c:v>
              </c:pt>
              <c:pt idx="1">
                <c:v>16.4459</c:v>
              </c:pt>
              <c:pt idx="2">
                <c:v>1.4032</c:v>
              </c:pt>
            </c:numLit>
          </c:val>
        </c:ser>
        <c:ser>
          <c:idx val="1"/>
          <c:order val="1"/>
          <c:tx>
            <c:v>V19 range</c:v>
          </c:tx>
          <c:spPr>
            <a:solidFill xmlns:a="http://schemas.openxmlformats.org/drawingml/2006/main">
              <a:srgbClr val="4261A0"/>
            </a:solidFill>
          </c:spPr>
          <c:invertIfNegative val="0"/>
          <c:cat>
            <c:strLit>
              <c:ptCount val="3"/>
              <c:pt idx="0">
                <c:v>Sequence 1</c:v>
              </c:pt>
              <c:pt idx="1">
                <c:v>Sequence 2</c:v>
              </c:pt>
              <c:pt idx="2">
                <c:v>Sequence 3</c:v>
              </c:pt>
            </c:strLit>
          </c:cat>
          <c:val>
            <c:numLit>
              <c:formatCode>+$0;-$0;$0</c:formatCode>
              <c:ptCount val="3"/>
              <c:pt idx="0">
                <c:v>-3.9402</c:v>
              </c:pt>
              <c:pt idx="1">
                <c:v>8.6091</c:v>
              </c:pt>
              <c:pt idx="2">
                <c:v>-7.0102</c:v>
              </c:pt>
            </c:numLit>
          </c:val>
        </c:ser>
        <c:dLbls>
          <c:numFmt formatCode="+$0.00;-$0.00;$0.00" sourceLinked="0"/>
          <c:txPr>
            <a:bodyPr xmlns:a="http://schemas.openxmlformats.org/drawingml/2006/main" anchorCtr="1"/>
            <a:lstStyle xmlns:a="http://schemas.openxmlformats.org/drawingml/2006/main"/>
            <a:p xmlns:a="http://schemas.openxmlformats.org/drawingml/2006/main">
              <a:pPr>
                <a:defRPr sz="1725" b="1">
                  <a:solidFill>
                    <a:srgbClr val="142D44"/>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72768"/>
      </c:catAx>
      <c:valAx>
        <c:axId val="48672768"/>
        <c:scaling>
          <c:orientation val="minMax"/>
          <c:max val="20"/>
          <c:min val="-15"/>
        </c:scaling>
        <c:delete val="0"/>
        <c:axPos val="l"/>
        <c:majorGridlines>
          <c:spPr>
            <a:ln xmlns:a="http://schemas.openxmlformats.org/drawingml/2006/main" w="9525">
              <a:solidFill>
                <a:srgbClr val="DCE5EB"/>
              </a:solidFill>
            </a:ln>
          </c:spPr>
        </c:majorGridlines>
        <c:numFmt formatCode="+$0;-$0;$0"/>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50112"/>
        <c:crossBetween val="between"/>
        <c:majorUnit val="5"/>
      </c:valAx>
      <c:spPr>
        <a:noFill xmlns:a="http://schemas.openxmlformats.org/drawingml/2006/main"/>
        <a:ln xmlns:a="http://schemas.openxmlformats.org/drawingml/2006/main">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2677B"/>
              </a:solidFill>
              <a:latin typeface="Arial"/>
              <a:ea typeface="Arial"/>
              <a:cs typeface="Arial"/>
            </a:defRPr>
          </a:pPr>
        </a:p>
      </c:txPr>
    </c:legend>
    <c:plotVisOnly val="1"/>
  </c:chart>
  <c:spPr>
    <a:noFill xmlns:a="http://schemas.openxmlformats.org/drawingml/2006/main"/>
    <a:ln xmlns:a="http://schemas.openxmlformats.org/drawingml/2006/main">
      <a:noFill/>
    </a:ln>
  </c:spPr>
</c:chartSpace>
</file>

<file path=ppt/slides/charts/chart5.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D44"/>
                </a:solidFill>
                <a:latin typeface="Arial"/>
                <a:ea typeface="Arial"/>
                <a:cs typeface="Arial"/>
              </a:rPr>
              <a:t>LA: change when available depth is halved</a:t>
            </a:r>
          </a:p>
        </c:rich>
      </c:tx>
      <c:overlay val="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title>
    <c:plotArea>
      <c:barChart>
        <c:barDir val="col"/>
        <c:grouping val="clustered"/>
        <c:varyColors val="0"/>
        <c:ser>
          <c:idx val="0"/>
          <c:order val="0"/>
          <c:tx>
            <c:v>Mean ending-cash change versus matched case</c:v>
          </c:tx>
          <c:spPr>
            <a:solidFill xmlns:a="http://schemas.openxmlformats.org/drawingml/2006/main">
              <a:srgbClr val="177E89"/>
            </a:solidFill>
          </c:spPr>
          <c:invertIfNegative val="0"/>
          <c:cat>
            <c:strLit>
              <c:ptCount val="3"/>
              <c:pt idx="0">
                <c:v>V10 exit</c:v>
              </c:pt>
              <c:pt idx="1">
                <c:v>Hybrid safety</c:v>
              </c:pt>
              <c:pt idx="2">
                <c:v>V8D hold</c:v>
              </c:pt>
            </c:strLit>
          </c:cat>
          <c:val>
            <c:numLit>
              <c:formatCode>$0;-$0</c:formatCode>
              <c:ptCount val="3"/>
              <c:pt idx="0">
                <c:v>-98.7421875</c:v>
              </c:pt>
              <c:pt idx="1">
                <c:v>-24.069374999999997</c:v>
              </c:pt>
              <c:pt idx="2">
                <c:v>-31.237034375</c:v>
              </c:pt>
            </c:numLit>
          </c:val>
        </c:ser>
        <c:dLbls>
          <c:numFmt formatCode="$0.00;-$0.00" sourceLinked="0"/>
          <c:txPr>
            <a:bodyPr xmlns:a="http://schemas.openxmlformats.org/drawingml/2006/main" anchorCtr="1"/>
            <a:lstStyle xmlns:a="http://schemas.openxmlformats.org/drawingml/2006/main"/>
            <a:p xmlns:a="http://schemas.openxmlformats.org/drawingml/2006/main">
              <a:pPr>
                <a:defRPr sz="1725" b="1">
                  <a:solidFill>
                    <a:srgbClr val="142D44"/>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72768"/>
      </c:catAx>
      <c:valAx>
        <c:axId val="48672768"/>
        <c:scaling>
          <c:orientation val="minMax"/>
          <c:max val="0"/>
          <c:min val="-120"/>
        </c:scaling>
        <c:delete val="0"/>
        <c:axPos val="l"/>
        <c:majorGridlines>
          <c:spPr>
            <a:ln xmlns:a="http://schemas.openxmlformats.org/drawingml/2006/main" w="9525">
              <a:solidFill>
                <a:srgbClr val="DCE5EB"/>
              </a:solidFill>
            </a:ln>
          </c:spPr>
        </c:majorGridlines>
        <c:numFmt formatCode="$0;-$0"/>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50112"/>
        <c:crossBetween val="between"/>
        <c:majorUnit val="30"/>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6.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D44"/>
                </a:solidFill>
                <a:latin typeface="Arial"/>
                <a:ea typeface="Arial"/>
                <a:cs typeface="Arial"/>
              </a:rPr>
              <a:t>October buying window, Pacific time</a:t>
            </a:r>
          </a:p>
        </c:rich>
      </c:tx>
      <c:overlay val="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title>
    <c:plotArea>
      <c:scatterChart>
        <c:scatterStyle val="lineMarker"/>
        <c:varyColors val="0"/>
        <c:ser>
          <c:idx val="0"/>
          <c:order val="0"/>
          <c:tx>
            <c:v>Eligible buying window</c:v>
          </c:tx>
          <c:spPr>
            <a:ln xmlns:a="http://schemas.openxmlformats.org/drawingml/2006/main" w="57150">
              <a:solidFill>
                <a:srgbClr val="177E89"/>
              </a:solidFill>
            </a:ln>
          </c:spPr>
          <c:marker>
            <c:symbol val="circle"/>
            <c:size val="14"/>
            <c:spPr>
              <a:solidFill xmlns:a="http://schemas.openxmlformats.org/drawingml/2006/main">
                <a:srgbClr val="177E89"/>
              </a:solidFill>
            </c:spPr>
          </c:marker>
          <c:xVal>
            <c:numLit>
              <c:formatCode>General</c:formatCode>
              <c:ptCount val="2"/>
              <c:pt idx="0">
                <c:v>0.4166666666666667</c:v>
              </c:pt>
              <c:pt idx="1">
                <c:v>0.5416666666666666</c:v>
              </c:pt>
            </c:numLit>
          </c:xVal>
          <c:yVal>
            <c:numLit>
              <c:formatCode>General</c:formatCode>
              <c:ptCount val="2"/>
              <c:pt idx="0">
                <c:v>1</c:v>
              </c:pt>
              <c:pt idx="1">
                <c:v>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valAx>
      <c:valAx>
        <c:axId val="48650112"/>
        <c:scaling>
          <c:orientation val="minMax"/>
          <c:max val="0.5833333333333334"/>
          <c:min val="0.375"/>
        </c:scaling>
        <c:delete val="0"/>
        <c:axPos val="b"/>
        <c:numFmt formatCode="h:mm"/>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72768"/>
        <c:majorUnit val="0.041666666666666664"/>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7.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D44"/>
                </a:solidFill>
                <a:latin typeface="Arial"/>
                <a:ea typeface="Arial"/>
                <a:cs typeface="Arial"/>
              </a:rPr>
              <a:t>Maximum spend from a $100 wallet</a:t>
            </a:r>
          </a:p>
        </c:rich>
      </c:tx>
      <c:overlay val="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title>
    <c:plotArea>
      <c:barChart>
        <c:barDir val="bar"/>
        <c:grouping val="clustered"/>
        <c:varyColors val="0"/>
        <c:ser>
          <c:idx val="0"/>
          <c:order val="0"/>
          <c:tx>
            <c:v>Cash limit including fees</c:v>
          </c:tx>
          <c:spPr>
            <a:solidFill xmlns:a="http://schemas.openxmlformats.org/drawingml/2006/main">
              <a:srgbClr val="177E89"/>
            </a:solidFill>
          </c:spPr>
          <c:cat>
            <c:strLit>
              <c:ptCount val="2"/>
              <c:pt idx="0">
                <c:v>First purchase</c:v>
              </c:pt>
              <c:pt idx="1">
                <c:v>Later purchase</c:v>
              </c:pt>
            </c:strLit>
          </c:cat>
          <c:val>
            <c:numLit>
              <c:formatCode>$0</c:formatCode>
              <c:ptCount val="2"/>
              <c:pt idx="0">
                <c:v>10</c:v>
              </c:pt>
              <c:pt idx="1">
                <c:v>0</c:v>
              </c:pt>
            </c:numLit>
          </c:val>
        </c:ser>
        <c:dLbls>
          <c:numFmt formatCode="$0.00" sourceLinked="0"/>
          <c:txPr>
            <a:bodyPr xmlns:a="http://schemas.openxmlformats.org/drawingml/2006/main" anchorCtr="1"/>
            <a:lstStyle xmlns:a="http://schemas.openxmlformats.org/drawingml/2006/main"/>
            <a:p xmlns:a="http://schemas.openxmlformats.org/drawingml/2006/main">
              <a:pPr>
                <a:defRPr sz="1800" b="1">
                  <a:solidFill>
                    <a:srgbClr val="142D44"/>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72768"/>
      </c:catAx>
      <c:valAx>
        <c:axId val="48672768"/>
        <c:scaling>
          <c:orientation val="minMax"/>
          <c:max val="11"/>
          <c:min val="0"/>
        </c:scaling>
        <c:delete val="0"/>
        <c:axPos val="b"/>
        <c:majorGridlines>
          <c:spPr>
            <a:ln xmlns:a="http://schemas.openxmlformats.org/drawingml/2006/main" w="9525">
              <a:solidFill>
                <a:srgbClr val="DCE5EB"/>
              </a:solidFill>
            </a:ln>
          </c:spPr>
        </c:majorGridlines>
        <c:numFmt formatCode="$0"/>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50112"/>
        <c:crossBetween val="between"/>
        <c:majorUnit val="5"/>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8.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D44"/>
                </a:solidFill>
                <a:latin typeface="Arial"/>
                <a:ea typeface="Arial"/>
                <a:cs typeface="Arial"/>
              </a:rPr>
              <a:t>October buying window, Pacific time</a:t>
            </a:r>
          </a:p>
        </c:rich>
      </c:tx>
      <c:overlay val="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title>
    <c:plotArea>
      <c:scatterChart>
        <c:scatterStyle val="lineMarker"/>
        <c:varyColors val="0"/>
        <c:ser>
          <c:idx val="0"/>
          <c:order val="0"/>
          <c:tx>
            <c:v>Eligible buying window</c:v>
          </c:tx>
          <c:spPr>
            <a:ln xmlns:a="http://schemas.openxmlformats.org/drawingml/2006/main" w="57150">
              <a:solidFill>
                <a:srgbClr val="177E89"/>
              </a:solidFill>
            </a:ln>
          </c:spPr>
          <c:marker>
            <c:symbol val="circle"/>
            <c:size val="14"/>
            <c:spPr>
              <a:solidFill xmlns:a="http://schemas.openxmlformats.org/drawingml/2006/main">
                <a:srgbClr val="177E89"/>
              </a:solidFill>
            </c:spPr>
          </c:marker>
          <c:xVal>
            <c:numLit>
              <c:formatCode>General</c:formatCode>
              <c:ptCount val="2"/>
              <c:pt idx="0">
                <c:v>0.4166666666666667</c:v>
              </c:pt>
              <c:pt idx="1">
                <c:v>0.5416666666666666</c:v>
              </c:pt>
            </c:numLit>
          </c:xVal>
          <c:yVal>
            <c:numLit>
              <c:formatCode>General</c:formatCode>
              <c:ptCount val="2"/>
              <c:pt idx="0">
                <c:v>1</c:v>
              </c:pt>
              <c:pt idx="1">
                <c:v>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valAx>
      <c:valAx>
        <c:axId val="48650112"/>
        <c:scaling>
          <c:orientation val="minMax"/>
          <c:max val="0.5833333333333334"/>
          <c:min val="0.375"/>
        </c:scaling>
        <c:delete val="0"/>
        <c:axPos val="b"/>
        <c:numFmt formatCode="h:mm"/>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72768"/>
        <c:majorUnit val="0.041666666666666664"/>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9.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D44"/>
                </a:solidFill>
                <a:latin typeface="Arial"/>
                <a:ea typeface="Arial"/>
                <a:cs typeface="Arial"/>
              </a:rPr>
              <a:t>Maximum spend from a $100 wallet</a:t>
            </a:r>
          </a:p>
        </c:rich>
      </c:tx>
      <c:overlay val="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title>
    <c:plotArea>
      <c:barChart>
        <c:barDir val="bar"/>
        <c:grouping val="clustered"/>
        <c:varyColors val="0"/>
        <c:ser>
          <c:idx val="0"/>
          <c:order val="0"/>
          <c:tx>
            <c:v>Cash limit including fees</c:v>
          </c:tx>
          <c:spPr>
            <a:solidFill xmlns:a="http://schemas.openxmlformats.org/drawingml/2006/main">
              <a:srgbClr val="177E89"/>
            </a:solidFill>
          </c:spPr>
          <c:cat>
            <c:strLit>
              <c:ptCount val="2"/>
              <c:pt idx="0">
                <c:v>First purchase</c:v>
              </c:pt>
              <c:pt idx="1">
                <c:v>Later purchase</c:v>
              </c:pt>
            </c:strLit>
          </c:cat>
          <c:val>
            <c:numLit>
              <c:formatCode>$0</c:formatCode>
              <c:ptCount val="2"/>
              <c:pt idx="0">
                <c:v>2.5</c:v>
              </c:pt>
              <c:pt idx="1">
                <c:v>2.5</c:v>
              </c:pt>
            </c:numLit>
          </c:val>
        </c:ser>
        <c:dLbls>
          <c:numFmt formatCode="$0.00" sourceLinked="0"/>
          <c:txPr>
            <a:bodyPr xmlns:a="http://schemas.openxmlformats.org/drawingml/2006/main" anchorCtr="1"/>
            <a:lstStyle xmlns:a="http://schemas.openxmlformats.org/drawingml/2006/main"/>
            <a:p xmlns:a="http://schemas.openxmlformats.org/drawingml/2006/main">
              <a:pPr>
                <a:defRPr sz="1800" b="1">
                  <a:solidFill>
                    <a:srgbClr val="142D44"/>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72768"/>
      </c:catAx>
      <c:valAx>
        <c:axId val="48672768"/>
        <c:scaling>
          <c:orientation val="minMax"/>
          <c:max val="11"/>
          <c:min val="0"/>
        </c:scaling>
        <c:delete val="0"/>
        <c:axPos val="b"/>
        <c:majorGridlines>
          <c:spPr>
            <a:ln xmlns:a="http://schemas.openxmlformats.org/drawingml/2006/main" w="9525">
              <a:solidFill>
                <a:srgbClr val="DCE5EB"/>
              </a:solidFill>
            </a:ln>
          </c:spPr>
        </c:majorGridlines>
        <c:numFmt formatCode="$0"/>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50112"/>
        <c:crossBetween val="between"/>
        <c:majorUnit val="5"/>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10.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D44"/>
                </a:solidFill>
                <a:latin typeface="Arial"/>
                <a:ea typeface="Arial"/>
                <a:cs typeface="Arial"/>
              </a:rPr>
              <a:t>October buying time, Pacific time</a:t>
            </a:r>
          </a:p>
        </c:rich>
      </c:tx>
      <c:overlay val="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title>
    <c:plotArea>
      <c:scatterChart>
        <c:scatterStyle val="marker"/>
        <c:varyColors val="0"/>
        <c:ser>
          <c:idx val="0"/>
          <c:order val="0"/>
          <c:tx>
            <c:v>Scheduled checks</c:v>
          </c:tx>
          <c:spPr>
            <a:ln xmlns:a="http://schemas.openxmlformats.org/drawingml/2006/main" w="57150">
              <a:noFill/>
            </a:ln>
          </c:spPr>
          <c:marker>
            <c:symbol val="circle"/>
            <c:size val="14"/>
            <c:spPr>
              <a:solidFill xmlns:a="http://schemas.openxmlformats.org/drawingml/2006/main">
                <a:srgbClr val="177E89"/>
              </a:solidFill>
            </c:spPr>
          </c:marker>
          <c:xVal>
            <c:numLit>
              <c:formatCode>General</c:formatCode>
              <c:ptCount val="1"/>
              <c:pt idx="0">
                <c:v>0.4583333333333333</c:v>
              </c:pt>
            </c:numLit>
          </c:xVal>
          <c:yVal>
            <c:numLit>
              <c:formatCode>General</c:formatCode>
              <c:ptCount val="1"/>
              <c:pt idx="0">
                <c:v>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valAx>
      <c:valAx>
        <c:axId val="48650112"/>
        <c:scaling>
          <c:orientation val="minMax"/>
          <c:max val="0.5833333333333334"/>
          <c:min val="0.375"/>
        </c:scaling>
        <c:delete val="0"/>
        <c:axPos val="b"/>
        <c:numFmt formatCode="h:mm"/>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72768"/>
        <c:majorUnit val="0.041666666666666664"/>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1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D44"/>
                </a:solidFill>
                <a:latin typeface="Arial"/>
                <a:ea typeface="Arial"/>
                <a:cs typeface="Arial"/>
              </a:rPr>
              <a:t>Maximum spend from a $100 wallet</a:t>
            </a:r>
          </a:p>
        </c:rich>
      </c:tx>
      <c:overlay val="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title>
    <c:plotArea>
      <c:barChart>
        <c:barDir val="bar"/>
        <c:grouping val="clustered"/>
        <c:varyColors val="0"/>
        <c:ser>
          <c:idx val="0"/>
          <c:order val="0"/>
          <c:tx>
            <c:v>Cash limit including fees</c:v>
          </c:tx>
          <c:spPr>
            <a:solidFill xmlns:a="http://schemas.openxmlformats.org/drawingml/2006/main">
              <a:srgbClr val="177E89"/>
            </a:solidFill>
          </c:spPr>
          <c:cat>
            <c:strLit>
              <c:ptCount val="2"/>
              <c:pt idx="0">
                <c:v>First purchase</c:v>
              </c:pt>
              <c:pt idx="1">
                <c:v>Later purchase</c:v>
              </c:pt>
            </c:strLit>
          </c:cat>
          <c:val>
            <c:numLit>
              <c:formatCode>$0</c:formatCode>
              <c:ptCount val="2"/>
              <c:pt idx="0">
                <c:v>10</c:v>
              </c:pt>
              <c:pt idx="1">
                <c:v>0</c:v>
              </c:pt>
            </c:numLit>
          </c:val>
        </c:ser>
        <c:dLbls>
          <c:numFmt formatCode="$0.00" sourceLinked="0"/>
          <c:txPr>
            <a:bodyPr xmlns:a="http://schemas.openxmlformats.org/drawingml/2006/main" anchorCtr="1"/>
            <a:lstStyle xmlns:a="http://schemas.openxmlformats.org/drawingml/2006/main"/>
            <a:p xmlns:a="http://schemas.openxmlformats.org/drawingml/2006/main">
              <a:pPr>
                <a:defRPr sz="1800" b="1">
                  <a:solidFill>
                    <a:srgbClr val="142D44"/>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72768"/>
      </c:catAx>
      <c:valAx>
        <c:axId val="48672768"/>
        <c:scaling>
          <c:orientation val="minMax"/>
          <c:max val="11"/>
          <c:min val="0"/>
        </c:scaling>
        <c:delete val="0"/>
        <c:axPos val="b"/>
        <c:majorGridlines>
          <c:spPr>
            <a:ln xmlns:a="http://schemas.openxmlformats.org/drawingml/2006/main" w="9525">
              <a:solidFill>
                <a:srgbClr val="DCE5EB"/>
              </a:solidFill>
            </a:ln>
          </c:spPr>
        </c:majorGridlines>
        <c:numFmt formatCode="$0"/>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50112"/>
        <c:crossBetween val="between"/>
        <c:majorUnit val="5"/>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1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D44"/>
                </a:solidFill>
                <a:latin typeface="Arial"/>
                <a:ea typeface="Arial"/>
                <a:cs typeface="Arial"/>
              </a:rPr>
              <a:t>Recorded cash from $100</a:t>
            </a:r>
          </a:p>
        </c:rich>
      </c:tx>
      <c:overlay val="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title>
    <c:plotArea>
      <c:barChart>
        <c:barDir val="col"/>
        <c:grouping val="clustered"/>
        <c:varyColors val="0"/>
        <c:ser>
          <c:idx val="0"/>
          <c:order val="0"/>
          <c:tx>
            <c:v>Cash including resolved payouts</c:v>
          </c:tx>
          <c:spPr>
            <a:solidFill xmlns:a="http://schemas.openxmlformats.org/drawingml/2006/main">
              <a:srgbClr val="177E89"/>
            </a:solidFill>
          </c:spPr>
          <c:cat>
            <c:strLit>
              <c:ptCount val="3"/>
              <c:pt idx="0">
                <c:v>V10 exit</c:v>
              </c:pt>
              <c:pt idx="1">
                <c:v>Hybrid safety</c:v>
              </c:pt>
              <c:pt idx="2">
                <c:v>V8D hold</c:v>
              </c:pt>
            </c:strLit>
          </c:cat>
          <c:val>
            <c:numLit>
              <c:formatCode>$0</c:formatCode>
              <c:ptCount val="3"/>
              <c:pt idx="0">
                <c:v>291.34</c:v>
              </c:pt>
              <c:pt idx="1">
                <c:v>235.79</c:v>
              </c:pt>
              <c:pt idx="2">
                <c:v>126.8099</c:v>
              </c:pt>
            </c:numLit>
          </c:val>
        </c:ser>
        <c:dLbls>
          <c:numFmt formatCode="$0.00" sourceLinked="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72768"/>
      </c:catAx>
      <c:valAx>
        <c:axId val="48672768"/>
        <c:scaling>
          <c:orientation val="minMax"/>
          <c:max val="350"/>
          <c:min val="0"/>
        </c:scaling>
        <c:delete val="0"/>
        <c:axPos val="l"/>
        <c:majorGridlines>
          <c:spPr>
            <a:ln xmlns:a="http://schemas.openxmlformats.org/drawingml/2006/main" w="9525">
              <a:solidFill>
                <a:srgbClr val="DCE5EB"/>
              </a:solidFill>
            </a:ln>
          </c:spPr>
        </c:majorGridlines>
        <c:numFmt formatCode="$0"/>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50112"/>
        <c:crossBetween val="between"/>
        <c:majorUnit val="50"/>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1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D44"/>
                </a:solidFill>
                <a:latin typeface="Arial"/>
                <a:ea typeface="Arial"/>
                <a:cs typeface="Arial"/>
              </a:rPr>
              <a:t>Recorded cash from $100</a:t>
            </a:r>
          </a:p>
        </c:rich>
      </c:tx>
      <c:overlay val="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title>
    <c:plotArea>
      <c:barChart>
        <c:barDir val="col"/>
        <c:grouping val="clustered"/>
        <c:varyColors val="0"/>
        <c:ser>
          <c:idx val="0"/>
          <c:order val="0"/>
          <c:tx>
            <c:v>Cash including resolved payouts</c:v>
          </c:tx>
          <c:spPr>
            <a:solidFill xmlns:a="http://schemas.openxmlformats.org/drawingml/2006/main">
              <a:srgbClr val="177E89"/>
            </a:solidFill>
          </c:spPr>
          <c:dPt>
            <c:idx val="0"/>
            <c:invertIfNegative val="0"/>
            <c:spPr>
              <a:solidFill xmlns:a="http://schemas.openxmlformats.org/drawingml/2006/main">
                <a:srgbClr val="8B99A5"/>
              </a:solidFill>
            </c:spPr>
          </c:dPt>
          <c:cat>
            <c:strLit>
              <c:ptCount val="3"/>
              <c:pt idx="0">
                <c:v>V10 exit*</c:v>
              </c:pt>
              <c:pt idx="1">
                <c:v>Hybrid safety</c:v>
              </c:pt>
              <c:pt idx="2">
                <c:v>V8D hold</c:v>
              </c:pt>
            </c:strLit>
          </c:cat>
          <c:val>
            <c:numLit>
              <c:formatCode>$0</c:formatCode>
              <c:ptCount val="3"/>
              <c:pt idx="0">
                <c:v>94.61</c:v>
              </c:pt>
              <c:pt idx="1">
                <c:v>104.52</c:v>
              </c:pt>
              <c:pt idx="2">
                <c:v>150.1253</c:v>
              </c:pt>
            </c:numLit>
          </c:val>
        </c:ser>
        <c:dLbls>
          <c:numFmt formatCode="$0.00" sourceLinked="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72768"/>
      </c:catAx>
      <c:valAx>
        <c:axId val="48672768"/>
        <c:scaling>
          <c:orientation val="minMax"/>
          <c:max val="175"/>
          <c:min val="0"/>
        </c:scaling>
        <c:delete val="0"/>
        <c:axPos val="l"/>
        <c:majorGridlines>
          <c:spPr>
            <a:ln xmlns:a="http://schemas.openxmlformats.org/drawingml/2006/main" w="9525">
              <a:solidFill>
                <a:srgbClr val="DCE5EB"/>
              </a:solidFill>
            </a:ln>
          </c:spPr>
        </c:majorGridlines>
        <c:numFmt formatCode="$0"/>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50112"/>
        <c:crossBetween val="between"/>
        <c:majorUnit val="50"/>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1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D44"/>
                </a:solidFill>
                <a:latin typeface="Arial"/>
                <a:ea typeface="Arial"/>
                <a:cs typeface="Arial"/>
              </a:rPr>
              <a:t>Buying time, New York local time</a:t>
            </a:r>
          </a:p>
        </c:rich>
      </c:tx>
      <c:overlay val="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title>
    <c:plotArea>
      <c:scatterChart>
        <c:scatterStyle val="marker"/>
        <c:varyColors val="0"/>
        <c:ser>
          <c:idx val="0"/>
          <c:order val="0"/>
          <c:tx>
            <c:v>Scheduled checks</c:v>
          </c:tx>
          <c:spPr>
            <a:ln xmlns:a="http://schemas.openxmlformats.org/drawingml/2006/main" w="57150">
              <a:noFill/>
            </a:ln>
          </c:spPr>
          <c:marker>
            <c:symbol val="circle"/>
            <c:size val="14"/>
            <c:spPr>
              <a:solidFill xmlns:a="http://schemas.openxmlformats.org/drawingml/2006/main">
                <a:srgbClr val="4261A0"/>
              </a:solidFill>
            </c:spPr>
          </c:marker>
          <c:xVal>
            <c:numLit>
              <c:formatCode>General</c:formatCode>
              <c:ptCount val="1"/>
              <c:pt idx="0">
                <c:v>0.4166666666666667</c:v>
              </c:pt>
            </c:numLit>
          </c:xVal>
          <c:yVal>
            <c:numLit>
              <c:formatCode>General</c:formatCode>
              <c:ptCount val="1"/>
              <c:pt idx="0">
                <c:v>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valAx>
      <c:valAx>
        <c:axId val="48650112"/>
        <c:scaling>
          <c:orientation val="minMax"/>
          <c:max val="0.5833333333333334"/>
          <c:min val="0.375"/>
        </c:scaling>
        <c:delete val="0"/>
        <c:axPos val="b"/>
        <c:numFmt formatCode="h:mm"/>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72768"/>
        <c:majorUnit val="0.041666666666666664"/>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15.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D44"/>
                </a:solidFill>
                <a:latin typeface="Arial"/>
                <a:ea typeface="Arial"/>
                <a:cs typeface="Arial"/>
              </a:rPr>
              <a:t>Maximum spend from a $100 wallet</a:t>
            </a:r>
          </a:p>
        </c:rich>
      </c:tx>
      <c:overlay val="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title>
    <c:plotArea>
      <c:barChart>
        <c:barDir val="bar"/>
        <c:grouping val="clustered"/>
        <c:varyColors val="0"/>
        <c:ser>
          <c:idx val="0"/>
          <c:order val="0"/>
          <c:tx>
            <c:v>Cash limit including fees</c:v>
          </c:tx>
          <c:spPr>
            <a:solidFill xmlns:a="http://schemas.openxmlformats.org/drawingml/2006/main">
              <a:srgbClr val="4261A0"/>
            </a:solidFill>
          </c:spPr>
          <c:cat>
            <c:strLit>
              <c:ptCount val="2"/>
              <c:pt idx="0">
                <c:v>First purchase</c:v>
              </c:pt>
              <c:pt idx="1">
                <c:v>Later purchase</c:v>
              </c:pt>
            </c:strLit>
          </c:cat>
          <c:val>
            <c:numLit>
              <c:formatCode>$0</c:formatCode>
              <c:ptCount val="2"/>
              <c:pt idx="0">
                <c:v>10</c:v>
              </c:pt>
              <c:pt idx="1">
                <c:v>0</c:v>
              </c:pt>
            </c:numLit>
          </c:val>
        </c:ser>
        <c:dLbls>
          <c:numFmt formatCode="$0.00" sourceLinked="0"/>
          <c:txPr>
            <a:bodyPr xmlns:a="http://schemas.openxmlformats.org/drawingml/2006/main" anchorCtr="1"/>
            <a:lstStyle xmlns:a="http://schemas.openxmlformats.org/drawingml/2006/main"/>
            <a:p xmlns:a="http://schemas.openxmlformats.org/drawingml/2006/main">
              <a:pPr>
                <a:defRPr sz="1800" b="1">
                  <a:solidFill>
                    <a:srgbClr val="142D44"/>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72768"/>
      </c:catAx>
      <c:valAx>
        <c:axId val="48672768"/>
        <c:scaling>
          <c:orientation val="minMax"/>
          <c:max val="11"/>
          <c:min val="0"/>
        </c:scaling>
        <c:delete val="0"/>
        <c:axPos val="b"/>
        <c:majorGridlines>
          <c:spPr>
            <a:ln xmlns:a="http://schemas.openxmlformats.org/drawingml/2006/main" w="9525">
              <a:solidFill>
                <a:srgbClr val="DCE5EB"/>
              </a:solidFill>
            </a:ln>
          </c:spPr>
        </c:majorGridlines>
        <c:numFmt formatCode="$0"/>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50112"/>
        <c:crossBetween val="between"/>
        <c:majorUnit val="5"/>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16.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D44"/>
                </a:solidFill>
                <a:latin typeface="Arial"/>
                <a:ea typeface="Arial"/>
                <a:cs typeface="Arial"/>
              </a:rPr>
              <a:t>Buying window, New York local time</a:t>
            </a:r>
          </a:p>
        </c:rich>
      </c:tx>
      <c:overlay val="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title>
    <c:plotArea>
      <c:scatterChart>
        <c:scatterStyle val="lineMarker"/>
        <c:varyColors val="0"/>
        <c:ser>
          <c:idx val="0"/>
          <c:order val="0"/>
          <c:tx>
            <c:v>Eligible buying window</c:v>
          </c:tx>
          <c:spPr>
            <a:ln xmlns:a="http://schemas.openxmlformats.org/drawingml/2006/main" w="57150">
              <a:solidFill>
                <a:srgbClr val="4261A0"/>
              </a:solidFill>
            </a:ln>
          </c:spPr>
          <c:marker>
            <c:symbol val="circle"/>
            <c:size val="14"/>
            <c:spPr>
              <a:solidFill xmlns:a="http://schemas.openxmlformats.org/drawingml/2006/main">
                <a:srgbClr val="4261A0"/>
              </a:solidFill>
            </c:spPr>
          </c:marker>
          <c:xVal>
            <c:numLit>
              <c:formatCode>General</c:formatCode>
              <c:ptCount val="2"/>
              <c:pt idx="0">
                <c:v>0.4166666666666667</c:v>
              </c:pt>
              <c:pt idx="1">
                <c:v>0.5416666666666666</c:v>
              </c:pt>
            </c:numLit>
          </c:xVal>
          <c:yVal>
            <c:numLit>
              <c:formatCode>General</c:formatCode>
              <c:ptCount val="2"/>
              <c:pt idx="0">
                <c:v>1</c:v>
              </c:pt>
              <c:pt idx="1">
                <c:v>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valAx>
      <c:valAx>
        <c:axId val="48650112"/>
        <c:scaling>
          <c:orientation val="minMax"/>
          <c:max val="0.5833333333333334"/>
          <c:min val="0.375"/>
        </c:scaling>
        <c:delete val="0"/>
        <c:axPos val="b"/>
        <c:numFmt formatCode="h:mm"/>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72768"/>
        <c:majorUnit val="0.041666666666666664"/>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17.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D44"/>
                </a:solidFill>
                <a:latin typeface="Arial"/>
                <a:ea typeface="Arial"/>
                <a:cs typeface="Arial"/>
              </a:rPr>
              <a:t>Maximum spend from a $100 wallet</a:t>
            </a:r>
          </a:p>
        </c:rich>
      </c:tx>
      <c:overlay val="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title>
    <c:plotArea>
      <c:barChart>
        <c:barDir val="bar"/>
        <c:grouping val="clustered"/>
        <c:varyColors val="0"/>
        <c:ser>
          <c:idx val="0"/>
          <c:order val="0"/>
          <c:tx>
            <c:v>Cash limit including fees</c:v>
          </c:tx>
          <c:spPr>
            <a:solidFill xmlns:a="http://schemas.openxmlformats.org/drawingml/2006/main">
              <a:srgbClr val="4261A0"/>
            </a:solidFill>
          </c:spPr>
          <c:cat>
            <c:strLit>
              <c:ptCount val="2"/>
              <c:pt idx="0">
                <c:v>First purchase</c:v>
              </c:pt>
              <c:pt idx="1">
                <c:v>Later purchase</c:v>
              </c:pt>
            </c:strLit>
          </c:cat>
          <c:val>
            <c:numLit>
              <c:formatCode>$0</c:formatCode>
              <c:ptCount val="2"/>
              <c:pt idx="0">
                <c:v>2.5</c:v>
              </c:pt>
              <c:pt idx="1">
                <c:v>2.5</c:v>
              </c:pt>
            </c:numLit>
          </c:val>
        </c:ser>
        <c:dLbls>
          <c:numFmt formatCode="$0.00" sourceLinked="0"/>
          <c:txPr>
            <a:bodyPr xmlns:a="http://schemas.openxmlformats.org/drawingml/2006/main" anchorCtr="1"/>
            <a:lstStyle xmlns:a="http://schemas.openxmlformats.org/drawingml/2006/main"/>
            <a:p xmlns:a="http://schemas.openxmlformats.org/drawingml/2006/main">
              <a:pPr>
                <a:defRPr sz="1800" b="1">
                  <a:solidFill>
                    <a:srgbClr val="142D44"/>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72768"/>
      </c:catAx>
      <c:valAx>
        <c:axId val="48672768"/>
        <c:scaling>
          <c:orientation val="minMax"/>
          <c:max val="11"/>
          <c:min val="0"/>
        </c:scaling>
        <c:delete val="0"/>
        <c:axPos val="b"/>
        <c:majorGridlines>
          <c:spPr>
            <a:ln xmlns:a="http://schemas.openxmlformats.org/drawingml/2006/main" w="9525">
              <a:solidFill>
                <a:srgbClr val="DCE5EB"/>
              </a:solidFill>
            </a:ln>
          </c:spPr>
        </c:majorGridlines>
        <c:numFmt formatCode="$0"/>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50112"/>
        <c:crossBetween val="between"/>
        <c:majorUnit val="5"/>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18.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D44"/>
                </a:solidFill>
                <a:latin typeface="Arial"/>
                <a:ea typeface="Arial"/>
                <a:cs typeface="Arial"/>
              </a:rPr>
              <a:t>Recorded cash from $100</a:t>
            </a:r>
          </a:p>
        </c:rich>
      </c:tx>
      <c:overlay val="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title>
    <c:plotArea>
      <c:barChart>
        <c:barDir val="col"/>
        <c:grouping val="clustered"/>
        <c:varyColors val="0"/>
        <c:ser>
          <c:idx val="0"/>
          <c:order val="0"/>
          <c:tx>
            <c:v>Cash including resolved payouts</c:v>
          </c:tx>
          <c:spPr>
            <a:solidFill xmlns:a="http://schemas.openxmlformats.org/drawingml/2006/main">
              <a:srgbClr val="4261A0"/>
            </a:solidFill>
          </c:spPr>
          <c:dPt>
            <c:idx val="0"/>
            <c:invertIfNegative val="0"/>
            <c:spPr>
              <a:solidFill xmlns:a="http://schemas.openxmlformats.org/drawingml/2006/main">
                <a:srgbClr val="8B99A5"/>
              </a:solidFill>
            </c:spPr>
          </c:dPt>
          <c:cat>
            <c:strLit>
              <c:ptCount val="2"/>
              <c:pt idx="0">
                <c:v>P09*</c:v>
              </c:pt>
              <c:pt idx="1">
                <c:v>Targeted safety</c:v>
              </c:pt>
            </c:strLit>
          </c:cat>
          <c:val>
            <c:numLit>
              <c:formatCode>$0</c:formatCode>
              <c:ptCount val="2"/>
              <c:pt idx="0">
                <c:v>91.7455</c:v>
              </c:pt>
              <c:pt idx="1">
                <c:v>101.85</c:v>
              </c:pt>
            </c:numLit>
          </c:val>
        </c:ser>
        <c:dLbls>
          <c:numFmt formatCode="$0.00" sourceLinked="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72768"/>
      </c:catAx>
      <c:valAx>
        <c:axId val="48672768"/>
        <c:scaling>
          <c:orientation val="minMax"/>
          <c:max val="130"/>
          <c:min val="0"/>
        </c:scaling>
        <c:delete val="0"/>
        <c:axPos val="l"/>
        <c:majorGridlines>
          <c:spPr>
            <a:ln xmlns:a="http://schemas.openxmlformats.org/drawingml/2006/main" w="9525">
              <a:solidFill>
                <a:srgbClr val="DCE5EB"/>
              </a:solidFill>
            </a:ln>
          </c:spPr>
        </c:majorGridlines>
        <c:numFmt formatCode="$0"/>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50112"/>
        <c:crossBetween val="between"/>
        <c:majorUnit val="25"/>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19.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D44"/>
                </a:solidFill>
                <a:latin typeface="Arial"/>
                <a:ea typeface="Arial"/>
                <a:cs typeface="Arial"/>
              </a:rPr>
              <a:t>Recorded cash from $100</a:t>
            </a:r>
          </a:p>
        </c:rich>
      </c:tx>
      <c:overlay val="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title>
    <c:plotArea>
      <c:barChart>
        <c:barDir val="col"/>
        <c:grouping val="clustered"/>
        <c:varyColors val="0"/>
        <c:ser>
          <c:idx val="0"/>
          <c:order val="0"/>
          <c:tx>
            <c:v>Cash including resolved payouts</c:v>
          </c:tx>
          <c:spPr>
            <a:solidFill xmlns:a="http://schemas.openxmlformats.org/drawingml/2006/main">
              <a:srgbClr val="4261A0"/>
            </a:solidFill>
          </c:spPr>
          <c:cat>
            <c:strLit>
              <c:ptCount val="2"/>
              <c:pt idx="0">
                <c:v>P09</c:v>
              </c:pt>
              <c:pt idx="1">
                <c:v>Targeted safety</c:v>
              </c:pt>
            </c:strLit>
          </c:cat>
          <c:val>
            <c:numLit>
              <c:formatCode>$0</c:formatCode>
              <c:ptCount val="2"/>
              <c:pt idx="0">
                <c:v>117.4945</c:v>
              </c:pt>
              <c:pt idx="1">
                <c:v>100</c:v>
              </c:pt>
            </c:numLit>
          </c:val>
        </c:ser>
        <c:dLbls>
          <c:numFmt formatCode="$0.00" sourceLinked="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72768"/>
      </c:catAx>
      <c:valAx>
        <c:axId val="48672768"/>
        <c:scaling>
          <c:orientation val="minMax"/>
          <c:max val="150"/>
          <c:min val="0"/>
        </c:scaling>
        <c:delete val="0"/>
        <c:axPos val="l"/>
        <c:majorGridlines>
          <c:spPr>
            <a:ln xmlns:a="http://schemas.openxmlformats.org/drawingml/2006/main" w="9525">
              <a:solidFill>
                <a:srgbClr val="DCE5EB"/>
              </a:solidFill>
            </a:ln>
          </c:spPr>
        </c:majorGridlines>
        <c:numFmt formatCode="$0"/>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50112"/>
        <c:crossBetween val="between"/>
        <c:majorUnit val="25"/>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20.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D44"/>
                </a:solidFill>
                <a:latin typeface="Arial"/>
                <a:ea typeface="Arial"/>
                <a:cs typeface="Arial"/>
              </a:rPr>
              <a:t>Buying time, Miami local time</a:t>
            </a:r>
          </a:p>
        </c:rich>
      </c:tx>
      <c:overlay val="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title>
    <c:plotArea>
      <c:scatterChart>
        <c:scatterStyle val="marker"/>
        <c:varyColors val="0"/>
        <c:ser>
          <c:idx val="0"/>
          <c:order val="0"/>
          <c:tx>
            <c:v>Scheduled checks</c:v>
          </c:tx>
          <c:spPr>
            <a:ln xmlns:a="http://schemas.openxmlformats.org/drawingml/2006/main" w="57150">
              <a:noFill/>
            </a:ln>
          </c:spPr>
          <c:marker>
            <c:symbol val="circle"/>
            <c:size val="14"/>
            <c:spPr>
              <a:solidFill xmlns:a="http://schemas.openxmlformats.org/drawingml/2006/main">
                <a:srgbClr val="B36832"/>
              </a:solidFill>
            </c:spPr>
          </c:marker>
          <c:xVal>
            <c:numLit>
              <c:formatCode>General</c:formatCode>
              <c:ptCount val="1"/>
              <c:pt idx="0">
                <c:v>0.4166666666666667</c:v>
              </c:pt>
            </c:numLit>
          </c:xVal>
          <c:yVal>
            <c:numLit>
              <c:formatCode>General</c:formatCode>
              <c:ptCount val="1"/>
              <c:pt idx="0">
                <c:v>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valAx>
      <c:valAx>
        <c:axId val="48650112"/>
        <c:scaling>
          <c:orientation val="minMax"/>
          <c:max val="0.5833333333333334"/>
          <c:min val="0.375"/>
        </c:scaling>
        <c:delete val="0"/>
        <c:axPos val="b"/>
        <c:numFmt formatCode="h:mm"/>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72768"/>
        <c:majorUnit val="0.041666666666666664"/>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2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D44"/>
                </a:solidFill>
                <a:latin typeface="Arial"/>
                <a:ea typeface="Arial"/>
                <a:cs typeface="Arial"/>
              </a:rPr>
              <a:t>Maximum spend from a $100 wallet</a:t>
            </a:r>
          </a:p>
        </c:rich>
      </c:tx>
      <c:overlay val="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title>
    <c:plotArea>
      <c:barChart>
        <c:barDir val="bar"/>
        <c:grouping val="clustered"/>
        <c:varyColors val="0"/>
        <c:ser>
          <c:idx val="0"/>
          <c:order val="0"/>
          <c:tx>
            <c:v>Cash limit including fees</c:v>
          </c:tx>
          <c:spPr>
            <a:solidFill xmlns:a="http://schemas.openxmlformats.org/drawingml/2006/main">
              <a:srgbClr val="B36832"/>
            </a:solidFill>
          </c:spPr>
          <c:cat>
            <c:strLit>
              <c:ptCount val="2"/>
              <c:pt idx="0">
                <c:v>First purchase</c:v>
              </c:pt>
              <c:pt idx="1">
                <c:v>Later purchase</c:v>
              </c:pt>
            </c:strLit>
          </c:cat>
          <c:val>
            <c:numLit>
              <c:formatCode>$0</c:formatCode>
              <c:ptCount val="2"/>
              <c:pt idx="0">
                <c:v>10</c:v>
              </c:pt>
              <c:pt idx="1">
                <c:v>0</c:v>
              </c:pt>
            </c:numLit>
          </c:val>
        </c:ser>
        <c:dLbls>
          <c:numFmt formatCode="$0.00" sourceLinked="0"/>
          <c:txPr>
            <a:bodyPr xmlns:a="http://schemas.openxmlformats.org/drawingml/2006/main" anchorCtr="1"/>
            <a:lstStyle xmlns:a="http://schemas.openxmlformats.org/drawingml/2006/main"/>
            <a:p xmlns:a="http://schemas.openxmlformats.org/drawingml/2006/main">
              <a:pPr>
                <a:defRPr sz="1800" b="1">
                  <a:solidFill>
                    <a:srgbClr val="142D44"/>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72768"/>
      </c:catAx>
      <c:valAx>
        <c:axId val="48672768"/>
        <c:scaling>
          <c:orientation val="minMax"/>
          <c:max val="11"/>
          <c:min val="0"/>
        </c:scaling>
        <c:delete val="0"/>
        <c:axPos val="b"/>
        <c:majorGridlines>
          <c:spPr>
            <a:ln xmlns:a="http://schemas.openxmlformats.org/drawingml/2006/main" w="9525">
              <a:solidFill>
                <a:srgbClr val="DCE5EB"/>
              </a:solidFill>
            </a:ln>
          </c:spPr>
        </c:majorGridlines>
        <c:numFmt formatCode="$0"/>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50112"/>
        <c:crossBetween val="between"/>
        <c:majorUnit val="5"/>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2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D44"/>
                </a:solidFill>
                <a:latin typeface="Arial"/>
                <a:ea typeface="Arial"/>
                <a:cs typeface="Arial"/>
              </a:rPr>
              <a:t>Buying time, Miami local time</a:t>
            </a:r>
          </a:p>
        </c:rich>
      </c:tx>
      <c:overlay val="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title>
    <c:plotArea>
      <c:scatterChart>
        <c:scatterStyle val="marker"/>
        <c:varyColors val="0"/>
        <c:ser>
          <c:idx val="0"/>
          <c:order val="0"/>
          <c:tx>
            <c:v>Scheduled checks</c:v>
          </c:tx>
          <c:spPr>
            <a:ln xmlns:a="http://schemas.openxmlformats.org/drawingml/2006/main" w="57150">
              <a:noFill/>
            </a:ln>
          </c:spPr>
          <c:marker>
            <c:symbol val="circle"/>
            <c:size val="14"/>
            <c:spPr>
              <a:solidFill xmlns:a="http://schemas.openxmlformats.org/drawingml/2006/main">
                <a:srgbClr val="B36832"/>
              </a:solidFill>
            </c:spPr>
          </c:marker>
          <c:xVal>
            <c:numLit>
              <c:formatCode>General</c:formatCode>
              <c:ptCount val="1"/>
              <c:pt idx="0">
                <c:v>0.4166666666666667</c:v>
              </c:pt>
            </c:numLit>
          </c:xVal>
          <c:yVal>
            <c:numLit>
              <c:formatCode>General</c:formatCode>
              <c:ptCount val="1"/>
              <c:pt idx="0">
                <c:v>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valAx>
      <c:valAx>
        <c:axId val="48650112"/>
        <c:scaling>
          <c:orientation val="minMax"/>
          <c:max val="0.5833333333333334"/>
          <c:min val="0.375"/>
        </c:scaling>
        <c:delete val="0"/>
        <c:axPos val="b"/>
        <c:numFmt formatCode="h:mm"/>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72768"/>
        <c:majorUnit val="0.041666666666666664"/>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2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D44"/>
                </a:solidFill>
                <a:latin typeface="Arial"/>
                <a:ea typeface="Arial"/>
                <a:cs typeface="Arial"/>
              </a:rPr>
              <a:t>Maximum spend from a $100 wallet</a:t>
            </a:r>
          </a:p>
        </c:rich>
      </c:tx>
      <c:overlay val="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title>
    <c:plotArea>
      <c:barChart>
        <c:barDir val="bar"/>
        <c:grouping val="clustered"/>
        <c:varyColors val="0"/>
        <c:ser>
          <c:idx val="0"/>
          <c:order val="0"/>
          <c:tx>
            <c:v>Cash limit including fees</c:v>
          </c:tx>
          <c:spPr>
            <a:solidFill xmlns:a="http://schemas.openxmlformats.org/drawingml/2006/main">
              <a:srgbClr val="B36832"/>
            </a:solidFill>
          </c:spPr>
          <c:cat>
            <c:strLit>
              <c:ptCount val="2"/>
              <c:pt idx="0">
                <c:v>First purchase</c:v>
              </c:pt>
              <c:pt idx="1">
                <c:v>Later purchase</c:v>
              </c:pt>
            </c:strLit>
          </c:cat>
          <c:val>
            <c:numLit>
              <c:formatCode>$0</c:formatCode>
              <c:ptCount val="2"/>
              <c:pt idx="0">
                <c:v>10</c:v>
              </c:pt>
              <c:pt idx="1">
                <c:v>0</c:v>
              </c:pt>
            </c:numLit>
          </c:val>
        </c:ser>
        <c:dLbls>
          <c:numFmt formatCode="$0.00" sourceLinked="0"/>
          <c:txPr>
            <a:bodyPr xmlns:a="http://schemas.openxmlformats.org/drawingml/2006/main" anchorCtr="1"/>
            <a:lstStyle xmlns:a="http://schemas.openxmlformats.org/drawingml/2006/main"/>
            <a:p xmlns:a="http://schemas.openxmlformats.org/drawingml/2006/main">
              <a:pPr>
                <a:defRPr sz="1800" b="1">
                  <a:solidFill>
                    <a:srgbClr val="142D44"/>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72768"/>
      </c:catAx>
      <c:valAx>
        <c:axId val="48672768"/>
        <c:scaling>
          <c:orientation val="minMax"/>
          <c:max val="11"/>
          <c:min val="0"/>
        </c:scaling>
        <c:delete val="0"/>
        <c:axPos val="b"/>
        <c:majorGridlines>
          <c:spPr>
            <a:ln xmlns:a="http://schemas.openxmlformats.org/drawingml/2006/main" w="9525">
              <a:solidFill>
                <a:srgbClr val="DCE5EB"/>
              </a:solidFill>
            </a:ln>
          </c:spPr>
        </c:majorGridlines>
        <c:numFmt formatCode="$0"/>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50112"/>
        <c:crossBetween val="between"/>
        <c:majorUnit val="5"/>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24.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D44"/>
                </a:solidFill>
                <a:latin typeface="Arial"/>
                <a:ea typeface="Arial"/>
                <a:cs typeface="Arial"/>
              </a:rPr>
              <a:t>Recorded cash from $100</a:t>
            </a:r>
          </a:p>
        </c:rich>
      </c:tx>
      <c:overlay val="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title>
    <c:plotArea>
      <c:barChart>
        <c:barDir val="col"/>
        <c:grouping val="clustered"/>
        <c:varyColors val="0"/>
        <c:ser>
          <c:idx val="0"/>
          <c:order val="0"/>
          <c:tx>
            <c:v>Cash including resolved payouts</c:v>
          </c:tx>
          <c:spPr>
            <a:solidFill xmlns:a="http://schemas.openxmlformats.org/drawingml/2006/main">
              <a:srgbClr val="B36832"/>
            </a:solidFill>
          </c:spPr>
          <c:cat>
            <c:strLit>
              <c:ptCount val="2"/>
              <c:pt idx="0">
                <c:v>Calibrated</c:v>
              </c:pt>
              <c:pt idx="1">
                <c:v>Original RAW</c:v>
              </c:pt>
            </c:strLit>
          </c:cat>
          <c:val>
            <c:numLit>
              <c:formatCode>$0</c:formatCode>
              <c:ptCount val="2"/>
              <c:pt idx="0">
                <c:v>190.8802</c:v>
              </c:pt>
              <c:pt idx="1">
                <c:v>159.6563</c:v>
              </c:pt>
            </c:numLit>
          </c:val>
        </c:ser>
        <c:dLbls>
          <c:numFmt formatCode="$0.00" sourceLinked="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72768"/>
      </c:catAx>
      <c:valAx>
        <c:axId val="48672768"/>
        <c:scaling>
          <c:orientation val="minMax"/>
          <c:max val="225"/>
          <c:min val="0"/>
        </c:scaling>
        <c:delete val="0"/>
        <c:axPos val="l"/>
        <c:majorGridlines>
          <c:spPr>
            <a:ln xmlns:a="http://schemas.openxmlformats.org/drawingml/2006/main" w="9525">
              <a:solidFill>
                <a:srgbClr val="DCE5EB"/>
              </a:solidFill>
            </a:ln>
          </c:spPr>
        </c:majorGridlines>
        <c:numFmt formatCode="$0"/>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50112"/>
        <c:crossBetween val="between"/>
        <c:majorUnit val="50"/>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25.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D44"/>
                </a:solidFill>
                <a:latin typeface="Arial"/>
                <a:ea typeface="Arial"/>
                <a:cs typeface="Arial"/>
              </a:rPr>
              <a:t>Recorded cash from $100</a:t>
            </a:r>
          </a:p>
        </c:rich>
      </c:tx>
      <c:overlay val="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title>
    <c:plotArea>
      <c:barChart>
        <c:barDir val="col"/>
        <c:grouping val="clustered"/>
        <c:varyColors val="0"/>
        <c:ser>
          <c:idx val="0"/>
          <c:order val="0"/>
          <c:tx>
            <c:v>Cash including resolved payouts</c:v>
          </c:tx>
          <c:spPr>
            <a:solidFill xmlns:a="http://schemas.openxmlformats.org/drawingml/2006/main">
              <a:srgbClr val="B36832"/>
            </a:solidFill>
          </c:spPr>
          <c:cat>
            <c:strLit>
              <c:ptCount val="2"/>
              <c:pt idx="0">
                <c:v>Calibrated</c:v>
              </c:pt>
              <c:pt idx="1">
                <c:v>Original RAW</c:v>
              </c:pt>
            </c:strLit>
          </c:cat>
          <c:val>
            <c:numLit>
              <c:formatCode>$0</c:formatCode>
              <c:ptCount val="2"/>
              <c:pt idx="0">
                <c:v>130.0101</c:v>
              </c:pt>
              <c:pt idx="1">
                <c:v>122.7372</c:v>
              </c:pt>
            </c:numLit>
          </c:val>
        </c:ser>
        <c:dLbls>
          <c:numFmt formatCode="$0.00" sourceLinked="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72768"/>
      </c:catAx>
      <c:valAx>
        <c:axId val="48672768"/>
        <c:scaling>
          <c:orientation val="minMax"/>
          <c:max val="175"/>
          <c:min val="0"/>
        </c:scaling>
        <c:delete val="0"/>
        <c:axPos val="l"/>
        <c:majorGridlines>
          <c:spPr>
            <a:ln xmlns:a="http://schemas.openxmlformats.org/drawingml/2006/main" w="9525">
              <a:solidFill>
                <a:srgbClr val="DCE5EB"/>
              </a:solidFill>
            </a:ln>
          </c:spPr>
        </c:majorGridlines>
        <c:numFmt formatCode="$0"/>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50112"/>
        <c:crossBetween val="between"/>
        <c:majorUnit val="50"/>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26.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D44"/>
                </a:solidFill>
                <a:latin typeface="Arial"/>
                <a:ea typeface="Arial"/>
                <a:cs typeface="Arial"/>
              </a:rPr>
              <a:t>Scheduled checks, Phoenix local time</a:t>
            </a:r>
          </a:p>
        </c:rich>
      </c:tx>
      <c:overlay val="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title>
    <c:plotArea>
      <c:scatterChart>
        <c:scatterStyle val="marker"/>
        <c:varyColors val="0"/>
        <c:ser>
          <c:idx val="0"/>
          <c:order val="0"/>
          <c:tx>
            <c:v>Scheduled checks</c:v>
          </c:tx>
          <c:spPr>
            <a:ln xmlns:a="http://schemas.openxmlformats.org/drawingml/2006/main" w="57150">
              <a:noFill/>
            </a:ln>
          </c:spPr>
          <c:marker>
            <c:symbol val="circle"/>
            <c:size val="14"/>
            <c:spPr>
              <a:solidFill xmlns:a="http://schemas.openxmlformats.org/drawingml/2006/main">
                <a:srgbClr val="77619A"/>
              </a:solidFill>
            </c:spPr>
          </c:marker>
          <c:xVal>
            <c:numLit>
              <c:formatCode>General</c:formatCode>
              <c:ptCount val="5"/>
              <c:pt idx="0">
                <c:v>0.4166666666666667</c:v>
              </c:pt>
              <c:pt idx="1">
                <c:v>0.4270833333333333</c:v>
              </c:pt>
              <c:pt idx="2">
                <c:v>0.4375</c:v>
              </c:pt>
              <c:pt idx="3">
                <c:v>0.4583333333333333</c:v>
              </c:pt>
              <c:pt idx="4">
                <c:v>0.5</c:v>
              </c:pt>
            </c:numLit>
          </c:xVal>
          <c:yVal>
            <c:numLit>
              <c:formatCode>General</c:formatCode>
              <c:ptCount val="5"/>
              <c:pt idx="0">
                <c:v>1</c:v>
              </c:pt>
              <c:pt idx="1">
                <c:v>1</c:v>
              </c:pt>
              <c:pt idx="2">
                <c:v>1</c:v>
              </c:pt>
              <c:pt idx="3">
                <c:v>1</c:v>
              </c:pt>
              <c:pt idx="4">
                <c:v>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valAx>
      <c:valAx>
        <c:axId val="48650112"/>
        <c:scaling>
          <c:orientation val="minMax"/>
          <c:max val="0.5833333333333334"/>
          <c:min val="0.375"/>
        </c:scaling>
        <c:delete val="0"/>
        <c:axPos val="b"/>
        <c:numFmt formatCode="h:mm"/>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72768"/>
        <c:majorUnit val="0.041666666666666664"/>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27.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D44"/>
                </a:solidFill>
                <a:latin typeface="Arial"/>
                <a:ea typeface="Arial"/>
                <a:cs typeface="Arial"/>
              </a:rPr>
              <a:t>Maximum spend from a $100 wallet</a:t>
            </a:r>
          </a:p>
        </c:rich>
      </c:tx>
      <c:overlay val="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title>
    <c:plotArea>
      <c:barChart>
        <c:barDir val="bar"/>
        <c:grouping val="clustered"/>
        <c:varyColors val="0"/>
        <c:ser>
          <c:idx val="0"/>
          <c:order val="0"/>
          <c:tx>
            <c:v>Cash limit including fees</c:v>
          </c:tx>
          <c:spPr>
            <a:solidFill xmlns:a="http://schemas.openxmlformats.org/drawingml/2006/main">
              <a:srgbClr val="77619A"/>
            </a:solidFill>
          </c:spPr>
          <c:cat>
            <c:strLit>
              <c:ptCount val="2"/>
              <c:pt idx="0">
                <c:v>Daily total</c:v>
              </c:pt>
              <c:pt idx="1">
                <c:v>Extra daily budget</c:v>
              </c:pt>
            </c:strLit>
          </c:cat>
          <c:val>
            <c:numLit>
              <c:formatCode>$0</c:formatCode>
              <c:ptCount val="2"/>
              <c:pt idx="0">
                <c:v>10</c:v>
              </c:pt>
              <c:pt idx="1">
                <c:v>0</c:v>
              </c:pt>
            </c:numLit>
          </c:val>
        </c:ser>
        <c:dLbls>
          <c:numFmt formatCode="$0.00" sourceLinked="0"/>
          <c:txPr>
            <a:bodyPr xmlns:a="http://schemas.openxmlformats.org/drawingml/2006/main" anchorCtr="1"/>
            <a:lstStyle xmlns:a="http://schemas.openxmlformats.org/drawingml/2006/main"/>
            <a:p xmlns:a="http://schemas.openxmlformats.org/drawingml/2006/main">
              <a:pPr>
                <a:defRPr sz="1800" b="1">
                  <a:solidFill>
                    <a:srgbClr val="142D44"/>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72768"/>
      </c:catAx>
      <c:valAx>
        <c:axId val="48672768"/>
        <c:scaling>
          <c:orientation val="minMax"/>
          <c:max val="11"/>
          <c:min val="0"/>
        </c:scaling>
        <c:delete val="0"/>
        <c:axPos val="b"/>
        <c:majorGridlines>
          <c:spPr>
            <a:ln xmlns:a="http://schemas.openxmlformats.org/drawingml/2006/main" w="9525">
              <a:solidFill>
                <a:srgbClr val="DCE5EB"/>
              </a:solidFill>
            </a:ln>
          </c:spPr>
        </c:majorGridlines>
        <c:numFmt formatCode="$0"/>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50112"/>
        <c:crossBetween val="between"/>
        <c:majorUnit val="5"/>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28.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D44"/>
                </a:solidFill>
                <a:latin typeface="Arial"/>
                <a:ea typeface="Arial"/>
                <a:cs typeface="Arial"/>
              </a:rPr>
              <a:t>Scheduled checks, Phoenix local time</a:t>
            </a:r>
          </a:p>
        </c:rich>
      </c:tx>
      <c:overlay val="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title>
    <c:plotArea>
      <c:scatterChart>
        <c:scatterStyle val="marker"/>
        <c:varyColors val="0"/>
        <c:ser>
          <c:idx val="0"/>
          <c:order val="0"/>
          <c:tx>
            <c:v>Scheduled checks</c:v>
          </c:tx>
          <c:spPr>
            <a:ln xmlns:a="http://schemas.openxmlformats.org/drawingml/2006/main" w="57150">
              <a:noFill/>
            </a:ln>
          </c:spPr>
          <c:marker>
            <c:symbol val="circle"/>
            <c:size val="14"/>
            <c:spPr>
              <a:solidFill xmlns:a="http://schemas.openxmlformats.org/drawingml/2006/main">
                <a:srgbClr val="77619A"/>
              </a:solidFill>
            </c:spPr>
          </c:marker>
          <c:xVal>
            <c:numLit>
              <c:formatCode>General</c:formatCode>
              <c:ptCount val="5"/>
              <c:pt idx="0">
                <c:v>0.4166666666666667</c:v>
              </c:pt>
              <c:pt idx="1">
                <c:v>0.4270833333333333</c:v>
              </c:pt>
              <c:pt idx="2">
                <c:v>0.4375</c:v>
              </c:pt>
              <c:pt idx="3">
                <c:v>0.4583333333333333</c:v>
              </c:pt>
              <c:pt idx="4">
                <c:v>0.5</c:v>
              </c:pt>
            </c:numLit>
          </c:xVal>
          <c:yVal>
            <c:numLit>
              <c:formatCode>General</c:formatCode>
              <c:ptCount val="5"/>
              <c:pt idx="0">
                <c:v>1</c:v>
              </c:pt>
              <c:pt idx="1">
                <c:v>1</c:v>
              </c:pt>
              <c:pt idx="2">
                <c:v>1</c:v>
              </c:pt>
              <c:pt idx="3">
                <c:v>1</c:v>
              </c:pt>
              <c:pt idx="4">
                <c:v>1</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2"/>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50112"/>
      </c:valAx>
      <c:valAx>
        <c:axId val="48650112"/>
        <c:scaling>
          <c:orientation val="minMax"/>
          <c:max val="0.5833333333333334"/>
          <c:min val="0.375"/>
        </c:scaling>
        <c:delete val="0"/>
        <c:axPos val="b"/>
        <c:numFmt formatCode="h:mm"/>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72768"/>
        <c:majorUnit val="0.041666666666666664"/>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29.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D44"/>
                </a:solidFill>
                <a:latin typeface="Arial"/>
                <a:ea typeface="Arial"/>
                <a:cs typeface="Arial"/>
              </a:rPr>
              <a:t>Maximum spend from a $100 wallet</a:t>
            </a:r>
          </a:p>
        </c:rich>
      </c:tx>
      <c:overlay val="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title>
    <c:plotArea>
      <c:barChart>
        <c:barDir val="bar"/>
        <c:grouping val="clustered"/>
        <c:varyColors val="0"/>
        <c:ser>
          <c:idx val="0"/>
          <c:order val="0"/>
          <c:tx>
            <c:v>Cash limit including fees</c:v>
          </c:tx>
          <c:spPr>
            <a:solidFill xmlns:a="http://schemas.openxmlformats.org/drawingml/2006/main">
              <a:srgbClr val="77619A"/>
            </a:solidFill>
          </c:spPr>
          <c:cat>
            <c:strLit>
              <c:ptCount val="2"/>
              <c:pt idx="0">
                <c:v>Daily total</c:v>
              </c:pt>
              <c:pt idx="1">
                <c:v>Extra daily budget</c:v>
              </c:pt>
            </c:strLit>
          </c:cat>
          <c:val>
            <c:numLit>
              <c:formatCode>$0</c:formatCode>
              <c:ptCount val="2"/>
              <c:pt idx="0">
                <c:v>10</c:v>
              </c:pt>
              <c:pt idx="1">
                <c:v>0</c:v>
              </c:pt>
            </c:numLit>
          </c:val>
        </c:ser>
        <c:dLbls>
          <c:numFmt formatCode="$0.00" sourceLinked="0"/>
          <c:txPr>
            <a:bodyPr xmlns:a="http://schemas.openxmlformats.org/drawingml/2006/main" anchorCtr="1"/>
            <a:lstStyle xmlns:a="http://schemas.openxmlformats.org/drawingml/2006/main"/>
            <a:p xmlns:a="http://schemas.openxmlformats.org/drawingml/2006/main">
              <a:pPr>
                <a:defRPr sz="1800" b="1">
                  <a:solidFill>
                    <a:srgbClr val="142D44"/>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72768"/>
      </c:catAx>
      <c:valAx>
        <c:axId val="48672768"/>
        <c:scaling>
          <c:orientation val="minMax"/>
          <c:max val="11"/>
          <c:min val="0"/>
        </c:scaling>
        <c:delete val="0"/>
        <c:axPos val="b"/>
        <c:majorGridlines>
          <c:spPr>
            <a:ln xmlns:a="http://schemas.openxmlformats.org/drawingml/2006/main" w="9525">
              <a:solidFill>
                <a:srgbClr val="DCE5EB"/>
              </a:solidFill>
            </a:ln>
          </c:spPr>
        </c:majorGridlines>
        <c:numFmt formatCode="$0"/>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50112"/>
        <c:crossBetween val="between"/>
        <c:majorUnit val="5"/>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30.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D44"/>
                </a:solidFill>
                <a:latin typeface="Arial"/>
                <a:ea typeface="Arial"/>
                <a:cs typeface="Arial"/>
              </a:rPr>
              <a:t>Recorded cash from $100</a:t>
            </a:r>
          </a:p>
        </c:rich>
      </c:tx>
      <c:overlay val="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title>
    <c:plotArea>
      <c:barChart>
        <c:barDir val="col"/>
        <c:grouping val="clustered"/>
        <c:varyColors val="0"/>
        <c:ser>
          <c:idx val="0"/>
          <c:order val="0"/>
          <c:tx>
            <c:v>Cash including resolved payouts</c:v>
          </c:tx>
          <c:spPr>
            <a:solidFill xmlns:a="http://schemas.openxmlformats.org/drawingml/2006/main">
              <a:srgbClr val="77619A"/>
            </a:solidFill>
          </c:spPr>
          <c:cat>
            <c:strLit>
              <c:ptCount val="2"/>
              <c:pt idx="0">
                <c:v>Ensemble</c:v>
              </c:pt>
              <c:pt idx="1">
                <c:v>V19 range</c:v>
              </c:pt>
            </c:strLit>
          </c:cat>
          <c:val>
            <c:numLit>
              <c:formatCode>$0</c:formatCode>
              <c:ptCount val="2"/>
              <c:pt idx="0">
                <c:v>100.8465</c:v>
              </c:pt>
              <c:pt idx="1">
                <c:v>99.5794</c:v>
              </c:pt>
            </c:numLit>
          </c:val>
        </c:ser>
        <c:dLbls>
          <c:numFmt formatCode="$0.00" sourceLinked="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72768"/>
      </c:catAx>
      <c:valAx>
        <c:axId val="48672768"/>
        <c:scaling>
          <c:orientation val="minMax"/>
          <c:max val="130"/>
          <c:min val="0"/>
        </c:scaling>
        <c:delete val="0"/>
        <c:axPos val="l"/>
        <c:majorGridlines>
          <c:spPr>
            <a:ln xmlns:a="http://schemas.openxmlformats.org/drawingml/2006/main" w="9525">
              <a:solidFill>
                <a:srgbClr val="DCE5EB"/>
              </a:solidFill>
            </a:ln>
          </c:spPr>
        </c:majorGridlines>
        <c:numFmt formatCode="$0"/>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50112"/>
        <c:crossBetween val="between"/>
        <c:majorUnit val="25"/>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3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D44"/>
                </a:solidFill>
                <a:latin typeface="Arial"/>
                <a:ea typeface="Arial"/>
                <a:cs typeface="Arial"/>
              </a:rPr>
              <a:t>Recorded cash from $100</a:t>
            </a:r>
          </a:p>
        </c:rich>
      </c:tx>
      <c:overlay val="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title>
    <c:plotArea>
      <c:barChart>
        <c:barDir val="col"/>
        <c:grouping val="clustered"/>
        <c:varyColors val="0"/>
        <c:ser>
          <c:idx val="0"/>
          <c:order val="0"/>
          <c:tx>
            <c:v>Cash including resolved payouts</c:v>
          </c:tx>
          <c:spPr>
            <a:solidFill xmlns:a="http://schemas.openxmlformats.org/drawingml/2006/main">
              <a:srgbClr val="77619A"/>
            </a:solidFill>
          </c:spPr>
          <c:cat>
            <c:strLit>
              <c:ptCount val="2"/>
              <c:pt idx="0">
                <c:v>Ensemble</c:v>
              </c:pt>
              <c:pt idx="1">
                <c:v>V19 range</c:v>
              </c:pt>
            </c:strLit>
          </c:cat>
          <c:val>
            <c:numLit>
              <c:formatCode>$0</c:formatCode>
              <c:ptCount val="2"/>
              <c:pt idx="0">
                <c:v>104.8821</c:v>
              </c:pt>
              <c:pt idx="1">
                <c:v>103.0637</c:v>
              </c:pt>
            </c:numLit>
          </c:val>
        </c:ser>
        <c:dLbls>
          <c:numFmt formatCode="$0.00" sourceLinked="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72768"/>
      </c:catAx>
      <c:valAx>
        <c:axId val="48672768"/>
        <c:scaling>
          <c:orientation val="minMax"/>
          <c:max val="130"/>
          <c:min val="0"/>
        </c:scaling>
        <c:delete val="0"/>
        <c:axPos val="l"/>
        <c:majorGridlines>
          <c:spPr>
            <a:ln xmlns:a="http://schemas.openxmlformats.org/drawingml/2006/main" w="9525">
              <a:solidFill>
                <a:srgbClr val="DCE5EB"/>
              </a:solidFill>
            </a:ln>
          </c:spPr>
        </c:majorGridlines>
        <c:numFmt formatCode="$0"/>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50112"/>
        <c:crossBetween val="between"/>
        <c:majorUnit val="25"/>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3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D44"/>
                </a:solidFill>
                <a:latin typeface="Arial"/>
                <a:ea typeface="Arial"/>
                <a:cs typeface="Arial"/>
              </a:rPr>
              <a:t>Starting fake money by city</a:t>
            </a:r>
          </a:p>
        </c:rich>
      </c:tx>
      <c:overlay val="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title>
    <c:plotArea>
      <c:barChart>
        <c:barDir val="col"/>
        <c:grouping val="clustered"/>
        <c:varyColors val="0"/>
        <c:ser>
          <c:idx val="0"/>
          <c:order val="0"/>
          <c:tx>
            <c:v>Initial paper cash</c:v>
          </c:tx>
          <c:spPr>
            <a:solidFill xmlns:a="http://schemas.openxmlformats.org/drawingml/2006/main">
              <a:srgbClr val="177E89"/>
            </a:solidFill>
          </c:spPr>
          <c:dPt>
            <c:idx val="0"/>
            <c:invertIfNegative val="0"/>
            <c:spPr>
              <a:solidFill xmlns:a="http://schemas.openxmlformats.org/drawingml/2006/main">
                <a:srgbClr val="177E89"/>
              </a:solidFill>
            </c:spPr>
          </c:dPt>
          <c:dPt>
            <c:idx val="1"/>
            <c:invertIfNegative val="0"/>
            <c:spPr>
              <a:solidFill xmlns:a="http://schemas.openxmlformats.org/drawingml/2006/main">
                <a:srgbClr val="4261A0"/>
              </a:solidFill>
            </c:spPr>
          </c:dPt>
          <c:dPt>
            <c:idx val="2"/>
            <c:invertIfNegative val="0"/>
            <c:spPr>
              <a:solidFill xmlns:a="http://schemas.openxmlformats.org/drawingml/2006/main">
                <a:srgbClr val="B36832"/>
              </a:solidFill>
            </c:spPr>
          </c:dPt>
          <c:dPt>
            <c:idx val="3"/>
            <c:invertIfNegative val="0"/>
            <c:spPr>
              <a:solidFill xmlns:a="http://schemas.openxmlformats.org/drawingml/2006/main">
                <a:srgbClr val="77619A"/>
              </a:solidFill>
            </c:spPr>
          </c:dPt>
          <c:cat>
            <c:strLit>
              <c:ptCount val="4"/>
              <c:pt idx="0">
                <c:v>Los Angeles</c:v>
              </c:pt>
              <c:pt idx="1">
                <c:v>New York</c:v>
              </c:pt>
              <c:pt idx="2">
                <c:v>Miami</c:v>
              </c:pt>
              <c:pt idx="3">
                <c:v>Phoenix</c:v>
              </c:pt>
            </c:strLit>
          </c:cat>
          <c:val>
            <c:numLit>
              <c:formatCode>$0</c:formatCode>
              <c:ptCount val="4"/>
              <c:pt idx="0">
                <c:v>300</c:v>
              </c:pt>
              <c:pt idx="1">
                <c:v>200</c:v>
              </c:pt>
              <c:pt idx="2">
                <c:v>200</c:v>
              </c:pt>
              <c:pt idx="3">
                <c:v>200</c:v>
              </c:pt>
            </c:numLit>
          </c:val>
        </c:ser>
        <c:dLbls>
          <c:numFmt formatCode="$0" sourceLinked="0"/>
          <c:txPr>
            <a:bodyPr xmlns:a="http://schemas.openxmlformats.org/drawingml/2006/main" anchorCtr="1"/>
            <a:lstStyle xmlns:a="http://schemas.openxmlformats.org/drawingml/2006/main"/>
            <a:p xmlns:a="http://schemas.openxmlformats.org/drawingml/2006/main">
              <a:pPr>
                <a:defRPr sz="1725" b="1">
                  <a:solidFill>
                    <a:srgbClr val="142D44"/>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72768"/>
      </c:catAx>
      <c:valAx>
        <c:axId val="48672768"/>
        <c:scaling>
          <c:orientation val="minMax"/>
          <c:max val="350"/>
          <c:min val="0"/>
        </c:scaling>
        <c:delete val="0"/>
        <c:axPos val="l"/>
        <c:majorGridlines>
          <c:spPr>
            <a:ln xmlns:a="http://schemas.openxmlformats.org/drawingml/2006/main" w="9525">
              <a:solidFill>
                <a:srgbClr val="DCE5EB"/>
              </a:solidFill>
            </a:ln>
          </c:spPr>
        </c:majorGridlines>
        <c:numFmt formatCode="$0"/>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50112"/>
        <c:crossBetween val="between"/>
        <c:majorUnit val="100"/>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3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42D44"/>
                </a:solidFill>
                <a:latin typeface="Arial"/>
                <a:ea typeface="Arial"/>
                <a:cs typeface="Arial"/>
              </a:rPr>
              <a:t>Saved October 1–12 coverage</a:t>
            </a:r>
          </a:p>
        </c:rich>
      </c:tx>
      <c:overlay val="0"/>
      <c:txPr>
        <a:bodyPr xmlns:a="http://schemas.openxmlformats.org/drawingml/2006/main" anchorCtr="1"/>
        <a:lstStyle xmlns:a="http://schemas.openxmlformats.org/drawingml/2006/main"/>
        <a:p xmlns:a="http://schemas.openxmlformats.org/drawingml/2006/main">
          <a:pPr>
            <a:defRPr sz="1875" b="1">
              <a:solidFill>
                <a:srgbClr val="142D44"/>
              </a:solidFill>
              <a:latin typeface="Arial"/>
              <a:ea typeface="Arial"/>
              <a:cs typeface="Arial"/>
            </a:defRPr>
          </a:pPr>
        </a:p>
      </c:txPr>
    </c:title>
    <c:plotArea>
      <c:barChart>
        <c:barDir val="col"/>
        <c:grouping val="clustered"/>
        <c:varyColors val="0"/>
        <c:ser>
          <c:idx val="0"/>
          <c:order val="0"/>
          <c:tx>
            <c:v>Strategy-days</c:v>
          </c:tx>
          <c:spPr>
            <a:solidFill xmlns:a="http://schemas.openxmlformats.org/drawingml/2006/main">
              <a:srgbClr val="23866C"/>
            </a:solidFill>
          </c:spPr>
          <c:dPt>
            <c:idx val="0"/>
            <c:invertIfNegative val="0"/>
            <c:spPr>
              <a:solidFill xmlns:a="http://schemas.openxmlformats.org/drawingml/2006/main">
                <a:srgbClr val="23866C"/>
              </a:solidFill>
            </c:spPr>
          </c:dPt>
          <c:dPt>
            <c:idx val="1"/>
            <c:invertIfNegative val="0"/>
            <c:spPr>
              <a:solidFill xmlns:a="http://schemas.openxmlformats.org/drawingml/2006/main">
                <a:srgbClr val="B44E58"/>
              </a:solidFill>
            </c:spPr>
          </c:dPt>
          <c:cat>
            <c:strLit>
              <c:ptCount val="2"/>
              <c:pt idx="0">
                <c:v>Complete</c:v>
              </c:pt>
              <c:pt idx="1">
                <c:v>Pending / uncertain</c:v>
              </c:pt>
            </c:strLit>
          </c:cat>
          <c:val>
            <c:numLit>
              <c:formatCode>General</c:formatCode>
              <c:ptCount val="2"/>
              <c:pt idx="0">
                <c:v>59</c:v>
              </c:pt>
              <c:pt idx="1">
                <c:v>49</c:v>
              </c:pt>
            </c:numLit>
          </c:val>
        </c:ser>
        <c:dLbls>
          <c:numFmt formatCode="0" sourceLinked="0"/>
          <c:txPr>
            <a:bodyPr xmlns:a="http://schemas.openxmlformats.org/drawingml/2006/main" anchorCtr="1"/>
            <a:lstStyle xmlns:a="http://schemas.openxmlformats.org/drawingml/2006/main"/>
            <a:p xmlns:a="http://schemas.openxmlformats.org/drawingml/2006/main">
              <a:pPr>
                <a:defRPr sz="1725" b="1">
                  <a:solidFill>
                    <a:srgbClr val="142D44"/>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72768"/>
      </c:catAx>
      <c:valAx>
        <c:axId val="48672768"/>
        <c:scaling>
          <c:orientation val="minMax"/>
          <c:max val="70"/>
          <c:min val="0"/>
        </c:scaling>
        <c:delete val="0"/>
        <c:axPos val="l"/>
        <c:majorGridlines>
          <c:spPr>
            <a:ln xmlns:a="http://schemas.openxmlformats.org/drawingml/2006/main" w="9525">
              <a:solidFill>
                <a:srgbClr val="DCE5EB"/>
              </a:solidFill>
            </a:ln>
          </c:spPr>
        </c:majorGridlines>
        <c:numFmt formatCode="General"/>
        <c:majorTickMark val="none"/>
        <c:minorTickMark val="none"/>
        <c:spPr>
          <a:ln xmlns:a="http://schemas.openxmlformats.org/drawingml/2006/main" w="9525">
            <a:solidFill>
              <a:srgbClr val="DCE5EB"/>
            </a:solidFill>
          </a:ln>
        </c:spPr>
        <c:txPr>
          <a:bodyPr xmlns:a="http://schemas.openxmlformats.org/drawingml/2006/main" anchorCtr="1"/>
          <a:lstStyle xmlns:a="http://schemas.openxmlformats.org/drawingml/2006/main"/>
          <a:p xmlns:a="http://schemas.openxmlformats.org/drawingml/2006/main">
            <a:pPr>
              <a:defRPr sz="1575">
                <a:solidFill>
                  <a:srgbClr val="52677B"/>
                </a:solidFill>
                <a:latin typeface="Arial"/>
                <a:ea typeface="Arial"/>
                <a:cs typeface="Arial"/>
              </a:defRPr>
            </a:pPr>
          </a:p>
        </c:txPr>
        <c:crossAx val="48650112"/>
        <c:crossBetween val="between"/>
        <c:majorUnit val="20"/>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slide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1DAB9F8-F5E9-401A-ADFC-805912686A11}"/>
              </a:ext>
            </a:extLst>
          </p:cNvPr>
          <p:cNvSpPr>
            <a:spLocks xmlns:a="http://schemas.openxmlformats.org/drawingml/2006/main" noGrp="1"/>
          </p:cNvSpPr>
          <p:nvPr/>
        </p:nvSpPr>
        <p:spPr>
          <a:xfrm xmlns:a="http://schemas.openxmlformats.org/drawingml/2006/main">
            <a:off x="609600" y="381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7E89"/>
                </a:solidFill>
                <a:latin typeface="Arial"/>
                <a:ea typeface="Arial"/>
                <a:cs typeface="Arial"/>
              </a:defRPr>
            </a:defPPr>
          </a:lstStyle>
          <a:p xmlns:a="http://schemas.openxmlformats.org/drawingml/2006/main">
            <a:pPr>
              <a:buNone/>
              <a:defRPr sz="1500" b="1">
                <a:solidFill>
                  <a:srgbClr val="177E89"/>
                </a:solidFill>
                <a:latin typeface="Arial"/>
                <a:ea typeface="Arial"/>
                <a:cs typeface="Arial"/>
              </a:defRPr>
            </a:pPr>
            <a:r>
              <a:rPr sz="1500" b="1">
                <a:solidFill>
                  <a:srgbClr val="177E89"/>
                </a:solidFill>
                <a:latin typeface="Arial"/>
                <a:ea typeface="Arial"/>
                <a:cs typeface="Arial"/>
              </a:rPr>
              <a:t>THE CURRENT FROZEN PACKAGE</a:t>
            </a:r>
          </a:p>
        </p:txBody>
      </p:sp>
      <p:sp>
        <p:nvSpPr>
          <p:cNvPr id="2" name="">
            <a:extLst xmlns:a="http://schemas.openxmlformats.org/drawingml/2006/main">
              <a:ext uri="{FF2B5EF4-FFF2-40B4-BE49-F238E27FC236}">
                <a16:creationId xmlns:a16="http://schemas.microsoft.com/office/drawing/2014/main" id="{C49CCA58-2A66-43B5-B3A5-D0D2AECC4D04}"/>
              </a:ext>
            </a:extLst>
          </p:cNvPr>
          <p:cNvSpPr>
            <a:spLocks xmlns:a="http://schemas.openxmlformats.org/drawingml/2006/main" noGrp="1"/>
          </p:cNvSpPr>
          <p:nvPr/>
        </p:nvSpPr>
        <p:spPr>
          <a:xfrm xmlns:a="http://schemas.openxmlformats.org/drawingml/2006/main">
            <a:off x="609600" y="762000"/>
            <a:ext cx="10934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D44"/>
                </a:solidFill>
                <a:latin typeface="Arial"/>
                <a:ea typeface="Arial"/>
                <a:cs typeface="Arial"/>
              </a:defRPr>
            </a:defPPr>
          </a:lstStyle>
          <a:p xmlns:a="http://schemas.openxmlformats.org/drawingml/2006/main">
            <a:pPr>
              <a:buNone/>
              <a:defRPr sz="3300" b="1">
                <a:solidFill>
                  <a:srgbClr val="142D44"/>
                </a:solidFill>
                <a:latin typeface="Arial"/>
                <a:ea typeface="Arial"/>
                <a:cs typeface="Arial"/>
              </a:defRPr>
            </a:pPr>
            <a:r>
              <a:rPr sz="3300" b="1">
                <a:solidFill>
                  <a:srgbClr val="142D44"/>
                </a:solidFill>
                <a:latin typeface="Arial"/>
                <a:ea typeface="Arial"/>
                <a:cs typeface="Arial"/>
              </a:rPr>
              <a:t>Four cities, nine paper strategies</a:t>
            </a:r>
          </a:p>
        </p:txBody>
      </p:sp>
      <p:sp>
        <p:nvSpPr>
          <p:cNvPr id="3" name="">
            <a:extLst xmlns:a="http://schemas.openxmlformats.org/drawingml/2006/main">
              <a:ext uri="{FF2B5EF4-FFF2-40B4-BE49-F238E27FC236}">
                <a16:creationId xmlns:a16="http://schemas.microsoft.com/office/drawing/2014/main" id="{987AD4F4-1EA8-4546-B628-98ED43743F8C}"/>
              </a:ext>
            </a:extLst>
          </p:cNvPr>
          <p:cNvSpPr>
            <a:spLocks xmlns:a="http://schemas.openxmlformats.org/drawingml/2006/main" noGrp="1"/>
          </p:cNvSpPr>
          <p:nvPr/>
        </p:nvSpPr>
        <p:spPr>
          <a:xfrm xmlns:a="http://schemas.openxmlformats.org/drawingml/2006/main">
            <a:off x="609600" y="64579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B"/>
                </a:solidFill>
                <a:latin typeface="Arial"/>
                <a:ea typeface="Arial"/>
                <a:cs typeface="Arial"/>
              </a:defRPr>
            </a:defPPr>
          </a:lstStyle>
          <a:p xmlns:a="http://schemas.openxmlformats.org/drawingml/2006/main">
            <a:pPr>
              <a:buNone/>
              <a:defRPr sz="1125" b="0">
                <a:solidFill>
                  <a:srgbClr val="52677B"/>
                </a:solidFill>
                <a:latin typeface="Arial"/>
                <a:ea typeface="Arial"/>
                <a:cs typeface="Arial"/>
              </a:defRPr>
            </a:pPr>
            <a:r>
              <a:rPr sz="1125" b="0">
                <a:solidFill>
                  <a:srgbClr val="52677B"/>
                </a:solidFill>
                <a:latin typeface="Arial"/>
                <a:ea typeface="Arial"/>
                <a:cs typeface="Arial"/>
              </a:rPr>
              <a:t>Four-city paper trading. Frozen October 12, 2026</a:t>
            </a:r>
          </a:p>
        </p:txBody>
      </p:sp>
      <p:sp>
        <p:nvSpPr>
          <p:cNvPr id="4" name="">
            <a:extLst xmlns:a="http://schemas.openxmlformats.org/drawingml/2006/main">
              <a:ext uri="{FF2B5EF4-FFF2-40B4-BE49-F238E27FC236}">
                <a16:creationId xmlns:a16="http://schemas.microsoft.com/office/drawing/2014/main" id="{24589B63-5534-4730-99A0-45FE286DC1D4}"/>
              </a:ext>
            </a:extLst>
          </p:cNvPr>
          <p:cNvSpPr>
            <a:spLocks xmlns:a="http://schemas.openxmlformats.org/drawingml/2006/main" noGrp="1"/>
          </p:cNvSpPr>
          <p:nvPr/>
        </p:nvSpPr>
        <p:spPr>
          <a:xfrm xmlns:a="http://schemas.openxmlformats.org/drawingml/2006/main">
            <a:off x="11049000" y="6400800"/>
            <a:ext cx="495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77B"/>
                </a:solidFill>
                <a:latin typeface="Arial"/>
                <a:ea typeface="Arial"/>
                <a:cs typeface="Arial"/>
              </a:defRPr>
            </a:defPPr>
          </a:lstStyle>
          <a:p xmlns:a="http://schemas.openxmlformats.org/drawingml/2006/main">
            <a:pPr>
              <a:buNone/>
              <a:defRPr sz="1500" b="0">
                <a:solidFill>
                  <a:srgbClr val="52677B"/>
                </a:solidFill>
                <a:latin typeface="Arial"/>
                <a:ea typeface="Arial"/>
                <a:cs typeface="Arial"/>
              </a:defRPr>
            </a:pPr>
            <a:r>
              <a:rPr sz="1500" b="0">
                <a:solidFill>
                  <a:srgbClr val="52677B"/>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44E0E9AB-D15E-4220-8524-FB273CBF7FF3}"/>
              </a:ext>
            </a:extLst>
          </p:cNvPr>
          <p:cNvSpPr>
            <a:spLocks xmlns:a="http://schemas.openxmlformats.org/drawingml/2006/main" noGrp="1"/>
          </p:cNvSpPr>
          <p:nvPr/>
        </p:nvSpPr>
        <p:spPr>
          <a:xfrm xmlns:a="http://schemas.openxmlformats.org/drawingml/2006/main">
            <a:off x="609600" y="1724025"/>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52677B"/>
                </a:solidFill>
                <a:latin typeface="Arial"/>
                <a:ea typeface="Arial"/>
                <a:cs typeface="Arial"/>
              </a:defRPr>
            </a:defPPr>
          </a:lstStyle>
          <a:p xmlns:a="http://schemas.openxmlformats.org/drawingml/2006/main">
            <a:pPr>
              <a:buNone/>
              <a:defRPr sz="1425" b="1">
                <a:solidFill>
                  <a:srgbClr val="52677B"/>
                </a:solidFill>
                <a:latin typeface="Arial"/>
                <a:ea typeface="Arial"/>
                <a:cs typeface="Arial"/>
              </a:defRPr>
            </a:pPr>
            <a:r>
              <a:rPr sz="1425" b="1">
                <a:solidFill>
                  <a:srgbClr val="52677B"/>
                </a:solidFill>
                <a:latin typeface="Arial"/>
                <a:ea typeface="Arial"/>
                <a:cs typeface="Arial"/>
              </a:rPr>
              <a:t>THE EXPANSION</a:t>
            </a:r>
          </a:p>
        </p:txBody>
      </p:sp>
      <p:sp>
        <p:nvSpPr>
          <p:cNvPr id="6" name="">
            <a:extLst xmlns:a="http://schemas.openxmlformats.org/drawingml/2006/main">
              <a:ext uri="{FF2B5EF4-FFF2-40B4-BE49-F238E27FC236}">
                <a16:creationId xmlns:a16="http://schemas.microsoft.com/office/drawing/2014/main" id="{0281C742-51D7-4BDE-BDDA-AAED823F7677}"/>
              </a:ext>
            </a:extLst>
          </p:cNvPr>
          <p:cNvSpPr>
            <a:spLocks xmlns:a="http://schemas.openxmlformats.org/drawingml/2006/main" noGrp="1"/>
          </p:cNvSpPr>
          <p:nvPr/>
        </p:nvSpPr>
        <p:spPr>
          <a:xfrm xmlns:a="http://schemas.openxmlformats.org/drawingml/2006/main">
            <a:off x="609600" y="2019300"/>
            <a:ext cx="50292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2D44"/>
                </a:solidFill>
                <a:latin typeface="Arial"/>
                <a:ea typeface="Arial"/>
                <a:cs typeface="Arial"/>
              </a:defRPr>
            </a:defPPr>
          </a:lstStyle>
          <a:p xmlns:a="http://schemas.openxmlformats.org/drawingml/2006/main">
            <a:pPr>
              <a:buNone/>
              <a:defRPr sz="1950" b="0">
                <a:solidFill>
                  <a:srgbClr val="142D44"/>
                </a:solidFill>
                <a:latin typeface="Arial"/>
                <a:ea typeface="Arial"/>
                <a:cs typeface="Arial"/>
              </a:defRPr>
            </a:pPr>
            <a:r>
              <a:rPr sz="1950" b="0">
                <a:solidFill>
                  <a:srgbClr val="142D44"/>
                </a:solidFill>
                <a:latin typeface="Arial"/>
                <a:ea typeface="Arial"/>
                <a:cs typeface="Arial"/>
              </a:rPr>
              <a:t>Los Angeles came first. New York, Miami and Phoenix now have their own saved models and trading rules.</a:t>
            </a:r>
          </a:p>
        </p:txBody>
      </p:sp>
      <p:sp>
        <p:nvSpPr>
          <p:cNvPr id="7" name="">
            <a:extLst xmlns:a="http://schemas.openxmlformats.org/drawingml/2006/main">
              <a:ext uri="{FF2B5EF4-FFF2-40B4-BE49-F238E27FC236}">
                <a16:creationId xmlns:a16="http://schemas.microsoft.com/office/drawing/2014/main" id="{F039EC87-F445-4B6D-8639-B6D20D7F6E38}"/>
              </a:ext>
            </a:extLst>
          </p:cNvPr>
          <p:cNvSpPr>
            <a:spLocks xmlns:a="http://schemas.openxmlformats.org/drawingml/2006/main" noGrp="1"/>
          </p:cNvSpPr>
          <p:nvPr/>
        </p:nvSpPr>
        <p:spPr>
          <a:xfrm xmlns:a="http://schemas.openxmlformats.org/drawingml/2006/main">
            <a:off x="609600" y="3152775"/>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52677B"/>
                </a:solidFill>
                <a:latin typeface="Arial"/>
                <a:ea typeface="Arial"/>
                <a:cs typeface="Arial"/>
              </a:defRPr>
            </a:defPPr>
          </a:lstStyle>
          <a:p xmlns:a="http://schemas.openxmlformats.org/drawingml/2006/main">
            <a:pPr>
              <a:buNone/>
              <a:defRPr sz="1425" b="1">
                <a:solidFill>
                  <a:srgbClr val="52677B"/>
                </a:solidFill>
                <a:latin typeface="Arial"/>
                <a:ea typeface="Arial"/>
                <a:cs typeface="Arial"/>
              </a:defRPr>
            </a:pPr>
            <a:r>
              <a:rPr sz="1425" b="1">
                <a:solidFill>
                  <a:srgbClr val="52677B"/>
                </a:solidFill>
                <a:latin typeface="Arial"/>
                <a:ea typeface="Arial"/>
                <a:cs typeface="Arial"/>
              </a:rPr>
              <a:t>THE TARGETS</a:t>
            </a:r>
          </a:p>
        </p:txBody>
      </p:sp>
      <p:sp>
        <p:nvSpPr>
          <p:cNvPr id="8" name="">
            <a:extLst xmlns:a="http://schemas.openxmlformats.org/drawingml/2006/main">
              <a:ext uri="{FF2B5EF4-FFF2-40B4-BE49-F238E27FC236}">
                <a16:creationId xmlns:a16="http://schemas.microsoft.com/office/drawing/2014/main" id="{C6F7311E-94CA-4A4C-8AAF-2A7F0ADFFA66}"/>
              </a:ext>
            </a:extLst>
          </p:cNvPr>
          <p:cNvSpPr>
            <a:spLocks xmlns:a="http://schemas.openxmlformats.org/drawingml/2006/main" noGrp="1"/>
          </p:cNvSpPr>
          <p:nvPr/>
        </p:nvSpPr>
        <p:spPr>
          <a:xfrm xmlns:a="http://schemas.openxmlformats.org/drawingml/2006/main">
            <a:off x="609600" y="3448050"/>
            <a:ext cx="50292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2D44"/>
                </a:solidFill>
                <a:latin typeface="Arial"/>
                <a:ea typeface="Arial"/>
                <a:cs typeface="Arial"/>
              </a:defRPr>
            </a:defPPr>
          </a:lstStyle>
          <a:p xmlns:a="http://schemas.openxmlformats.org/drawingml/2006/main">
            <a:pPr>
              <a:buNone/>
              <a:defRPr sz="1950" b="0">
                <a:solidFill>
                  <a:srgbClr val="142D44"/>
                </a:solidFill>
                <a:latin typeface="Arial"/>
                <a:ea typeface="Arial"/>
                <a:cs typeface="Arial"/>
              </a:defRPr>
            </a:pPr>
            <a:r>
              <a:rPr sz="1950" b="0">
                <a:solidFill>
                  <a:srgbClr val="142D44"/>
                </a:solidFill>
                <a:latin typeface="Arial"/>
                <a:ea typeface="Arial"/>
                <a:cs typeface="Arial"/>
              </a:rPr>
              <a:t>Each city has its own weather station and Kalshi temperature market. LA settings do not automatically transfer.</a:t>
            </a:r>
          </a:p>
        </p:txBody>
      </p:sp>
      <p:sp>
        <p:nvSpPr>
          <p:cNvPr id="9" name="">
            <a:extLst xmlns:a="http://schemas.openxmlformats.org/drawingml/2006/main">
              <a:ext uri="{FF2B5EF4-FFF2-40B4-BE49-F238E27FC236}">
                <a16:creationId xmlns:a16="http://schemas.microsoft.com/office/drawing/2014/main" id="{933CB77A-84C0-4A2B-8C89-12DFBCA5107F}"/>
              </a:ext>
            </a:extLst>
          </p:cNvPr>
          <p:cNvSpPr>
            <a:spLocks xmlns:a="http://schemas.openxmlformats.org/drawingml/2006/main" noGrp="1"/>
          </p:cNvSpPr>
          <p:nvPr/>
        </p:nvSpPr>
        <p:spPr>
          <a:xfrm xmlns:a="http://schemas.openxmlformats.org/drawingml/2006/main">
            <a:off x="609600" y="4572000"/>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52677B"/>
                </a:solidFill>
                <a:latin typeface="Arial"/>
                <a:ea typeface="Arial"/>
                <a:cs typeface="Arial"/>
              </a:defRPr>
            </a:defPPr>
          </a:lstStyle>
          <a:p xmlns:a="http://schemas.openxmlformats.org/drawingml/2006/main">
            <a:pPr>
              <a:buNone/>
              <a:defRPr sz="1425" b="1">
                <a:solidFill>
                  <a:srgbClr val="52677B"/>
                </a:solidFill>
                <a:latin typeface="Arial"/>
                <a:ea typeface="Arial"/>
                <a:cs typeface="Arial"/>
              </a:defRPr>
            </a:pPr>
            <a:r>
              <a:rPr sz="1425" b="1">
                <a:solidFill>
                  <a:srgbClr val="52677B"/>
                </a:solidFill>
                <a:latin typeface="Arial"/>
                <a:ea typeface="Arial"/>
                <a:cs typeface="Arial"/>
              </a:rPr>
              <a:t>THE MONEY</a:t>
            </a:r>
          </a:p>
        </p:txBody>
      </p:sp>
      <p:sp>
        <p:nvSpPr>
          <p:cNvPr id="10" name="">
            <a:extLst xmlns:a="http://schemas.openxmlformats.org/drawingml/2006/main">
              <a:ext uri="{FF2B5EF4-FFF2-40B4-BE49-F238E27FC236}">
                <a16:creationId xmlns:a16="http://schemas.microsoft.com/office/drawing/2014/main" id="{9F6C3A61-70A2-4482-8DB4-045EAC415A21}"/>
              </a:ext>
            </a:extLst>
          </p:cNvPr>
          <p:cNvSpPr>
            <a:spLocks xmlns:a="http://schemas.openxmlformats.org/drawingml/2006/main" noGrp="1"/>
          </p:cNvSpPr>
          <p:nvPr/>
        </p:nvSpPr>
        <p:spPr>
          <a:xfrm xmlns:a="http://schemas.openxmlformats.org/drawingml/2006/main">
            <a:off x="609600" y="4867275"/>
            <a:ext cx="50292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2D44"/>
                </a:solidFill>
                <a:latin typeface="Arial"/>
                <a:ea typeface="Arial"/>
                <a:cs typeface="Arial"/>
              </a:defRPr>
            </a:defPPr>
          </a:lstStyle>
          <a:p xmlns:a="http://schemas.openxmlformats.org/drawingml/2006/main">
            <a:pPr>
              <a:buNone/>
              <a:defRPr sz="1950" b="0">
                <a:solidFill>
                  <a:srgbClr val="142D44"/>
                </a:solidFill>
                <a:latin typeface="Arial"/>
                <a:ea typeface="Arial"/>
                <a:cs typeface="Arial"/>
              </a:defRPr>
            </a:pPr>
            <a:r>
              <a:rPr sz="1950" b="0">
                <a:solidFill>
                  <a:srgbClr val="142D44"/>
                </a:solidFill>
                <a:latin typeface="Arial"/>
                <a:ea typeface="Arial"/>
                <a:cs typeface="Arial"/>
              </a:rPr>
              <a:t>Nine separate $100 test wallets let us compare the methods. Every trade uses fake money.</a:t>
            </a:r>
          </a:p>
        </p:txBody>
      </p:sp>
      <p:graphicFrame>
        <p:nvGraphicFramePr>
          <p:cNvPr id="11" name="Chart">
            <a:extLst xmlns:a="http://schemas.openxmlformats.org/drawingml/2006/main">
              <a:ext uri="{FF2B5EF4-FFF2-40B4-BE49-F238E27FC236}">
                <a16:creationId xmlns:a16="http://schemas.microsoft.com/office/drawing/2014/main" id="{2EEA7604-8622-427B-B107-D539E2633CD2}"/>
              </a:ext>
            </a:extLst>
          </p:cNvPr>
          <p:cNvGraphicFramePr/>
          <p:nvPr/>
        </p:nvGraphicFramePr>
        <p:xfrm>
          <a:off xmlns:a="http://schemas.openxmlformats.org/drawingml/2006/main" x="6019800" y="1704975"/>
          <a:ext xmlns:a="http://schemas.openxmlformats.org/drawingml/2006/main" cx="5524500" cy="3857625"/>
        </p:xfrm>
        <a:graphic xmlns:a="http://schemas.openxmlformats.org/drawingml/2006/main">
          <a:graphicData uri="http://schemas.openxmlformats.org/drawingml/2006/chart">
            <c:chart xmlns:r="http://schemas.openxmlformats.org/officeDocument/2006/relationships" xmlns:c="http://schemas.openxmlformats.org/drawingml/2006/chart" r:id="R6314bd8591f24b24"/>
          </a:graphicData>
        </a:graphic>
      </p:graphicFrame>
      <p:sp>
        <p:nvSpPr>
          <p:cNvPr id="12" name="">
            <a:extLst xmlns:a="http://schemas.openxmlformats.org/drawingml/2006/main">
              <a:ext uri="{FF2B5EF4-FFF2-40B4-BE49-F238E27FC236}">
                <a16:creationId xmlns:a16="http://schemas.microsoft.com/office/drawing/2014/main" id="{F2942862-CE43-4EEF-B08D-CD82488F6A57}"/>
              </a:ext>
            </a:extLst>
          </p:cNvPr>
          <p:cNvSpPr>
            <a:spLocks xmlns:a="http://schemas.openxmlformats.org/drawingml/2006/main" noGrp="1"/>
          </p:cNvSpPr>
          <p:nvPr/>
        </p:nvSpPr>
        <p:spPr>
          <a:xfrm xmlns:a="http://schemas.openxmlformats.org/drawingml/2006/main">
            <a:off x="6143625" y="5762625"/>
            <a:ext cx="5257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77B"/>
                </a:solidFill>
                <a:latin typeface="Arial"/>
                <a:ea typeface="Arial"/>
                <a:cs typeface="Arial"/>
              </a:defRPr>
            </a:defPPr>
          </a:lstStyle>
          <a:p xmlns:a="http://schemas.openxmlformats.org/drawingml/2006/main">
            <a:pPr>
              <a:buNone/>
              <a:defRPr sz="1575" b="0">
                <a:solidFill>
                  <a:srgbClr val="52677B"/>
                </a:solidFill>
                <a:latin typeface="Arial"/>
                <a:ea typeface="Arial"/>
                <a:cs typeface="Arial"/>
              </a:defRPr>
            </a:pPr>
            <a:r>
              <a:rPr sz="1575" b="0">
                <a:solidFill>
                  <a:srgbClr val="52677B"/>
                </a:solidFill>
                <a:latin typeface="Arial"/>
                <a:ea typeface="Arial"/>
                <a:cs typeface="Arial"/>
              </a:rPr>
              <a:t>KLAX, KNYC, KMIA and KPHX. Each city retains its own forecasts and purchase rules.</a:t>
            </a:r>
          </a:p>
        </p:txBody>
      </p:sp>
    </p:spTree>
    <p:extLst>
      <p:ext uri="{BB962C8B-B14F-4D97-AF65-F5344CB8AC3E}">
        <p14:creationId xmlns:p14="http://schemas.microsoft.com/office/powerpoint/2010/main" val="1699412373"/>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4D0209E-A7DD-4EBC-9BD7-097F1134399F}"/>
              </a:ext>
            </a:extLst>
          </p:cNvPr>
          <p:cNvSpPr>
            <a:spLocks xmlns:a="http://schemas.openxmlformats.org/drawingml/2006/main" noGrp="1"/>
          </p:cNvSpPr>
          <p:nvPr/>
        </p:nvSpPr>
        <p:spPr>
          <a:xfrm xmlns:a="http://schemas.openxmlformats.org/drawingml/2006/main">
            <a:off x="609600" y="381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7E89"/>
                </a:solidFill>
                <a:latin typeface="Arial"/>
                <a:ea typeface="Arial"/>
                <a:cs typeface="Arial"/>
              </a:defRPr>
            </a:defPPr>
          </a:lstStyle>
          <a:p xmlns:a="http://schemas.openxmlformats.org/drawingml/2006/main">
            <a:pPr>
              <a:buNone/>
              <a:defRPr sz="1500" b="1">
                <a:solidFill>
                  <a:srgbClr val="177E89"/>
                </a:solidFill>
                <a:latin typeface="Arial"/>
                <a:ea typeface="Arial"/>
                <a:cs typeface="Arial"/>
              </a:defRPr>
            </a:pPr>
            <a:r>
              <a:rPr sz="1500" b="1">
                <a:solidFill>
                  <a:srgbClr val="177E89"/>
                </a:solidFill>
                <a:latin typeface="Arial"/>
                <a:ea typeface="Arial"/>
                <a:cs typeface="Arial"/>
              </a:rPr>
              <a:t>REAL WEATHER AND MARKET EVIDENCE</a:t>
            </a:r>
          </a:p>
        </p:txBody>
      </p:sp>
      <p:sp>
        <p:nvSpPr>
          <p:cNvPr id="2" name="">
            <a:extLst xmlns:a="http://schemas.openxmlformats.org/drawingml/2006/main">
              <a:ext uri="{FF2B5EF4-FFF2-40B4-BE49-F238E27FC236}">
                <a16:creationId xmlns:a16="http://schemas.microsoft.com/office/drawing/2014/main" id="{3BED81E4-59D1-44C8-AE08-25FD75A0A72F}"/>
              </a:ext>
            </a:extLst>
          </p:cNvPr>
          <p:cNvSpPr>
            <a:spLocks xmlns:a="http://schemas.openxmlformats.org/drawingml/2006/main" noGrp="1"/>
          </p:cNvSpPr>
          <p:nvPr/>
        </p:nvSpPr>
        <p:spPr>
          <a:xfrm xmlns:a="http://schemas.openxmlformats.org/drawingml/2006/main">
            <a:off x="609600" y="762000"/>
            <a:ext cx="10934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D44"/>
                </a:solidFill>
                <a:latin typeface="Arial"/>
                <a:ea typeface="Arial"/>
                <a:cs typeface="Arial"/>
              </a:defRPr>
            </a:defPPr>
          </a:lstStyle>
          <a:p xmlns:a="http://schemas.openxmlformats.org/drawingml/2006/main">
            <a:pPr>
              <a:buNone/>
              <a:defRPr sz="3300" b="1">
                <a:solidFill>
                  <a:srgbClr val="142D44"/>
                </a:solidFill>
                <a:latin typeface="Arial"/>
                <a:ea typeface="Arial"/>
                <a:cs typeface="Arial"/>
              </a:defRPr>
            </a:pPr>
            <a:r>
              <a:rPr sz="3300" b="1">
                <a:solidFill>
                  <a:srgbClr val="142D44"/>
                </a:solidFill>
                <a:latin typeface="Arial"/>
                <a:ea typeface="Arial"/>
                <a:cs typeface="Arial"/>
              </a:rPr>
              <a:t>Simulation starts with recorded days</a:t>
            </a:r>
          </a:p>
        </p:txBody>
      </p:sp>
      <p:sp>
        <p:nvSpPr>
          <p:cNvPr id="3" name="">
            <a:extLst xmlns:a="http://schemas.openxmlformats.org/drawingml/2006/main">
              <a:ext uri="{FF2B5EF4-FFF2-40B4-BE49-F238E27FC236}">
                <a16:creationId xmlns:a16="http://schemas.microsoft.com/office/drawing/2014/main" id="{30149D4E-7A8B-4A22-B7C9-E41A483157AA}"/>
              </a:ext>
            </a:extLst>
          </p:cNvPr>
          <p:cNvSpPr>
            <a:spLocks xmlns:a="http://schemas.openxmlformats.org/drawingml/2006/main" noGrp="1"/>
          </p:cNvSpPr>
          <p:nvPr/>
        </p:nvSpPr>
        <p:spPr>
          <a:xfrm xmlns:a="http://schemas.openxmlformats.org/drawingml/2006/main">
            <a:off x="609600" y="64579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B"/>
                </a:solidFill>
                <a:latin typeface="Arial"/>
                <a:ea typeface="Arial"/>
                <a:cs typeface="Arial"/>
              </a:defRPr>
            </a:defPPr>
          </a:lstStyle>
          <a:p xmlns:a="http://schemas.openxmlformats.org/drawingml/2006/main">
            <a:pPr>
              <a:buNone/>
              <a:defRPr sz="1125" b="0">
                <a:solidFill>
                  <a:srgbClr val="52677B"/>
                </a:solidFill>
                <a:latin typeface="Arial"/>
                <a:ea typeface="Arial"/>
                <a:cs typeface="Arial"/>
              </a:defRPr>
            </a:pPr>
            <a:r>
              <a:rPr sz="1125" b="0">
                <a:solidFill>
                  <a:srgbClr val="52677B"/>
                </a:solidFill>
                <a:latin typeface="Arial"/>
                <a:ea typeface="Arial"/>
                <a:cs typeface="Arial"/>
              </a:rPr>
              <a:t>Four-city paper trading. Frozen October 12, 2026</a:t>
            </a:r>
          </a:p>
        </p:txBody>
      </p:sp>
      <p:sp>
        <p:nvSpPr>
          <p:cNvPr id="4" name="">
            <a:extLst xmlns:a="http://schemas.openxmlformats.org/drawingml/2006/main">
              <a:ext uri="{FF2B5EF4-FFF2-40B4-BE49-F238E27FC236}">
                <a16:creationId xmlns:a16="http://schemas.microsoft.com/office/drawing/2014/main" id="{CF1E4843-32E3-47D2-883C-5DDB8D221AA0}"/>
              </a:ext>
            </a:extLst>
          </p:cNvPr>
          <p:cNvSpPr>
            <a:spLocks xmlns:a="http://schemas.openxmlformats.org/drawingml/2006/main" noGrp="1"/>
          </p:cNvSpPr>
          <p:nvPr/>
        </p:nvSpPr>
        <p:spPr>
          <a:xfrm xmlns:a="http://schemas.openxmlformats.org/drawingml/2006/main">
            <a:off x="11049000" y="6400800"/>
            <a:ext cx="495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77B"/>
                </a:solidFill>
                <a:latin typeface="Arial"/>
                <a:ea typeface="Arial"/>
                <a:cs typeface="Arial"/>
              </a:defRPr>
            </a:defPPr>
          </a:lstStyle>
          <a:p xmlns:a="http://schemas.openxmlformats.org/drawingml/2006/main">
            <a:pPr>
              <a:buNone/>
              <a:defRPr sz="1500" b="0">
                <a:solidFill>
                  <a:srgbClr val="52677B"/>
                </a:solidFill>
                <a:latin typeface="Arial"/>
                <a:ea typeface="Arial"/>
                <a:cs typeface="Arial"/>
              </a:defRPr>
            </a:pPr>
            <a:r>
              <a:rPr sz="1500" b="0">
                <a:solidFill>
                  <a:srgbClr val="52677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E581EEB0-1269-4EE9-8352-2A7CEFFC23B5}"/>
              </a:ext>
            </a:extLst>
          </p:cNvPr>
          <p:cNvSpPr>
            <a:spLocks xmlns:a="http://schemas.openxmlformats.org/drawingml/2006/main" noGrp="1"/>
          </p:cNvSpPr>
          <p:nvPr/>
        </p:nvSpPr>
        <p:spPr>
          <a:xfrm xmlns:a="http://schemas.openxmlformats.org/drawingml/2006/main">
            <a:off x="609600" y="1724025"/>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52677B"/>
                </a:solidFill>
                <a:latin typeface="Arial"/>
                <a:ea typeface="Arial"/>
                <a:cs typeface="Arial"/>
              </a:defRPr>
            </a:defPPr>
          </a:lstStyle>
          <a:p xmlns:a="http://schemas.openxmlformats.org/drawingml/2006/main">
            <a:pPr>
              <a:buNone/>
              <a:defRPr sz="1425" b="1">
                <a:solidFill>
                  <a:srgbClr val="52677B"/>
                </a:solidFill>
                <a:latin typeface="Arial"/>
                <a:ea typeface="Arial"/>
                <a:cs typeface="Arial"/>
              </a:defRPr>
            </a:pPr>
            <a:r>
              <a:rPr sz="1425" b="1">
                <a:solidFill>
                  <a:srgbClr val="52677B"/>
                </a:solidFill>
                <a:latin typeface="Arial"/>
                <a:ea typeface="Arial"/>
                <a:cs typeface="Arial"/>
              </a:rPr>
              <a:t>WEATHER AS IT WAS AVAILABLE</a:t>
            </a:r>
          </a:p>
        </p:txBody>
      </p:sp>
      <p:sp>
        <p:nvSpPr>
          <p:cNvPr id="6" name="">
            <a:extLst xmlns:a="http://schemas.openxmlformats.org/drawingml/2006/main">
              <a:ext uri="{FF2B5EF4-FFF2-40B4-BE49-F238E27FC236}">
                <a16:creationId xmlns:a16="http://schemas.microsoft.com/office/drawing/2014/main" id="{F19BA801-E826-4C57-85FD-4A98B5E75A3E}"/>
              </a:ext>
            </a:extLst>
          </p:cNvPr>
          <p:cNvSpPr>
            <a:spLocks xmlns:a="http://schemas.openxmlformats.org/drawingml/2006/main" noGrp="1"/>
          </p:cNvSpPr>
          <p:nvPr/>
        </p:nvSpPr>
        <p:spPr>
          <a:xfrm xmlns:a="http://schemas.openxmlformats.org/drawingml/2006/main">
            <a:off x="609600" y="2019300"/>
            <a:ext cx="50292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2D44"/>
                </a:solidFill>
                <a:latin typeface="Arial"/>
                <a:ea typeface="Arial"/>
                <a:cs typeface="Arial"/>
              </a:defRPr>
            </a:defPPr>
          </a:lstStyle>
          <a:p xmlns:a="http://schemas.openxmlformats.org/drawingml/2006/main">
            <a:pPr>
              <a:buNone/>
              <a:defRPr sz="1950" b="0">
                <a:solidFill>
                  <a:srgbClr val="142D44"/>
                </a:solidFill>
                <a:latin typeface="Arial"/>
                <a:ea typeface="Arial"/>
                <a:cs typeface="Arial"/>
              </a:defRPr>
            </a:pPr>
            <a:r>
              <a:rPr sz="1950" b="0">
                <a:solidFill>
                  <a:srgbClr val="142D44"/>
                </a:solidFill>
                <a:latin typeface="Arial"/>
                <a:ea typeface="Arial"/>
                <a:cs typeface="Arial"/>
              </a:rPr>
              <a:t>Use dated HRRR and GEFS inputs, observations and the saved forecast state for that city.</a:t>
            </a:r>
          </a:p>
        </p:txBody>
      </p:sp>
      <p:sp>
        <p:nvSpPr>
          <p:cNvPr id="7" name="">
            <a:extLst xmlns:a="http://schemas.openxmlformats.org/drawingml/2006/main">
              <a:ext uri="{FF2B5EF4-FFF2-40B4-BE49-F238E27FC236}">
                <a16:creationId xmlns:a16="http://schemas.microsoft.com/office/drawing/2014/main" id="{1927D271-A776-427D-AF85-81DD2A732413}"/>
              </a:ext>
            </a:extLst>
          </p:cNvPr>
          <p:cNvSpPr>
            <a:spLocks xmlns:a="http://schemas.openxmlformats.org/drawingml/2006/main" noGrp="1"/>
          </p:cNvSpPr>
          <p:nvPr/>
        </p:nvSpPr>
        <p:spPr>
          <a:xfrm xmlns:a="http://schemas.openxmlformats.org/drawingml/2006/main">
            <a:off x="609600" y="3152775"/>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52677B"/>
                </a:solidFill>
                <a:latin typeface="Arial"/>
                <a:ea typeface="Arial"/>
                <a:cs typeface="Arial"/>
              </a:defRPr>
            </a:defPPr>
          </a:lstStyle>
          <a:p xmlns:a="http://schemas.openxmlformats.org/drawingml/2006/main">
            <a:pPr>
              <a:buNone/>
              <a:defRPr sz="1425" b="1">
                <a:solidFill>
                  <a:srgbClr val="52677B"/>
                </a:solidFill>
                <a:latin typeface="Arial"/>
                <a:ea typeface="Arial"/>
                <a:cs typeface="Arial"/>
              </a:defRPr>
            </a:pPr>
            <a:r>
              <a:rPr sz="1425" b="1">
                <a:solidFill>
                  <a:srgbClr val="52677B"/>
                </a:solidFill>
                <a:latin typeface="Arial"/>
                <a:ea typeface="Arial"/>
                <a:cs typeface="Arial"/>
              </a:rPr>
              <a:t>QUOTES A TRADE COULD MEET</a:t>
            </a:r>
          </a:p>
        </p:txBody>
      </p:sp>
      <p:sp>
        <p:nvSpPr>
          <p:cNvPr id="8" name="">
            <a:extLst xmlns:a="http://schemas.openxmlformats.org/drawingml/2006/main">
              <a:ext uri="{FF2B5EF4-FFF2-40B4-BE49-F238E27FC236}">
                <a16:creationId xmlns:a16="http://schemas.microsoft.com/office/drawing/2014/main" id="{7DFF491B-5440-496C-B57E-471DB987ED39}"/>
              </a:ext>
            </a:extLst>
          </p:cNvPr>
          <p:cNvSpPr>
            <a:spLocks xmlns:a="http://schemas.openxmlformats.org/drawingml/2006/main" noGrp="1"/>
          </p:cNvSpPr>
          <p:nvPr/>
        </p:nvSpPr>
        <p:spPr>
          <a:xfrm xmlns:a="http://schemas.openxmlformats.org/drawingml/2006/main">
            <a:off x="609600" y="3448050"/>
            <a:ext cx="50292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2D44"/>
                </a:solidFill>
                <a:latin typeface="Arial"/>
                <a:ea typeface="Arial"/>
                <a:cs typeface="Arial"/>
              </a:defRPr>
            </a:defPPr>
          </a:lstStyle>
          <a:p xmlns:a="http://schemas.openxmlformats.org/drawingml/2006/main">
            <a:pPr>
              <a:buNone/>
              <a:defRPr sz="1950" b="0">
                <a:solidFill>
                  <a:srgbClr val="142D44"/>
                </a:solidFill>
                <a:latin typeface="Arial"/>
                <a:ea typeface="Arial"/>
                <a:cs typeface="Arial"/>
              </a:defRPr>
            </a:pPr>
            <a:r>
              <a:rPr sz="1950" b="0">
                <a:solidFill>
                  <a:srgbClr val="142D44"/>
                </a:solidFill>
                <a:latin typeface="Arial"/>
                <a:ea typeface="Arial"/>
                <a:cs typeface="Arial"/>
              </a:rPr>
              <a:t>Use both contract sides, prices and available quantities. Keep the timestamps, gaps and trading fees.</a:t>
            </a:r>
          </a:p>
        </p:txBody>
      </p:sp>
      <p:sp>
        <p:nvSpPr>
          <p:cNvPr id="9" name="">
            <a:extLst xmlns:a="http://schemas.openxmlformats.org/drawingml/2006/main">
              <a:ext uri="{FF2B5EF4-FFF2-40B4-BE49-F238E27FC236}">
                <a16:creationId xmlns:a16="http://schemas.microsoft.com/office/drawing/2014/main" id="{E9129CAC-EEA2-43BC-A6D5-27A2918005F9}"/>
              </a:ext>
            </a:extLst>
          </p:cNvPr>
          <p:cNvSpPr>
            <a:spLocks xmlns:a="http://schemas.openxmlformats.org/drawingml/2006/main" noGrp="1"/>
          </p:cNvSpPr>
          <p:nvPr/>
        </p:nvSpPr>
        <p:spPr>
          <a:xfrm xmlns:a="http://schemas.openxmlformats.org/drawingml/2006/main">
            <a:off x="609600" y="4572000"/>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52677B"/>
                </a:solidFill>
                <a:latin typeface="Arial"/>
                <a:ea typeface="Arial"/>
                <a:cs typeface="Arial"/>
              </a:defRPr>
            </a:defPPr>
          </a:lstStyle>
          <a:p xmlns:a="http://schemas.openxmlformats.org/drawingml/2006/main">
            <a:pPr>
              <a:buNone/>
              <a:defRPr sz="1425" b="1">
                <a:solidFill>
                  <a:srgbClr val="52677B"/>
                </a:solidFill>
                <a:latin typeface="Arial"/>
                <a:ea typeface="Arial"/>
                <a:cs typeface="Arial"/>
              </a:defRPr>
            </a:pPr>
            <a:r>
              <a:rPr sz="1425" b="1">
                <a:solidFill>
                  <a:srgbClr val="52677B"/>
                </a:solidFill>
                <a:latin typeface="Arial"/>
                <a:ea typeface="Arial"/>
                <a:cs typeface="Arial"/>
              </a:rPr>
              <a:t>THE FINAL ANSWER</a:t>
            </a:r>
          </a:p>
        </p:txBody>
      </p:sp>
      <p:sp>
        <p:nvSpPr>
          <p:cNvPr id="10" name="">
            <a:extLst xmlns:a="http://schemas.openxmlformats.org/drawingml/2006/main">
              <a:ext uri="{FF2B5EF4-FFF2-40B4-BE49-F238E27FC236}">
                <a16:creationId xmlns:a16="http://schemas.microsoft.com/office/drawing/2014/main" id="{ED453C04-38C7-4DE4-9D03-3E677D296B68}"/>
              </a:ext>
            </a:extLst>
          </p:cNvPr>
          <p:cNvSpPr>
            <a:spLocks xmlns:a="http://schemas.openxmlformats.org/drawingml/2006/main" noGrp="1"/>
          </p:cNvSpPr>
          <p:nvPr/>
        </p:nvSpPr>
        <p:spPr>
          <a:xfrm xmlns:a="http://schemas.openxmlformats.org/drawingml/2006/main">
            <a:off x="609600" y="4867275"/>
            <a:ext cx="50292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2D44"/>
                </a:solidFill>
                <a:latin typeface="Arial"/>
                <a:ea typeface="Arial"/>
                <a:cs typeface="Arial"/>
              </a:defRPr>
            </a:defPPr>
          </a:lstStyle>
          <a:p xmlns:a="http://schemas.openxmlformats.org/drawingml/2006/main">
            <a:pPr>
              <a:buNone/>
              <a:defRPr sz="1950" b="0">
                <a:solidFill>
                  <a:srgbClr val="142D44"/>
                </a:solidFill>
                <a:latin typeface="Arial"/>
                <a:ea typeface="Arial"/>
                <a:cs typeface="Arial"/>
              </a:defRPr>
            </a:pPr>
            <a:r>
              <a:rPr sz="1950" b="0">
                <a:solidFill>
                  <a:srgbClr val="142D44"/>
                </a:solidFill>
                <a:latin typeface="Arial"/>
                <a:ea typeface="Arial"/>
                <a:cs typeface="Arial"/>
              </a:rPr>
              <a:t>Use official dated market outcomes and payout timing. Keep a day’s weather and market evidence together.</a:t>
            </a:r>
          </a:p>
        </p:txBody>
      </p:sp>
      <p:graphicFrame>
        <p:nvGraphicFramePr>
          <p:cNvPr id="11" name="Chart">
            <a:extLst xmlns:a="http://schemas.openxmlformats.org/drawingml/2006/main">
              <a:ext uri="{FF2B5EF4-FFF2-40B4-BE49-F238E27FC236}">
                <a16:creationId xmlns:a16="http://schemas.microsoft.com/office/drawing/2014/main" id="{BBF9EF77-B159-4C31-B10E-5E111539EB60}"/>
              </a:ext>
            </a:extLst>
          </p:cNvPr>
          <p:cNvGraphicFramePr/>
          <p:nvPr/>
        </p:nvGraphicFramePr>
        <p:xfrm>
          <a:off xmlns:a="http://schemas.openxmlformats.org/drawingml/2006/main" x="6019800" y="1704975"/>
          <a:ext xmlns:a="http://schemas.openxmlformats.org/drawingml/2006/main" cx="5524500" cy="3857625"/>
        </p:xfrm>
        <a:graphic xmlns:a="http://schemas.openxmlformats.org/drawingml/2006/main">
          <a:graphicData uri="http://schemas.openxmlformats.org/drawingml/2006/chart">
            <c:chart xmlns:r="http://schemas.openxmlformats.org/officeDocument/2006/relationships" xmlns:c="http://schemas.openxmlformats.org/drawingml/2006/chart" r:id="R0b61b2a9c3f04ab3"/>
          </a:graphicData>
        </a:graphic>
      </p:graphicFrame>
      <p:sp>
        <p:nvSpPr>
          <p:cNvPr id="12" name="">
            <a:extLst xmlns:a="http://schemas.openxmlformats.org/drawingml/2006/main">
              <a:ext uri="{FF2B5EF4-FFF2-40B4-BE49-F238E27FC236}">
                <a16:creationId xmlns:a16="http://schemas.microsoft.com/office/drawing/2014/main" id="{A588D452-05AE-4FB5-94CD-B834795E85EF}"/>
              </a:ext>
            </a:extLst>
          </p:cNvPr>
          <p:cNvSpPr>
            <a:spLocks xmlns:a="http://schemas.openxmlformats.org/drawingml/2006/main" noGrp="1"/>
          </p:cNvSpPr>
          <p:nvPr/>
        </p:nvSpPr>
        <p:spPr>
          <a:xfrm xmlns:a="http://schemas.openxmlformats.org/drawingml/2006/main">
            <a:off x="6143625" y="5762625"/>
            <a:ext cx="5257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77B"/>
                </a:solidFill>
                <a:latin typeface="Arial"/>
                <a:ea typeface="Arial"/>
                <a:cs typeface="Arial"/>
              </a:defRPr>
            </a:defPPr>
          </a:lstStyle>
          <a:p xmlns:a="http://schemas.openxmlformats.org/drawingml/2006/main">
            <a:pPr>
              <a:buNone/>
              <a:defRPr sz="1575" b="0">
                <a:solidFill>
                  <a:srgbClr val="52677B"/>
                </a:solidFill>
                <a:latin typeface="Arial"/>
                <a:ea typeface="Arial"/>
                <a:cs typeface="Arial"/>
              </a:defRPr>
            </a:pPr>
            <a:r>
              <a:rPr sz="1575" b="0">
                <a:solidFill>
                  <a:srgbClr val="52677B"/>
                </a:solidFill>
                <a:latin typeface="Arial"/>
                <a:ea typeface="Arial"/>
                <a:cs typeface="Arial"/>
              </a:rPr>
              <a:t>17:00–17:29 UTC, KXHIGHLAX-26OCT11-B72.5. A recorded bid shows a price, not proof our sale filled.</a:t>
            </a:r>
          </a:p>
        </p:txBody>
      </p:sp>
    </p:spTree>
    <p:extLst>
      <p:ext uri="{BB962C8B-B14F-4D97-AF65-F5344CB8AC3E}">
        <p14:creationId xmlns:p14="http://schemas.microsoft.com/office/powerpoint/2010/main" val="1948356498"/>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7FB1EFD-B496-4F0D-B7E7-CC3C03CD28DA}"/>
              </a:ext>
            </a:extLst>
          </p:cNvPr>
          <p:cNvSpPr>
            <a:spLocks xmlns:a="http://schemas.openxmlformats.org/drawingml/2006/main" noGrp="1"/>
          </p:cNvSpPr>
          <p:nvPr/>
        </p:nvSpPr>
        <p:spPr>
          <a:xfrm xmlns:a="http://schemas.openxmlformats.org/drawingml/2006/main">
            <a:off x="609600" y="381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7E89"/>
                </a:solidFill>
                <a:latin typeface="Arial"/>
                <a:ea typeface="Arial"/>
                <a:cs typeface="Arial"/>
              </a:defRPr>
            </a:defPPr>
          </a:lstStyle>
          <a:p xmlns:a="http://schemas.openxmlformats.org/drawingml/2006/main">
            <a:pPr>
              <a:buNone/>
              <a:defRPr sz="1500" b="1">
                <a:solidFill>
                  <a:srgbClr val="177E89"/>
                </a:solidFill>
                <a:latin typeface="Arial"/>
                <a:ea typeface="Arial"/>
                <a:cs typeface="Arial"/>
              </a:defRPr>
            </a:pPr>
            <a:r>
              <a:rPr sz="1500" b="1">
                <a:solidFill>
                  <a:srgbClr val="177E89"/>
                </a:solidFill>
                <a:latin typeface="Arial"/>
                <a:ea typeface="Arial"/>
                <a:cs typeface="Arial"/>
              </a:rPr>
              <a:t>CONSTRUCTED SCENARIOS</a:t>
            </a:r>
          </a:p>
        </p:txBody>
      </p:sp>
      <p:sp>
        <p:nvSpPr>
          <p:cNvPr id="2" name="">
            <a:extLst xmlns:a="http://schemas.openxmlformats.org/drawingml/2006/main">
              <a:ext uri="{FF2B5EF4-FFF2-40B4-BE49-F238E27FC236}">
                <a16:creationId xmlns:a16="http://schemas.microsoft.com/office/drawing/2014/main" id="{D348793C-FDF9-4449-8E65-60D0CE815ED4}"/>
              </a:ext>
            </a:extLst>
          </p:cNvPr>
          <p:cNvSpPr>
            <a:spLocks xmlns:a="http://schemas.openxmlformats.org/drawingml/2006/main" noGrp="1"/>
          </p:cNvSpPr>
          <p:nvPr/>
        </p:nvSpPr>
        <p:spPr>
          <a:xfrm xmlns:a="http://schemas.openxmlformats.org/drawingml/2006/main">
            <a:off x="609600" y="762000"/>
            <a:ext cx="10934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D44"/>
                </a:solidFill>
                <a:latin typeface="Arial"/>
                <a:ea typeface="Arial"/>
                <a:cs typeface="Arial"/>
              </a:defRPr>
            </a:defPPr>
          </a:lstStyle>
          <a:p xmlns:a="http://schemas.openxmlformats.org/drawingml/2006/main">
            <a:pPr>
              <a:buNone/>
              <a:defRPr sz="3300" b="1">
                <a:solidFill>
                  <a:srgbClr val="142D44"/>
                </a:solidFill>
                <a:latin typeface="Arial"/>
                <a:ea typeface="Arial"/>
                <a:cs typeface="Arial"/>
              </a:defRPr>
            </a:pPr>
            <a:r>
              <a:rPr sz="3300" b="1">
                <a:solidFill>
                  <a:srgbClr val="142D44"/>
                </a:solidFill>
                <a:latin typeface="Arial"/>
                <a:ea typeface="Arial"/>
                <a:cs typeface="Arial"/>
              </a:rPr>
              <a:t>Stress tests stretch the recorded evidence</a:t>
            </a:r>
          </a:p>
        </p:txBody>
      </p:sp>
      <p:sp>
        <p:nvSpPr>
          <p:cNvPr id="3" name="">
            <a:extLst xmlns:a="http://schemas.openxmlformats.org/drawingml/2006/main">
              <a:ext uri="{FF2B5EF4-FFF2-40B4-BE49-F238E27FC236}">
                <a16:creationId xmlns:a16="http://schemas.microsoft.com/office/drawing/2014/main" id="{95F991B7-2AE9-4ED0-9DB2-51B55030748B}"/>
              </a:ext>
            </a:extLst>
          </p:cNvPr>
          <p:cNvSpPr>
            <a:spLocks xmlns:a="http://schemas.openxmlformats.org/drawingml/2006/main" noGrp="1"/>
          </p:cNvSpPr>
          <p:nvPr/>
        </p:nvSpPr>
        <p:spPr>
          <a:xfrm xmlns:a="http://schemas.openxmlformats.org/drawingml/2006/main">
            <a:off x="609600" y="64579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B"/>
                </a:solidFill>
                <a:latin typeface="Arial"/>
                <a:ea typeface="Arial"/>
                <a:cs typeface="Arial"/>
              </a:defRPr>
            </a:defPPr>
          </a:lstStyle>
          <a:p xmlns:a="http://schemas.openxmlformats.org/drawingml/2006/main">
            <a:pPr>
              <a:buNone/>
              <a:defRPr sz="1125" b="0">
                <a:solidFill>
                  <a:srgbClr val="52677B"/>
                </a:solidFill>
                <a:latin typeface="Arial"/>
                <a:ea typeface="Arial"/>
                <a:cs typeface="Arial"/>
              </a:defRPr>
            </a:pPr>
            <a:r>
              <a:rPr sz="1125" b="0">
                <a:solidFill>
                  <a:srgbClr val="52677B"/>
                </a:solidFill>
                <a:latin typeface="Arial"/>
                <a:ea typeface="Arial"/>
                <a:cs typeface="Arial"/>
              </a:rPr>
              <a:t>Four-city paper trading. Frozen October 12, 2026</a:t>
            </a:r>
          </a:p>
        </p:txBody>
      </p:sp>
      <p:sp>
        <p:nvSpPr>
          <p:cNvPr id="4" name="">
            <a:extLst xmlns:a="http://schemas.openxmlformats.org/drawingml/2006/main">
              <a:ext uri="{FF2B5EF4-FFF2-40B4-BE49-F238E27FC236}">
                <a16:creationId xmlns:a16="http://schemas.microsoft.com/office/drawing/2014/main" id="{4E5779D1-4A2E-4037-893D-25B95FCD52C7}"/>
              </a:ext>
            </a:extLst>
          </p:cNvPr>
          <p:cNvSpPr>
            <a:spLocks xmlns:a="http://schemas.openxmlformats.org/drawingml/2006/main" noGrp="1"/>
          </p:cNvSpPr>
          <p:nvPr/>
        </p:nvSpPr>
        <p:spPr>
          <a:xfrm xmlns:a="http://schemas.openxmlformats.org/drawingml/2006/main">
            <a:off x="11049000" y="6400800"/>
            <a:ext cx="495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77B"/>
                </a:solidFill>
                <a:latin typeface="Arial"/>
                <a:ea typeface="Arial"/>
                <a:cs typeface="Arial"/>
              </a:defRPr>
            </a:defPPr>
          </a:lstStyle>
          <a:p xmlns:a="http://schemas.openxmlformats.org/drawingml/2006/main">
            <a:pPr>
              <a:buNone/>
              <a:defRPr sz="1500" b="0">
                <a:solidFill>
                  <a:srgbClr val="52677B"/>
                </a:solidFill>
                <a:latin typeface="Arial"/>
                <a:ea typeface="Arial"/>
                <a:cs typeface="Arial"/>
              </a:defRPr>
            </a:pPr>
            <a:r>
              <a:rPr sz="1500" b="0">
                <a:solidFill>
                  <a:srgbClr val="52677B"/>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98A8CFBD-9568-4419-9A8D-B25F5FC9FE49}"/>
              </a:ext>
            </a:extLst>
          </p:cNvPr>
          <p:cNvSpPr>
            <a:spLocks xmlns:a="http://schemas.openxmlformats.org/drawingml/2006/main" noGrp="1"/>
          </p:cNvSpPr>
          <p:nvPr/>
        </p:nvSpPr>
        <p:spPr>
          <a:xfrm xmlns:a="http://schemas.openxmlformats.org/drawingml/2006/main">
            <a:off x="609600" y="1724025"/>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52677B"/>
                </a:solidFill>
                <a:latin typeface="Arial"/>
                <a:ea typeface="Arial"/>
                <a:cs typeface="Arial"/>
              </a:defRPr>
            </a:defPPr>
          </a:lstStyle>
          <a:p xmlns:a="http://schemas.openxmlformats.org/drawingml/2006/main">
            <a:pPr>
              <a:buNone/>
              <a:defRPr sz="1425" b="1">
                <a:solidFill>
                  <a:srgbClr val="52677B"/>
                </a:solidFill>
                <a:latin typeface="Arial"/>
                <a:ea typeface="Arial"/>
                <a:cs typeface="Arial"/>
              </a:defRPr>
            </a:pPr>
            <a:r>
              <a:rPr sz="1425" b="1">
                <a:solidFill>
                  <a:srgbClr val="52677B"/>
                </a:solidFill>
                <a:latin typeface="Arial"/>
                <a:ea typeface="Arial"/>
                <a:cs typeface="Arial"/>
              </a:rPr>
              <a:t>CHANGE THE SEQUENCE</a:t>
            </a:r>
          </a:p>
        </p:txBody>
      </p:sp>
      <p:sp>
        <p:nvSpPr>
          <p:cNvPr id="6" name="">
            <a:extLst xmlns:a="http://schemas.openxmlformats.org/drawingml/2006/main">
              <a:ext uri="{FF2B5EF4-FFF2-40B4-BE49-F238E27FC236}">
                <a16:creationId xmlns:a16="http://schemas.microsoft.com/office/drawing/2014/main" id="{AD80C05F-64BF-4374-89EF-4D05316BA6E6}"/>
              </a:ext>
            </a:extLst>
          </p:cNvPr>
          <p:cNvSpPr>
            <a:spLocks xmlns:a="http://schemas.openxmlformats.org/drawingml/2006/main" noGrp="1"/>
          </p:cNvSpPr>
          <p:nvPr/>
        </p:nvSpPr>
        <p:spPr>
          <a:xfrm xmlns:a="http://schemas.openxmlformats.org/drawingml/2006/main">
            <a:off x="609600" y="2019300"/>
            <a:ext cx="50292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2D44"/>
                </a:solidFill>
                <a:latin typeface="Arial"/>
                <a:ea typeface="Arial"/>
                <a:cs typeface="Arial"/>
              </a:defRPr>
            </a:defPPr>
          </a:lstStyle>
          <a:p xmlns:a="http://schemas.openxmlformats.org/drawingml/2006/main">
            <a:pPr>
              <a:buNone/>
              <a:defRPr sz="1950" b="0">
                <a:solidFill>
                  <a:srgbClr val="142D44"/>
                </a:solidFill>
                <a:latin typeface="Arial"/>
                <a:ea typeface="Arial"/>
                <a:cs typeface="Arial"/>
              </a:defRPr>
            </a:pPr>
            <a:r>
              <a:rPr sz="1950" b="0">
                <a:solidFill>
                  <a:srgbClr val="142D44"/>
                </a:solidFill>
                <a:latin typeface="Arial"/>
                <a:ea typeface="Arial"/>
                <a:cs typeface="Arial"/>
              </a:rPr>
              <a:t>Reuse whole real days or blocks to create different 30-day paths. Their weather, quotes and result stay linked.</a:t>
            </a:r>
          </a:p>
        </p:txBody>
      </p:sp>
      <p:sp>
        <p:nvSpPr>
          <p:cNvPr id="7" name="">
            <a:extLst xmlns:a="http://schemas.openxmlformats.org/drawingml/2006/main">
              <a:ext uri="{FF2B5EF4-FFF2-40B4-BE49-F238E27FC236}">
                <a16:creationId xmlns:a16="http://schemas.microsoft.com/office/drawing/2014/main" id="{617177BA-2C5B-4EE4-ADD5-612EC0E265E9}"/>
              </a:ext>
            </a:extLst>
          </p:cNvPr>
          <p:cNvSpPr>
            <a:spLocks xmlns:a="http://schemas.openxmlformats.org/drawingml/2006/main" noGrp="1"/>
          </p:cNvSpPr>
          <p:nvPr/>
        </p:nvSpPr>
        <p:spPr>
          <a:xfrm xmlns:a="http://schemas.openxmlformats.org/drawingml/2006/main">
            <a:off x="609600" y="3152775"/>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52677B"/>
                </a:solidFill>
                <a:latin typeface="Arial"/>
                <a:ea typeface="Arial"/>
                <a:cs typeface="Arial"/>
              </a:defRPr>
            </a:defPPr>
          </a:lstStyle>
          <a:p xmlns:a="http://schemas.openxmlformats.org/drawingml/2006/main">
            <a:pPr>
              <a:buNone/>
              <a:defRPr sz="1425" b="1">
                <a:solidFill>
                  <a:srgbClr val="52677B"/>
                </a:solidFill>
                <a:latin typeface="Arial"/>
                <a:ea typeface="Arial"/>
                <a:cs typeface="Arial"/>
              </a:defRPr>
            </a:pPr>
            <a:r>
              <a:rPr sz="1425" b="1">
                <a:solidFill>
                  <a:srgbClr val="52677B"/>
                </a:solidFill>
                <a:latin typeface="Arial"/>
                <a:ea typeface="Arial"/>
                <a:cs typeface="Arial"/>
              </a:rPr>
              <a:t>MAKE EXECUTION HARDER</a:t>
            </a:r>
          </a:p>
        </p:txBody>
      </p:sp>
      <p:sp>
        <p:nvSpPr>
          <p:cNvPr id="8" name="">
            <a:extLst xmlns:a="http://schemas.openxmlformats.org/drawingml/2006/main">
              <a:ext uri="{FF2B5EF4-FFF2-40B4-BE49-F238E27FC236}">
                <a16:creationId xmlns:a16="http://schemas.microsoft.com/office/drawing/2014/main" id="{1AFE8832-64B6-41BA-BBC8-07C78CD7F8D7}"/>
              </a:ext>
            </a:extLst>
          </p:cNvPr>
          <p:cNvSpPr>
            <a:spLocks xmlns:a="http://schemas.openxmlformats.org/drawingml/2006/main" noGrp="1"/>
          </p:cNvSpPr>
          <p:nvPr/>
        </p:nvSpPr>
        <p:spPr>
          <a:xfrm xmlns:a="http://schemas.openxmlformats.org/drawingml/2006/main">
            <a:off x="609600" y="3448050"/>
            <a:ext cx="50292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2D44"/>
                </a:solidFill>
                <a:latin typeface="Arial"/>
                <a:ea typeface="Arial"/>
                <a:cs typeface="Arial"/>
              </a:defRPr>
            </a:defPPr>
          </a:lstStyle>
          <a:p xmlns:a="http://schemas.openxmlformats.org/drawingml/2006/main">
            <a:pPr>
              <a:buNone/>
              <a:defRPr sz="1950" b="0">
                <a:solidFill>
                  <a:srgbClr val="142D44"/>
                </a:solidFill>
                <a:latin typeface="Arial"/>
                <a:ea typeface="Arial"/>
                <a:cs typeface="Arial"/>
              </a:defRPr>
            </a:pPr>
            <a:r>
              <a:rPr sz="1950" b="0">
                <a:solidFill>
                  <a:srgbClr val="142D44"/>
                </a:solidFill>
                <a:latin typeface="Arial"/>
                <a:ea typeface="Arial"/>
                <a:cs typeface="Arial"/>
              </a:rPr>
              <a:t>Test less available depth, stricter freshness or missing updates. Keep the original buy and sell rules fixed.</a:t>
            </a:r>
          </a:p>
        </p:txBody>
      </p:sp>
      <p:sp>
        <p:nvSpPr>
          <p:cNvPr id="9" name="">
            <a:extLst xmlns:a="http://schemas.openxmlformats.org/drawingml/2006/main">
              <a:ext uri="{FF2B5EF4-FFF2-40B4-BE49-F238E27FC236}">
                <a16:creationId xmlns:a16="http://schemas.microsoft.com/office/drawing/2014/main" id="{7E8F1CD7-644B-43DE-B9AB-64D054A56BA9}"/>
              </a:ext>
            </a:extLst>
          </p:cNvPr>
          <p:cNvSpPr>
            <a:spLocks xmlns:a="http://schemas.openxmlformats.org/drawingml/2006/main" noGrp="1"/>
          </p:cNvSpPr>
          <p:nvPr/>
        </p:nvSpPr>
        <p:spPr>
          <a:xfrm xmlns:a="http://schemas.openxmlformats.org/drawingml/2006/main">
            <a:off x="609600" y="4572000"/>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52677B"/>
                </a:solidFill>
                <a:latin typeface="Arial"/>
                <a:ea typeface="Arial"/>
                <a:cs typeface="Arial"/>
              </a:defRPr>
            </a:defPPr>
          </a:lstStyle>
          <a:p xmlns:a="http://schemas.openxmlformats.org/drawingml/2006/main">
            <a:pPr>
              <a:buNone/>
              <a:defRPr sz="1425" b="1">
                <a:solidFill>
                  <a:srgbClr val="52677B"/>
                </a:solidFill>
                <a:latin typeface="Arial"/>
                <a:ea typeface="Arial"/>
                <a:cs typeface="Arial"/>
              </a:defRPr>
            </a:pPr>
            <a:r>
              <a:rPr sz="1425" b="1">
                <a:solidFill>
                  <a:srgbClr val="52677B"/>
                </a:solidFill>
                <a:latin typeface="Arial"/>
                <a:ea typeface="Arial"/>
                <a:cs typeface="Arial"/>
              </a:rPr>
              <a:t>WHAT THIS TEACHES US</a:t>
            </a:r>
          </a:p>
        </p:txBody>
      </p:sp>
      <p:sp>
        <p:nvSpPr>
          <p:cNvPr id="10" name="">
            <a:extLst xmlns:a="http://schemas.openxmlformats.org/drawingml/2006/main">
              <a:ext uri="{FF2B5EF4-FFF2-40B4-BE49-F238E27FC236}">
                <a16:creationId xmlns:a16="http://schemas.microsoft.com/office/drawing/2014/main" id="{53855144-514B-4400-B285-4E4AE487CE32}"/>
              </a:ext>
            </a:extLst>
          </p:cNvPr>
          <p:cNvSpPr>
            <a:spLocks xmlns:a="http://schemas.openxmlformats.org/drawingml/2006/main" noGrp="1"/>
          </p:cNvSpPr>
          <p:nvPr/>
        </p:nvSpPr>
        <p:spPr>
          <a:xfrm xmlns:a="http://schemas.openxmlformats.org/drawingml/2006/main">
            <a:off x="609600" y="4867275"/>
            <a:ext cx="50292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2D44"/>
                </a:solidFill>
                <a:latin typeface="Arial"/>
                <a:ea typeface="Arial"/>
                <a:cs typeface="Arial"/>
              </a:defRPr>
            </a:defPPr>
          </a:lstStyle>
          <a:p xmlns:a="http://schemas.openxmlformats.org/drawingml/2006/main">
            <a:pPr>
              <a:buNone/>
              <a:defRPr sz="1950" b="0">
                <a:solidFill>
                  <a:srgbClr val="142D44"/>
                </a:solidFill>
                <a:latin typeface="Arial"/>
                <a:ea typeface="Arial"/>
                <a:cs typeface="Arial"/>
              </a:defRPr>
            </a:pPr>
            <a:r>
              <a:rPr sz="1950" b="0">
                <a:solidFill>
                  <a:srgbClr val="142D44"/>
                </a:solidFill>
                <a:latin typeface="Arial"/>
                <a:ea typeface="Arial"/>
                <a:cs typeface="Arial"/>
              </a:rPr>
              <a:t>Find sensitivity to losses, cash timing and incomplete data. Reused days cannot prove performance in unseen seasons.</a:t>
            </a:r>
          </a:p>
        </p:txBody>
      </p:sp>
      <p:graphicFrame>
        <p:nvGraphicFramePr>
          <p:cNvPr id="11" name="Chart">
            <a:extLst xmlns:a="http://schemas.openxmlformats.org/drawingml/2006/main">
              <a:ext uri="{FF2B5EF4-FFF2-40B4-BE49-F238E27FC236}">
                <a16:creationId xmlns:a16="http://schemas.microsoft.com/office/drawing/2014/main" id="{7966D12F-6775-4700-8B83-A6545D15CFA9}"/>
              </a:ext>
            </a:extLst>
          </p:cNvPr>
          <p:cNvGraphicFramePr/>
          <p:nvPr/>
        </p:nvGraphicFramePr>
        <p:xfrm>
          <a:off xmlns:a="http://schemas.openxmlformats.org/drawingml/2006/main" x="6019800" y="1704975"/>
          <a:ext xmlns:a="http://schemas.openxmlformats.org/drawingml/2006/main" cx="5524500" cy="3857625"/>
        </p:xfrm>
        <a:graphic xmlns:a="http://schemas.openxmlformats.org/drawingml/2006/main">
          <a:graphicData uri="http://schemas.openxmlformats.org/drawingml/2006/chart">
            <c:chart xmlns:r="http://schemas.openxmlformats.org/officeDocument/2006/relationships" xmlns:c="http://schemas.openxmlformats.org/drawingml/2006/chart" r:id="Rd93f489cd9a3401f"/>
          </a:graphicData>
        </a:graphic>
      </p:graphicFrame>
      <p:sp>
        <p:nvSpPr>
          <p:cNvPr id="12" name="">
            <a:extLst xmlns:a="http://schemas.openxmlformats.org/drawingml/2006/main">
              <a:ext uri="{FF2B5EF4-FFF2-40B4-BE49-F238E27FC236}">
                <a16:creationId xmlns:a16="http://schemas.microsoft.com/office/drawing/2014/main" id="{FA0288B1-E59E-4F55-8960-AFF8A4F7D1F0}"/>
              </a:ext>
            </a:extLst>
          </p:cNvPr>
          <p:cNvSpPr>
            <a:spLocks xmlns:a="http://schemas.openxmlformats.org/drawingml/2006/main" noGrp="1"/>
          </p:cNvSpPr>
          <p:nvPr/>
        </p:nvSpPr>
        <p:spPr>
          <a:xfrm xmlns:a="http://schemas.openxmlformats.org/drawingml/2006/main">
            <a:off x="6143625" y="5762625"/>
            <a:ext cx="5257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77B"/>
                </a:solidFill>
                <a:latin typeface="Arial"/>
                <a:ea typeface="Arial"/>
                <a:cs typeface="Arial"/>
              </a:defRPr>
            </a:defPPr>
          </a:lstStyle>
          <a:p xmlns:a="http://schemas.openxmlformats.org/drawingml/2006/main">
            <a:pPr>
              <a:buNone/>
              <a:defRPr sz="1575" b="0">
                <a:solidFill>
                  <a:srgbClr val="52677B"/>
                </a:solidFill>
                <a:latin typeface="Arial"/>
                <a:ea typeface="Arial"/>
                <a:cs typeface="Arial"/>
              </a:defRPr>
            </a:pPr>
            <a:r>
              <a:rPr sz="1575" b="0">
                <a:solidFill>
                  <a:srgbClr val="52677B"/>
                </a:solidFill>
                <a:latin typeface="Arial"/>
                <a:ea typeface="Arial"/>
                <a:cs typeface="Arial"/>
              </a:rPr>
              <a:t>Each constructed sequence starts with $100. Prices and weather remain tied to their real donor day.</a:t>
            </a:r>
          </a:p>
        </p:txBody>
      </p:sp>
    </p:spTree>
    <p:extLst>
      <p:ext uri="{BB962C8B-B14F-4D97-AF65-F5344CB8AC3E}">
        <p14:creationId xmlns:p14="http://schemas.microsoft.com/office/powerpoint/2010/main" val="1095197270"/>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AA3B086-8C81-4570-9906-28E8A65E72D5}"/>
              </a:ext>
            </a:extLst>
          </p:cNvPr>
          <p:cNvSpPr>
            <a:spLocks xmlns:a="http://schemas.openxmlformats.org/drawingml/2006/main" noGrp="1"/>
          </p:cNvSpPr>
          <p:nvPr/>
        </p:nvSpPr>
        <p:spPr>
          <a:xfrm xmlns:a="http://schemas.openxmlformats.org/drawingml/2006/main">
            <a:off x="609600" y="381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77619A"/>
                </a:solidFill>
                <a:latin typeface="Arial"/>
                <a:ea typeface="Arial"/>
                <a:cs typeface="Arial"/>
              </a:defRPr>
            </a:defPPr>
          </a:lstStyle>
          <a:p xmlns:a="http://schemas.openxmlformats.org/drawingml/2006/main">
            <a:pPr>
              <a:buNone/>
              <a:defRPr sz="1500" b="1">
                <a:solidFill>
                  <a:srgbClr val="77619A"/>
                </a:solidFill>
                <a:latin typeface="Arial"/>
                <a:ea typeface="Arial"/>
                <a:cs typeface="Arial"/>
              </a:defRPr>
            </a:pPr>
            <a:r>
              <a:rPr sz="1500" b="1">
                <a:solidFill>
                  <a:srgbClr val="77619A"/>
                </a:solidFill>
                <a:latin typeface="Arial"/>
                <a:ea typeface="Arial"/>
                <a:cs typeface="Arial"/>
              </a:rPr>
              <a:t>COMPARE BEFORE COMBINING</a:t>
            </a:r>
          </a:p>
        </p:txBody>
      </p:sp>
      <p:sp>
        <p:nvSpPr>
          <p:cNvPr id="2" name="">
            <a:extLst xmlns:a="http://schemas.openxmlformats.org/drawingml/2006/main">
              <a:ext uri="{FF2B5EF4-FFF2-40B4-BE49-F238E27FC236}">
                <a16:creationId xmlns:a16="http://schemas.microsoft.com/office/drawing/2014/main" id="{DFCF7B0E-0411-4E38-9D68-8A1CA6ECFC85}"/>
              </a:ext>
            </a:extLst>
          </p:cNvPr>
          <p:cNvSpPr>
            <a:spLocks xmlns:a="http://schemas.openxmlformats.org/drawingml/2006/main" noGrp="1"/>
          </p:cNvSpPr>
          <p:nvPr/>
        </p:nvSpPr>
        <p:spPr>
          <a:xfrm xmlns:a="http://schemas.openxmlformats.org/drawingml/2006/main">
            <a:off x="609600" y="762000"/>
            <a:ext cx="10934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D44"/>
                </a:solidFill>
                <a:latin typeface="Arial"/>
                <a:ea typeface="Arial"/>
                <a:cs typeface="Arial"/>
              </a:defRPr>
            </a:defPPr>
          </a:lstStyle>
          <a:p xmlns:a="http://schemas.openxmlformats.org/drawingml/2006/main">
            <a:pPr>
              <a:buNone/>
              <a:defRPr sz="3300" b="1">
                <a:solidFill>
                  <a:srgbClr val="142D44"/>
                </a:solidFill>
                <a:latin typeface="Arial"/>
                <a:ea typeface="Arial"/>
                <a:cs typeface="Arial"/>
              </a:defRPr>
            </a:pPr>
            <a:r>
              <a:rPr sz="3300" b="1">
                <a:solidFill>
                  <a:srgbClr val="142D44"/>
                </a:solidFill>
                <a:latin typeface="Arial"/>
                <a:ea typeface="Arial"/>
                <a:cs typeface="Arial"/>
              </a:rPr>
              <a:t>Why keep multiple approaches in each city?</a:t>
            </a:r>
          </a:p>
        </p:txBody>
      </p:sp>
      <p:sp>
        <p:nvSpPr>
          <p:cNvPr id="3" name="">
            <a:extLst xmlns:a="http://schemas.openxmlformats.org/drawingml/2006/main">
              <a:ext uri="{FF2B5EF4-FFF2-40B4-BE49-F238E27FC236}">
                <a16:creationId xmlns:a16="http://schemas.microsoft.com/office/drawing/2014/main" id="{4A2249A7-EAC9-4E6D-8A3C-505E2889FE75}"/>
              </a:ext>
            </a:extLst>
          </p:cNvPr>
          <p:cNvSpPr>
            <a:spLocks xmlns:a="http://schemas.openxmlformats.org/drawingml/2006/main" noGrp="1"/>
          </p:cNvSpPr>
          <p:nvPr/>
        </p:nvSpPr>
        <p:spPr>
          <a:xfrm xmlns:a="http://schemas.openxmlformats.org/drawingml/2006/main">
            <a:off x="609600" y="64579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B"/>
                </a:solidFill>
                <a:latin typeface="Arial"/>
                <a:ea typeface="Arial"/>
                <a:cs typeface="Arial"/>
              </a:defRPr>
            </a:defPPr>
          </a:lstStyle>
          <a:p xmlns:a="http://schemas.openxmlformats.org/drawingml/2006/main">
            <a:pPr>
              <a:buNone/>
              <a:defRPr sz="1125" b="0">
                <a:solidFill>
                  <a:srgbClr val="52677B"/>
                </a:solidFill>
                <a:latin typeface="Arial"/>
                <a:ea typeface="Arial"/>
                <a:cs typeface="Arial"/>
              </a:defRPr>
            </a:pPr>
            <a:r>
              <a:rPr sz="1125" b="0">
                <a:solidFill>
                  <a:srgbClr val="52677B"/>
                </a:solidFill>
                <a:latin typeface="Arial"/>
                <a:ea typeface="Arial"/>
                <a:cs typeface="Arial"/>
              </a:rPr>
              <a:t>Four-city paper trading. Frozen October 12, 2026</a:t>
            </a:r>
          </a:p>
        </p:txBody>
      </p:sp>
      <p:sp>
        <p:nvSpPr>
          <p:cNvPr id="4" name="">
            <a:extLst xmlns:a="http://schemas.openxmlformats.org/drawingml/2006/main">
              <a:ext uri="{FF2B5EF4-FFF2-40B4-BE49-F238E27FC236}">
                <a16:creationId xmlns:a16="http://schemas.microsoft.com/office/drawing/2014/main" id="{5C460AEC-F286-41DE-8602-4374C1BAB13E}"/>
              </a:ext>
            </a:extLst>
          </p:cNvPr>
          <p:cNvSpPr>
            <a:spLocks xmlns:a="http://schemas.openxmlformats.org/drawingml/2006/main" noGrp="1"/>
          </p:cNvSpPr>
          <p:nvPr/>
        </p:nvSpPr>
        <p:spPr>
          <a:xfrm xmlns:a="http://schemas.openxmlformats.org/drawingml/2006/main">
            <a:off x="11049000" y="6400800"/>
            <a:ext cx="495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77B"/>
                </a:solidFill>
                <a:latin typeface="Arial"/>
                <a:ea typeface="Arial"/>
                <a:cs typeface="Arial"/>
              </a:defRPr>
            </a:defPPr>
          </a:lstStyle>
          <a:p xmlns:a="http://schemas.openxmlformats.org/drawingml/2006/main">
            <a:pPr>
              <a:buNone/>
              <a:defRPr sz="1500" b="0">
                <a:solidFill>
                  <a:srgbClr val="52677B"/>
                </a:solidFill>
                <a:latin typeface="Arial"/>
                <a:ea typeface="Arial"/>
                <a:cs typeface="Arial"/>
              </a:defRPr>
            </a:pPr>
            <a:r>
              <a:rPr sz="1500" b="0">
                <a:solidFill>
                  <a:srgbClr val="52677B"/>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6B63AB01-6B7E-463A-99F7-60FA372A854B}"/>
              </a:ext>
            </a:extLst>
          </p:cNvPr>
          <p:cNvSpPr>
            <a:spLocks xmlns:a="http://schemas.openxmlformats.org/drawingml/2006/main" noGrp="1"/>
          </p:cNvSpPr>
          <p:nvPr/>
        </p:nvSpPr>
        <p:spPr>
          <a:xfrm xmlns:a="http://schemas.openxmlformats.org/drawingml/2006/main">
            <a:off x="609600" y="1724025"/>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52677B"/>
                </a:solidFill>
                <a:latin typeface="Arial"/>
                <a:ea typeface="Arial"/>
                <a:cs typeface="Arial"/>
              </a:defRPr>
            </a:defPPr>
          </a:lstStyle>
          <a:p xmlns:a="http://schemas.openxmlformats.org/drawingml/2006/main">
            <a:pPr>
              <a:buNone/>
              <a:defRPr sz="1425" b="1">
                <a:solidFill>
                  <a:srgbClr val="52677B"/>
                </a:solidFill>
                <a:latin typeface="Arial"/>
                <a:ea typeface="Arial"/>
                <a:cs typeface="Arial"/>
              </a:defRPr>
            </a:pPr>
            <a:r>
              <a:rPr sz="1425" b="1">
                <a:solidFill>
                  <a:srgbClr val="52677B"/>
                </a:solidFill>
                <a:latin typeface="Arial"/>
                <a:ea typeface="Arial"/>
                <a:cs typeface="Arial"/>
              </a:rPr>
              <a:t>DIFFERENT DECISIONS</a:t>
            </a:r>
          </a:p>
        </p:txBody>
      </p:sp>
      <p:sp>
        <p:nvSpPr>
          <p:cNvPr id="6" name="">
            <a:extLst xmlns:a="http://schemas.openxmlformats.org/drawingml/2006/main">
              <a:ext uri="{FF2B5EF4-FFF2-40B4-BE49-F238E27FC236}">
                <a16:creationId xmlns:a16="http://schemas.microsoft.com/office/drawing/2014/main" id="{7ECD2A62-2EF5-44D1-8B93-203E29EB2A73}"/>
              </a:ext>
            </a:extLst>
          </p:cNvPr>
          <p:cNvSpPr>
            <a:spLocks xmlns:a="http://schemas.openxmlformats.org/drawingml/2006/main" noGrp="1"/>
          </p:cNvSpPr>
          <p:nvPr/>
        </p:nvSpPr>
        <p:spPr>
          <a:xfrm xmlns:a="http://schemas.openxmlformats.org/drawingml/2006/main">
            <a:off x="609600" y="2019300"/>
            <a:ext cx="50292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2D44"/>
                </a:solidFill>
                <a:latin typeface="Arial"/>
                <a:ea typeface="Arial"/>
                <a:cs typeface="Arial"/>
              </a:defRPr>
            </a:defPPr>
          </a:lstStyle>
          <a:p xmlns:a="http://schemas.openxmlformats.org/drawingml/2006/main">
            <a:pPr>
              <a:buNone/>
              <a:defRPr sz="1950" b="0">
                <a:solidFill>
                  <a:srgbClr val="142D44"/>
                </a:solidFill>
                <a:latin typeface="Arial"/>
                <a:ea typeface="Arial"/>
                <a:cs typeface="Arial"/>
              </a:defRPr>
            </a:pPr>
            <a:r>
              <a:rPr sz="1950" b="0">
                <a:solidFill>
                  <a:srgbClr val="142D44"/>
                </a:solidFill>
                <a:latin typeface="Arial"/>
                <a:ea typeface="Arial"/>
                <a:cs typeface="Arial"/>
              </a:rPr>
              <a:t>A calibration, protected temperature range or buying rule can change which trades qualify.</a:t>
            </a:r>
          </a:p>
        </p:txBody>
      </p:sp>
      <p:sp>
        <p:nvSpPr>
          <p:cNvPr id="7" name="">
            <a:extLst xmlns:a="http://schemas.openxmlformats.org/drawingml/2006/main">
              <a:ext uri="{FF2B5EF4-FFF2-40B4-BE49-F238E27FC236}">
                <a16:creationId xmlns:a16="http://schemas.microsoft.com/office/drawing/2014/main" id="{DEEB9005-98E2-4DDF-9B8B-A3E3ED17FC7A}"/>
              </a:ext>
            </a:extLst>
          </p:cNvPr>
          <p:cNvSpPr>
            <a:spLocks xmlns:a="http://schemas.openxmlformats.org/drawingml/2006/main" noGrp="1"/>
          </p:cNvSpPr>
          <p:nvPr/>
        </p:nvSpPr>
        <p:spPr>
          <a:xfrm xmlns:a="http://schemas.openxmlformats.org/drawingml/2006/main">
            <a:off x="609600" y="3152775"/>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52677B"/>
                </a:solidFill>
                <a:latin typeface="Arial"/>
                <a:ea typeface="Arial"/>
                <a:cs typeface="Arial"/>
              </a:defRPr>
            </a:defPPr>
          </a:lstStyle>
          <a:p xmlns:a="http://schemas.openxmlformats.org/drawingml/2006/main">
            <a:pPr>
              <a:buNone/>
              <a:defRPr sz="1425" b="1">
                <a:solidFill>
                  <a:srgbClr val="52677B"/>
                </a:solidFill>
                <a:latin typeface="Arial"/>
                <a:ea typeface="Arial"/>
                <a:cs typeface="Arial"/>
              </a:defRPr>
            </a:pPr>
            <a:r>
              <a:rPr sz="1425" b="1">
                <a:solidFill>
                  <a:srgbClr val="52677B"/>
                </a:solidFill>
                <a:latin typeface="Arial"/>
                <a:ea typeface="Arial"/>
                <a:cs typeface="Arial"/>
              </a:rPr>
              <a:t>DIFFERENT WEAK SPOTS</a:t>
            </a:r>
          </a:p>
        </p:txBody>
      </p:sp>
      <p:sp>
        <p:nvSpPr>
          <p:cNvPr id="8" name="">
            <a:extLst xmlns:a="http://schemas.openxmlformats.org/drawingml/2006/main">
              <a:ext uri="{FF2B5EF4-FFF2-40B4-BE49-F238E27FC236}">
                <a16:creationId xmlns:a16="http://schemas.microsoft.com/office/drawing/2014/main" id="{873F2E3D-CD2A-4519-9616-C276C674AFE9}"/>
              </a:ext>
            </a:extLst>
          </p:cNvPr>
          <p:cNvSpPr>
            <a:spLocks xmlns:a="http://schemas.openxmlformats.org/drawingml/2006/main" noGrp="1"/>
          </p:cNvSpPr>
          <p:nvPr/>
        </p:nvSpPr>
        <p:spPr>
          <a:xfrm xmlns:a="http://schemas.openxmlformats.org/drawingml/2006/main">
            <a:off x="609600" y="3448050"/>
            <a:ext cx="50292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2D44"/>
                </a:solidFill>
                <a:latin typeface="Arial"/>
                <a:ea typeface="Arial"/>
                <a:cs typeface="Arial"/>
              </a:defRPr>
            </a:defPPr>
          </a:lstStyle>
          <a:p xmlns:a="http://schemas.openxmlformats.org/drawingml/2006/main">
            <a:pPr>
              <a:buNone/>
              <a:defRPr sz="1950" b="0">
                <a:solidFill>
                  <a:srgbClr val="142D44"/>
                </a:solidFill>
                <a:latin typeface="Arial"/>
                <a:ea typeface="Arial"/>
                <a:cs typeface="Arial"/>
              </a:defRPr>
            </a:pPr>
            <a:r>
              <a:rPr sz="1950" b="0">
                <a:solidFill>
                  <a:srgbClr val="142D44"/>
                </a:solidFill>
                <a:latin typeface="Arial"/>
                <a:ea typeface="Arial"/>
                <a:cs typeface="Arial"/>
              </a:rPr>
              <a:t>One method can improve a difficult sequence while another loses more. Both can still lose.</a:t>
            </a:r>
          </a:p>
        </p:txBody>
      </p:sp>
      <p:sp>
        <p:nvSpPr>
          <p:cNvPr id="9" name="">
            <a:extLst xmlns:a="http://schemas.openxmlformats.org/drawingml/2006/main">
              <a:ext uri="{FF2B5EF4-FFF2-40B4-BE49-F238E27FC236}">
                <a16:creationId xmlns:a16="http://schemas.microsoft.com/office/drawing/2014/main" id="{5B145013-9783-42AB-80DB-4538B99A10B9}"/>
              </a:ext>
            </a:extLst>
          </p:cNvPr>
          <p:cNvSpPr>
            <a:spLocks xmlns:a="http://schemas.openxmlformats.org/drawingml/2006/main" noGrp="1"/>
          </p:cNvSpPr>
          <p:nvPr/>
        </p:nvSpPr>
        <p:spPr>
          <a:xfrm xmlns:a="http://schemas.openxmlformats.org/drawingml/2006/main">
            <a:off x="609600" y="4572000"/>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52677B"/>
                </a:solidFill>
                <a:latin typeface="Arial"/>
                <a:ea typeface="Arial"/>
                <a:cs typeface="Arial"/>
              </a:defRPr>
            </a:defPPr>
          </a:lstStyle>
          <a:p xmlns:a="http://schemas.openxmlformats.org/drawingml/2006/main">
            <a:pPr>
              <a:buNone/>
              <a:defRPr sz="1425" b="1">
                <a:solidFill>
                  <a:srgbClr val="52677B"/>
                </a:solidFill>
                <a:latin typeface="Arial"/>
                <a:ea typeface="Arial"/>
                <a:cs typeface="Arial"/>
              </a:defRPr>
            </a:pPr>
            <a:r>
              <a:rPr sz="1425" b="1">
                <a:solidFill>
                  <a:srgbClr val="52677B"/>
                </a:solidFill>
                <a:latin typeface="Arial"/>
                <a:ea typeface="Arial"/>
                <a:cs typeface="Arial"/>
              </a:rPr>
              <a:t>SEPARATE COMPARISONS</a:t>
            </a:r>
          </a:p>
        </p:txBody>
      </p:sp>
      <p:sp>
        <p:nvSpPr>
          <p:cNvPr id="10" name="">
            <a:extLst xmlns:a="http://schemas.openxmlformats.org/drawingml/2006/main">
              <a:ext uri="{FF2B5EF4-FFF2-40B4-BE49-F238E27FC236}">
                <a16:creationId xmlns:a16="http://schemas.microsoft.com/office/drawing/2014/main" id="{5A5A6E1F-B992-4EFB-AA0F-93726513C248}"/>
              </a:ext>
            </a:extLst>
          </p:cNvPr>
          <p:cNvSpPr>
            <a:spLocks xmlns:a="http://schemas.openxmlformats.org/drawingml/2006/main" noGrp="1"/>
          </p:cNvSpPr>
          <p:nvPr/>
        </p:nvSpPr>
        <p:spPr>
          <a:xfrm xmlns:a="http://schemas.openxmlformats.org/drawingml/2006/main">
            <a:off x="609600" y="4867275"/>
            <a:ext cx="50292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2D44"/>
                </a:solidFill>
                <a:latin typeface="Arial"/>
                <a:ea typeface="Arial"/>
                <a:cs typeface="Arial"/>
              </a:defRPr>
            </a:defPPr>
          </a:lstStyle>
          <a:p xmlns:a="http://schemas.openxmlformats.org/drawingml/2006/main">
            <a:pPr>
              <a:buNone/>
              <a:defRPr sz="1950" b="0">
                <a:solidFill>
                  <a:srgbClr val="142D44"/>
                </a:solidFill>
                <a:latin typeface="Arial"/>
                <a:ea typeface="Arial"/>
                <a:cs typeface="Arial"/>
              </a:defRPr>
            </a:pPr>
            <a:r>
              <a:rPr sz="1950" b="0">
                <a:solidFill>
                  <a:srgbClr val="142D44"/>
                </a:solidFill>
                <a:latin typeface="Arial"/>
                <a:ea typeface="Arial"/>
                <a:cs typeface="Arial"/>
              </a:rPr>
              <a:t>Keep separate wallets to see what each method adds. Shared market depth can prevent all paper fills from happening together.</a:t>
            </a:r>
          </a:p>
        </p:txBody>
      </p:sp>
      <p:graphicFrame>
        <p:nvGraphicFramePr>
          <p:cNvPr id="11" name="Chart">
            <a:extLst xmlns:a="http://schemas.openxmlformats.org/drawingml/2006/main">
              <a:ext uri="{FF2B5EF4-FFF2-40B4-BE49-F238E27FC236}">
                <a16:creationId xmlns:a16="http://schemas.microsoft.com/office/drawing/2014/main" id="{1F386AA3-E987-4132-AEFB-41FD2A656075}"/>
              </a:ext>
            </a:extLst>
          </p:cNvPr>
          <p:cNvGraphicFramePr/>
          <p:nvPr/>
        </p:nvGraphicFramePr>
        <p:xfrm>
          <a:off xmlns:a="http://schemas.openxmlformats.org/drawingml/2006/main" x="6019800" y="1704975"/>
          <a:ext xmlns:a="http://schemas.openxmlformats.org/drawingml/2006/main" cx="5524500" cy="3857625"/>
        </p:xfrm>
        <a:graphic xmlns:a="http://schemas.openxmlformats.org/drawingml/2006/main">
          <a:graphicData uri="http://schemas.openxmlformats.org/drawingml/2006/chart">
            <c:chart xmlns:r="http://schemas.openxmlformats.org/officeDocument/2006/relationships" xmlns:c="http://schemas.openxmlformats.org/drawingml/2006/chart" r:id="R52f954e046464c66"/>
          </a:graphicData>
        </a:graphic>
      </p:graphicFrame>
      <p:sp>
        <p:nvSpPr>
          <p:cNvPr id="12" name="">
            <a:extLst xmlns:a="http://schemas.openxmlformats.org/drawingml/2006/main">
              <a:ext uri="{FF2B5EF4-FFF2-40B4-BE49-F238E27FC236}">
                <a16:creationId xmlns:a16="http://schemas.microsoft.com/office/drawing/2014/main" id="{3500E9D9-BA79-49E0-992D-20E252F84678}"/>
              </a:ext>
            </a:extLst>
          </p:cNvPr>
          <p:cNvSpPr>
            <a:spLocks xmlns:a="http://schemas.openxmlformats.org/drawingml/2006/main" noGrp="1"/>
          </p:cNvSpPr>
          <p:nvPr/>
        </p:nvSpPr>
        <p:spPr>
          <a:xfrm xmlns:a="http://schemas.openxmlformats.org/drawingml/2006/main">
            <a:off x="6143625" y="5762625"/>
            <a:ext cx="5257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77B"/>
                </a:solidFill>
                <a:latin typeface="Arial"/>
                <a:ea typeface="Arial"/>
                <a:cs typeface="Arial"/>
              </a:defRPr>
            </a:defPPr>
          </a:lstStyle>
          <a:p xmlns:a="http://schemas.openxmlformats.org/drawingml/2006/main">
            <a:pPr>
              <a:buNone/>
              <a:defRPr sz="1575" b="0">
                <a:solidFill>
                  <a:srgbClr val="52677B"/>
                </a:solidFill>
                <a:latin typeface="Arial"/>
                <a:ea typeface="Arial"/>
                <a:cs typeface="Arial"/>
              </a:defRPr>
            </a:pPr>
            <a:r>
              <a:rPr sz="1575" b="0">
                <a:solidFill>
                  <a:srgbClr val="52677B"/>
                </a:solidFill>
                <a:latin typeface="Arial"/>
                <a:ea typeface="Arial"/>
                <a:cs typeface="Arial"/>
              </a:rPr>
              <a:t>Change from $100. Constructed September sequences reuse real paired days. They add no new observed days.</a:t>
            </a:r>
          </a:p>
        </p:txBody>
      </p:sp>
    </p:spTree>
    <p:extLst>
      <p:ext uri="{BB962C8B-B14F-4D97-AF65-F5344CB8AC3E}">
        <p14:creationId xmlns:p14="http://schemas.microsoft.com/office/powerpoint/2010/main" val="601205570"/>
      </p:ext>
    </p:extLst>
  </p:cSld>
</p:sld>
</file>

<file path=ppt/slides/slide5.xml><?xml version="1.0" encoding="utf-8"?>
<p:sld xmlns:p="http://schemas.openxmlformats.org/presentationml/2006/main">
  <p:cSld>
    <p:bg>
      <p:bgPr>
        <a:solidFill xmlns:a="http://schemas.openxmlformats.org/drawingml/2006/main">
          <a:srgbClr val="ECF8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912D8D1-6CE4-478B-A4DE-A4C96A146F42}"/>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177E89"/>
          </a:solidFill>
          <a:ln xmlns:a="http://schemas.openxmlformats.org/drawingml/2006/main" w="0">
            <a:noFill/>
          </a:ln>
        </p:spPr>
        <p:txBody>
          <a:bodyPr xmlns:a="http://schemas.openxmlformats.org/drawingml/2006/main" lIns="609600" tIns="200025" rIns="609600" bIns="76200"/>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LOS ANGELES · THE LA TRIO</a:t>
            </a:r>
          </a:p>
        </p:txBody>
      </p:sp>
      <p:sp>
        <p:nvSpPr>
          <p:cNvPr id="2" name="">
            <a:extLst xmlns:a="http://schemas.openxmlformats.org/drawingml/2006/main">
              <a:ext uri="{FF2B5EF4-FFF2-40B4-BE49-F238E27FC236}">
                <a16:creationId xmlns:a16="http://schemas.microsoft.com/office/drawing/2014/main" id="{281C650A-4680-4587-A2FD-27D4DC3F64FC}"/>
              </a:ext>
            </a:extLst>
          </p:cNvPr>
          <p:cNvSpPr>
            <a:spLocks xmlns:a="http://schemas.openxmlformats.org/drawingml/2006/main" noGrp="1"/>
          </p:cNvSpPr>
          <p:nvPr/>
        </p:nvSpPr>
        <p:spPr>
          <a:xfrm xmlns:a="http://schemas.openxmlformats.org/drawingml/2006/main">
            <a:off x="609600" y="762000"/>
            <a:ext cx="10934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7E89"/>
                </a:solidFill>
                <a:latin typeface="Arial"/>
                <a:ea typeface="Arial"/>
                <a:cs typeface="Arial"/>
              </a:defRPr>
            </a:defPPr>
          </a:lstStyle>
          <a:p xmlns:a="http://schemas.openxmlformats.org/drawingml/2006/main">
            <a:pPr>
              <a:buNone/>
              <a:defRPr sz="3300" b="1">
                <a:solidFill>
                  <a:srgbClr val="177E89"/>
                </a:solidFill>
                <a:latin typeface="Arial"/>
                <a:ea typeface="Arial"/>
                <a:cs typeface="Arial"/>
              </a:defRPr>
            </a:pPr>
            <a:r>
              <a:rPr sz="3300" b="1">
                <a:solidFill>
                  <a:srgbClr val="177E89"/>
                </a:solidFill>
                <a:latin typeface="Arial"/>
                <a:ea typeface="Arial"/>
                <a:cs typeface="Arial"/>
              </a:rPr>
              <a:t>Why Los Angeles has three strategies</a:t>
            </a:r>
          </a:p>
        </p:txBody>
      </p:sp>
      <p:sp>
        <p:nvSpPr>
          <p:cNvPr id="3" name="">
            <a:extLst xmlns:a="http://schemas.openxmlformats.org/drawingml/2006/main">
              <a:ext uri="{FF2B5EF4-FFF2-40B4-BE49-F238E27FC236}">
                <a16:creationId xmlns:a16="http://schemas.microsoft.com/office/drawing/2014/main" id="{C4568C1D-EC20-45ED-9F64-DD144CA3D6F8}"/>
              </a:ext>
            </a:extLst>
          </p:cNvPr>
          <p:cNvSpPr>
            <a:spLocks xmlns:a="http://schemas.openxmlformats.org/drawingml/2006/main" noGrp="1"/>
          </p:cNvSpPr>
          <p:nvPr/>
        </p:nvSpPr>
        <p:spPr>
          <a:xfrm xmlns:a="http://schemas.openxmlformats.org/drawingml/2006/main">
            <a:off x="609600" y="64579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B"/>
                </a:solidFill>
                <a:latin typeface="Arial"/>
                <a:ea typeface="Arial"/>
                <a:cs typeface="Arial"/>
              </a:defRPr>
            </a:defPPr>
          </a:lstStyle>
          <a:p xmlns:a="http://schemas.openxmlformats.org/drawingml/2006/main">
            <a:pPr>
              <a:buNone/>
              <a:defRPr sz="1125" b="0">
                <a:solidFill>
                  <a:srgbClr val="52677B"/>
                </a:solidFill>
                <a:latin typeface="Arial"/>
                <a:ea typeface="Arial"/>
                <a:cs typeface="Arial"/>
              </a:defRPr>
            </a:pPr>
            <a:r>
              <a:rPr sz="1125" b="0">
                <a:solidFill>
                  <a:srgbClr val="52677B"/>
                </a:solidFill>
                <a:latin typeface="Arial"/>
                <a:ea typeface="Arial"/>
                <a:cs typeface="Arial"/>
              </a:rPr>
              <a:t>Four-city paper trading. Frozen October 12, 2026</a:t>
            </a:r>
          </a:p>
        </p:txBody>
      </p:sp>
      <p:sp>
        <p:nvSpPr>
          <p:cNvPr id="4" name="">
            <a:extLst xmlns:a="http://schemas.openxmlformats.org/drawingml/2006/main">
              <a:ext uri="{FF2B5EF4-FFF2-40B4-BE49-F238E27FC236}">
                <a16:creationId xmlns:a16="http://schemas.microsoft.com/office/drawing/2014/main" id="{C33A4950-61D2-4951-BEA3-9B9CE752BA96}"/>
              </a:ext>
            </a:extLst>
          </p:cNvPr>
          <p:cNvSpPr>
            <a:spLocks xmlns:a="http://schemas.openxmlformats.org/drawingml/2006/main" noGrp="1"/>
          </p:cNvSpPr>
          <p:nvPr/>
        </p:nvSpPr>
        <p:spPr>
          <a:xfrm xmlns:a="http://schemas.openxmlformats.org/drawingml/2006/main">
            <a:off x="11049000" y="6400800"/>
            <a:ext cx="495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77B"/>
                </a:solidFill>
                <a:latin typeface="Arial"/>
                <a:ea typeface="Arial"/>
                <a:cs typeface="Arial"/>
              </a:defRPr>
            </a:defPPr>
          </a:lstStyle>
          <a:p xmlns:a="http://schemas.openxmlformats.org/drawingml/2006/main">
            <a:pPr>
              <a:buNone/>
              <a:defRPr sz="1500" b="0">
                <a:solidFill>
                  <a:srgbClr val="52677B"/>
                </a:solidFill>
                <a:latin typeface="Arial"/>
                <a:ea typeface="Arial"/>
                <a:cs typeface="Arial"/>
              </a:defRPr>
            </a:pPr>
            <a:r>
              <a:rPr sz="1500" b="0">
                <a:solidFill>
                  <a:srgbClr val="52677B"/>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241B08BE-3EBA-48B1-8663-DAF1EE94C5FB}"/>
              </a:ext>
            </a:extLst>
          </p:cNvPr>
          <p:cNvSpPr>
            <a:spLocks xmlns:a="http://schemas.openxmlformats.org/drawingml/2006/main" noGrp="1"/>
          </p:cNvSpPr>
          <p:nvPr/>
        </p:nvSpPr>
        <p:spPr>
          <a:xfrm xmlns:a="http://schemas.openxmlformats.org/drawingml/2006/main">
            <a:off x="609600" y="1724025"/>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77E89"/>
                </a:solidFill>
                <a:latin typeface="Arial"/>
                <a:ea typeface="Arial"/>
                <a:cs typeface="Arial"/>
              </a:defRPr>
            </a:defPPr>
          </a:lstStyle>
          <a:p xmlns:a="http://schemas.openxmlformats.org/drawingml/2006/main">
            <a:pPr>
              <a:buNone/>
              <a:defRPr sz="1425" b="1">
                <a:solidFill>
                  <a:srgbClr val="177E89"/>
                </a:solidFill>
                <a:latin typeface="Arial"/>
                <a:ea typeface="Arial"/>
                <a:cs typeface="Arial"/>
              </a:defRPr>
            </a:pPr>
            <a:r>
              <a:rPr sz="1425" b="1">
                <a:solidFill>
                  <a:srgbClr val="177E89"/>
                </a:solidFill>
                <a:latin typeface="Arial"/>
                <a:ea typeface="Arial"/>
                <a:cs typeface="Arial"/>
              </a:rPr>
              <a:t>V10 FORECAST EXIT</a:t>
            </a:r>
          </a:p>
        </p:txBody>
      </p:sp>
      <p:sp>
        <p:nvSpPr>
          <p:cNvPr id="6" name="">
            <a:extLst xmlns:a="http://schemas.openxmlformats.org/drawingml/2006/main">
              <a:ext uri="{FF2B5EF4-FFF2-40B4-BE49-F238E27FC236}">
                <a16:creationId xmlns:a16="http://schemas.microsoft.com/office/drawing/2014/main" id="{B4F74FD4-3C7D-4AF3-A576-F5DA00E2A079}"/>
              </a:ext>
            </a:extLst>
          </p:cNvPr>
          <p:cNvSpPr>
            <a:spLocks xmlns:a="http://schemas.openxmlformats.org/drawingml/2006/main" noGrp="1"/>
          </p:cNvSpPr>
          <p:nvPr/>
        </p:nvSpPr>
        <p:spPr>
          <a:xfrm xmlns:a="http://schemas.openxmlformats.org/drawingml/2006/main">
            <a:off x="609600" y="2019300"/>
            <a:ext cx="50292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2D44"/>
                </a:solidFill>
                <a:latin typeface="Arial"/>
                <a:ea typeface="Arial"/>
                <a:cs typeface="Arial"/>
              </a:defRPr>
            </a:defPPr>
          </a:lstStyle>
          <a:p xmlns:a="http://schemas.openxmlformats.org/drawingml/2006/main">
            <a:pPr>
              <a:buNone/>
              <a:defRPr sz="1950" b="0">
                <a:solidFill>
                  <a:srgbClr val="142D44"/>
                </a:solidFill>
                <a:latin typeface="Arial"/>
                <a:ea typeface="Arial"/>
                <a:cs typeface="Arial"/>
              </a:defRPr>
            </a:pPr>
            <a:r>
              <a:rPr sz="1950" b="0">
                <a:solidFill>
                  <a:srgbClr val="142D44"/>
                </a:solidFill>
                <a:latin typeface="Arial"/>
                <a:ea typeface="Arial"/>
                <a:cs typeface="Arial"/>
              </a:rPr>
              <a:t>Tests whether an available early sale is better than the model’s estimate of holding.</a:t>
            </a:r>
          </a:p>
        </p:txBody>
      </p:sp>
      <p:sp>
        <p:nvSpPr>
          <p:cNvPr id="7" name="">
            <a:extLst xmlns:a="http://schemas.openxmlformats.org/drawingml/2006/main">
              <a:ext uri="{FF2B5EF4-FFF2-40B4-BE49-F238E27FC236}">
                <a16:creationId xmlns:a16="http://schemas.microsoft.com/office/drawing/2014/main" id="{C49F5F4C-339B-41B8-8297-8B152C35CB13}"/>
              </a:ext>
            </a:extLst>
          </p:cNvPr>
          <p:cNvSpPr>
            <a:spLocks xmlns:a="http://schemas.openxmlformats.org/drawingml/2006/main" noGrp="1"/>
          </p:cNvSpPr>
          <p:nvPr/>
        </p:nvSpPr>
        <p:spPr>
          <a:xfrm xmlns:a="http://schemas.openxmlformats.org/drawingml/2006/main">
            <a:off x="609600" y="3152775"/>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77E89"/>
                </a:solidFill>
                <a:latin typeface="Arial"/>
                <a:ea typeface="Arial"/>
                <a:cs typeface="Arial"/>
              </a:defRPr>
            </a:defPPr>
          </a:lstStyle>
          <a:p xmlns:a="http://schemas.openxmlformats.org/drawingml/2006/main">
            <a:pPr>
              <a:buNone/>
              <a:defRPr sz="1425" b="1">
                <a:solidFill>
                  <a:srgbClr val="177E89"/>
                </a:solidFill>
                <a:latin typeface="Arial"/>
                <a:ea typeface="Arial"/>
                <a:cs typeface="Arial"/>
              </a:defRPr>
            </a:pPr>
            <a:r>
              <a:rPr sz="1425" b="1">
                <a:solidFill>
                  <a:srgbClr val="177E89"/>
                </a:solidFill>
                <a:latin typeface="Arial"/>
                <a:ea typeface="Arial"/>
                <a:cs typeface="Arial"/>
              </a:rPr>
              <a:t>HYBRID STAGED SAFETY</a:t>
            </a:r>
          </a:p>
        </p:txBody>
      </p:sp>
      <p:sp>
        <p:nvSpPr>
          <p:cNvPr id="8" name="">
            <a:extLst xmlns:a="http://schemas.openxmlformats.org/drawingml/2006/main">
              <a:ext uri="{FF2B5EF4-FFF2-40B4-BE49-F238E27FC236}">
                <a16:creationId xmlns:a16="http://schemas.microsoft.com/office/drawing/2014/main" id="{8659F62A-A164-4CFD-9518-8911738FF295}"/>
              </a:ext>
            </a:extLst>
          </p:cNvPr>
          <p:cNvSpPr>
            <a:spLocks xmlns:a="http://schemas.openxmlformats.org/drawingml/2006/main" noGrp="1"/>
          </p:cNvSpPr>
          <p:nvPr/>
        </p:nvSpPr>
        <p:spPr>
          <a:xfrm xmlns:a="http://schemas.openxmlformats.org/drawingml/2006/main">
            <a:off x="609600" y="3448050"/>
            <a:ext cx="50292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2D44"/>
                </a:solidFill>
                <a:latin typeface="Arial"/>
                <a:ea typeface="Arial"/>
                <a:cs typeface="Arial"/>
              </a:defRPr>
            </a:defPPr>
          </a:lstStyle>
          <a:p xmlns:a="http://schemas.openxmlformats.org/drawingml/2006/main">
            <a:pPr>
              <a:buNone/>
              <a:defRPr sz="1950" b="0">
                <a:solidFill>
                  <a:srgbClr val="142D44"/>
                </a:solidFill>
                <a:latin typeface="Arial"/>
                <a:ea typeface="Arial"/>
                <a:cs typeface="Arial"/>
              </a:defRPr>
            </a:pPr>
            <a:r>
              <a:rPr sz="1950" b="0">
                <a:solidFill>
                  <a:srgbClr val="142D44"/>
                </a:solidFill>
                <a:latin typeface="Arial"/>
                <a:ea typeface="Arial"/>
                <a:cs typeface="Arial"/>
              </a:rPr>
              <a:t>Starts smaller, waits for confirmation and pauses after a large drawdown. It still holds to settlement.</a:t>
            </a:r>
          </a:p>
        </p:txBody>
      </p:sp>
      <p:sp>
        <p:nvSpPr>
          <p:cNvPr id="9" name="">
            <a:extLst xmlns:a="http://schemas.openxmlformats.org/drawingml/2006/main">
              <a:ext uri="{FF2B5EF4-FFF2-40B4-BE49-F238E27FC236}">
                <a16:creationId xmlns:a16="http://schemas.microsoft.com/office/drawing/2014/main" id="{9D93415C-F00E-447A-8B1E-2393C34A5556}"/>
              </a:ext>
            </a:extLst>
          </p:cNvPr>
          <p:cNvSpPr>
            <a:spLocks xmlns:a="http://schemas.openxmlformats.org/drawingml/2006/main" noGrp="1"/>
          </p:cNvSpPr>
          <p:nvPr/>
        </p:nvSpPr>
        <p:spPr>
          <a:xfrm xmlns:a="http://schemas.openxmlformats.org/drawingml/2006/main">
            <a:off x="609600" y="4572000"/>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77E89"/>
                </a:solidFill>
                <a:latin typeface="Arial"/>
                <a:ea typeface="Arial"/>
                <a:cs typeface="Arial"/>
              </a:defRPr>
            </a:defPPr>
          </a:lstStyle>
          <a:p xmlns:a="http://schemas.openxmlformats.org/drawingml/2006/main">
            <a:pPr>
              <a:buNone/>
              <a:defRPr sz="1425" b="1">
                <a:solidFill>
                  <a:srgbClr val="177E89"/>
                </a:solidFill>
                <a:latin typeface="Arial"/>
                <a:ea typeface="Arial"/>
                <a:cs typeface="Arial"/>
              </a:defRPr>
            </a:pPr>
            <a:r>
              <a:rPr sz="1425" b="1">
                <a:solidFill>
                  <a:srgbClr val="177E89"/>
                </a:solidFill>
                <a:latin typeface="Arial"/>
                <a:ea typeface="Arial"/>
                <a:cs typeface="Arial"/>
              </a:rPr>
              <a:t>V8D AT 18 UTC</a:t>
            </a:r>
          </a:p>
        </p:txBody>
      </p:sp>
      <p:sp>
        <p:nvSpPr>
          <p:cNvPr id="10" name="">
            <a:extLst xmlns:a="http://schemas.openxmlformats.org/drawingml/2006/main">
              <a:ext uri="{FF2B5EF4-FFF2-40B4-BE49-F238E27FC236}">
                <a16:creationId xmlns:a16="http://schemas.microsoft.com/office/drawing/2014/main" id="{3E0BC46F-F29C-42B9-AA1A-CABB57CE6322}"/>
              </a:ext>
            </a:extLst>
          </p:cNvPr>
          <p:cNvSpPr>
            <a:spLocks xmlns:a="http://schemas.openxmlformats.org/drawingml/2006/main" noGrp="1"/>
          </p:cNvSpPr>
          <p:nvPr/>
        </p:nvSpPr>
        <p:spPr>
          <a:xfrm xmlns:a="http://schemas.openxmlformats.org/drawingml/2006/main">
            <a:off x="609600" y="4867275"/>
            <a:ext cx="50292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2D44"/>
                </a:solidFill>
                <a:latin typeface="Arial"/>
                <a:ea typeface="Arial"/>
                <a:cs typeface="Arial"/>
              </a:defRPr>
            </a:defPPr>
          </a:lstStyle>
          <a:p xmlns:a="http://schemas.openxmlformats.org/drawingml/2006/main">
            <a:pPr>
              <a:buNone/>
              <a:defRPr sz="1950" b="0">
                <a:solidFill>
                  <a:srgbClr val="142D44"/>
                </a:solidFill>
                <a:latin typeface="Arial"/>
                <a:ea typeface="Arial"/>
                <a:cs typeface="Arial"/>
              </a:defRPr>
            </a:pPr>
            <a:r>
              <a:rPr sz="1950" b="0">
                <a:solidFill>
                  <a:srgbClr val="142D44"/>
                </a:solidFill>
                <a:latin typeface="Arial"/>
                <a:ea typeface="Arial"/>
                <a:cs typeface="Arial"/>
              </a:rPr>
              <a:t>Provides a simpler fixed-time, NO-only comparison. The trio exposes different decisions and weaknesses.</a:t>
            </a:r>
          </a:p>
        </p:txBody>
      </p:sp>
      <p:graphicFrame>
        <p:nvGraphicFramePr>
          <p:cNvPr id="11" name="Chart">
            <a:extLst xmlns:a="http://schemas.openxmlformats.org/drawingml/2006/main">
              <a:ext uri="{FF2B5EF4-FFF2-40B4-BE49-F238E27FC236}">
                <a16:creationId xmlns:a16="http://schemas.microsoft.com/office/drawing/2014/main" id="{977E9718-F8F3-4B4D-B486-12779A942822}"/>
              </a:ext>
            </a:extLst>
          </p:cNvPr>
          <p:cNvGraphicFramePr/>
          <p:nvPr/>
        </p:nvGraphicFramePr>
        <p:xfrm>
          <a:off xmlns:a="http://schemas.openxmlformats.org/drawingml/2006/main" x="6019800" y="1704975"/>
          <a:ext xmlns:a="http://schemas.openxmlformats.org/drawingml/2006/main" cx="5524500" cy="3857625"/>
        </p:xfrm>
        <a:graphic xmlns:a="http://schemas.openxmlformats.org/drawingml/2006/main">
          <a:graphicData uri="http://schemas.openxmlformats.org/drawingml/2006/chart">
            <c:chart xmlns:r="http://schemas.openxmlformats.org/officeDocument/2006/relationships" xmlns:c="http://schemas.openxmlformats.org/drawingml/2006/chart" r:id="R07e8a62a9c594fde"/>
          </a:graphicData>
        </a:graphic>
      </p:graphicFrame>
      <p:sp>
        <p:nvSpPr>
          <p:cNvPr id="12" name="">
            <a:extLst xmlns:a="http://schemas.openxmlformats.org/drawingml/2006/main">
              <a:ext uri="{FF2B5EF4-FFF2-40B4-BE49-F238E27FC236}">
                <a16:creationId xmlns:a16="http://schemas.microsoft.com/office/drawing/2014/main" id="{AA61F5A3-9E72-4D1B-A306-7E806B27FD21}"/>
              </a:ext>
            </a:extLst>
          </p:cNvPr>
          <p:cNvSpPr>
            <a:spLocks xmlns:a="http://schemas.openxmlformats.org/drawingml/2006/main" noGrp="1"/>
          </p:cNvSpPr>
          <p:nvPr/>
        </p:nvSpPr>
        <p:spPr>
          <a:xfrm xmlns:a="http://schemas.openxmlformats.org/drawingml/2006/main">
            <a:off x="6143625" y="5762625"/>
            <a:ext cx="5257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77B"/>
                </a:solidFill>
                <a:latin typeface="Arial"/>
                <a:ea typeface="Arial"/>
                <a:cs typeface="Arial"/>
              </a:defRPr>
            </a:defPPr>
          </a:lstStyle>
          <a:p xmlns:a="http://schemas.openxmlformats.org/drawingml/2006/main">
            <a:pPr>
              <a:buNone/>
              <a:defRPr sz="1575" b="0">
                <a:solidFill>
                  <a:srgbClr val="52677B"/>
                </a:solidFill>
                <a:latin typeface="Arial"/>
                <a:ea typeface="Arial"/>
                <a:cs typeface="Arial"/>
              </a:defRPr>
            </a:pPr>
            <a:r>
              <a:rPr sz="1575" b="0">
                <a:solidFill>
                  <a:srgbClr val="52677B"/>
                </a:solidFill>
                <a:latin typeface="Arial"/>
                <a:ea typeface="Arial"/>
                <a:cs typeface="Arial"/>
              </a:rPr>
              <a:t>32 constructed September pairs. Dollars show change versus matched cases, not total losses or guaranteed protection.</a:t>
            </a:r>
          </a:p>
        </p:txBody>
      </p:sp>
    </p:spTree>
    <p:extLst>
      <p:ext uri="{BB962C8B-B14F-4D97-AF65-F5344CB8AC3E}">
        <p14:creationId xmlns:p14="http://schemas.microsoft.com/office/powerpoint/2010/main" val="506406430"/>
      </p:ext>
    </p:extLst>
  </p:cSld>
</p:sld>
</file>

<file path=ppt/slides/slide6.xml><?xml version="1.0" encoding="utf-8"?>
<p:sld xmlns:p="http://schemas.openxmlformats.org/presentationml/2006/main">
  <p:cSld>
    <p:bg>
      <p:bgPr>
        <a:solidFill xmlns:a="http://schemas.openxmlformats.org/drawingml/2006/main">
          <a:srgbClr val="ECF8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E831386-A415-406B-B058-8CD7C740F5A6}"/>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177E89"/>
          </a:solidFill>
          <a:ln xmlns:a="http://schemas.openxmlformats.org/drawingml/2006/main" w="0">
            <a:noFill/>
          </a:ln>
        </p:spPr>
        <p:txBody>
          <a:bodyPr xmlns:a="http://schemas.openxmlformats.org/drawingml/2006/main" lIns="609600" tIns="200025" rIns="609600" bIns="76200"/>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LOS ANGELES · STRATEGY 1 OF 3</a:t>
            </a:r>
          </a:p>
        </p:txBody>
      </p:sp>
      <p:sp>
        <p:nvSpPr>
          <p:cNvPr id="2" name="">
            <a:extLst xmlns:a="http://schemas.openxmlformats.org/drawingml/2006/main">
              <a:ext uri="{FF2B5EF4-FFF2-40B4-BE49-F238E27FC236}">
                <a16:creationId xmlns:a16="http://schemas.microsoft.com/office/drawing/2014/main" id="{66D3C13D-273C-4EF1-888B-2F833E94E36C}"/>
              </a:ext>
            </a:extLst>
          </p:cNvPr>
          <p:cNvSpPr>
            <a:spLocks xmlns:a="http://schemas.openxmlformats.org/drawingml/2006/main" noGrp="1"/>
          </p:cNvSpPr>
          <p:nvPr/>
        </p:nvSpPr>
        <p:spPr>
          <a:xfrm xmlns:a="http://schemas.openxmlformats.org/drawingml/2006/main">
            <a:off x="609600" y="762000"/>
            <a:ext cx="10934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7E89"/>
                </a:solidFill>
                <a:latin typeface="Arial"/>
                <a:ea typeface="Arial"/>
                <a:cs typeface="Arial"/>
              </a:defRPr>
            </a:defPPr>
          </a:lstStyle>
          <a:p xmlns:a="http://schemas.openxmlformats.org/drawingml/2006/main">
            <a:pPr>
              <a:buNone/>
              <a:defRPr sz="3300" b="1">
                <a:solidFill>
                  <a:srgbClr val="177E89"/>
                </a:solidFill>
                <a:latin typeface="Arial"/>
                <a:ea typeface="Arial"/>
                <a:cs typeface="Arial"/>
              </a:defRPr>
            </a:pPr>
            <a:r>
              <a:rPr sz="3300" b="1">
                <a:solidFill>
                  <a:srgbClr val="177E89"/>
                </a:solidFill>
                <a:latin typeface="Arial"/>
                <a:ea typeface="Arial"/>
                <a:cs typeface="Arial"/>
              </a:rPr>
              <a:t>V10 forecast exit</a:t>
            </a:r>
          </a:p>
        </p:txBody>
      </p:sp>
      <p:sp>
        <p:nvSpPr>
          <p:cNvPr id="3" name="">
            <a:extLst xmlns:a="http://schemas.openxmlformats.org/drawingml/2006/main">
              <a:ext uri="{FF2B5EF4-FFF2-40B4-BE49-F238E27FC236}">
                <a16:creationId xmlns:a16="http://schemas.microsoft.com/office/drawing/2014/main" id="{5D980F82-5194-412C-A846-6DA9B9F17F7B}"/>
              </a:ext>
            </a:extLst>
          </p:cNvPr>
          <p:cNvSpPr>
            <a:spLocks xmlns:a="http://schemas.openxmlformats.org/drawingml/2006/main" noGrp="1"/>
          </p:cNvSpPr>
          <p:nvPr/>
        </p:nvSpPr>
        <p:spPr>
          <a:xfrm xmlns:a="http://schemas.openxmlformats.org/drawingml/2006/main">
            <a:off x="609600" y="64579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B"/>
                </a:solidFill>
                <a:latin typeface="Arial"/>
                <a:ea typeface="Arial"/>
                <a:cs typeface="Arial"/>
              </a:defRPr>
            </a:defPPr>
          </a:lstStyle>
          <a:p xmlns:a="http://schemas.openxmlformats.org/drawingml/2006/main">
            <a:pPr>
              <a:buNone/>
              <a:defRPr sz="1125" b="0">
                <a:solidFill>
                  <a:srgbClr val="52677B"/>
                </a:solidFill>
                <a:latin typeface="Arial"/>
                <a:ea typeface="Arial"/>
                <a:cs typeface="Arial"/>
              </a:defRPr>
            </a:pPr>
            <a:r>
              <a:rPr sz="1125" b="0">
                <a:solidFill>
                  <a:srgbClr val="52677B"/>
                </a:solidFill>
                <a:latin typeface="Arial"/>
                <a:ea typeface="Arial"/>
                <a:cs typeface="Arial"/>
              </a:rPr>
              <a:t>Four-city paper trading. Frozen October 12, 2026</a:t>
            </a:r>
          </a:p>
        </p:txBody>
      </p:sp>
      <p:sp>
        <p:nvSpPr>
          <p:cNvPr id="4" name="">
            <a:extLst xmlns:a="http://schemas.openxmlformats.org/drawingml/2006/main">
              <a:ext uri="{FF2B5EF4-FFF2-40B4-BE49-F238E27FC236}">
                <a16:creationId xmlns:a16="http://schemas.microsoft.com/office/drawing/2014/main" id="{6A9F59A4-F894-4379-A264-AD999ED107A6}"/>
              </a:ext>
            </a:extLst>
          </p:cNvPr>
          <p:cNvSpPr>
            <a:spLocks xmlns:a="http://schemas.openxmlformats.org/drawingml/2006/main" noGrp="1"/>
          </p:cNvSpPr>
          <p:nvPr/>
        </p:nvSpPr>
        <p:spPr>
          <a:xfrm xmlns:a="http://schemas.openxmlformats.org/drawingml/2006/main">
            <a:off x="11049000" y="6400800"/>
            <a:ext cx="495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77B"/>
                </a:solidFill>
                <a:latin typeface="Arial"/>
                <a:ea typeface="Arial"/>
                <a:cs typeface="Arial"/>
              </a:defRPr>
            </a:defPPr>
          </a:lstStyle>
          <a:p xmlns:a="http://schemas.openxmlformats.org/drawingml/2006/main">
            <a:pPr>
              <a:buNone/>
              <a:defRPr sz="1500" b="0">
                <a:solidFill>
                  <a:srgbClr val="52677B"/>
                </a:solidFill>
                <a:latin typeface="Arial"/>
                <a:ea typeface="Arial"/>
                <a:cs typeface="Arial"/>
              </a:defRPr>
            </a:pPr>
            <a:r>
              <a:rPr sz="1500" b="0">
                <a:solidFill>
                  <a:srgbClr val="52677B"/>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069CCA93-7DE2-4EA1-9159-2423AC1560E6}"/>
              </a:ext>
            </a:extLst>
          </p:cNvPr>
          <p:cNvSpPr>
            <a:spLocks xmlns:a="http://schemas.openxmlformats.org/drawingml/2006/main" noGrp="1"/>
          </p:cNvSpPr>
          <p:nvPr/>
        </p:nvSpPr>
        <p:spPr>
          <a:xfrm xmlns:a="http://schemas.openxmlformats.org/drawingml/2006/main">
            <a:off x="609600" y="1685925"/>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77E89"/>
                </a:solidFill>
                <a:latin typeface="Arial"/>
                <a:ea typeface="Arial"/>
                <a:cs typeface="Arial"/>
              </a:defRPr>
            </a:defPPr>
          </a:lstStyle>
          <a:p xmlns:a="http://schemas.openxmlformats.org/drawingml/2006/main">
            <a:pPr>
              <a:buNone/>
              <a:defRPr sz="1425" b="1">
                <a:solidFill>
                  <a:srgbClr val="177E89"/>
                </a:solidFill>
                <a:latin typeface="Arial"/>
                <a:ea typeface="Arial"/>
                <a:cs typeface="Arial"/>
              </a:defRPr>
            </a:pPr>
            <a:r>
              <a:rPr sz="1425" b="1">
                <a:solidFill>
                  <a:srgbClr val="177E89"/>
                </a:solidFill>
                <a:latin typeface="Arial"/>
                <a:ea typeface="Arial"/>
                <a:cs typeface="Arial"/>
              </a:rPr>
              <a:t>BUY WHEN</a:t>
            </a:r>
          </a:p>
        </p:txBody>
      </p:sp>
      <p:sp>
        <p:nvSpPr>
          <p:cNvPr id="6" name="">
            <a:extLst xmlns:a="http://schemas.openxmlformats.org/drawingml/2006/main">
              <a:ext uri="{FF2B5EF4-FFF2-40B4-BE49-F238E27FC236}">
                <a16:creationId xmlns:a16="http://schemas.microsoft.com/office/drawing/2014/main" id="{40D953A5-DE15-49D0-B43D-D43B0818F6C9}"/>
              </a:ext>
            </a:extLst>
          </p:cNvPr>
          <p:cNvSpPr>
            <a:spLocks xmlns:a="http://schemas.openxmlformats.org/drawingml/2006/main" noGrp="1"/>
          </p:cNvSpPr>
          <p:nvPr/>
        </p:nvSpPr>
        <p:spPr>
          <a:xfrm xmlns:a="http://schemas.openxmlformats.org/drawingml/2006/main">
            <a:off x="609600" y="1981200"/>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Check 10 am to 1 pm in October, or 17:00–20:00 UTC. Buy only when the saved rules pass.</a:t>
            </a:r>
          </a:p>
        </p:txBody>
      </p:sp>
      <p:sp>
        <p:nvSpPr>
          <p:cNvPr id="7" name="">
            <a:extLst xmlns:a="http://schemas.openxmlformats.org/drawingml/2006/main">
              <a:ext uri="{FF2B5EF4-FFF2-40B4-BE49-F238E27FC236}">
                <a16:creationId xmlns:a16="http://schemas.microsoft.com/office/drawing/2014/main" id="{09ED134C-0589-4148-9F3B-AB5FD07F0634}"/>
              </a:ext>
            </a:extLst>
          </p:cNvPr>
          <p:cNvSpPr>
            <a:spLocks xmlns:a="http://schemas.openxmlformats.org/drawingml/2006/main" noGrp="1"/>
          </p:cNvSpPr>
          <p:nvPr/>
        </p:nvSpPr>
        <p:spPr>
          <a:xfrm xmlns:a="http://schemas.openxmlformats.org/drawingml/2006/main">
            <a:off x="609600" y="2857500"/>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77E89"/>
                </a:solidFill>
                <a:latin typeface="Arial"/>
                <a:ea typeface="Arial"/>
                <a:cs typeface="Arial"/>
              </a:defRPr>
            </a:defPPr>
          </a:lstStyle>
          <a:p xmlns:a="http://schemas.openxmlformats.org/drawingml/2006/main">
            <a:pPr>
              <a:buNone/>
              <a:defRPr sz="1425" b="1">
                <a:solidFill>
                  <a:srgbClr val="177E89"/>
                </a:solidFill>
                <a:latin typeface="Arial"/>
                <a:ea typeface="Arial"/>
                <a:cs typeface="Arial"/>
              </a:defRPr>
            </a:pPr>
            <a:r>
              <a:rPr sz="1425" b="1">
                <a:solidFill>
                  <a:srgbClr val="177E89"/>
                </a:solidFill>
                <a:latin typeface="Arial"/>
                <a:ea typeface="Arial"/>
                <a:cs typeface="Arial"/>
              </a:rPr>
              <a:t>BUY WHAT</a:t>
            </a:r>
          </a:p>
        </p:txBody>
      </p:sp>
      <p:sp>
        <p:nvSpPr>
          <p:cNvPr id="8" name="">
            <a:extLst xmlns:a="http://schemas.openxmlformats.org/drawingml/2006/main">
              <a:ext uri="{FF2B5EF4-FFF2-40B4-BE49-F238E27FC236}">
                <a16:creationId xmlns:a16="http://schemas.microsoft.com/office/drawing/2014/main" id="{69599E2C-1A73-4693-B0E8-289464AAD7C2}"/>
              </a:ext>
            </a:extLst>
          </p:cNvPr>
          <p:cNvSpPr>
            <a:spLocks xmlns:a="http://schemas.openxmlformats.org/drawingml/2006/main" noGrp="1"/>
          </p:cNvSpPr>
          <p:nvPr/>
        </p:nvSpPr>
        <p:spPr>
          <a:xfrm xmlns:a="http://schemas.openxmlformats.org/drawingml/2006/main">
            <a:off x="609600" y="3152775"/>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Choose YES or NO when the model values the payout above the purchase price after fees.</a:t>
            </a:r>
          </a:p>
        </p:txBody>
      </p:sp>
      <p:sp>
        <p:nvSpPr>
          <p:cNvPr id="9" name="">
            <a:extLst xmlns:a="http://schemas.openxmlformats.org/drawingml/2006/main">
              <a:ext uri="{FF2B5EF4-FFF2-40B4-BE49-F238E27FC236}">
                <a16:creationId xmlns:a16="http://schemas.microsoft.com/office/drawing/2014/main" id="{54890A2F-9AC8-41BE-A866-1C1C688DD27E}"/>
              </a:ext>
            </a:extLst>
          </p:cNvPr>
          <p:cNvSpPr>
            <a:spLocks xmlns:a="http://schemas.openxmlformats.org/drawingml/2006/main" noGrp="1"/>
          </p:cNvSpPr>
          <p:nvPr/>
        </p:nvSpPr>
        <p:spPr>
          <a:xfrm xmlns:a="http://schemas.openxmlformats.org/drawingml/2006/main">
            <a:off x="609600" y="4029075"/>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77E89"/>
                </a:solidFill>
                <a:latin typeface="Arial"/>
                <a:ea typeface="Arial"/>
                <a:cs typeface="Arial"/>
              </a:defRPr>
            </a:defPPr>
          </a:lstStyle>
          <a:p xmlns:a="http://schemas.openxmlformats.org/drawingml/2006/main">
            <a:pPr>
              <a:buNone/>
              <a:defRPr sz="1425" b="1">
                <a:solidFill>
                  <a:srgbClr val="177E89"/>
                </a:solidFill>
                <a:latin typeface="Arial"/>
                <a:ea typeface="Arial"/>
                <a:cs typeface="Arial"/>
              </a:defRPr>
            </a:pPr>
            <a:r>
              <a:rPr sz="1425" b="1">
                <a:solidFill>
                  <a:srgbClr val="177E89"/>
                </a:solidFill>
                <a:latin typeface="Arial"/>
                <a:ea typeface="Arial"/>
                <a:cs typeface="Arial"/>
              </a:rPr>
              <a:t>SPEND LIMIT</a:t>
            </a:r>
          </a:p>
        </p:txBody>
      </p:sp>
      <p:sp>
        <p:nvSpPr>
          <p:cNvPr id="10" name="">
            <a:extLst xmlns:a="http://schemas.openxmlformats.org/drawingml/2006/main">
              <a:ext uri="{FF2B5EF4-FFF2-40B4-BE49-F238E27FC236}">
                <a16:creationId xmlns:a16="http://schemas.microsoft.com/office/drawing/2014/main" id="{5E364FC8-148A-4D34-9D4D-3A7E363517FC}"/>
              </a:ext>
            </a:extLst>
          </p:cNvPr>
          <p:cNvSpPr>
            <a:spLocks xmlns:a="http://schemas.openxmlformats.org/drawingml/2006/main" noGrp="1"/>
          </p:cNvSpPr>
          <p:nvPr/>
        </p:nvSpPr>
        <p:spPr>
          <a:xfrm xmlns:a="http://schemas.openxmlformats.org/drawingml/2006/main">
            <a:off x="609600" y="4324350"/>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Up to 10% of opening available cash. Whole contracts and available depth limit the purchase.</a:t>
            </a:r>
          </a:p>
        </p:txBody>
      </p:sp>
      <p:sp>
        <p:nvSpPr>
          <p:cNvPr id="11" name="">
            <a:extLst xmlns:a="http://schemas.openxmlformats.org/drawingml/2006/main">
              <a:ext uri="{FF2B5EF4-FFF2-40B4-BE49-F238E27FC236}">
                <a16:creationId xmlns:a16="http://schemas.microsoft.com/office/drawing/2014/main" id="{E51AE6A4-CC90-457F-A450-699EA8AA83D1}"/>
              </a:ext>
            </a:extLst>
          </p:cNvPr>
          <p:cNvSpPr>
            <a:spLocks xmlns:a="http://schemas.openxmlformats.org/drawingml/2006/main" noGrp="1"/>
          </p:cNvSpPr>
          <p:nvPr/>
        </p:nvSpPr>
        <p:spPr>
          <a:xfrm xmlns:a="http://schemas.openxmlformats.org/drawingml/2006/main">
            <a:off x="609600" y="5200650"/>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77E89"/>
                </a:solidFill>
                <a:latin typeface="Arial"/>
                <a:ea typeface="Arial"/>
                <a:cs typeface="Arial"/>
              </a:defRPr>
            </a:defPPr>
          </a:lstStyle>
          <a:p xmlns:a="http://schemas.openxmlformats.org/drawingml/2006/main">
            <a:pPr>
              <a:buNone/>
              <a:defRPr sz="1425" b="1">
                <a:solidFill>
                  <a:srgbClr val="177E89"/>
                </a:solidFill>
                <a:latin typeface="Arial"/>
                <a:ea typeface="Arial"/>
                <a:cs typeface="Arial"/>
              </a:defRPr>
            </a:pPr>
            <a:r>
              <a:rPr sz="1425" b="1">
                <a:solidFill>
                  <a:srgbClr val="177E89"/>
                </a:solidFill>
                <a:latin typeface="Arial"/>
                <a:ea typeface="Arial"/>
                <a:cs typeface="Arial"/>
              </a:rPr>
              <a:t>SELL WHEN</a:t>
            </a:r>
          </a:p>
        </p:txBody>
      </p:sp>
      <p:sp>
        <p:nvSpPr>
          <p:cNvPr id="12" name="">
            <a:extLst xmlns:a="http://schemas.openxmlformats.org/drawingml/2006/main">
              <a:ext uri="{FF2B5EF4-FFF2-40B4-BE49-F238E27FC236}">
                <a16:creationId xmlns:a16="http://schemas.microsoft.com/office/drawing/2014/main" id="{0C70CC76-ED2A-4DF4-B06F-A7B0ADB1F093}"/>
              </a:ext>
            </a:extLst>
          </p:cNvPr>
          <p:cNvSpPr>
            <a:spLocks xmlns:a="http://schemas.openxmlformats.org/drawingml/2006/main" noGrp="1"/>
          </p:cNvSpPr>
          <p:nvPr/>
        </p:nvSpPr>
        <p:spPr>
          <a:xfrm xmlns:a="http://schemas.openxmlformats.org/drawingml/2006/main">
            <a:off x="609600" y="5495925"/>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Sell early if the buyers’ price, after fees, beats the model’s upper payout estimate. Otherwise hold to the official result.</a:t>
            </a:r>
          </a:p>
        </p:txBody>
      </p:sp>
      <p:graphicFrame>
        <p:nvGraphicFramePr>
          <p:cNvPr id="13" name="Chart">
            <a:extLst xmlns:a="http://schemas.openxmlformats.org/drawingml/2006/main">
              <a:ext uri="{FF2B5EF4-FFF2-40B4-BE49-F238E27FC236}">
                <a16:creationId xmlns:a16="http://schemas.microsoft.com/office/drawing/2014/main" id="{4610301F-797D-48CA-A6FA-066D49757DA7}"/>
              </a:ext>
            </a:extLst>
          </p:cNvPr>
          <p:cNvGraphicFramePr/>
          <p:nvPr/>
        </p:nvGraphicFramePr>
        <p:xfrm>
          <a:off xmlns:a="http://schemas.openxmlformats.org/drawingml/2006/main" x="6019800" y="1704975"/>
          <a:ext xmlns:a="http://schemas.openxmlformats.org/drawingml/2006/main" cx="5524500" cy="1838325"/>
        </p:xfrm>
        <a:graphic xmlns:a="http://schemas.openxmlformats.org/drawingml/2006/main">
          <a:graphicData uri="http://schemas.openxmlformats.org/drawingml/2006/chart">
            <c:chart xmlns:r="http://schemas.openxmlformats.org/officeDocument/2006/relationships" xmlns:c="http://schemas.openxmlformats.org/drawingml/2006/chart" r:id="R7ae7cb7192454b61"/>
          </a:graphicData>
        </a:graphic>
      </p:graphicFrame>
      <p:graphicFrame>
        <p:nvGraphicFramePr>
          <p:cNvPr id="14" name="Chart">
            <a:extLst xmlns:a="http://schemas.openxmlformats.org/drawingml/2006/main">
              <a:ext uri="{FF2B5EF4-FFF2-40B4-BE49-F238E27FC236}">
                <a16:creationId xmlns:a16="http://schemas.microsoft.com/office/drawing/2014/main" id="{429B34B4-C2EB-4DAA-9250-719A8CAE57CE}"/>
              </a:ext>
            </a:extLst>
          </p:cNvPr>
          <p:cNvGraphicFramePr/>
          <p:nvPr/>
        </p:nvGraphicFramePr>
        <p:xfrm>
          <a:off xmlns:a="http://schemas.openxmlformats.org/drawingml/2006/main" x="6019800" y="3657600"/>
          <a:ext xmlns:a="http://schemas.openxmlformats.org/drawingml/2006/main" cx="5524500" cy="1943100"/>
        </p:xfrm>
        <a:graphic xmlns:a="http://schemas.openxmlformats.org/drawingml/2006/main">
          <a:graphicData uri="http://schemas.openxmlformats.org/drawingml/2006/chart">
            <c:chart xmlns:r="http://schemas.openxmlformats.org/officeDocument/2006/relationships" xmlns:c="http://schemas.openxmlformats.org/drawingml/2006/chart" r:id="R914ca9355d054377"/>
          </a:graphicData>
        </a:graphic>
      </p:graphicFrame>
      <p:sp>
        <p:nvSpPr>
          <p:cNvPr id="15" name="">
            <a:extLst xmlns:a="http://schemas.openxmlformats.org/drawingml/2006/main">
              <a:ext uri="{FF2B5EF4-FFF2-40B4-BE49-F238E27FC236}">
                <a16:creationId xmlns:a16="http://schemas.microsoft.com/office/drawing/2014/main" id="{C5C54B63-776B-4142-A854-CAD33CF38A15}"/>
              </a:ext>
            </a:extLst>
          </p:cNvPr>
          <p:cNvSpPr>
            <a:spLocks xmlns:a="http://schemas.openxmlformats.org/drawingml/2006/main" noGrp="1"/>
          </p:cNvSpPr>
          <p:nvPr/>
        </p:nvSpPr>
        <p:spPr>
          <a:xfrm xmlns:a="http://schemas.openxmlformats.org/drawingml/2006/main">
            <a:off x="6143625" y="5762625"/>
            <a:ext cx="5257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77B"/>
                </a:solidFill>
                <a:latin typeface="Arial"/>
                <a:ea typeface="Arial"/>
                <a:cs typeface="Arial"/>
              </a:defRPr>
            </a:defPPr>
          </a:lstStyle>
          <a:p xmlns:a="http://schemas.openxmlformats.org/drawingml/2006/main">
            <a:pPr>
              <a:buNone/>
              <a:defRPr sz="1575" b="0">
                <a:solidFill>
                  <a:srgbClr val="52677B"/>
                </a:solidFill>
                <a:latin typeface="Arial"/>
                <a:ea typeface="Arial"/>
                <a:cs typeface="Arial"/>
              </a:defRPr>
            </a:pPr>
            <a:r>
              <a:rPr sz="1575" b="0">
                <a:solidFill>
                  <a:srgbClr val="52677B"/>
                </a:solidFill>
                <a:latin typeface="Arial"/>
                <a:ea typeface="Arial"/>
                <a:cs typeface="Arial"/>
              </a:rPr>
              <a:t>F3_V10_PHYSICAL_FORECAST_EXIT. The model does not use a fixed +10% profit target.</a:t>
            </a:r>
          </a:p>
        </p:txBody>
      </p:sp>
    </p:spTree>
    <p:extLst>
      <p:ext uri="{BB962C8B-B14F-4D97-AF65-F5344CB8AC3E}">
        <p14:creationId xmlns:p14="http://schemas.microsoft.com/office/powerpoint/2010/main" val="1012088004"/>
      </p:ext>
    </p:extLst>
  </p:cSld>
</p:sld>
</file>

<file path=ppt/slides/slide7.xml><?xml version="1.0" encoding="utf-8"?>
<p:sld xmlns:p="http://schemas.openxmlformats.org/presentationml/2006/main">
  <p:cSld>
    <p:bg>
      <p:bgPr>
        <a:solidFill xmlns:a="http://schemas.openxmlformats.org/drawingml/2006/main">
          <a:srgbClr val="ECF8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04386BF-F26B-4698-9464-A8C1699E2EC6}"/>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177E89"/>
          </a:solidFill>
          <a:ln xmlns:a="http://schemas.openxmlformats.org/drawingml/2006/main" w="0">
            <a:noFill/>
          </a:ln>
        </p:spPr>
        <p:txBody>
          <a:bodyPr xmlns:a="http://schemas.openxmlformats.org/drawingml/2006/main" lIns="609600" tIns="200025" rIns="609600" bIns="76200"/>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LOS ANGELES · STRATEGY 2 OF 3</a:t>
            </a:r>
          </a:p>
        </p:txBody>
      </p:sp>
      <p:sp>
        <p:nvSpPr>
          <p:cNvPr id="2" name="">
            <a:extLst xmlns:a="http://schemas.openxmlformats.org/drawingml/2006/main">
              <a:ext uri="{FF2B5EF4-FFF2-40B4-BE49-F238E27FC236}">
                <a16:creationId xmlns:a16="http://schemas.microsoft.com/office/drawing/2014/main" id="{5545E7CC-B6AE-4A33-A307-2A6ED5F41355}"/>
              </a:ext>
            </a:extLst>
          </p:cNvPr>
          <p:cNvSpPr>
            <a:spLocks xmlns:a="http://schemas.openxmlformats.org/drawingml/2006/main" noGrp="1"/>
          </p:cNvSpPr>
          <p:nvPr/>
        </p:nvSpPr>
        <p:spPr>
          <a:xfrm xmlns:a="http://schemas.openxmlformats.org/drawingml/2006/main">
            <a:off x="609600" y="762000"/>
            <a:ext cx="10934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7E89"/>
                </a:solidFill>
                <a:latin typeface="Arial"/>
                <a:ea typeface="Arial"/>
                <a:cs typeface="Arial"/>
              </a:defRPr>
            </a:defPPr>
          </a:lstStyle>
          <a:p xmlns:a="http://schemas.openxmlformats.org/drawingml/2006/main">
            <a:pPr>
              <a:buNone/>
              <a:defRPr sz="3300" b="1">
                <a:solidFill>
                  <a:srgbClr val="177E89"/>
                </a:solidFill>
                <a:latin typeface="Arial"/>
                <a:ea typeface="Arial"/>
                <a:cs typeface="Arial"/>
              </a:defRPr>
            </a:pPr>
            <a:r>
              <a:rPr sz="3300" b="1">
                <a:solidFill>
                  <a:srgbClr val="177E89"/>
                </a:solidFill>
                <a:latin typeface="Arial"/>
                <a:ea typeface="Arial"/>
                <a:cs typeface="Arial"/>
              </a:rPr>
              <a:t>Hybrid staged safety</a:t>
            </a:r>
          </a:p>
        </p:txBody>
      </p:sp>
      <p:sp>
        <p:nvSpPr>
          <p:cNvPr id="3" name="">
            <a:extLst xmlns:a="http://schemas.openxmlformats.org/drawingml/2006/main">
              <a:ext uri="{FF2B5EF4-FFF2-40B4-BE49-F238E27FC236}">
                <a16:creationId xmlns:a16="http://schemas.microsoft.com/office/drawing/2014/main" id="{A856DF5F-F455-4010-8451-9B05E6844638}"/>
              </a:ext>
            </a:extLst>
          </p:cNvPr>
          <p:cNvSpPr>
            <a:spLocks xmlns:a="http://schemas.openxmlformats.org/drawingml/2006/main" noGrp="1"/>
          </p:cNvSpPr>
          <p:nvPr/>
        </p:nvSpPr>
        <p:spPr>
          <a:xfrm xmlns:a="http://schemas.openxmlformats.org/drawingml/2006/main">
            <a:off x="609600" y="64579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B"/>
                </a:solidFill>
                <a:latin typeface="Arial"/>
                <a:ea typeface="Arial"/>
                <a:cs typeface="Arial"/>
              </a:defRPr>
            </a:defPPr>
          </a:lstStyle>
          <a:p xmlns:a="http://schemas.openxmlformats.org/drawingml/2006/main">
            <a:pPr>
              <a:buNone/>
              <a:defRPr sz="1125" b="0">
                <a:solidFill>
                  <a:srgbClr val="52677B"/>
                </a:solidFill>
                <a:latin typeface="Arial"/>
                <a:ea typeface="Arial"/>
                <a:cs typeface="Arial"/>
              </a:defRPr>
            </a:pPr>
            <a:r>
              <a:rPr sz="1125" b="0">
                <a:solidFill>
                  <a:srgbClr val="52677B"/>
                </a:solidFill>
                <a:latin typeface="Arial"/>
                <a:ea typeface="Arial"/>
                <a:cs typeface="Arial"/>
              </a:rPr>
              <a:t>Four-city paper trading. Frozen October 12, 2026</a:t>
            </a:r>
          </a:p>
        </p:txBody>
      </p:sp>
      <p:sp>
        <p:nvSpPr>
          <p:cNvPr id="4" name="">
            <a:extLst xmlns:a="http://schemas.openxmlformats.org/drawingml/2006/main">
              <a:ext uri="{FF2B5EF4-FFF2-40B4-BE49-F238E27FC236}">
                <a16:creationId xmlns:a16="http://schemas.microsoft.com/office/drawing/2014/main" id="{C6B39C44-9B55-44F8-A972-01D05BD64DDF}"/>
              </a:ext>
            </a:extLst>
          </p:cNvPr>
          <p:cNvSpPr>
            <a:spLocks xmlns:a="http://schemas.openxmlformats.org/drawingml/2006/main" noGrp="1"/>
          </p:cNvSpPr>
          <p:nvPr/>
        </p:nvSpPr>
        <p:spPr>
          <a:xfrm xmlns:a="http://schemas.openxmlformats.org/drawingml/2006/main">
            <a:off x="11049000" y="6400800"/>
            <a:ext cx="495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77B"/>
                </a:solidFill>
                <a:latin typeface="Arial"/>
                <a:ea typeface="Arial"/>
                <a:cs typeface="Arial"/>
              </a:defRPr>
            </a:defPPr>
          </a:lstStyle>
          <a:p xmlns:a="http://schemas.openxmlformats.org/drawingml/2006/main">
            <a:pPr>
              <a:buNone/>
              <a:defRPr sz="1500" b="0">
                <a:solidFill>
                  <a:srgbClr val="52677B"/>
                </a:solidFill>
                <a:latin typeface="Arial"/>
                <a:ea typeface="Arial"/>
                <a:cs typeface="Arial"/>
              </a:defRPr>
            </a:pPr>
            <a:r>
              <a:rPr sz="1500" b="0">
                <a:solidFill>
                  <a:srgbClr val="52677B"/>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37271D38-651B-466A-9BA3-018209394A88}"/>
              </a:ext>
            </a:extLst>
          </p:cNvPr>
          <p:cNvSpPr>
            <a:spLocks xmlns:a="http://schemas.openxmlformats.org/drawingml/2006/main" noGrp="1"/>
          </p:cNvSpPr>
          <p:nvPr/>
        </p:nvSpPr>
        <p:spPr>
          <a:xfrm xmlns:a="http://schemas.openxmlformats.org/drawingml/2006/main">
            <a:off x="609600" y="1685925"/>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77E89"/>
                </a:solidFill>
                <a:latin typeface="Arial"/>
                <a:ea typeface="Arial"/>
                <a:cs typeface="Arial"/>
              </a:defRPr>
            </a:defPPr>
          </a:lstStyle>
          <a:p xmlns:a="http://schemas.openxmlformats.org/drawingml/2006/main">
            <a:pPr>
              <a:buNone/>
              <a:defRPr sz="1425" b="1">
                <a:solidFill>
                  <a:srgbClr val="177E89"/>
                </a:solidFill>
                <a:latin typeface="Arial"/>
                <a:ea typeface="Arial"/>
                <a:cs typeface="Arial"/>
              </a:defRPr>
            </a:pPr>
            <a:r>
              <a:rPr sz="1425" b="1">
                <a:solidFill>
                  <a:srgbClr val="177E89"/>
                </a:solidFill>
                <a:latin typeface="Arial"/>
                <a:ea typeface="Arial"/>
                <a:cs typeface="Arial"/>
              </a:rPr>
              <a:t>BUY WHEN</a:t>
            </a:r>
          </a:p>
        </p:txBody>
      </p:sp>
      <p:sp>
        <p:nvSpPr>
          <p:cNvPr id="6" name="">
            <a:extLst xmlns:a="http://schemas.openxmlformats.org/drawingml/2006/main">
              <a:ext uri="{FF2B5EF4-FFF2-40B4-BE49-F238E27FC236}">
                <a16:creationId xmlns:a16="http://schemas.microsoft.com/office/drawing/2014/main" id="{D9E433E2-EAC7-447A-A7C5-EDE25846977D}"/>
              </a:ext>
            </a:extLst>
          </p:cNvPr>
          <p:cNvSpPr>
            <a:spLocks xmlns:a="http://schemas.openxmlformats.org/drawingml/2006/main" noGrp="1"/>
          </p:cNvSpPr>
          <p:nvPr/>
        </p:nvSpPr>
        <p:spPr>
          <a:xfrm xmlns:a="http://schemas.openxmlformats.org/drawingml/2006/main">
            <a:off x="609600" y="1981200"/>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Look for a qualifying YES or NO purchase from 10 am to 1 pm in October.</a:t>
            </a:r>
          </a:p>
        </p:txBody>
      </p:sp>
      <p:sp>
        <p:nvSpPr>
          <p:cNvPr id="7" name="">
            <a:extLst xmlns:a="http://schemas.openxmlformats.org/drawingml/2006/main">
              <a:ext uri="{FF2B5EF4-FFF2-40B4-BE49-F238E27FC236}">
                <a16:creationId xmlns:a16="http://schemas.microsoft.com/office/drawing/2014/main" id="{0F576619-FF42-4221-B087-BFD573E24E31}"/>
              </a:ext>
            </a:extLst>
          </p:cNvPr>
          <p:cNvSpPr>
            <a:spLocks xmlns:a="http://schemas.openxmlformats.org/drawingml/2006/main" noGrp="1"/>
          </p:cNvSpPr>
          <p:nvPr/>
        </p:nvSpPr>
        <p:spPr>
          <a:xfrm xmlns:a="http://schemas.openxmlformats.org/drawingml/2006/main">
            <a:off x="609600" y="2857500"/>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77E89"/>
                </a:solidFill>
                <a:latin typeface="Arial"/>
                <a:ea typeface="Arial"/>
                <a:cs typeface="Arial"/>
              </a:defRPr>
            </a:defPPr>
          </a:lstStyle>
          <a:p xmlns:a="http://schemas.openxmlformats.org/drawingml/2006/main">
            <a:pPr>
              <a:buNone/>
              <a:defRPr sz="1425" b="1">
                <a:solidFill>
                  <a:srgbClr val="177E89"/>
                </a:solidFill>
                <a:latin typeface="Arial"/>
                <a:ea typeface="Arial"/>
                <a:cs typeface="Arial"/>
              </a:defRPr>
            </a:pPr>
            <a:r>
              <a:rPr sz="1425" b="1">
                <a:solidFill>
                  <a:srgbClr val="177E89"/>
                </a:solidFill>
                <a:latin typeface="Arial"/>
                <a:ea typeface="Arial"/>
                <a:cs typeface="Arial"/>
              </a:rPr>
              <a:t>ADD ONLY AFTER CONFIRMATION</a:t>
            </a:r>
          </a:p>
        </p:txBody>
      </p:sp>
      <p:sp>
        <p:nvSpPr>
          <p:cNvPr id="8" name="">
            <a:extLst xmlns:a="http://schemas.openxmlformats.org/drawingml/2006/main">
              <a:ext uri="{FF2B5EF4-FFF2-40B4-BE49-F238E27FC236}">
                <a16:creationId xmlns:a16="http://schemas.microsoft.com/office/drawing/2014/main" id="{B66F5B65-0334-4509-B6FA-44055E44CD25}"/>
              </a:ext>
            </a:extLst>
          </p:cNvPr>
          <p:cNvSpPr>
            <a:spLocks xmlns:a="http://schemas.openxmlformats.org/drawingml/2006/main" noGrp="1"/>
          </p:cNvSpPr>
          <p:nvPr/>
        </p:nvSpPr>
        <p:spPr>
          <a:xfrm xmlns:a="http://schemas.openxmlformats.org/drawingml/2006/main">
            <a:off x="609600" y="3152775"/>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Wait at least 15 minutes after the first fill. The bid must rise 1¢ for three consecutive eligible minute checks.</a:t>
            </a:r>
          </a:p>
        </p:txBody>
      </p:sp>
      <p:sp>
        <p:nvSpPr>
          <p:cNvPr id="9" name="">
            <a:extLst xmlns:a="http://schemas.openxmlformats.org/drawingml/2006/main">
              <a:ext uri="{FF2B5EF4-FFF2-40B4-BE49-F238E27FC236}">
                <a16:creationId xmlns:a16="http://schemas.microsoft.com/office/drawing/2014/main" id="{4F0C9EE9-F04C-4C19-8A01-3B02E1658CCD}"/>
              </a:ext>
            </a:extLst>
          </p:cNvPr>
          <p:cNvSpPr>
            <a:spLocks xmlns:a="http://schemas.openxmlformats.org/drawingml/2006/main" noGrp="1"/>
          </p:cNvSpPr>
          <p:nvPr/>
        </p:nvSpPr>
        <p:spPr>
          <a:xfrm xmlns:a="http://schemas.openxmlformats.org/drawingml/2006/main">
            <a:off x="609600" y="4029075"/>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77E89"/>
                </a:solidFill>
                <a:latin typeface="Arial"/>
                <a:ea typeface="Arial"/>
                <a:cs typeface="Arial"/>
              </a:defRPr>
            </a:defPPr>
          </a:lstStyle>
          <a:p xmlns:a="http://schemas.openxmlformats.org/drawingml/2006/main">
            <a:pPr>
              <a:buNone/>
              <a:defRPr sz="1425" b="1">
                <a:solidFill>
                  <a:srgbClr val="177E89"/>
                </a:solidFill>
                <a:latin typeface="Arial"/>
                <a:ea typeface="Arial"/>
                <a:cs typeface="Arial"/>
              </a:defRPr>
            </a:pPr>
            <a:r>
              <a:rPr sz="1425" b="1">
                <a:solidFill>
                  <a:srgbClr val="177E89"/>
                </a:solidFill>
                <a:latin typeface="Arial"/>
                <a:ea typeface="Arial"/>
                <a:cs typeface="Arial"/>
              </a:rPr>
              <a:t>SPEND LIMIT</a:t>
            </a:r>
          </a:p>
        </p:txBody>
      </p:sp>
      <p:sp>
        <p:nvSpPr>
          <p:cNvPr id="10" name="">
            <a:extLst xmlns:a="http://schemas.openxmlformats.org/drawingml/2006/main">
              <a:ext uri="{FF2B5EF4-FFF2-40B4-BE49-F238E27FC236}">
                <a16:creationId xmlns:a16="http://schemas.microsoft.com/office/drawing/2014/main" id="{EB5E2EFD-91F6-4800-B29B-8848E4A99F36}"/>
              </a:ext>
            </a:extLst>
          </p:cNvPr>
          <p:cNvSpPr>
            <a:spLocks xmlns:a="http://schemas.openxmlformats.org/drawingml/2006/main" noGrp="1"/>
          </p:cNvSpPr>
          <p:nvPr/>
        </p:nvSpPr>
        <p:spPr>
          <a:xfrm xmlns:a="http://schemas.openxmlformats.org/drawingml/2006/main">
            <a:off x="609600" y="4324350"/>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Up to 2.5% first and 2.5% later. Smaller bets and a persistent 10% drawdown pause limit exposure.</a:t>
            </a:r>
          </a:p>
        </p:txBody>
      </p:sp>
      <p:sp>
        <p:nvSpPr>
          <p:cNvPr id="11" name="">
            <a:extLst xmlns:a="http://schemas.openxmlformats.org/drawingml/2006/main">
              <a:ext uri="{FF2B5EF4-FFF2-40B4-BE49-F238E27FC236}">
                <a16:creationId xmlns:a16="http://schemas.microsoft.com/office/drawing/2014/main" id="{102EC281-408F-43E0-B002-9959718C4BDB}"/>
              </a:ext>
            </a:extLst>
          </p:cNvPr>
          <p:cNvSpPr>
            <a:spLocks xmlns:a="http://schemas.openxmlformats.org/drawingml/2006/main" noGrp="1"/>
          </p:cNvSpPr>
          <p:nvPr/>
        </p:nvSpPr>
        <p:spPr>
          <a:xfrm xmlns:a="http://schemas.openxmlformats.org/drawingml/2006/main">
            <a:off x="609600" y="5200650"/>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77E89"/>
                </a:solidFill>
                <a:latin typeface="Arial"/>
                <a:ea typeface="Arial"/>
                <a:cs typeface="Arial"/>
              </a:defRPr>
            </a:defPPr>
          </a:lstStyle>
          <a:p xmlns:a="http://schemas.openxmlformats.org/drawingml/2006/main">
            <a:pPr>
              <a:buNone/>
              <a:defRPr sz="1425" b="1">
                <a:solidFill>
                  <a:srgbClr val="177E89"/>
                </a:solidFill>
                <a:latin typeface="Arial"/>
                <a:ea typeface="Arial"/>
                <a:cs typeface="Arial"/>
              </a:defRPr>
            </a:pPr>
            <a:r>
              <a:rPr sz="1425" b="1">
                <a:solidFill>
                  <a:srgbClr val="177E89"/>
                </a:solidFill>
                <a:latin typeface="Arial"/>
                <a:ea typeface="Arial"/>
                <a:cs typeface="Arial"/>
              </a:rPr>
              <a:t>SELL WHEN</a:t>
            </a:r>
          </a:p>
        </p:txBody>
      </p:sp>
      <p:sp>
        <p:nvSpPr>
          <p:cNvPr id="12" name="">
            <a:extLst xmlns:a="http://schemas.openxmlformats.org/drawingml/2006/main">
              <a:ext uri="{FF2B5EF4-FFF2-40B4-BE49-F238E27FC236}">
                <a16:creationId xmlns:a16="http://schemas.microsoft.com/office/drawing/2014/main" id="{AB5BD96F-8915-474C-BC66-DAF2BBF72493}"/>
              </a:ext>
            </a:extLst>
          </p:cNvPr>
          <p:cNvSpPr>
            <a:spLocks xmlns:a="http://schemas.openxmlformats.org/drawingml/2006/main" noGrp="1"/>
          </p:cNvSpPr>
          <p:nvPr/>
        </p:nvSpPr>
        <p:spPr>
          <a:xfrm xmlns:a="http://schemas.openxmlformats.org/drawingml/2006/main">
            <a:off x="609600" y="5495925"/>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Hold to the official result. This strategy has no scheduled early sale.</a:t>
            </a:r>
          </a:p>
        </p:txBody>
      </p:sp>
      <p:graphicFrame>
        <p:nvGraphicFramePr>
          <p:cNvPr id="13" name="Chart">
            <a:extLst xmlns:a="http://schemas.openxmlformats.org/drawingml/2006/main">
              <a:ext uri="{FF2B5EF4-FFF2-40B4-BE49-F238E27FC236}">
                <a16:creationId xmlns:a16="http://schemas.microsoft.com/office/drawing/2014/main" id="{290DBA21-4061-4DCF-A29A-4CA4A7FB532F}"/>
              </a:ext>
            </a:extLst>
          </p:cNvPr>
          <p:cNvGraphicFramePr/>
          <p:nvPr/>
        </p:nvGraphicFramePr>
        <p:xfrm>
          <a:off xmlns:a="http://schemas.openxmlformats.org/drawingml/2006/main" x="6019800" y="1704975"/>
          <a:ext xmlns:a="http://schemas.openxmlformats.org/drawingml/2006/main" cx="5524500" cy="1838325"/>
        </p:xfrm>
        <a:graphic xmlns:a="http://schemas.openxmlformats.org/drawingml/2006/main">
          <a:graphicData uri="http://schemas.openxmlformats.org/drawingml/2006/chart">
            <c:chart xmlns:r="http://schemas.openxmlformats.org/officeDocument/2006/relationships" xmlns:c="http://schemas.openxmlformats.org/drawingml/2006/chart" r:id="R4c4dbe8d6307403d"/>
          </a:graphicData>
        </a:graphic>
      </p:graphicFrame>
      <p:graphicFrame>
        <p:nvGraphicFramePr>
          <p:cNvPr id="14" name="Chart">
            <a:extLst xmlns:a="http://schemas.openxmlformats.org/drawingml/2006/main">
              <a:ext uri="{FF2B5EF4-FFF2-40B4-BE49-F238E27FC236}">
                <a16:creationId xmlns:a16="http://schemas.microsoft.com/office/drawing/2014/main" id="{205060B4-D075-49FD-A5D3-1E1A320178F6}"/>
              </a:ext>
            </a:extLst>
          </p:cNvPr>
          <p:cNvGraphicFramePr/>
          <p:nvPr/>
        </p:nvGraphicFramePr>
        <p:xfrm>
          <a:off xmlns:a="http://schemas.openxmlformats.org/drawingml/2006/main" x="6019800" y="3657600"/>
          <a:ext xmlns:a="http://schemas.openxmlformats.org/drawingml/2006/main" cx="5524500" cy="1943100"/>
        </p:xfrm>
        <a:graphic xmlns:a="http://schemas.openxmlformats.org/drawingml/2006/main">
          <a:graphicData uri="http://schemas.openxmlformats.org/drawingml/2006/chart">
            <c:chart xmlns:r="http://schemas.openxmlformats.org/officeDocument/2006/relationships" xmlns:c="http://schemas.openxmlformats.org/drawingml/2006/chart" r:id="Rdf9e819ce85a4440"/>
          </a:graphicData>
        </a:graphic>
      </p:graphicFrame>
      <p:sp>
        <p:nvSpPr>
          <p:cNvPr id="15" name="">
            <a:extLst xmlns:a="http://schemas.openxmlformats.org/drawingml/2006/main">
              <a:ext uri="{FF2B5EF4-FFF2-40B4-BE49-F238E27FC236}">
                <a16:creationId xmlns:a16="http://schemas.microsoft.com/office/drawing/2014/main" id="{09DF7E87-0F32-4864-8604-135C91048024}"/>
              </a:ext>
            </a:extLst>
          </p:cNvPr>
          <p:cNvSpPr>
            <a:spLocks xmlns:a="http://schemas.openxmlformats.org/drawingml/2006/main" noGrp="1"/>
          </p:cNvSpPr>
          <p:nvPr/>
        </p:nvSpPr>
        <p:spPr>
          <a:xfrm xmlns:a="http://schemas.openxmlformats.org/drawingml/2006/main">
            <a:off x="6143625" y="5762625"/>
            <a:ext cx="5257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77B"/>
                </a:solidFill>
                <a:latin typeface="Arial"/>
                <a:ea typeface="Arial"/>
                <a:cs typeface="Arial"/>
              </a:defRPr>
            </a:defPPr>
          </a:lstStyle>
          <a:p xmlns:a="http://schemas.openxmlformats.org/drawingml/2006/main">
            <a:pPr>
              <a:buNone/>
              <a:defRPr sz="1575" b="0">
                <a:solidFill>
                  <a:srgbClr val="52677B"/>
                </a:solidFill>
                <a:latin typeface="Arial"/>
                <a:ea typeface="Arial"/>
                <a:cs typeface="Arial"/>
              </a:defRPr>
            </a:pPr>
            <a:r>
              <a:rPr sz="1575" b="0">
                <a:solidFill>
                  <a:srgbClr val="52677B"/>
                </a:solidFill>
                <a:latin typeface="Arial"/>
                <a:ea typeface="Arial"/>
                <a:cs typeface="Arial"/>
              </a:rPr>
              <a:t>F6_HYBRID_STAGED5. The later buy uses the same contract and must still pass the screens.</a:t>
            </a:r>
          </a:p>
        </p:txBody>
      </p:sp>
    </p:spTree>
    <p:extLst>
      <p:ext uri="{BB962C8B-B14F-4D97-AF65-F5344CB8AC3E}">
        <p14:creationId xmlns:p14="http://schemas.microsoft.com/office/powerpoint/2010/main" val="230639529"/>
      </p:ext>
    </p:extLst>
  </p:cSld>
</p:sld>
</file>

<file path=ppt/slides/slide8.xml><?xml version="1.0" encoding="utf-8"?>
<p:sld xmlns:p="http://schemas.openxmlformats.org/presentationml/2006/main">
  <p:cSld>
    <p:bg>
      <p:bgPr>
        <a:solidFill xmlns:a="http://schemas.openxmlformats.org/drawingml/2006/main">
          <a:srgbClr val="ECF8F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B35308C-40BB-4274-ACA3-E7A7396501FA}"/>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177E89"/>
          </a:solidFill>
          <a:ln xmlns:a="http://schemas.openxmlformats.org/drawingml/2006/main" w="0">
            <a:noFill/>
          </a:ln>
        </p:spPr>
        <p:txBody>
          <a:bodyPr xmlns:a="http://schemas.openxmlformats.org/drawingml/2006/main" lIns="609600" tIns="200025" rIns="609600" bIns="76200"/>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LOS ANGELES · STRATEGY 3 OF 3</a:t>
            </a:r>
          </a:p>
        </p:txBody>
      </p:sp>
      <p:sp>
        <p:nvSpPr>
          <p:cNvPr id="2" name="">
            <a:extLst xmlns:a="http://schemas.openxmlformats.org/drawingml/2006/main">
              <a:ext uri="{FF2B5EF4-FFF2-40B4-BE49-F238E27FC236}">
                <a16:creationId xmlns:a16="http://schemas.microsoft.com/office/drawing/2014/main" id="{C66F98C7-CE94-4052-801E-209D503494E2}"/>
              </a:ext>
            </a:extLst>
          </p:cNvPr>
          <p:cNvSpPr>
            <a:spLocks xmlns:a="http://schemas.openxmlformats.org/drawingml/2006/main" noGrp="1"/>
          </p:cNvSpPr>
          <p:nvPr/>
        </p:nvSpPr>
        <p:spPr>
          <a:xfrm xmlns:a="http://schemas.openxmlformats.org/drawingml/2006/main">
            <a:off x="609600" y="762000"/>
            <a:ext cx="10934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7E89"/>
                </a:solidFill>
                <a:latin typeface="Arial"/>
                <a:ea typeface="Arial"/>
                <a:cs typeface="Arial"/>
              </a:defRPr>
            </a:defPPr>
          </a:lstStyle>
          <a:p xmlns:a="http://schemas.openxmlformats.org/drawingml/2006/main">
            <a:pPr>
              <a:buNone/>
              <a:defRPr sz="3300" b="1">
                <a:solidFill>
                  <a:srgbClr val="177E89"/>
                </a:solidFill>
                <a:latin typeface="Arial"/>
                <a:ea typeface="Arial"/>
                <a:cs typeface="Arial"/>
              </a:defRPr>
            </a:pPr>
            <a:r>
              <a:rPr sz="3300" b="1">
                <a:solidFill>
                  <a:srgbClr val="177E89"/>
                </a:solidFill>
                <a:latin typeface="Arial"/>
                <a:ea typeface="Arial"/>
                <a:cs typeface="Arial"/>
              </a:rPr>
              <a:t>V8D at 18 UTC</a:t>
            </a:r>
          </a:p>
        </p:txBody>
      </p:sp>
      <p:sp>
        <p:nvSpPr>
          <p:cNvPr id="3" name="">
            <a:extLst xmlns:a="http://schemas.openxmlformats.org/drawingml/2006/main">
              <a:ext uri="{FF2B5EF4-FFF2-40B4-BE49-F238E27FC236}">
                <a16:creationId xmlns:a16="http://schemas.microsoft.com/office/drawing/2014/main" id="{D88CC5BF-B434-40D4-8085-CD171F59CFDE}"/>
              </a:ext>
            </a:extLst>
          </p:cNvPr>
          <p:cNvSpPr>
            <a:spLocks xmlns:a="http://schemas.openxmlformats.org/drawingml/2006/main" noGrp="1"/>
          </p:cNvSpPr>
          <p:nvPr/>
        </p:nvSpPr>
        <p:spPr>
          <a:xfrm xmlns:a="http://schemas.openxmlformats.org/drawingml/2006/main">
            <a:off x="609600" y="64579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B"/>
                </a:solidFill>
                <a:latin typeface="Arial"/>
                <a:ea typeface="Arial"/>
                <a:cs typeface="Arial"/>
              </a:defRPr>
            </a:defPPr>
          </a:lstStyle>
          <a:p xmlns:a="http://schemas.openxmlformats.org/drawingml/2006/main">
            <a:pPr>
              <a:buNone/>
              <a:defRPr sz="1125" b="0">
                <a:solidFill>
                  <a:srgbClr val="52677B"/>
                </a:solidFill>
                <a:latin typeface="Arial"/>
                <a:ea typeface="Arial"/>
                <a:cs typeface="Arial"/>
              </a:defRPr>
            </a:pPr>
            <a:r>
              <a:rPr sz="1125" b="0">
                <a:solidFill>
                  <a:srgbClr val="52677B"/>
                </a:solidFill>
                <a:latin typeface="Arial"/>
                <a:ea typeface="Arial"/>
                <a:cs typeface="Arial"/>
              </a:rPr>
              <a:t>Four-city paper trading. Frozen October 12, 2026</a:t>
            </a:r>
          </a:p>
        </p:txBody>
      </p:sp>
      <p:sp>
        <p:nvSpPr>
          <p:cNvPr id="4" name="">
            <a:extLst xmlns:a="http://schemas.openxmlformats.org/drawingml/2006/main">
              <a:ext uri="{FF2B5EF4-FFF2-40B4-BE49-F238E27FC236}">
                <a16:creationId xmlns:a16="http://schemas.microsoft.com/office/drawing/2014/main" id="{130FEC69-0CA2-47EB-85BF-6BEF9B17C994}"/>
              </a:ext>
            </a:extLst>
          </p:cNvPr>
          <p:cNvSpPr>
            <a:spLocks xmlns:a="http://schemas.openxmlformats.org/drawingml/2006/main" noGrp="1"/>
          </p:cNvSpPr>
          <p:nvPr/>
        </p:nvSpPr>
        <p:spPr>
          <a:xfrm xmlns:a="http://schemas.openxmlformats.org/drawingml/2006/main">
            <a:off x="11049000" y="6400800"/>
            <a:ext cx="495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77B"/>
                </a:solidFill>
                <a:latin typeface="Arial"/>
                <a:ea typeface="Arial"/>
                <a:cs typeface="Arial"/>
              </a:defRPr>
            </a:defPPr>
          </a:lstStyle>
          <a:p xmlns:a="http://schemas.openxmlformats.org/drawingml/2006/main">
            <a:pPr>
              <a:buNone/>
              <a:defRPr sz="1500" b="0">
                <a:solidFill>
                  <a:srgbClr val="52677B"/>
                </a:solidFill>
                <a:latin typeface="Arial"/>
                <a:ea typeface="Arial"/>
                <a:cs typeface="Arial"/>
              </a:defRPr>
            </a:pPr>
            <a:r>
              <a:rPr sz="1500" b="0">
                <a:solidFill>
                  <a:srgbClr val="52677B"/>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117EA30A-E5B4-46A3-BC30-EBCDF45D81BF}"/>
              </a:ext>
            </a:extLst>
          </p:cNvPr>
          <p:cNvSpPr>
            <a:spLocks xmlns:a="http://schemas.openxmlformats.org/drawingml/2006/main" noGrp="1"/>
          </p:cNvSpPr>
          <p:nvPr/>
        </p:nvSpPr>
        <p:spPr>
          <a:xfrm xmlns:a="http://schemas.openxmlformats.org/drawingml/2006/main">
            <a:off x="609600" y="1685925"/>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77E89"/>
                </a:solidFill>
                <a:latin typeface="Arial"/>
                <a:ea typeface="Arial"/>
                <a:cs typeface="Arial"/>
              </a:defRPr>
            </a:defPPr>
          </a:lstStyle>
          <a:p xmlns:a="http://schemas.openxmlformats.org/drawingml/2006/main">
            <a:pPr>
              <a:buNone/>
              <a:defRPr sz="1425" b="1">
                <a:solidFill>
                  <a:srgbClr val="177E89"/>
                </a:solidFill>
                <a:latin typeface="Arial"/>
                <a:ea typeface="Arial"/>
                <a:cs typeface="Arial"/>
              </a:defRPr>
            </a:pPr>
            <a:r>
              <a:rPr sz="1425" b="1">
                <a:solidFill>
                  <a:srgbClr val="177E89"/>
                </a:solidFill>
                <a:latin typeface="Arial"/>
                <a:ea typeface="Arial"/>
                <a:cs typeface="Arial"/>
              </a:rPr>
              <a:t>BUY WHEN</a:t>
            </a:r>
          </a:p>
        </p:txBody>
      </p:sp>
      <p:sp>
        <p:nvSpPr>
          <p:cNvPr id="6" name="">
            <a:extLst xmlns:a="http://schemas.openxmlformats.org/drawingml/2006/main">
              <a:ext uri="{FF2B5EF4-FFF2-40B4-BE49-F238E27FC236}">
                <a16:creationId xmlns:a16="http://schemas.microsoft.com/office/drawing/2014/main" id="{3292EED6-C1D1-403F-BD29-5D32ED978A75}"/>
              </a:ext>
            </a:extLst>
          </p:cNvPr>
          <p:cNvSpPr>
            <a:spLocks xmlns:a="http://schemas.openxmlformats.org/drawingml/2006/main" noGrp="1"/>
          </p:cNvSpPr>
          <p:nvPr/>
        </p:nvSpPr>
        <p:spPr>
          <a:xfrm xmlns:a="http://schemas.openxmlformats.org/drawingml/2006/main">
            <a:off x="609600" y="1981200"/>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Make the scheduled decision at 18:00 UTC. That is 11 am in Los Angeles during October.</a:t>
            </a:r>
          </a:p>
        </p:txBody>
      </p:sp>
      <p:sp>
        <p:nvSpPr>
          <p:cNvPr id="7" name="">
            <a:extLst xmlns:a="http://schemas.openxmlformats.org/drawingml/2006/main">
              <a:ext uri="{FF2B5EF4-FFF2-40B4-BE49-F238E27FC236}">
                <a16:creationId xmlns:a16="http://schemas.microsoft.com/office/drawing/2014/main" id="{E731A615-F5B8-4D1C-BC1C-41F9AD017B2A}"/>
              </a:ext>
            </a:extLst>
          </p:cNvPr>
          <p:cNvSpPr>
            <a:spLocks xmlns:a="http://schemas.openxmlformats.org/drawingml/2006/main" noGrp="1"/>
          </p:cNvSpPr>
          <p:nvPr/>
        </p:nvSpPr>
        <p:spPr>
          <a:xfrm xmlns:a="http://schemas.openxmlformats.org/drawingml/2006/main">
            <a:off x="609600" y="2857500"/>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77E89"/>
                </a:solidFill>
                <a:latin typeface="Arial"/>
                <a:ea typeface="Arial"/>
                <a:cs typeface="Arial"/>
              </a:defRPr>
            </a:defPPr>
          </a:lstStyle>
          <a:p xmlns:a="http://schemas.openxmlformats.org/drawingml/2006/main">
            <a:pPr>
              <a:buNone/>
              <a:defRPr sz="1425" b="1">
                <a:solidFill>
                  <a:srgbClr val="177E89"/>
                </a:solidFill>
                <a:latin typeface="Arial"/>
                <a:ea typeface="Arial"/>
                <a:cs typeface="Arial"/>
              </a:defRPr>
            </a:pPr>
            <a:r>
              <a:rPr sz="1425" b="1">
                <a:solidFill>
                  <a:srgbClr val="177E89"/>
                </a:solidFill>
                <a:latin typeface="Arial"/>
                <a:ea typeface="Arial"/>
                <a:cs typeface="Arial"/>
              </a:rPr>
              <a:t>BUY WHAT</a:t>
            </a:r>
          </a:p>
        </p:txBody>
      </p:sp>
      <p:sp>
        <p:nvSpPr>
          <p:cNvPr id="8" name="">
            <a:extLst xmlns:a="http://schemas.openxmlformats.org/drawingml/2006/main">
              <a:ext uri="{FF2B5EF4-FFF2-40B4-BE49-F238E27FC236}">
                <a16:creationId xmlns:a16="http://schemas.microsoft.com/office/drawing/2014/main" id="{5184A830-DD28-46F6-A65C-12A95486BDBD}"/>
              </a:ext>
            </a:extLst>
          </p:cNvPr>
          <p:cNvSpPr>
            <a:spLocks xmlns:a="http://schemas.openxmlformats.org/drawingml/2006/main" noGrp="1"/>
          </p:cNvSpPr>
          <p:nvPr/>
        </p:nvSpPr>
        <p:spPr>
          <a:xfrm xmlns:a="http://schemas.openxmlformats.org/drawingml/2006/main">
            <a:off x="609600" y="3152775"/>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Buy NO only when the calibrated forecast and the original price screens qualify the contract.</a:t>
            </a:r>
          </a:p>
        </p:txBody>
      </p:sp>
      <p:sp>
        <p:nvSpPr>
          <p:cNvPr id="9" name="">
            <a:extLst xmlns:a="http://schemas.openxmlformats.org/drawingml/2006/main">
              <a:ext uri="{FF2B5EF4-FFF2-40B4-BE49-F238E27FC236}">
                <a16:creationId xmlns:a16="http://schemas.microsoft.com/office/drawing/2014/main" id="{74078347-38B4-4DDC-9313-33AEA42C3394}"/>
              </a:ext>
            </a:extLst>
          </p:cNvPr>
          <p:cNvSpPr>
            <a:spLocks xmlns:a="http://schemas.openxmlformats.org/drawingml/2006/main" noGrp="1"/>
          </p:cNvSpPr>
          <p:nvPr/>
        </p:nvSpPr>
        <p:spPr>
          <a:xfrm xmlns:a="http://schemas.openxmlformats.org/drawingml/2006/main">
            <a:off x="609600" y="4029075"/>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77E89"/>
                </a:solidFill>
                <a:latin typeface="Arial"/>
                <a:ea typeface="Arial"/>
                <a:cs typeface="Arial"/>
              </a:defRPr>
            </a:defPPr>
          </a:lstStyle>
          <a:p xmlns:a="http://schemas.openxmlformats.org/drawingml/2006/main">
            <a:pPr>
              <a:buNone/>
              <a:defRPr sz="1425" b="1">
                <a:solidFill>
                  <a:srgbClr val="177E89"/>
                </a:solidFill>
                <a:latin typeface="Arial"/>
                <a:ea typeface="Arial"/>
                <a:cs typeface="Arial"/>
              </a:defRPr>
            </a:pPr>
            <a:r>
              <a:rPr sz="1425" b="1">
                <a:solidFill>
                  <a:srgbClr val="177E89"/>
                </a:solidFill>
                <a:latin typeface="Arial"/>
                <a:ea typeface="Arial"/>
                <a:cs typeface="Arial"/>
              </a:rPr>
              <a:t>SPEND LIMIT</a:t>
            </a:r>
          </a:p>
        </p:txBody>
      </p:sp>
      <p:sp>
        <p:nvSpPr>
          <p:cNvPr id="10" name="">
            <a:extLst xmlns:a="http://schemas.openxmlformats.org/drawingml/2006/main">
              <a:ext uri="{FF2B5EF4-FFF2-40B4-BE49-F238E27FC236}">
                <a16:creationId xmlns:a16="http://schemas.microsoft.com/office/drawing/2014/main" id="{192A8A55-6773-46A9-BF4C-3CD8A0A55D22}"/>
              </a:ext>
            </a:extLst>
          </p:cNvPr>
          <p:cNvSpPr>
            <a:spLocks xmlns:a="http://schemas.openxmlformats.org/drawingml/2006/main" noGrp="1"/>
          </p:cNvSpPr>
          <p:nvPr/>
        </p:nvSpPr>
        <p:spPr>
          <a:xfrm xmlns:a="http://schemas.openxmlformats.org/drawingml/2006/main">
            <a:off x="609600" y="4324350"/>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Up to 10% of opening available cash, including fees. No later staged purchase.</a:t>
            </a:r>
          </a:p>
        </p:txBody>
      </p:sp>
      <p:sp>
        <p:nvSpPr>
          <p:cNvPr id="11" name="">
            <a:extLst xmlns:a="http://schemas.openxmlformats.org/drawingml/2006/main">
              <a:ext uri="{FF2B5EF4-FFF2-40B4-BE49-F238E27FC236}">
                <a16:creationId xmlns:a16="http://schemas.microsoft.com/office/drawing/2014/main" id="{D14D6CCC-E333-4F18-AD16-C7CFBED17654}"/>
              </a:ext>
            </a:extLst>
          </p:cNvPr>
          <p:cNvSpPr>
            <a:spLocks xmlns:a="http://schemas.openxmlformats.org/drawingml/2006/main" noGrp="1"/>
          </p:cNvSpPr>
          <p:nvPr/>
        </p:nvSpPr>
        <p:spPr>
          <a:xfrm xmlns:a="http://schemas.openxmlformats.org/drawingml/2006/main">
            <a:off x="609600" y="5200650"/>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77E89"/>
                </a:solidFill>
                <a:latin typeface="Arial"/>
                <a:ea typeface="Arial"/>
                <a:cs typeface="Arial"/>
              </a:defRPr>
            </a:defPPr>
          </a:lstStyle>
          <a:p xmlns:a="http://schemas.openxmlformats.org/drawingml/2006/main">
            <a:pPr>
              <a:buNone/>
              <a:defRPr sz="1425" b="1">
                <a:solidFill>
                  <a:srgbClr val="177E89"/>
                </a:solidFill>
                <a:latin typeface="Arial"/>
                <a:ea typeface="Arial"/>
                <a:cs typeface="Arial"/>
              </a:defRPr>
            </a:pPr>
            <a:r>
              <a:rPr sz="1425" b="1">
                <a:solidFill>
                  <a:srgbClr val="177E89"/>
                </a:solidFill>
                <a:latin typeface="Arial"/>
                <a:ea typeface="Arial"/>
                <a:cs typeface="Arial"/>
              </a:rPr>
              <a:t>SELL WHEN</a:t>
            </a:r>
          </a:p>
        </p:txBody>
      </p:sp>
      <p:sp>
        <p:nvSpPr>
          <p:cNvPr id="12" name="">
            <a:extLst xmlns:a="http://schemas.openxmlformats.org/drawingml/2006/main">
              <a:ext uri="{FF2B5EF4-FFF2-40B4-BE49-F238E27FC236}">
                <a16:creationId xmlns:a16="http://schemas.microsoft.com/office/drawing/2014/main" id="{BB6396E3-6FB4-4ECF-A0CE-2A525A9DBB03}"/>
              </a:ext>
            </a:extLst>
          </p:cNvPr>
          <p:cNvSpPr>
            <a:spLocks xmlns:a="http://schemas.openxmlformats.org/drawingml/2006/main" noGrp="1"/>
          </p:cNvSpPr>
          <p:nvPr/>
        </p:nvSpPr>
        <p:spPr>
          <a:xfrm xmlns:a="http://schemas.openxmlformats.org/drawingml/2006/main">
            <a:off x="609600" y="5495925"/>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Hold to the official result. A winning NO contract pays $1 per contract.</a:t>
            </a:r>
          </a:p>
        </p:txBody>
      </p:sp>
      <p:graphicFrame>
        <p:nvGraphicFramePr>
          <p:cNvPr id="13" name="Chart">
            <a:extLst xmlns:a="http://schemas.openxmlformats.org/drawingml/2006/main">
              <a:ext uri="{FF2B5EF4-FFF2-40B4-BE49-F238E27FC236}">
                <a16:creationId xmlns:a16="http://schemas.microsoft.com/office/drawing/2014/main" id="{03957078-0797-4A6B-8982-A26FC0330C40}"/>
              </a:ext>
            </a:extLst>
          </p:cNvPr>
          <p:cNvGraphicFramePr/>
          <p:nvPr/>
        </p:nvGraphicFramePr>
        <p:xfrm>
          <a:off xmlns:a="http://schemas.openxmlformats.org/drawingml/2006/main" x="6019800" y="1704975"/>
          <a:ext xmlns:a="http://schemas.openxmlformats.org/drawingml/2006/main" cx="5524500" cy="1838325"/>
        </p:xfrm>
        <a:graphic xmlns:a="http://schemas.openxmlformats.org/drawingml/2006/main">
          <a:graphicData uri="http://schemas.openxmlformats.org/drawingml/2006/chart">
            <c:chart xmlns:r="http://schemas.openxmlformats.org/officeDocument/2006/relationships" xmlns:c="http://schemas.openxmlformats.org/drawingml/2006/chart" r:id="R5c242832eb694b4b"/>
          </a:graphicData>
        </a:graphic>
      </p:graphicFrame>
      <p:graphicFrame>
        <p:nvGraphicFramePr>
          <p:cNvPr id="14" name="Chart">
            <a:extLst xmlns:a="http://schemas.openxmlformats.org/drawingml/2006/main">
              <a:ext uri="{FF2B5EF4-FFF2-40B4-BE49-F238E27FC236}">
                <a16:creationId xmlns:a16="http://schemas.microsoft.com/office/drawing/2014/main" id="{3B3E1D82-D834-4F55-BF5A-6CB0C022E29C}"/>
              </a:ext>
            </a:extLst>
          </p:cNvPr>
          <p:cNvGraphicFramePr/>
          <p:nvPr/>
        </p:nvGraphicFramePr>
        <p:xfrm>
          <a:off xmlns:a="http://schemas.openxmlformats.org/drawingml/2006/main" x="6019800" y="3657600"/>
          <a:ext xmlns:a="http://schemas.openxmlformats.org/drawingml/2006/main" cx="5524500" cy="1943100"/>
        </p:xfrm>
        <a:graphic xmlns:a="http://schemas.openxmlformats.org/drawingml/2006/main">
          <a:graphicData uri="http://schemas.openxmlformats.org/drawingml/2006/chart">
            <c:chart xmlns:r="http://schemas.openxmlformats.org/officeDocument/2006/relationships" xmlns:c="http://schemas.openxmlformats.org/drawingml/2006/chart" r:id="R4206d424b1114318"/>
          </a:graphicData>
        </a:graphic>
      </p:graphicFrame>
      <p:sp>
        <p:nvSpPr>
          <p:cNvPr id="15" name="">
            <a:extLst xmlns:a="http://schemas.openxmlformats.org/drawingml/2006/main">
              <a:ext uri="{FF2B5EF4-FFF2-40B4-BE49-F238E27FC236}">
                <a16:creationId xmlns:a16="http://schemas.microsoft.com/office/drawing/2014/main" id="{DFCE85A7-BC85-4A0B-AA3F-FA3D0BF8CE78}"/>
              </a:ext>
            </a:extLst>
          </p:cNvPr>
          <p:cNvSpPr>
            <a:spLocks xmlns:a="http://schemas.openxmlformats.org/drawingml/2006/main" noGrp="1"/>
          </p:cNvSpPr>
          <p:nvPr/>
        </p:nvSpPr>
        <p:spPr>
          <a:xfrm xmlns:a="http://schemas.openxmlformats.org/drawingml/2006/main">
            <a:off x="6143625" y="5762625"/>
            <a:ext cx="5257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77B"/>
                </a:solidFill>
                <a:latin typeface="Arial"/>
                <a:ea typeface="Arial"/>
                <a:cs typeface="Arial"/>
              </a:defRPr>
            </a:defPPr>
          </a:lstStyle>
          <a:p xmlns:a="http://schemas.openxmlformats.org/drawingml/2006/main">
            <a:pPr>
              <a:buNone/>
              <a:defRPr sz="1575" b="0">
                <a:solidFill>
                  <a:srgbClr val="52677B"/>
                </a:solidFill>
                <a:latin typeface="Arial"/>
                <a:ea typeface="Arial"/>
                <a:cs typeface="Arial"/>
              </a:defRPr>
            </a:pPr>
            <a:r>
              <a:rPr sz="1575" b="0">
                <a:solidFill>
                  <a:srgbClr val="52677B"/>
                </a:solidFill>
                <a:latin typeface="Arial"/>
                <a:ea typeface="Arial"/>
                <a:cs typeface="Arial"/>
              </a:rPr>
              <a:t>V8D_NO18_SETTLEMENT. This is the simpler, fixed-time comparison for the LA trio.</a:t>
            </a:r>
          </a:p>
        </p:txBody>
      </p:sp>
    </p:spTree>
    <p:extLst>
      <p:ext uri="{BB962C8B-B14F-4D97-AF65-F5344CB8AC3E}">
        <p14:creationId xmlns:p14="http://schemas.microsoft.com/office/powerpoint/2010/main" val="35946855"/>
      </p:ext>
    </p:extLst>
  </p:cSld>
</p:sld>
</file>

<file path=ppt/slides/slide9.xml><?xml version="1.0" encoding="utf-8"?>
<p:sld xmlns:p="http://schemas.openxmlformats.org/presentationml/2006/main">
  <p:cSld>
    <p:bg>
      <p:bgPr>
        <a:solidFill xmlns:a="http://schemas.openxmlformats.org/drawingml/2006/main">
          <a:srgbClr val="ECF8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23B115B-0F0D-4FD0-8AC3-92931FB40FD8}"/>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177E89"/>
          </a:solidFill>
          <a:ln xmlns:a="http://schemas.openxmlformats.org/drawingml/2006/main" w="0">
            <a:noFill/>
          </a:ln>
        </p:spPr>
        <p:txBody>
          <a:bodyPr xmlns:a="http://schemas.openxmlformats.org/drawingml/2006/main" lIns="609600" tIns="200025" rIns="609600" bIns="76200"/>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LOS ANGELES · SEPTEMBER RESULTS</a:t>
            </a:r>
          </a:p>
        </p:txBody>
      </p:sp>
      <p:sp>
        <p:nvSpPr>
          <p:cNvPr id="2" name="">
            <a:extLst xmlns:a="http://schemas.openxmlformats.org/drawingml/2006/main">
              <a:ext uri="{FF2B5EF4-FFF2-40B4-BE49-F238E27FC236}">
                <a16:creationId xmlns:a16="http://schemas.microsoft.com/office/drawing/2014/main" id="{D45D98B4-115E-4B80-86EB-81359180CFC2}"/>
              </a:ext>
            </a:extLst>
          </p:cNvPr>
          <p:cNvSpPr>
            <a:spLocks xmlns:a="http://schemas.openxmlformats.org/drawingml/2006/main" noGrp="1"/>
          </p:cNvSpPr>
          <p:nvPr/>
        </p:nvSpPr>
        <p:spPr>
          <a:xfrm xmlns:a="http://schemas.openxmlformats.org/drawingml/2006/main">
            <a:off x="609600" y="762000"/>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7E89"/>
                </a:solidFill>
                <a:latin typeface="Arial"/>
                <a:ea typeface="Arial"/>
                <a:cs typeface="Arial"/>
              </a:defRPr>
            </a:defPPr>
          </a:lstStyle>
          <a:p xmlns:a="http://schemas.openxmlformats.org/drawingml/2006/main">
            <a:pPr>
              <a:defRPr sz="3300" b="1">
                <a:solidFill>
                  <a:srgbClr val="177E89"/>
                </a:solidFill>
                <a:latin typeface="Arial"/>
                <a:ea typeface="Arial"/>
                <a:cs typeface="Arial"/>
              </a:defRPr>
            </a:pPr>
            <a:r>
              <a:rPr sz="3300" b="1">
                <a:solidFill>
                  <a:srgbClr val="177E89"/>
                </a:solidFill>
                <a:latin typeface="Arial"/>
                <a:ea typeface="Arial"/>
                <a:cs typeface="Arial"/>
              </a:rPr>
              <a:t>September paper replay</a:t>
            </a:r>
          </a:p>
        </p:txBody>
      </p:sp>
      <p:sp>
        <p:nvSpPr>
          <p:cNvPr id="3" name="">
            <a:extLst xmlns:a="http://schemas.openxmlformats.org/drawingml/2006/main">
              <a:ext uri="{FF2B5EF4-FFF2-40B4-BE49-F238E27FC236}">
                <a16:creationId xmlns:a16="http://schemas.microsoft.com/office/drawing/2014/main" id="{5081C1CB-4165-453C-BCDF-F595EB2A0497}"/>
              </a:ext>
            </a:extLst>
          </p:cNvPr>
          <p:cNvSpPr>
            <a:spLocks xmlns:a="http://schemas.openxmlformats.org/drawingml/2006/main" noGrp="1"/>
          </p:cNvSpPr>
          <p:nvPr/>
        </p:nvSpPr>
        <p:spPr>
          <a:xfrm xmlns:a="http://schemas.openxmlformats.org/drawingml/2006/main">
            <a:off x="609600" y="143827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2677B"/>
                </a:solidFill>
                <a:latin typeface="Arial"/>
                <a:ea typeface="Arial"/>
                <a:cs typeface="Arial"/>
              </a:defRPr>
            </a:defPPr>
          </a:lstStyle>
          <a:p xmlns:a="http://schemas.openxmlformats.org/drawingml/2006/main">
            <a:pPr>
              <a:defRPr sz="1875" b="0">
                <a:solidFill>
                  <a:srgbClr val="52677B"/>
                </a:solidFill>
                <a:latin typeface="Arial"/>
                <a:ea typeface="Arial"/>
                <a:cs typeface="Arial"/>
              </a:defRPr>
            </a:pPr>
            <a:r>
              <a:rPr sz="1875" b="0">
                <a:solidFill>
                  <a:srgbClr val="52677B"/>
                </a:solidFill>
                <a:latin typeface="Arial"/>
                <a:ea typeface="Arial"/>
                <a:cs typeface="Arial"/>
              </a:rPr>
              <a:t>September 1–30, 2026</a:t>
            </a:r>
          </a:p>
        </p:txBody>
      </p:sp>
      <p:sp>
        <p:nvSpPr>
          <p:cNvPr id="4" name="">
            <a:extLst xmlns:a="http://schemas.openxmlformats.org/drawingml/2006/main">
              <a:ext uri="{FF2B5EF4-FFF2-40B4-BE49-F238E27FC236}">
                <a16:creationId xmlns:a16="http://schemas.microsoft.com/office/drawing/2014/main" id="{1E7A99B0-CF78-4471-9A10-4143D120FCE0}"/>
              </a:ext>
            </a:extLst>
          </p:cNvPr>
          <p:cNvSpPr>
            <a:spLocks xmlns:a="http://schemas.openxmlformats.org/drawingml/2006/main" noGrp="1"/>
          </p:cNvSpPr>
          <p:nvPr/>
        </p:nvSpPr>
        <p:spPr>
          <a:xfrm xmlns:a="http://schemas.openxmlformats.org/drawingml/2006/main">
            <a:off x="609600" y="2000250"/>
            <a:ext cx="5067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77E89"/>
                </a:solidFill>
                <a:latin typeface="Arial"/>
                <a:ea typeface="Arial"/>
                <a:cs typeface="Arial"/>
              </a:defRPr>
            </a:defPPr>
          </a:lstStyle>
          <a:p xmlns:a="http://schemas.openxmlformats.org/drawingml/2006/main">
            <a:pPr>
              <a:defRPr sz="1425" b="1">
                <a:solidFill>
                  <a:srgbClr val="177E89"/>
                </a:solidFill>
                <a:latin typeface="Arial"/>
                <a:ea typeface="Arial"/>
                <a:cs typeface="Arial"/>
              </a:defRPr>
            </a:pPr>
            <a:r>
              <a:rPr sz="1425" b="1">
                <a:solidFill>
                  <a:srgbClr val="177E89"/>
                </a:solidFill>
                <a:latin typeface="Arial"/>
                <a:ea typeface="Arial"/>
                <a:cs typeface="Arial"/>
              </a:rPr>
              <a:t>V10 FORECAST EXIT</a:t>
            </a:r>
          </a:p>
        </p:txBody>
      </p:sp>
      <p:sp>
        <p:nvSpPr>
          <p:cNvPr id="5" name="">
            <a:extLst xmlns:a="http://schemas.openxmlformats.org/drawingml/2006/main">
              <a:ext uri="{FF2B5EF4-FFF2-40B4-BE49-F238E27FC236}">
                <a16:creationId xmlns:a16="http://schemas.microsoft.com/office/drawing/2014/main" id="{6E5F8B19-263A-4E88-BF49-A642601E675C}"/>
              </a:ext>
            </a:extLst>
          </p:cNvPr>
          <p:cNvSpPr>
            <a:spLocks xmlns:a="http://schemas.openxmlformats.org/drawingml/2006/main" noGrp="1"/>
          </p:cNvSpPr>
          <p:nvPr/>
        </p:nvSpPr>
        <p:spPr>
          <a:xfrm xmlns:a="http://schemas.openxmlformats.org/drawingml/2006/main">
            <a:off x="609600" y="2295525"/>
            <a:ext cx="5067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$291.34 from $100 (+$191.34).</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10 profitable / 17 losing days.</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2,569 contracts.</a:t>
            </a:r>
          </a:p>
        </p:txBody>
      </p:sp>
      <p:sp>
        <p:nvSpPr>
          <p:cNvPr id="6" name="">
            <a:extLst xmlns:a="http://schemas.openxmlformats.org/drawingml/2006/main">
              <a:ext uri="{FF2B5EF4-FFF2-40B4-BE49-F238E27FC236}">
                <a16:creationId xmlns:a16="http://schemas.microsoft.com/office/drawing/2014/main" id="{3ACE0A76-EA3D-42E2-9883-4EB6382EE543}"/>
              </a:ext>
            </a:extLst>
          </p:cNvPr>
          <p:cNvSpPr>
            <a:spLocks xmlns:a="http://schemas.openxmlformats.org/drawingml/2006/main" noGrp="1"/>
          </p:cNvSpPr>
          <p:nvPr/>
        </p:nvSpPr>
        <p:spPr>
          <a:xfrm xmlns:a="http://schemas.openxmlformats.org/drawingml/2006/main">
            <a:off x="609600" y="3333750"/>
            <a:ext cx="5067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77E89"/>
                </a:solidFill>
                <a:latin typeface="Arial"/>
                <a:ea typeface="Arial"/>
                <a:cs typeface="Arial"/>
              </a:defRPr>
            </a:defPPr>
          </a:lstStyle>
          <a:p xmlns:a="http://schemas.openxmlformats.org/drawingml/2006/main">
            <a:pPr>
              <a:defRPr sz="1425" b="1">
                <a:solidFill>
                  <a:srgbClr val="177E89"/>
                </a:solidFill>
                <a:latin typeface="Arial"/>
                <a:ea typeface="Arial"/>
                <a:cs typeface="Arial"/>
              </a:defRPr>
            </a:pPr>
            <a:r>
              <a:rPr sz="1425" b="1">
                <a:solidFill>
                  <a:srgbClr val="177E89"/>
                </a:solidFill>
                <a:latin typeface="Arial"/>
                <a:ea typeface="Arial"/>
                <a:cs typeface="Arial"/>
              </a:rPr>
              <a:t>HYBRID STAGED SAFETY</a:t>
            </a:r>
          </a:p>
        </p:txBody>
      </p:sp>
      <p:sp>
        <p:nvSpPr>
          <p:cNvPr id="7" name="">
            <a:extLst xmlns:a="http://schemas.openxmlformats.org/drawingml/2006/main">
              <a:ext uri="{FF2B5EF4-FFF2-40B4-BE49-F238E27FC236}">
                <a16:creationId xmlns:a16="http://schemas.microsoft.com/office/drawing/2014/main" id="{E168ECBF-BF6A-4E27-95A6-A562CE146487}"/>
              </a:ext>
            </a:extLst>
          </p:cNvPr>
          <p:cNvSpPr>
            <a:spLocks xmlns:a="http://schemas.openxmlformats.org/drawingml/2006/main" noGrp="1"/>
          </p:cNvSpPr>
          <p:nvPr/>
        </p:nvSpPr>
        <p:spPr>
          <a:xfrm xmlns:a="http://schemas.openxmlformats.org/drawingml/2006/main">
            <a:off x="609600" y="3629025"/>
            <a:ext cx="5067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$235.79 from $100 (+$135.79).</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6 profitable / 15 losing days.</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931 contracts.</a:t>
            </a:r>
          </a:p>
        </p:txBody>
      </p:sp>
      <p:sp>
        <p:nvSpPr>
          <p:cNvPr id="8" name="">
            <a:extLst xmlns:a="http://schemas.openxmlformats.org/drawingml/2006/main">
              <a:ext uri="{FF2B5EF4-FFF2-40B4-BE49-F238E27FC236}">
                <a16:creationId xmlns:a16="http://schemas.microsoft.com/office/drawing/2014/main" id="{911A9E4A-976F-4D2C-B69E-1E2B2D3F7976}"/>
              </a:ext>
            </a:extLst>
          </p:cNvPr>
          <p:cNvSpPr>
            <a:spLocks xmlns:a="http://schemas.openxmlformats.org/drawingml/2006/main" noGrp="1"/>
          </p:cNvSpPr>
          <p:nvPr/>
        </p:nvSpPr>
        <p:spPr>
          <a:xfrm xmlns:a="http://schemas.openxmlformats.org/drawingml/2006/main">
            <a:off x="609600" y="4667250"/>
            <a:ext cx="5067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77E89"/>
                </a:solidFill>
                <a:latin typeface="Arial"/>
                <a:ea typeface="Arial"/>
                <a:cs typeface="Arial"/>
              </a:defRPr>
            </a:defPPr>
          </a:lstStyle>
          <a:p xmlns:a="http://schemas.openxmlformats.org/drawingml/2006/main">
            <a:pPr>
              <a:defRPr sz="1425" b="1">
                <a:solidFill>
                  <a:srgbClr val="177E89"/>
                </a:solidFill>
                <a:latin typeface="Arial"/>
                <a:ea typeface="Arial"/>
                <a:cs typeface="Arial"/>
              </a:defRPr>
            </a:pPr>
            <a:r>
              <a:rPr sz="1425" b="1">
                <a:solidFill>
                  <a:srgbClr val="177E89"/>
                </a:solidFill>
                <a:latin typeface="Arial"/>
                <a:ea typeface="Arial"/>
                <a:cs typeface="Arial"/>
              </a:rPr>
              <a:t>V8D HOLD</a:t>
            </a:r>
          </a:p>
        </p:txBody>
      </p:sp>
      <p:sp>
        <p:nvSpPr>
          <p:cNvPr id="9" name="">
            <a:extLst xmlns:a="http://schemas.openxmlformats.org/drawingml/2006/main">
              <a:ext uri="{FF2B5EF4-FFF2-40B4-BE49-F238E27FC236}">
                <a16:creationId xmlns:a16="http://schemas.microsoft.com/office/drawing/2014/main" id="{84B36D58-BDF2-4B07-A662-A2B17F7C459C}"/>
              </a:ext>
            </a:extLst>
          </p:cNvPr>
          <p:cNvSpPr>
            <a:spLocks xmlns:a="http://schemas.openxmlformats.org/drawingml/2006/main" noGrp="1"/>
          </p:cNvSpPr>
          <p:nvPr/>
        </p:nvSpPr>
        <p:spPr>
          <a:xfrm xmlns:a="http://schemas.openxmlformats.org/drawingml/2006/main">
            <a:off x="609600" y="4962525"/>
            <a:ext cx="5067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$126.81 from $100 (+$26.81).</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10 profitable / 7 losing days.</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359 contracts.</a:t>
            </a:r>
          </a:p>
        </p:txBody>
      </p:sp>
      <p:graphicFrame>
        <p:nvGraphicFramePr>
          <p:cNvPr id="10" name="Chart">
            <a:extLst xmlns:a="http://schemas.openxmlformats.org/drawingml/2006/main">
              <a:ext uri="{FF2B5EF4-FFF2-40B4-BE49-F238E27FC236}">
                <a16:creationId xmlns:a16="http://schemas.microsoft.com/office/drawing/2014/main" id="{F0D003E4-7258-4700-8C3B-03EA50858AC8}"/>
              </a:ext>
            </a:extLst>
          </p:cNvPr>
          <p:cNvGraphicFramePr/>
          <p:nvPr/>
        </p:nvGraphicFramePr>
        <p:xfrm>
          <a:off xmlns:a="http://schemas.openxmlformats.org/drawingml/2006/main" x="6019800" y="1981200"/>
          <a:ext xmlns:a="http://schemas.openxmlformats.org/drawingml/2006/main" cx="5524500" cy="3705225"/>
        </p:xfrm>
        <a:graphic xmlns:a="http://schemas.openxmlformats.org/drawingml/2006/main">
          <a:graphicData uri="http://schemas.openxmlformats.org/drawingml/2006/chart">
            <c:chart xmlns:r="http://schemas.openxmlformats.org/officeDocument/2006/relationships" xmlns:c="http://schemas.openxmlformats.org/drawingml/2006/chart" r:id="Rb24a5afb62604cc2"/>
          </a:graphicData>
        </a:graphic>
      </p:graphicFrame>
      <p:sp>
        <p:nvSpPr>
          <p:cNvPr id="11" name="">
            <a:extLst xmlns:a="http://schemas.openxmlformats.org/drawingml/2006/main">
              <a:ext uri="{FF2B5EF4-FFF2-40B4-BE49-F238E27FC236}">
                <a16:creationId xmlns:a16="http://schemas.microsoft.com/office/drawing/2014/main" id="{C0922F1F-4964-4577-BDF2-687DCE1068EF}"/>
              </a:ext>
            </a:extLst>
          </p:cNvPr>
          <p:cNvSpPr>
            <a:spLocks xmlns:a="http://schemas.openxmlformats.org/drawingml/2006/main" noGrp="1"/>
          </p:cNvSpPr>
          <p:nvPr/>
        </p:nvSpPr>
        <p:spPr>
          <a:xfrm xmlns:a="http://schemas.openxmlformats.org/drawingml/2006/main">
            <a:off x="6143625" y="5800725"/>
            <a:ext cx="525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77B"/>
                </a:solidFill>
                <a:latin typeface="Arial"/>
                <a:ea typeface="Arial"/>
                <a:cs typeface="Arial"/>
              </a:defRPr>
            </a:defPPr>
          </a:lstStyle>
          <a:p xmlns:a="http://schemas.openxmlformats.org/drawingml/2006/main">
            <a:pPr>
              <a:defRPr sz="1575" b="0">
                <a:solidFill>
                  <a:srgbClr val="52677B"/>
                </a:solidFill>
                <a:latin typeface="Arial"/>
                <a:ea typeface="Arial"/>
                <a:cs typeface="Arial"/>
              </a:defRPr>
            </a:pPr>
            <a:r>
              <a:rPr sz="1575" b="0">
                <a:solidFill>
                  <a:srgbClr val="52677B"/>
                </a:solidFill>
                <a:latin typeface="Arial"/>
                <a:ea typeface="Arial"/>
                <a:cs typeface="Arial"/>
              </a:rPr>
              <a:t>Gains were concentrated in a few large days. Each wallet began with $100.</a:t>
            </a:r>
          </a:p>
        </p:txBody>
      </p:sp>
      <p:sp>
        <p:nvSpPr>
          <p:cNvPr id="12" name="">
            <a:extLst xmlns:a="http://schemas.openxmlformats.org/drawingml/2006/main">
              <a:ext uri="{FF2B5EF4-FFF2-40B4-BE49-F238E27FC236}">
                <a16:creationId xmlns:a16="http://schemas.microsoft.com/office/drawing/2014/main" id="{B58ABE1D-82FD-4BDF-BC7E-5B6010A4828E}"/>
              </a:ext>
            </a:extLst>
          </p:cNvPr>
          <p:cNvSpPr>
            <a:spLocks xmlns:a="http://schemas.openxmlformats.org/drawingml/2006/main" noGrp="1"/>
          </p:cNvSpPr>
          <p:nvPr/>
        </p:nvSpPr>
        <p:spPr>
          <a:xfrm xmlns:a="http://schemas.openxmlformats.org/drawingml/2006/main">
            <a:off x="6096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B"/>
                </a:solidFill>
                <a:latin typeface="Arial"/>
                <a:ea typeface="Arial"/>
                <a:cs typeface="Arial"/>
              </a:defRPr>
            </a:defPPr>
          </a:lstStyle>
          <a:p xmlns:a="http://schemas.openxmlformats.org/drawingml/2006/main">
            <a:pPr>
              <a:defRPr sz="1125" b="0">
                <a:solidFill>
                  <a:srgbClr val="52677B"/>
                </a:solidFill>
                <a:latin typeface="Arial"/>
                <a:ea typeface="Arial"/>
                <a:cs typeface="Arial"/>
              </a:defRPr>
            </a:pPr>
            <a:r>
              <a:rPr sz="1125" b="0">
                <a:solidFill>
                  <a:srgbClr val="52677B"/>
                </a:solidFill>
                <a:latin typeface="Arial"/>
                <a:ea typeface="Arial"/>
                <a:cs typeface="Arial"/>
              </a:rPr>
              <a:t>Separate $100 per strategy and period. Fees included. Conditional archive replay.</a:t>
            </a:r>
          </a:p>
        </p:txBody>
      </p:sp>
      <p:sp>
        <p:nvSpPr>
          <p:cNvPr id="13" name="">
            <a:extLst xmlns:a="http://schemas.openxmlformats.org/drawingml/2006/main">
              <a:ext uri="{FF2B5EF4-FFF2-40B4-BE49-F238E27FC236}">
                <a16:creationId xmlns:a16="http://schemas.microsoft.com/office/drawing/2014/main" id="{B8F767B2-C7EC-4871-8E43-B79895113029}"/>
              </a:ext>
            </a:extLst>
          </p:cNvPr>
          <p:cNvSpPr>
            <a:spLocks xmlns:a="http://schemas.openxmlformats.org/drawingml/2006/main" noGrp="1"/>
          </p:cNvSpPr>
          <p:nvPr/>
        </p:nvSpPr>
        <p:spPr>
          <a:xfrm xmlns:a="http://schemas.openxmlformats.org/drawingml/2006/main">
            <a:off x="11049000" y="6400800"/>
            <a:ext cx="495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77B"/>
                </a:solidFill>
                <a:latin typeface="Arial"/>
                <a:ea typeface="Arial"/>
                <a:cs typeface="Arial"/>
              </a:defRPr>
            </a:defPPr>
          </a:lstStyle>
          <a:p xmlns:a="http://schemas.openxmlformats.org/drawingml/2006/main">
            <a:pPr>
              <a:defRPr sz="1500" b="0">
                <a:solidFill>
                  <a:srgbClr val="52677B"/>
                </a:solidFill>
                <a:latin typeface="Arial"/>
                <a:ea typeface="Arial"/>
                <a:cs typeface="Arial"/>
              </a:defRPr>
            </a:pPr>
            <a:r>
              <a:rPr sz="1500" b="0">
                <a:solidFill>
                  <a:srgbClr val="52677B"/>
                </a:solidFill>
                <a:latin typeface="Arial"/>
                <a:ea typeface="Arial"/>
                <a:cs typeface="Arial"/>
              </a:rPr>
              <a:t>09</a:t>
            </a:r>
          </a:p>
        </p:txBody>
      </p:sp>
    </p:spTree>
    <p:extLst>
      <p:ext uri="{BB962C8B-B14F-4D97-AF65-F5344CB8AC3E}">
        <p14:creationId xmlns:p14="http://schemas.microsoft.com/office/powerpoint/2010/main" val="1573672339"/>
      </p:ext>
    </p:extLst>
  </p:cSld>
</p:sld>
</file>

<file path=ppt/slides/slide10.xml><?xml version="1.0" encoding="utf-8"?>
<p:sld xmlns:p="http://schemas.openxmlformats.org/presentationml/2006/main">
  <p:cSld>
    <p:bg>
      <p:bgPr>
        <a:solidFill xmlns:a="http://schemas.openxmlformats.org/drawingml/2006/main">
          <a:srgbClr val="ECF8F7"/>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2C9C5BD-EE99-4071-816D-26DA54E05786}"/>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177E89"/>
          </a:solidFill>
          <a:ln xmlns:a="http://schemas.openxmlformats.org/drawingml/2006/main" w="0">
            <a:noFill/>
          </a:ln>
        </p:spPr>
        <p:txBody>
          <a:bodyPr xmlns:a="http://schemas.openxmlformats.org/drawingml/2006/main" lIns="609600" tIns="200025" rIns="609600" bIns="76200"/>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LOS ANGELES · OCTOBER RESULTS</a:t>
            </a:r>
          </a:p>
        </p:txBody>
      </p:sp>
      <p:sp>
        <p:nvSpPr>
          <p:cNvPr id="2" name="">
            <a:extLst xmlns:a="http://schemas.openxmlformats.org/drawingml/2006/main">
              <a:ext uri="{FF2B5EF4-FFF2-40B4-BE49-F238E27FC236}">
                <a16:creationId xmlns:a16="http://schemas.microsoft.com/office/drawing/2014/main" id="{70D8A544-3A18-4B07-94F4-C42351C900C9}"/>
              </a:ext>
            </a:extLst>
          </p:cNvPr>
          <p:cNvSpPr>
            <a:spLocks xmlns:a="http://schemas.openxmlformats.org/drawingml/2006/main" noGrp="1"/>
          </p:cNvSpPr>
          <p:nvPr/>
        </p:nvSpPr>
        <p:spPr>
          <a:xfrm xmlns:a="http://schemas.openxmlformats.org/drawingml/2006/main">
            <a:off x="609600" y="762000"/>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77E89"/>
                </a:solidFill>
                <a:latin typeface="Arial"/>
                <a:ea typeface="Arial"/>
                <a:cs typeface="Arial"/>
              </a:defRPr>
            </a:defPPr>
          </a:lstStyle>
          <a:p xmlns:a="http://schemas.openxmlformats.org/drawingml/2006/main">
            <a:pPr>
              <a:defRPr sz="3300" b="1">
                <a:solidFill>
                  <a:srgbClr val="177E89"/>
                </a:solidFill>
                <a:latin typeface="Arial"/>
                <a:ea typeface="Arial"/>
                <a:cs typeface="Arial"/>
              </a:defRPr>
            </a:pPr>
            <a:r>
              <a:rPr sz="3300" b="1">
                <a:solidFill>
                  <a:srgbClr val="177E89"/>
                </a:solidFill>
                <a:latin typeface="Arial"/>
                <a:ea typeface="Arial"/>
                <a:cs typeface="Arial"/>
              </a:rPr>
              <a:t>October paper replay</a:t>
            </a:r>
          </a:p>
        </p:txBody>
      </p:sp>
      <p:sp>
        <p:nvSpPr>
          <p:cNvPr id="3" name="">
            <a:extLst xmlns:a="http://schemas.openxmlformats.org/drawingml/2006/main">
              <a:ext uri="{FF2B5EF4-FFF2-40B4-BE49-F238E27FC236}">
                <a16:creationId xmlns:a16="http://schemas.microsoft.com/office/drawing/2014/main" id="{BC556293-560F-47C4-8176-7AF55EC6D23E}"/>
              </a:ext>
            </a:extLst>
          </p:cNvPr>
          <p:cNvSpPr>
            <a:spLocks xmlns:a="http://schemas.openxmlformats.org/drawingml/2006/main" noGrp="1"/>
          </p:cNvSpPr>
          <p:nvPr/>
        </p:nvSpPr>
        <p:spPr>
          <a:xfrm xmlns:a="http://schemas.openxmlformats.org/drawingml/2006/main">
            <a:off x="609600" y="143827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2677B"/>
                </a:solidFill>
                <a:latin typeface="Arial"/>
                <a:ea typeface="Arial"/>
                <a:cs typeface="Arial"/>
              </a:defRPr>
            </a:defPPr>
          </a:lstStyle>
          <a:p xmlns:a="http://schemas.openxmlformats.org/drawingml/2006/main">
            <a:pPr>
              <a:defRPr sz="1875" b="0">
                <a:solidFill>
                  <a:srgbClr val="52677B"/>
                </a:solidFill>
                <a:latin typeface="Arial"/>
                <a:ea typeface="Arial"/>
                <a:cs typeface="Arial"/>
              </a:defRPr>
            </a:pPr>
            <a:r>
              <a:rPr sz="1875" b="0">
                <a:solidFill>
                  <a:srgbClr val="52677B"/>
                </a:solidFill>
                <a:latin typeface="Arial"/>
                <a:ea typeface="Arial"/>
                <a:cs typeface="Arial"/>
              </a:rPr>
              <a:t>October 1–11, 2026</a:t>
            </a:r>
          </a:p>
        </p:txBody>
      </p:sp>
      <p:sp>
        <p:nvSpPr>
          <p:cNvPr id="4" name="">
            <a:extLst xmlns:a="http://schemas.openxmlformats.org/drawingml/2006/main">
              <a:ext uri="{FF2B5EF4-FFF2-40B4-BE49-F238E27FC236}">
                <a16:creationId xmlns:a16="http://schemas.microsoft.com/office/drawing/2014/main" id="{B1532C35-5F54-4378-AD11-6E12D68F0BFC}"/>
              </a:ext>
            </a:extLst>
          </p:cNvPr>
          <p:cNvSpPr>
            <a:spLocks xmlns:a="http://schemas.openxmlformats.org/drawingml/2006/main" noGrp="1"/>
          </p:cNvSpPr>
          <p:nvPr/>
        </p:nvSpPr>
        <p:spPr>
          <a:xfrm xmlns:a="http://schemas.openxmlformats.org/drawingml/2006/main">
            <a:off x="609600" y="2000250"/>
            <a:ext cx="5067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77E89"/>
                </a:solidFill>
                <a:latin typeface="Arial"/>
                <a:ea typeface="Arial"/>
                <a:cs typeface="Arial"/>
              </a:defRPr>
            </a:defPPr>
          </a:lstStyle>
          <a:p xmlns:a="http://schemas.openxmlformats.org/drawingml/2006/main">
            <a:pPr>
              <a:defRPr sz="1425" b="1">
                <a:solidFill>
                  <a:srgbClr val="177E89"/>
                </a:solidFill>
                <a:latin typeface="Arial"/>
                <a:ea typeface="Arial"/>
                <a:cs typeface="Arial"/>
              </a:defRPr>
            </a:pPr>
            <a:r>
              <a:rPr sz="1425" b="1">
                <a:solidFill>
                  <a:srgbClr val="177E89"/>
                </a:solidFill>
                <a:latin typeface="Arial"/>
                <a:ea typeface="Arial"/>
                <a:cs typeface="Arial"/>
              </a:rPr>
              <a:t>V10 FORECAST EXIT*</a:t>
            </a:r>
          </a:p>
        </p:txBody>
      </p:sp>
      <p:sp>
        <p:nvSpPr>
          <p:cNvPr id="5" name="">
            <a:extLst xmlns:a="http://schemas.openxmlformats.org/drawingml/2006/main">
              <a:ext uri="{FF2B5EF4-FFF2-40B4-BE49-F238E27FC236}">
                <a16:creationId xmlns:a16="http://schemas.microsoft.com/office/drawing/2014/main" id="{5793F97F-A5DD-4F12-A733-0D6121FF8F98}"/>
              </a:ext>
            </a:extLst>
          </p:cNvPr>
          <p:cNvSpPr>
            <a:spLocks xmlns:a="http://schemas.openxmlformats.org/drawingml/2006/main" noGrp="1"/>
          </p:cNvSpPr>
          <p:nvPr/>
        </p:nvSpPr>
        <p:spPr>
          <a:xfrm xmlns:a="http://schemas.openxmlformats.org/drawingml/2006/main">
            <a:off x="609600" y="2295525"/>
            <a:ext cx="5067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Known cash $94.61. Full return unknown.</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1 profitable / 2 losing days.</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208 contracts.</a:t>
            </a:r>
          </a:p>
        </p:txBody>
      </p:sp>
      <p:sp>
        <p:nvSpPr>
          <p:cNvPr id="6" name="">
            <a:extLst xmlns:a="http://schemas.openxmlformats.org/drawingml/2006/main">
              <a:ext uri="{FF2B5EF4-FFF2-40B4-BE49-F238E27FC236}">
                <a16:creationId xmlns:a16="http://schemas.microsoft.com/office/drawing/2014/main" id="{7E30DAA5-6192-42AB-9ED8-8CDE01900A3E}"/>
              </a:ext>
            </a:extLst>
          </p:cNvPr>
          <p:cNvSpPr>
            <a:spLocks xmlns:a="http://schemas.openxmlformats.org/drawingml/2006/main" noGrp="1"/>
          </p:cNvSpPr>
          <p:nvPr/>
        </p:nvSpPr>
        <p:spPr>
          <a:xfrm xmlns:a="http://schemas.openxmlformats.org/drawingml/2006/main">
            <a:off x="609600" y="3333750"/>
            <a:ext cx="5067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77E89"/>
                </a:solidFill>
                <a:latin typeface="Arial"/>
                <a:ea typeface="Arial"/>
                <a:cs typeface="Arial"/>
              </a:defRPr>
            </a:defPPr>
          </a:lstStyle>
          <a:p xmlns:a="http://schemas.openxmlformats.org/drawingml/2006/main">
            <a:pPr>
              <a:defRPr sz="1425" b="1">
                <a:solidFill>
                  <a:srgbClr val="177E89"/>
                </a:solidFill>
                <a:latin typeface="Arial"/>
                <a:ea typeface="Arial"/>
                <a:cs typeface="Arial"/>
              </a:defRPr>
            </a:pPr>
            <a:r>
              <a:rPr sz="1425" b="1">
                <a:solidFill>
                  <a:srgbClr val="177E89"/>
                </a:solidFill>
                <a:latin typeface="Arial"/>
                <a:ea typeface="Arial"/>
                <a:cs typeface="Arial"/>
              </a:rPr>
              <a:t>HYBRID STAGED SAFETY</a:t>
            </a:r>
          </a:p>
        </p:txBody>
      </p:sp>
      <p:sp>
        <p:nvSpPr>
          <p:cNvPr id="7" name="">
            <a:extLst xmlns:a="http://schemas.openxmlformats.org/drawingml/2006/main">
              <a:ext uri="{FF2B5EF4-FFF2-40B4-BE49-F238E27FC236}">
                <a16:creationId xmlns:a16="http://schemas.microsoft.com/office/drawing/2014/main" id="{F682CC4B-A8C0-49C2-8640-CFC6CC901B04}"/>
              </a:ext>
            </a:extLst>
          </p:cNvPr>
          <p:cNvSpPr>
            <a:spLocks xmlns:a="http://schemas.openxmlformats.org/drawingml/2006/main" noGrp="1"/>
          </p:cNvSpPr>
          <p:nvPr/>
        </p:nvSpPr>
        <p:spPr>
          <a:xfrm xmlns:a="http://schemas.openxmlformats.org/drawingml/2006/main">
            <a:off x="609600" y="3629025"/>
            <a:ext cx="5067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$104.52 from $100 (+$4.52).</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2 profitable / 5 losing days.</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157 contracts.</a:t>
            </a:r>
          </a:p>
        </p:txBody>
      </p:sp>
      <p:sp>
        <p:nvSpPr>
          <p:cNvPr id="8" name="">
            <a:extLst xmlns:a="http://schemas.openxmlformats.org/drawingml/2006/main">
              <a:ext uri="{FF2B5EF4-FFF2-40B4-BE49-F238E27FC236}">
                <a16:creationId xmlns:a16="http://schemas.microsoft.com/office/drawing/2014/main" id="{42FA2519-D431-423F-8CC4-68A4B03897BC}"/>
              </a:ext>
            </a:extLst>
          </p:cNvPr>
          <p:cNvSpPr>
            <a:spLocks xmlns:a="http://schemas.openxmlformats.org/drawingml/2006/main" noGrp="1"/>
          </p:cNvSpPr>
          <p:nvPr/>
        </p:nvSpPr>
        <p:spPr>
          <a:xfrm xmlns:a="http://schemas.openxmlformats.org/drawingml/2006/main">
            <a:off x="609600" y="4667250"/>
            <a:ext cx="5067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177E89"/>
                </a:solidFill>
                <a:latin typeface="Arial"/>
                <a:ea typeface="Arial"/>
                <a:cs typeface="Arial"/>
              </a:defRPr>
            </a:defPPr>
          </a:lstStyle>
          <a:p xmlns:a="http://schemas.openxmlformats.org/drawingml/2006/main">
            <a:pPr>
              <a:defRPr sz="1425" b="1">
                <a:solidFill>
                  <a:srgbClr val="177E89"/>
                </a:solidFill>
                <a:latin typeface="Arial"/>
                <a:ea typeface="Arial"/>
                <a:cs typeface="Arial"/>
              </a:defRPr>
            </a:pPr>
            <a:r>
              <a:rPr sz="1425" b="1">
                <a:solidFill>
                  <a:srgbClr val="177E89"/>
                </a:solidFill>
                <a:latin typeface="Arial"/>
                <a:ea typeface="Arial"/>
                <a:cs typeface="Arial"/>
              </a:rPr>
              <a:t>V8D HOLD</a:t>
            </a:r>
          </a:p>
        </p:txBody>
      </p:sp>
      <p:sp>
        <p:nvSpPr>
          <p:cNvPr id="9" name="">
            <a:extLst xmlns:a="http://schemas.openxmlformats.org/drawingml/2006/main">
              <a:ext uri="{FF2B5EF4-FFF2-40B4-BE49-F238E27FC236}">
                <a16:creationId xmlns:a16="http://schemas.microsoft.com/office/drawing/2014/main" id="{1022E928-DD00-4DF8-A4E7-B3F949EC481C}"/>
              </a:ext>
            </a:extLst>
          </p:cNvPr>
          <p:cNvSpPr>
            <a:spLocks xmlns:a="http://schemas.openxmlformats.org/drawingml/2006/main" noGrp="1"/>
          </p:cNvSpPr>
          <p:nvPr/>
        </p:nvSpPr>
        <p:spPr>
          <a:xfrm xmlns:a="http://schemas.openxmlformats.org/drawingml/2006/main">
            <a:off x="609600" y="4962525"/>
            <a:ext cx="5067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$150.13 from $100 (+$50.13).</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3 profitable / 2 losing days.</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262 contracts.</a:t>
            </a:r>
          </a:p>
        </p:txBody>
      </p:sp>
      <p:graphicFrame>
        <p:nvGraphicFramePr>
          <p:cNvPr id="10" name="Chart">
            <a:extLst xmlns:a="http://schemas.openxmlformats.org/drawingml/2006/main">
              <a:ext uri="{FF2B5EF4-FFF2-40B4-BE49-F238E27FC236}">
                <a16:creationId xmlns:a16="http://schemas.microsoft.com/office/drawing/2014/main" id="{C41B37AE-4BA9-406D-8799-B8CF2876796A}"/>
              </a:ext>
            </a:extLst>
          </p:cNvPr>
          <p:cNvGraphicFramePr/>
          <p:nvPr/>
        </p:nvGraphicFramePr>
        <p:xfrm>
          <a:off xmlns:a="http://schemas.openxmlformats.org/drawingml/2006/main" x="6019800" y="1981200"/>
          <a:ext xmlns:a="http://schemas.openxmlformats.org/drawingml/2006/main" cx="5524500" cy="3705225"/>
        </p:xfrm>
        <a:graphic xmlns:a="http://schemas.openxmlformats.org/drawingml/2006/main">
          <a:graphicData uri="http://schemas.openxmlformats.org/drawingml/2006/chart">
            <c:chart xmlns:r="http://schemas.openxmlformats.org/officeDocument/2006/relationships" xmlns:c="http://schemas.openxmlformats.org/drawingml/2006/chart" r:id="R58f62d22ea3c444d"/>
          </a:graphicData>
        </a:graphic>
      </p:graphicFrame>
      <p:sp>
        <p:nvSpPr>
          <p:cNvPr id="11" name="">
            <a:extLst xmlns:a="http://schemas.openxmlformats.org/drawingml/2006/main">
              <a:ext uri="{FF2B5EF4-FFF2-40B4-BE49-F238E27FC236}">
                <a16:creationId xmlns:a16="http://schemas.microsoft.com/office/drawing/2014/main" id="{8F8476AF-5C77-47B3-B9C4-8B387A5A8595}"/>
              </a:ext>
            </a:extLst>
          </p:cNvPr>
          <p:cNvSpPr>
            <a:spLocks xmlns:a="http://schemas.openxmlformats.org/drawingml/2006/main" noGrp="1"/>
          </p:cNvSpPr>
          <p:nvPr/>
        </p:nvSpPr>
        <p:spPr>
          <a:xfrm xmlns:a="http://schemas.openxmlformats.org/drawingml/2006/main">
            <a:off x="6143625" y="5800725"/>
            <a:ext cx="525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77B"/>
                </a:solidFill>
                <a:latin typeface="Arial"/>
                <a:ea typeface="Arial"/>
                <a:cs typeface="Arial"/>
              </a:defRPr>
            </a:defPPr>
          </a:lstStyle>
          <a:p xmlns:a="http://schemas.openxmlformats.org/drawingml/2006/main">
            <a:pPr>
              <a:defRPr sz="1575" b="0">
                <a:solidFill>
                  <a:srgbClr val="52677B"/>
                </a:solidFill>
                <a:latin typeface="Arial"/>
                <a:ea typeface="Arial"/>
                <a:cs typeface="Arial"/>
              </a:defRPr>
            </a:pPr>
            <a:r>
              <a:rPr sz="1575" b="0">
                <a:solidFill>
                  <a:srgbClr val="52677B"/>
                </a:solidFill>
                <a:latin typeface="Arial"/>
                <a:ea typeface="Arial"/>
                <a:cs typeface="Arial"/>
              </a:rPr>
              <a:t>*V10 shows partial cash. An October 4 data gap leaves its complete period result unknown.</a:t>
            </a:r>
          </a:p>
        </p:txBody>
      </p:sp>
      <p:sp>
        <p:nvSpPr>
          <p:cNvPr id="12" name="">
            <a:extLst xmlns:a="http://schemas.openxmlformats.org/drawingml/2006/main">
              <a:ext uri="{FF2B5EF4-FFF2-40B4-BE49-F238E27FC236}">
                <a16:creationId xmlns:a16="http://schemas.microsoft.com/office/drawing/2014/main" id="{12A61B59-7B75-4A85-B5B0-FA4AE9A2EF90}"/>
              </a:ext>
            </a:extLst>
          </p:cNvPr>
          <p:cNvSpPr>
            <a:spLocks xmlns:a="http://schemas.openxmlformats.org/drawingml/2006/main" noGrp="1"/>
          </p:cNvSpPr>
          <p:nvPr/>
        </p:nvSpPr>
        <p:spPr>
          <a:xfrm xmlns:a="http://schemas.openxmlformats.org/drawingml/2006/main">
            <a:off x="6096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B"/>
                </a:solidFill>
                <a:latin typeface="Arial"/>
                <a:ea typeface="Arial"/>
                <a:cs typeface="Arial"/>
              </a:defRPr>
            </a:defPPr>
          </a:lstStyle>
          <a:p xmlns:a="http://schemas.openxmlformats.org/drawingml/2006/main">
            <a:pPr>
              <a:defRPr sz="1125" b="0">
                <a:solidFill>
                  <a:srgbClr val="52677B"/>
                </a:solidFill>
                <a:latin typeface="Arial"/>
                <a:ea typeface="Arial"/>
                <a:cs typeface="Arial"/>
              </a:defRPr>
            </a:pPr>
            <a:r>
              <a:rPr sz="1125" b="0">
                <a:solidFill>
                  <a:srgbClr val="52677B"/>
                </a:solidFill>
                <a:latin typeface="Arial"/>
                <a:ea typeface="Arial"/>
                <a:cs typeface="Arial"/>
              </a:rPr>
              <a:t>Separate $100 per strategy and period. Fees included. Conditional archive replay.</a:t>
            </a:r>
          </a:p>
        </p:txBody>
      </p:sp>
      <p:sp>
        <p:nvSpPr>
          <p:cNvPr id="13" name="">
            <a:extLst xmlns:a="http://schemas.openxmlformats.org/drawingml/2006/main">
              <a:ext uri="{FF2B5EF4-FFF2-40B4-BE49-F238E27FC236}">
                <a16:creationId xmlns:a16="http://schemas.microsoft.com/office/drawing/2014/main" id="{8736F04F-80E8-4A20-8938-7AD2EA9E87AE}"/>
              </a:ext>
            </a:extLst>
          </p:cNvPr>
          <p:cNvSpPr>
            <a:spLocks xmlns:a="http://schemas.openxmlformats.org/drawingml/2006/main" noGrp="1"/>
          </p:cNvSpPr>
          <p:nvPr/>
        </p:nvSpPr>
        <p:spPr>
          <a:xfrm xmlns:a="http://schemas.openxmlformats.org/drawingml/2006/main">
            <a:off x="11049000" y="6400800"/>
            <a:ext cx="495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77B"/>
                </a:solidFill>
                <a:latin typeface="Arial"/>
                <a:ea typeface="Arial"/>
                <a:cs typeface="Arial"/>
              </a:defRPr>
            </a:defPPr>
          </a:lstStyle>
          <a:p xmlns:a="http://schemas.openxmlformats.org/drawingml/2006/main">
            <a:pPr>
              <a:defRPr sz="1500" b="0">
                <a:solidFill>
                  <a:srgbClr val="52677B"/>
                </a:solidFill>
                <a:latin typeface="Arial"/>
                <a:ea typeface="Arial"/>
                <a:cs typeface="Arial"/>
              </a:defRPr>
            </a:pPr>
            <a:r>
              <a:rPr sz="1500" b="0">
                <a:solidFill>
                  <a:srgbClr val="52677B"/>
                </a:solidFill>
                <a:latin typeface="Arial"/>
                <a:ea typeface="Arial"/>
                <a:cs typeface="Arial"/>
              </a:rPr>
              <a:t>10</a:t>
            </a:r>
          </a:p>
        </p:txBody>
      </p:sp>
    </p:spTree>
    <p:extLst>
      <p:ext uri="{BB962C8B-B14F-4D97-AF65-F5344CB8AC3E}">
        <p14:creationId xmlns:p14="http://schemas.microsoft.com/office/powerpoint/2010/main" val="185399732"/>
      </p:ext>
    </p:extLst>
  </p:cSld>
</p:sld>
</file>

<file path=ppt/slides/slide11.xml><?xml version="1.0" encoding="utf-8"?>
<p:sld xmlns:p="http://schemas.openxmlformats.org/presentationml/2006/main">
  <p:cSld>
    <p:bg>
      <p:bgPr>
        <a:solidFill xmlns:a="http://schemas.openxmlformats.org/drawingml/2006/main">
          <a:srgbClr val="EFF3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67B674F-7F21-47D8-A1DA-4DF7F1122E65}"/>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4261A0"/>
          </a:solidFill>
          <a:ln xmlns:a="http://schemas.openxmlformats.org/drawingml/2006/main" w="0">
            <a:noFill/>
          </a:ln>
        </p:spPr>
        <p:txBody>
          <a:bodyPr xmlns:a="http://schemas.openxmlformats.org/drawingml/2006/main" lIns="609600" tIns="200025" rIns="609600" bIns="76200"/>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NEW YORK · STRATEGY 1 OF 2</a:t>
            </a:r>
          </a:p>
        </p:txBody>
      </p:sp>
      <p:sp>
        <p:nvSpPr>
          <p:cNvPr id="2" name="">
            <a:extLst xmlns:a="http://schemas.openxmlformats.org/drawingml/2006/main">
              <a:ext uri="{FF2B5EF4-FFF2-40B4-BE49-F238E27FC236}">
                <a16:creationId xmlns:a16="http://schemas.microsoft.com/office/drawing/2014/main" id="{E3734AE7-FBB1-4959-B8A0-62EBF4ADE7E5}"/>
              </a:ext>
            </a:extLst>
          </p:cNvPr>
          <p:cNvSpPr>
            <a:spLocks xmlns:a="http://schemas.openxmlformats.org/drawingml/2006/main" noGrp="1"/>
          </p:cNvSpPr>
          <p:nvPr/>
        </p:nvSpPr>
        <p:spPr>
          <a:xfrm xmlns:a="http://schemas.openxmlformats.org/drawingml/2006/main">
            <a:off x="609600" y="762000"/>
            <a:ext cx="10934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4261A0"/>
                </a:solidFill>
                <a:latin typeface="Arial"/>
                <a:ea typeface="Arial"/>
                <a:cs typeface="Arial"/>
              </a:defRPr>
            </a:defPPr>
          </a:lstStyle>
          <a:p xmlns:a="http://schemas.openxmlformats.org/drawingml/2006/main">
            <a:pPr>
              <a:buNone/>
              <a:defRPr sz="3300" b="1">
                <a:solidFill>
                  <a:srgbClr val="4261A0"/>
                </a:solidFill>
                <a:latin typeface="Arial"/>
                <a:ea typeface="Arial"/>
                <a:cs typeface="Arial"/>
              </a:defRPr>
            </a:pPr>
            <a:r>
              <a:rPr sz="3300" b="1">
                <a:solidFill>
                  <a:srgbClr val="4261A0"/>
                </a:solidFill>
                <a:latin typeface="Arial"/>
                <a:ea typeface="Arial"/>
                <a:cs typeface="Arial"/>
              </a:rPr>
              <a:t>Conservative P09</a:t>
            </a:r>
          </a:p>
        </p:txBody>
      </p:sp>
      <p:sp>
        <p:nvSpPr>
          <p:cNvPr id="3" name="">
            <a:extLst xmlns:a="http://schemas.openxmlformats.org/drawingml/2006/main">
              <a:ext uri="{FF2B5EF4-FFF2-40B4-BE49-F238E27FC236}">
                <a16:creationId xmlns:a16="http://schemas.microsoft.com/office/drawing/2014/main" id="{2C326DC1-BC96-42E5-9354-749D0396DEEB}"/>
              </a:ext>
            </a:extLst>
          </p:cNvPr>
          <p:cNvSpPr>
            <a:spLocks xmlns:a="http://schemas.openxmlformats.org/drawingml/2006/main" noGrp="1"/>
          </p:cNvSpPr>
          <p:nvPr/>
        </p:nvSpPr>
        <p:spPr>
          <a:xfrm xmlns:a="http://schemas.openxmlformats.org/drawingml/2006/main">
            <a:off x="609600" y="64579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B"/>
                </a:solidFill>
                <a:latin typeface="Arial"/>
                <a:ea typeface="Arial"/>
                <a:cs typeface="Arial"/>
              </a:defRPr>
            </a:defPPr>
          </a:lstStyle>
          <a:p xmlns:a="http://schemas.openxmlformats.org/drawingml/2006/main">
            <a:pPr>
              <a:buNone/>
              <a:defRPr sz="1125" b="0">
                <a:solidFill>
                  <a:srgbClr val="52677B"/>
                </a:solidFill>
                <a:latin typeface="Arial"/>
                <a:ea typeface="Arial"/>
                <a:cs typeface="Arial"/>
              </a:defRPr>
            </a:pPr>
            <a:r>
              <a:rPr sz="1125" b="0">
                <a:solidFill>
                  <a:srgbClr val="52677B"/>
                </a:solidFill>
                <a:latin typeface="Arial"/>
                <a:ea typeface="Arial"/>
                <a:cs typeface="Arial"/>
              </a:rPr>
              <a:t>Four-city paper trading. Frozen October 12, 2026</a:t>
            </a:r>
          </a:p>
        </p:txBody>
      </p:sp>
      <p:sp>
        <p:nvSpPr>
          <p:cNvPr id="4" name="">
            <a:extLst xmlns:a="http://schemas.openxmlformats.org/drawingml/2006/main">
              <a:ext uri="{FF2B5EF4-FFF2-40B4-BE49-F238E27FC236}">
                <a16:creationId xmlns:a16="http://schemas.microsoft.com/office/drawing/2014/main" id="{E3FDD920-E6DF-41BE-8B88-90B619B43FAF}"/>
              </a:ext>
            </a:extLst>
          </p:cNvPr>
          <p:cNvSpPr>
            <a:spLocks xmlns:a="http://schemas.openxmlformats.org/drawingml/2006/main" noGrp="1"/>
          </p:cNvSpPr>
          <p:nvPr/>
        </p:nvSpPr>
        <p:spPr>
          <a:xfrm xmlns:a="http://schemas.openxmlformats.org/drawingml/2006/main">
            <a:off x="11049000" y="6400800"/>
            <a:ext cx="495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77B"/>
                </a:solidFill>
                <a:latin typeface="Arial"/>
                <a:ea typeface="Arial"/>
                <a:cs typeface="Arial"/>
              </a:defRPr>
            </a:defPPr>
          </a:lstStyle>
          <a:p xmlns:a="http://schemas.openxmlformats.org/drawingml/2006/main">
            <a:pPr>
              <a:buNone/>
              <a:defRPr sz="1500" b="0">
                <a:solidFill>
                  <a:srgbClr val="52677B"/>
                </a:solidFill>
                <a:latin typeface="Arial"/>
                <a:ea typeface="Arial"/>
                <a:cs typeface="Arial"/>
              </a:defRPr>
            </a:pPr>
            <a:r>
              <a:rPr sz="1500" b="0">
                <a:solidFill>
                  <a:srgbClr val="52677B"/>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05D454F6-605F-4D29-B9EC-6C46470C4CC8}"/>
              </a:ext>
            </a:extLst>
          </p:cNvPr>
          <p:cNvSpPr>
            <a:spLocks xmlns:a="http://schemas.openxmlformats.org/drawingml/2006/main" noGrp="1"/>
          </p:cNvSpPr>
          <p:nvPr/>
        </p:nvSpPr>
        <p:spPr>
          <a:xfrm xmlns:a="http://schemas.openxmlformats.org/drawingml/2006/main">
            <a:off x="609600" y="1685925"/>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4261A0"/>
                </a:solidFill>
                <a:latin typeface="Arial"/>
                <a:ea typeface="Arial"/>
                <a:cs typeface="Arial"/>
              </a:defRPr>
            </a:defPPr>
          </a:lstStyle>
          <a:p xmlns:a="http://schemas.openxmlformats.org/drawingml/2006/main">
            <a:pPr>
              <a:buNone/>
              <a:defRPr sz="1425" b="1">
                <a:solidFill>
                  <a:srgbClr val="4261A0"/>
                </a:solidFill>
                <a:latin typeface="Arial"/>
                <a:ea typeface="Arial"/>
                <a:cs typeface="Arial"/>
              </a:defRPr>
            </a:pPr>
            <a:r>
              <a:rPr sz="1425" b="1">
                <a:solidFill>
                  <a:srgbClr val="4261A0"/>
                </a:solidFill>
                <a:latin typeface="Arial"/>
                <a:ea typeface="Arial"/>
                <a:cs typeface="Arial"/>
              </a:rPr>
              <a:t>BUY WHEN</a:t>
            </a:r>
          </a:p>
        </p:txBody>
      </p:sp>
      <p:sp>
        <p:nvSpPr>
          <p:cNvPr id="6" name="">
            <a:extLst xmlns:a="http://schemas.openxmlformats.org/drawingml/2006/main">
              <a:ext uri="{FF2B5EF4-FFF2-40B4-BE49-F238E27FC236}">
                <a16:creationId xmlns:a16="http://schemas.microsoft.com/office/drawing/2014/main" id="{FD07D279-5D1A-488B-91E3-B7D39967FFF3}"/>
              </a:ext>
            </a:extLst>
          </p:cNvPr>
          <p:cNvSpPr>
            <a:spLocks xmlns:a="http://schemas.openxmlformats.org/drawingml/2006/main" noGrp="1"/>
          </p:cNvSpPr>
          <p:nvPr/>
        </p:nvSpPr>
        <p:spPr>
          <a:xfrm xmlns:a="http://schemas.openxmlformats.org/drawingml/2006/main">
            <a:off x="609600" y="1981200"/>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Use the saved morning forecast for a decision at 10 am New York time.</a:t>
            </a:r>
          </a:p>
        </p:txBody>
      </p:sp>
      <p:sp>
        <p:nvSpPr>
          <p:cNvPr id="7" name="">
            <a:extLst xmlns:a="http://schemas.openxmlformats.org/drawingml/2006/main">
              <a:ext uri="{FF2B5EF4-FFF2-40B4-BE49-F238E27FC236}">
                <a16:creationId xmlns:a16="http://schemas.microsoft.com/office/drawing/2014/main" id="{3E2821A7-5A1F-487F-87A4-C1168B226B6E}"/>
              </a:ext>
            </a:extLst>
          </p:cNvPr>
          <p:cNvSpPr>
            <a:spLocks xmlns:a="http://schemas.openxmlformats.org/drawingml/2006/main" noGrp="1"/>
          </p:cNvSpPr>
          <p:nvPr/>
        </p:nvSpPr>
        <p:spPr>
          <a:xfrm xmlns:a="http://schemas.openxmlformats.org/drawingml/2006/main">
            <a:off x="609600" y="2857500"/>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4261A0"/>
                </a:solidFill>
                <a:latin typeface="Arial"/>
                <a:ea typeface="Arial"/>
                <a:cs typeface="Arial"/>
              </a:defRPr>
            </a:defPPr>
          </a:lstStyle>
          <a:p xmlns:a="http://schemas.openxmlformats.org/drawingml/2006/main">
            <a:pPr>
              <a:buNone/>
              <a:defRPr sz="1425" b="1">
                <a:solidFill>
                  <a:srgbClr val="4261A0"/>
                </a:solidFill>
                <a:latin typeface="Arial"/>
                <a:ea typeface="Arial"/>
                <a:cs typeface="Arial"/>
              </a:defRPr>
            </a:pPr>
            <a:r>
              <a:rPr sz="1425" b="1">
                <a:solidFill>
                  <a:srgbClr val="4261A0"/>
                </a:solidFill>
                <a:latin typeface="Arial"/>
                <a:ea typeface="Arial"/>
                <a:cs typeface="Arial"/>
              </a:rPr>
              <a:t>BUY WHAT</a:t>
            </a:r>
          </a:p>
        </p:txBody>
      </p:sp>
      <p:sp>
        <p:nvSpPr>
          <p:cNvPr id="8" name="">
            <a:extLst xmlns:a="http://schemas.openxmlformats.org/drawingml/2006/main">
              <a:ext uri="{FF2B5EF4-FFF2-40B4-BE49-F238E27FC236}">
                <a16:creationId xmlns:a16="http://schemas.microsoft.com/office/drawing/2014/main" id="{2BC08BFF-520F-467B-8A87-B690E9C0ED82}"/>
              </a:ext>
            </a:extLst>
          </p:cNvPr>
          <p:cNvSpPr>
            <a:spLocks xmlns:a="http://schemas.openxmlformats.org/drawingml/2006/main" noGrp="1"/>
          </p:cNvSpPr>
          <p:nvPr/>
        </p:nvSpPr>
        <p:spPr>
          <a:xfrm xmlns:a="http://schemas.openxmlformats.org/drawingml/2006/main">
            <a:off x="609600" y="3152775"/>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Buy qualifying NO contracts using New York’s conservative probability calibration.</a:t>
            </a:r>
          </a:p>
        </p:txBody>
      </p:sp>
      <p:sp>
        <p:nvSpPr>
          <p:cNvPr id="9" name="">
            <a:extLst xmlns:a="http://schemas.openxmlformats.org/drawingml/2006/main">
              <a:ext uri="{FF2B5EF4-FFF2-40B4-BE49-F238E27FC236}">
                <a16:creationId xmlns:a16="http://schemas.microsoft.com/office/drawing/2014/main" id="{4821F298-D712-46C2-87A0-D1E535F7DBFC}"/>
              </a:ext>
            </a:extLst>
          </p:cNvPr>
          <p:cNvSpPr>
            <a:spLocks xmlns:a="http://schemas.openxmlformats.org/drawingml/2006/main" noGrp="1"/>
          </p:cNvSpPr>
          <p:nvPr/>
        </p:nvSpPr>
        <p:spPr>
          <a:xfrm xmlns:a="http://schemas.openxmlformats.org/drawingml/2006/main">
            <a:off x="609600" y="4029075"/>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4261A0"/>
                </a:solidFill>
                <a:latin typeface="Arial"/>
                <a:ea typeface="Arial"/>
                <a:cs typeface="Arial"/>
              </a:defRPr>
            </a:defPPr>
          </a:lstStyle>
          <a:p xmlns:a="http://schemas.openxmlformats.org/drawingml/2006/main">
            <a:pPr>
              <a:buNone/>
              <a:defRPr sz="1425" b="1">
                <a:solidFill>
                  <a:srgbClr val="4261A0"/>
                </a:solidFill>
                <a:latin typeface="Arial"/>
                <a:ea typeface="Arial"/>
                <a:cs typeface="Arial"/>
              </a:defRPr>
            </a:pPr>
            <a:r>
              <a:rPr sz="1425" b="1">
                <a:solidFill>
                  <a:srgbClr val="4261A0"/>
                </a:solidFill>
                <a:latin typeface="Arial"/>
                <a:ea typeface="Arial"/>
                <a:cs typeface="Arial"/>
              </a:rPr>
              <a:t>SPEND LIMIT</a:t>
            </a:r>
          </a:p>
        </p:txBody>
      </p:sp>
      <p:sp>
        <p:nvSpPr>
          <p:cNvPr id="10" name="">
            <a:extLst xmlns:a="http://schemas.openxmlformats.org/drawingml/2006/main">
              <a:ext uri="{FF2B5EF4-FFF2-40B4-BE49-F238E27FC236}">
                <a16:creationId xmlns:a16="http://schemas.microsoft.com/office/drawing/2014/main" id="{A82EE058-FDBE-4940-BD36-97AE30BA0347}"/>
              </a:ext>
            </a:extLst>
          </p:cNvPr>
          <p:cNvSpPr>
            <a:spLocks xmlns:a="http://schemas.openxmlformats.org/drawingml/2006/main" noGrp="1"/>
          </p:cNvSpPr>
          <p:nvPr/>
        </p:nvSpPr>
        <p:spPr>
          <a:xfrm xmlns:a="http://schemas.openxmlformats.org/drawingml/2006/main">
            <a:off x="609600" y="4324350"/>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Up to 10% of opening available cash, including fees. The displayed book limits the number of contracts.</a:t>
            </a:r>
          </a:p>
        </p:txBody>
      </p:sp>
      <p:sp>
        <p:nvSpPr>
          <p:cNvPr id="11" name="">
            <a:extLst xmlns:a="http://schemas.openxmlformats.org/drawingml/2006/main">
              <a:ext uri="{FF2B5EF4-FFF2-40B4-BE49-F238E27FC236}">
                <a16:creationId xmlns:a16="http://schemas.microsoft.com/office/drawing/2014/main" id="{43CAFD7E-1015-4705-BBE2-581DE5275AC5}"/>
              </a:ext>
            </a:extLst>
          </p:cNvPr>
          <p:cNvSpPr>
            <a:spLocks xmlns:a="http://schemas.openxmlformats.org/drawingml/2006/main" noGrp="1"/>
          </p:cNvSpPr>
          <p:nvPr/>
        </p:nvSpPr>
        <p:spPr>
          <a:xfrm xmlns:a="http://schemas.openxmlformats.org/drawingml/2006/main">
            <a:off x="609600" y="5200650"/>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4261A0"/>
                </a:solidFill>
                <a:latin typeface="Arial"/>
                <a:ea typeface="Arial"/>
                <a:cs typeface="Arial"/>
              </a:defRPr>
            </a:defPPr>
          </a:lstStyle>
          <a:p xmlns:a="http://schemas.openxmlformats.org/drawingml/2006/main">
            <a:pPr>
              <a:buNone/>
              <a:defRPr sz="1425" b="1">
                <a:solidFill>
                  <a:srgbClr val="4261A0"/>
                </a:solidFill>
                <a:latin typeface="Arial"/>
                <a:ea typeface="Arial"/>
                <a:cs typeface="Arial"/>
              </a:defRPr>
            </a:pPr>
            <a:r>
              <a:rPr sz="1425" b="1">
                <a:solidFill>
                  <a:srgbClr val="4261A0"/>
                </a:solidFill>
                <a:latin typeface="Arial"/>
                <a:ea typeface="Arial"/>
                <a:cs typeface="Arial"/>
              </a:rPr>
              <a:t>SELL WHEN</a:t>
            </a:r>
          </a:p>
        </p:txBody>
      </p:sp>
      <p:sp>
        <p:nvSpPr>
          <p:cNvPr id="12" name="">
            <a:extLst xmlns:a="http://schemas.openxmlformats.org/drawingml/2006/main">
              <a:ext uri="{FF2B5EF4-FFF2-40B4-BE49-F238E27FC236}">
                <a16:creationId xmlns:a16="http://schemas.microsoft.com/office/drawing/2014/main" id="{744CD002-A0A0-4771-B748-AED62F5C3342}"/>
              </a:ext>
            </a:extLst>
          </p:cNvPr>
          <p:cNvSpPr>
            <a:spLocks xmlns:a="http://schemas.openxmlformats.org/drawingml/2006/main" noGrp="1"/>
          </p:cNvSpPr>
          <p:nvPr/>
        </p:nvSpPr>
        <p:spPr>
          <a:xfrm xmlns:a="http://schemas.openxmlformats.org/drawingml/2006/main">
            <a:off x="609600" y="5495925"/>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Hold to the official result. The strategy does not sell just because the temperature has peaked.</a:t>
            </a:r>
          </a:p>
        </p:txBody>
      </p:sp>
      <p:graphicFrame>
        <p:nvGraphicFramePr>
          <p:cNvPr id="13" name="Chart">
            <a:extLst xmlns:a="http://schemas.openxmlformats.org/drawingml/2006/main">
              <a:ext uri="{FF2B5EF4-FFF2-40B4-BE49-F238E27FC236}">
                <a16:creationId xmlns:a16="http://schemas.microsoft.com/office/drawing/2014/main" id="{0EC31BCF-985F-4BF8-B97F-16BB308209A1}"/>
              </a:ext>
            </a:extLst>
          </p:cNvPr>
          <p:cNvGraphicFramePr/>
          <p:nvPr/>
        </p:nvGraphicFramePr>
        <p:xfrm>
          <a:off xmlns:a="http://schemas.openxmlformats.org/drawingml/2006/main" x="6019800" y="1704975"/>
          <a:ext xmlns:a="http://schemas.openxmlformats.org/drawingml/2006/main" cx="5524500" cy="1838325"/>
        </p:xfrm>
        <a:graphic xmlns:a="http://schemas.openxmlformats.org/drawingml/2006/main">
          <a:graphicData uri="http://schemas.openxmlformats.org/drawingml/2006/chart">
            <c:chart xmlns:r="http://schemas.openxmlformats.org/officeDocument/2006/relationships" xmlns:c="http://schemas.openxmlformats.org/drawingml/2006/chart" r:id="R6ed2a86a3fc3493b"/>
          </a:graphicData>
        </a:graphic>
      </p:graphicFrame>
      <p:graphicFrame>
        <p:nvGraphicFramePr>
          <p:cNvPr id="14" name="Chart">
            <a:extLst xmlns:a="http://schemas.openxmlformats.org/drawingml/2006/main">
              <a:ext uri="{FF2B5EF4-FFF2-40B4-BE49-F238E27FC236}">
                <a16:creationId xmlns:a16="http://schemas.microsoft.com/office/drawing/2014/main" id="{B41F948F-AEBA-4CC0-BFEF-C98AF973827A}"/>
              </a:ext>
            </a:extLst>
          </p:cNvPr>
          <p:cNvGraphicFramePr/>
          <p:nvPr/>
        </p:nvGraphicFramePr>
        <p:xfrm>
          <a:off xmlns:a="http://schemas.openxmlformats.org/drawingml/2006/main" x="6019800" y="3657600"/>
          <a:ext xmlns:a="http://schemas.openxmlformats.org/drawingml/2006/main" cx="5524500" cy="1943100"/>
        </p:xfrm>
        <a:graphic xmlns:a="http://schemas.openxmlformats.org/drawingml/2006/main">
          <a:graphicData uri="http://schemas.openxmlformats.org/drawingml/2006/chart">
            <c:chart xmlns:r="http://schemas.openxmlformats.org/officeDocument/2006/relationships" xmlns:c="http://schemas.openxmlformats.org/drawingml/2006/chart" r:id="R70013f875e45420c"/>
          </a:graphicData>
        </a:graphic>
      </p:graphicFrame>
      <p:sp>
        <p:nvSpPr>
          <p:cNvPr id="15" name="">
            <a:extLst xmlns:a="http://schemas.openxmlformats.org/drawingml/2006/main">
              <a:ext uri="{FF2B5EF4-FFF2-40B4-BE49-F238E27FC236}">
                <a16:creationId xmlns:a16="http://schemas.microsoft.com/office/drawing/2014/main" id="{1CC4AD4F-1753-4BBF-8F3A-63A365ABF979}"/>
              </a:ext>
            </a:extLst>
          </p:cNvPr>
          <p:cNvSpPr>
            <a:spLocks xmlns:a="http://schemas.openxmlformats.org/drawingml/2006/main" noGrp="1"/>
          </p:cNvSpPr>
          <p:nvPr/>
        </p:nvSpPr>
        <p:spPr>
          <a:xfrm xmlns:a="http://schemas.openxmlformats.org/drawingml/2006/main">
            <a:off x="6143625" y="5762625"/>
            <a:ext cx="5257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77B"/>
                </a:solidFill>
                <a:latin typeface="Arial"/>
                <a:ea typeface="Arial"/>
                <a:cs typeface="Arial"/>
              </a:defRPr>
            </a:defPPr>
          </a:lstStyle>
          <a:p xmlns:a="http://schemas.openxmlformats.org/drawingml/2006/main">
            <a:pPr>
              <a:buNone/>
              <a:defRPr sz="1575" b="0">
                <a:solidFill>
                  <a:srgbClr val="52677B"/>
                </a:solidFill>
                <a:latin typeface="Arial"/>
                <a:ea typeface="Arial"/>
                <a:cs typeface="Arial"/>
              </a:defRPr>
            </a:pPr>
            <a:r>
              <a:rPr sz="1575" b="0">
                <a:solidFill>
                  <a:srgbClr val="52677B"/>
                </a:solidFill>
                <a:latin typeface="Arial"/>
                <a:ea typeface="Arial"/>
                <a:cs typeface="Arial"/>
              </a:rPr>
              <a:t>CONSERVATIVE_P09. Its forecast and calibration belong to New York’s KNYC target.</a:t>
            </a:r>
          </a:p>
        </p:txBody>
      </p:sp>
    </p:spTree>
    <p:extLst>
      <p:ext uri="{BB962C8B-B14F-4D97-AF65-F5344CB8AC3E}">
        <p14:creationId xmlns:p14="http://schemas.microsoft.com/office/powerpoint/2010/main" val="754761030"/>
      </p:ext>
    </p:extLst>
  </p:cSld>
</p:sld>
</file>

<file path=ppt/slides/slide12.xml><?xml version="1.0" encoding="utf-8"?>
<p:sld xmlns:p="http://schemas.openxmlformats.org/presentationml/2006/main">
  <p:cSld>
    <p:bg>
      <p:bgPr>
        <a:solidFill xmlns:a="http://schemas.openxmlformats.org/drawingml/2006/main">
          <a:srgbClr val="EFF3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3ED5863-83AD-4601-BE71-EF02344CD3B3}"/>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4261A0"/>
          </a:solidFill>
          <a:ln xmlns:a="http://schemas.openxmlformats.org/drawingml/2006/main" w="0">
            <a:noFill/>
          </a:ln>
        </p:spPr>
        <p:txBody>
          <a:bodyPr xmlns:a="http://schemas.openxmlformats.org/drawingml/2006/main" lIns="609600" tIns="200025" rIns="609600" bIns="76200"/>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NEW YORK · STRATEGY 2 OF 2</a:t>
            </a:r>
          </a:p>
        </p:txBody>
      </p:sp>
      <p:sp>
        <p:nvSpPr>
          <p:cNvPr id="2" name="">
            <a:extLst xmlns:a="http://schemas.openxmlformats.org/drawingml/2006/main">
              <a:ext uri="{FF2B5EF4-FFF2-40B4-BE49-F238E27FC236}">
                <a16:creationId xmlns:a16="http://schemas.microsoft.com/office/drawing/2014/main" id="{F4280397-E24C-4F1A-BE0C-BA6B87905B30}"/>
              </a:ext>
            </a:extLst>
          </p:cNvPr>
          <p:cNvSpPr>
            <a:spLocks xmlns:a="http://schemas.openxmlformats.org/drawingml/2006/main" noGrp="1"/>
          </p:cNvSpPr>
          <p:nvPr/>
        </p:nvSpPr>
        <p:spPr>
          <a:xfrm xmlns:a="http://schemas.openxmlformats.org/drawingml/2006/main">
            <a:off x="609600" y="762000"/>
            <a:ext cx="10934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4261A0"/>
                </a:solidFill>
                <a:latin typeface="Arial"/>
                <a:ea typeface="Arial"/>
                <a:cs typeface="Arial"/>
              </a:defRPr>
            </a:defPPr>
          </a:lstStyle>
          <a:p xmlns:a="http://schemas.openxmlformats.org/drawingml/2006/main">
            <a:pPr>
              <a:buNone/>
              <a:defRPr sz="3300" b="1">
                <a:solidFill>
                  <a:srgbClr val="4261A0"/>
                </a:solidFill>
                <a:latin typeface="Arial"/>
                <a:ea typeface="Arial"/>
                <a:cs typeface="Arial"/>
              </a:defRPr>
            </a:pPr>
            <a:r>
              <a:rPr sz="3300" b="1">
                <a:solidFill>
                  <a:srgbClr val="4261A0"/>
                </a:solidFill>
                <a:latin typeface="Arial"/>
                <a:ea typeface="Arial"/>
                <a:cs typeface="Arial"/>
              </a:rPr>
              <a:t>Targeted safety</a:t>
            </a:r>
          </a:p>
        </p:txBody>
      </p:sp>
      <p:sp>
        <p:nvSpPr>
          <p:cNvPr id="3" name="">
            <a:extLst xmlns:a="http://schemas.openxmlformats.org/drawingml/2006/main">
              <a:ext uri="{FF2B5EF4-FFF2-40B4-BE49-F238E27FC236}">
                <a16:creationId xmlns:a16="http://schemas.microsoft.com/office/drawing/2014/main" id="{544D9C3A-284A-4FA9-BB1E-D3B4AF95F78D}"/>
              </a:ext>
            </a:extLst>
          </p:cNvPr>
          <p:cNvSpPr>
            <a:spLocks xmlns:a="http://schemas.openxmlformats.org/drawingml/2006/main" noGrp="1"/>
          </p:cNvSpPr>
          <p:nvPr/>
        </p:nvSpPr>
        <p:spPr>
          <a:xfrm xmlns:a="http://schemas.openxmlformats.org/drawingml/2006/main">
            <a:off x="609600" y="64579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B"/>
                </a:solidFill>
                <a:latin typeface="Arial"/>
                <a:ea typeface="Arial"/>
                <a:cs typeface="Arial"/>
              </a:defRPr>
            </a:defPPr>
          </a:lstStyle>
          <a:p xmlns:a="http://schemas.openxmlformats.org/drawingml/2006/main">
            <a:pPr>
              <a:buNone/>
              <a:defRPr sz="1125" b="0">
                <a:solidFill>
                  <a:srgbClr val="52677B"/>
                </a:solidFill>
                <a:latin typeface="Arial"/>
                <a:ea typeface="Arial"/>
                <a:cs typeface="Arial"/>
              </a:defRPr>
            </a:pPr>
            <a:r>
              <a:rPr sz="1125" b="0">
                <a:solidFill>
                  <a:srgbClr val="52677B"/>
                </a:solidFill>
                <a:latin typeface="Arial"/>
                <a:ea typeface="Arial"/>
                <a:cs typeface="Arial"/>
              </a:rPr>
              <a:t>Four-city paper trading. Frozen October 12, 2026</a:t>
            </a:r>
          </a:p>
        </p:txBody>
      </p:sp>
      <p:sp>
        <p:nvSpPr>
          <p:cNvPr id="4" name="">
            <a:extLst xmlns:a="http://schemas.openxmlformats.org/drawingml/2006/main">
              <a:ext uri="{FF2B5EF4-FFF2-40B4-BE49-F238E27FC236}">
                <a16:creationId xmlns:a16="http://schemas.microsoft.com/office/drawing/2014/main" id="{DA0B6CA9-0D11-4CBB-8DC7-CA5451FE656F}"/>
              </a:ext>
            </a:extLst>
          </p:cNvPr>
          <p:cNvSpPr>
            <a:spLocks xmlns:a="http://schemas.openxmlformats.org/drawingml/2006/main" noGrp="1"/>
          </p:cNvSpPr>
          <p:nvPr/>
        </p:nvSpPr>
        <p:spPr>
          <a:xfrm xmlns:a="http://schemas.openxmlformats.org/drawingml/2006/main">
            <a:off x="11049000" y="6400800"/>
            <a:ext cx="495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77B"/>
                </a:solidFill>
                <a:latin typeface="Arial"/>
                <a:ea typeface="Arial"/>
                <a:cs typeface="Arial"/>
              </a:defRPr>
            </a:defPPr>
          </a:lstStyle>
          <a:p xmlns:a="http://schemas.openxmlformats.org/drawingml/2006/main">
            <a:pPr>
              <a:buNone/>
              <a:defRPr sz="1500" b="0">
                <a:solidFill>
                  <a:srgbClr val="52677B"/>
                </a:solidFill>
                <a:latin typeface="Arial"/>
                <a:ea typeface="Arial"/>
                <a:cs typeface="Arial"/>
              </a:defRPr>
            </a:pPr>
            <a:r>
              <a:rPr sz="1500" b="0">
                <a:solidFill>
                  <a:srgbClr val="52677B"/>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D5A8D25B-DD46-4592-9EC3-BF6AF9025B41}"/>
              </a:ext>
            </a:extLst>
          </p:cNvPr>
          <p:cNvSpPr>
            <a:spLocks xmlns:a="http://schemas.openxmlformats.org/drawingml/2006/main" noGrp="1"/>
          </p:cNvSpPr>
          <p:nvPr/>
        </p:nvSpPr>
        <p:spPr>
          <a:xfrm xmlns:a="http://schemas.openxmlformats.org/drawingml/2006/main">
            <a:off x="609600" y="1685925"/>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4261A0"/>
                </a:solidFill>
                <a:latin typeface="Arial"/>
                <a:ea typeface="Arial"/>
                <a:cs typeface="Arial"/>
              </a:defRPr>
            </a:defPPr>
          </a:lstStyle>
          <a:p xmlns:a="http://schemas.openxmlformats.org/drawingml/2006/main">
            <a:pPr>
              <a:buNone/>
              <a:defRPr sz="1425" b="1">
                <a:solidFill>
                  <a:srgbClr val="4261A0"/>
                </a:solidFill>
                <a:latin typeface="Arial"/>
                <a:ea typeface="Arial"/>
                <a:cs typeface="Arial"/>
              </a:defRPr>
            </a:pPr>
            <a:r>
              <a:rPr sz="1425" b="1">
                <a:solidFill>
                  <a:srgbClr val="4261A0"/>
                </a:solidFill>
                <a:latin typeface="Arial"/>
                <a:ea typeface="Arial"/>
                <a:cs typeface="Arial"/>
              </a:rPr>
              <a:t>BUY WHEN</a:t>
            </a:r>
          </a:p>
        </p:txBody>
      </p:sp>
      <p:sp>
        <p:nvSpPr>
          <p:cNvPr id="6" name="">
            <a:extLst xmlns:a="http://schemas.openxmlformats.org/drawingml/2006/main">
              <a:ext uri="{FF2B5EF4-FFF2-40B4-BE49-F238E27FC236}">
                <a16:creationId xmlns:a16="http://schemas.microsoft.com/office/drawing/2014/main" id="{75E3FBD4-1EDF-4B84-9E7B-A467E5A9BCF0}"/>
              </a:ext>
            </a:extLst>
          </p:cNvPr>
          <p:cNvSpPr>
            <a:spLocks xmlns:a="http://schemas.openxmlformats.org/drawingml/2006/main" noGrp="1"/>
          </p:cNvSpPr>
          <p:nvPr/>
        </p:nvSpPr>
        <p:spPr>
          <a:xfrm xmlns:a="http://schemas.openxmlformats.org/drawingml/2006/main">
            <a:off x="609600" y="1981200"/>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Check qualifying NO purchases from 10 am to 1 pm. Keep the saved 10 am weather snapshot.</a:t>
            </a:r>
          </a:p>
        </p:txBody>
      </p:sp>
      <p:sp>
        <p:nvSpPr>
          <p:cNvPr id="7" name="">
            <a:extLst xmlns:a="http://schemas.openxmlformats.org/drawingml/2006/main">
              <a:ext uri="{FF2B5EF4-FFF2-40B4-BE49-F238E27FC236}">
                <a16:creationId xmlns:a16="http://schemas.microsoft.com/office/drawing/2014/main" id="{AB52E8B8-8D25-40FA-839A-72524822F334}"/>
              </a:ext>
            </a:extLst>
          </p:cNvPr>
          <p:cNvSpPr>
            <a:spLocks xmlns:a="http://schemas.openxmlformats.org/drawingml/2006/main" noGrp="1"/>
          </p:cNvSpPr>
          <p:nvPr/>
        </p:nvSpPr>
        <p:spPr>
          <a:xfrm xmlns:a="http://schemas.openxmlformats.org/drawingml/2006/main">
            <a:off x="609600" y="2857500"/>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4261A0"/>
                </a:solidFill>
                <a:latin typeface="Arial"/>
                <a:ea typeface="Arial"/>
                <a:cs typeface="Arial"/>
              </a:defRPr>
            </a:defPPr>
          </a:lstStyle>
          <a:p xmlns:a="http://schemas.openxmlformats.org/drawingml/2006/main">
            <a:pPr>
              <a:buNone/>
              <a:defRPr sz="1425" b="1">
                <a:solidFill>
                  <a:srgbClr val="4261A0"/>
                </a:solidFill>
                <a:latin typeface="Arial"/>
                <a:ea typeface="Arial"/>
                <a:cs typeface="Arial"/>
              </a:defRPr>
            </a:pPr>
            <a:r>
              <a:rPr sz="1425" b="1">
                <a:solidFill>
                  <a:srgbClr val="4261A0"/>
                </a:solidFill>
                <a:latin typeface="Arial"/>
                <a:ea typeface="Arial"/>
                <a:cs typeface="Arial"/>
              </a:rPr>
              <a:t>ADD ONLY AFTER CONFIRMATION</a:t>
            </a:r>
          </a:p>
        </p:txBody>
      </p:sp>
      <p:sp>
        <p:nvSpPr>
          <p:cNvPr id="8" name="">
            <a:extLst xmlns:a="http://schemas.openxmlformats.org/drawingml/2006/main">
              <a:ext uri="{FF2B5EF4-FFF2-40B4-BE49-F238E27FC236}">
                <a16:creationId xmlns:a16="http://schemas.microsoft.com/office/drawing/2014/main" id="{BDA7AC16-7C80-4006-B872-8DE65055C3B5}"/>
              </a:ext>
            </a:extLst>
          </p:cNvPr>
          <p:cNvSpPr>
            <a:spLocks xmlns:a="http://schemas.openxmlformats.org/drawingml/2006/main" noGrp="1"/>
          </p:cNvSpPr>
          <p:nvPr/>
        </p:nvSpPr>
        <p:spPr>
          <a:xfrm xmlns:a="http://schemas.openxmlformats.org/drawingml/2006/main">
            <a:off x="609600" y="3152775"/>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Wait at least 15 minutes after the first fill. Require a 1¢ bid rise for three eligible consecutive minute checks.</a:t>
            </a:r>
          </a:p>
        </p:txBody>
      </p:sp>
      <p:sp>
        <p:nvSpPr>
          <p:cNvPr id="9" name="">
            <a:extLst xmlns:a="http://schemas.openxmlformats.org/drawingml/2006/main">
              <a:ext uri="{FF2B5EF4-FFF2-40B4-BE49-F238E27FC236}">
                <a16:creationId xmlns:a16="http://schemas.microsoft.com/office/drawing/2014/main" id="{7C3DCABB-D1FD-4590-B319-BB2F8E1C6B7C}"/>
              </a:ext>
            </a:extLst>
          </p:cNvPr>
          <p:cNvSpPr>
            <a:spLocks xmlns:a="http://schemas.openxmlformats.org/drawingml/2006/main" noGrp="1"/>
          </p:cNvSpPr>
          <p:nvPr/>
        </p:nvSpPr>
        <p:spPr>
          <a:xfrm xmlns:a="http://schemas.openxmlformats.org/drawingml/2006/main">
            <a:off x="609600" y="4029075"/>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4261A0"/>
                </a:solidFill>
                <a:latin typeface="Arial"/>
                <a:ea typeface="Arial"/>
                <a:cs typeface="Arial"/>
              </a:defRPr>
            </a:defPPr>
          </a:lstStyle>
          <a:p xmlns:a="http://schemas.openxmlformats.org/drawingml/2006/main">
            <a:pPr>
              <a:buNone/>
              <a:defRPr sz="1425" b="1">
                <a:solidFill>
                  <a:srgbClr val="4261A0"/>
                </a:solidFill>
                <a:latin typeface="Arial"/>
                <a:ea typeface="Arial"/>
                <a:cs typeface="Arial"/>
              </a:defRPr>
            </a:pPr>
            <a:r>
              <a:rPr sz="1425" b="1">
                <a:solidFill>
                  <a:srgbClr val="4261A0"/>
                </a:solidFill>
                <a:latin typeface="Arial"/>
                <a:ea typeface="Arial"/>
                <a:cs typeface="Arial"/>
              </a:rPr>
              <a:t>SPEND LIMIT</a:t>
            </a:r>
          </a:p>
        </p:txBody>
      </p:sp>
      <p:sp>
        <p:nvSpPr>
          <p:cNvPr id="10" name="">
            <a:extLst xmlns:a="http://schemas.openxmlformats.org/drawingml/2006/main">
              <a:ext uri="{FF2B5EF4-FFF2-40B4-BE49-F238E27FC236}">
                <a16:creationId xmlns:a16="http://schemas.microsoft.com/office/drawing/2014/main" id="{1EF16316-F2F3-4640-B024-B1ED25272865}"/>
              </a:ext>
            </a:extLst>
          </p:cNvPr>
          <p:cNvSpPr>
            <a:spLocks xmlns:a="http://schemas.openxmlformats.org/drawingml/2006/main" noGrp="1"/>
          </p:cNvSpPr>
          <p:nvPr/>
        </p:nvSpPr>
        <p:spPr>
          <a:xfrm xmlns:a="http://schemas.openxmlformats.org/drawingml/2006/main">
            <a:off x="609600" y="4324350"/>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Up to 2.5% first and 2.5% later. Use smaller bets, half the displayed depth and a 10% drawdown pause.</a:t>
            </a:r>
          </a:p>
        </p:txBody>
      </p:sp>
      <p:sp>
        <p:nvSpPr>
          <p:cNvPr id="11" name="">
            <a:extLst xmlns:a="http://schemas.openxmlformats.org/drawingml/2006/main">
              <a:ext uri="{FF2B5EF4-FFF2-40B4-BE49-F238E27FC236}">
                <a16:creationId xmlns:a16="http://schemas.microsoft.com/office/drawing/2014/main" id="{50B0F8F6-E1D2-4372-A297-46DBA31C23B3}"/>
              </a:ext>
            </a:extLst>
          </p:cNvPr>
          <p:cNvSpPr>
            <a:spLocks xmlns:a="http://schemas.openxmlformats.org/drawingml/2006/main" noGrp="1"/>
          </p:cNvSpPr>
          <p:nvPr/>
        </p:nvSpPr>
        <p:spPr>
          <a:xfrm xmlns:a="http://schemas.openxmlformats.org/drawingml/2006/main">
            <a:off x="609600" y="5200650"/>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4261A0"/>
                </a:solidFill>
                <a:latin typeface="Arial"/>
                <a:ea typeface="Arial"/>
                <a:cs typeface="Arial"/>
              </a:defRPr>
            </a:defPPr>
          </a:lstStyle>
          <a:p xmlns:a="http://schemas.openxmlformats.org/drawingml/2006/main">
            <a:pPr>
              <a:buNone/>
              <a:defRPr sz="1425" b="1">
                <a:solidFill>
                  <a:srgbClr val="4261A0"/>
                </a:solidFill>
                <a:latin typeface="Arial"/>
                <a:ea typeface="Arial"/>
                <a:cs typeface="Arial"/>
              </a:defRPr>
            </a:pPr>
            <a:r>
              <a:rPr sz="1425" b="1">
                <a:solidFill>
                  <a:srgbClr val="4261A0"/>
                </a:solidFill>
                <a:latin typeface="Arial"/>
                <a:ea typeface="Arial"/>
                <a:cs typeface="Arial"/>
              </a:rPr>
              <a:t>SELL WHEN</a:t>
            </a:r>
          </a:p>
        </p:txBody>
      </p:sp>
      <p:sp>
        <p:nvSpPr>
          <p:cNvPr id="12" name="">
            <a:extLst xmlns:a="http://schemas.openxmlformats.org/drawingml/2006/main">
              <a:ext uri="{FF2B5EF4-FFF2-40B4-BE49-F238E27FC236}">
                <a16:creationId xmlns:a16="http://schemas.microsoft.com/office/drawing/2014/main" id="{DC509CD8-3502-4B8B-8DE7-D10B4B4A972F}"/>
              </a:ext>
            </a:extLst>
          </p:cNvPr>
          <p:cNvSpPr>
            <a:spLocks xmlns:a="http://schemas.openxmlformats.org/drawingml/2006/main" noGrp="1"/>
          </p:cNvSpPr>
          <p:nvPr/>
        </p:nvSpPr>
        <p:spPr>
          <a:xfrm xmlns:a="http://schemas.openxmlformats.org/drawingml/2006/main">
            <a:off x="609600" y="5495925"/>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Hold to the official result. The extra purchase adds exposure, rather than creating an early exit.</a:t>
            </a:r>
          </a:p>
        </p:txBody>
      </p:sp>
      <p:graphicFrame>
        <p:nvGraphicFramePr>
          <p:cNvPr id="13" name="Chart">
            <a:extLst xmlns:a="http://schemas.openxmlformats.org/drawingml/2006/main">
              <a:ext uri="{FF2B5EF4-FFF2-40B4-BE49-F238E27FC236}">
                <a16:creationId xmlns:a16="http://schemas.microsoft.com/office/drawing/2014/main" id="{77E3E7D1-4029-4CC5-92E4-4FD634C73F87}"/>
              </a:ext>
            </a:extLst>
          </p:cNvPr>
          <p:cNvGraphicFramePr/>
          <p:nvPr/>
        </p:nvGraphicFramePr>
        <p:xfrm>
          <a:off xmlns:a="http://schemas.openxmlformats.org/drawingml/2006/main" x="6019800" y="1704975"/>
          <a:ext xmlns:a="http://schemas.openxmlformats.org/drawingml/2006/main" cx="5524500" cy="1838325"/>
        </p:xfrm>
        <a:graphic xmlns:a="http://schemas.openxmlformats.org/drawingml/2006/main">
          <a:graphicData uri="http://schemas.openxmlformats.org/drawingml/2006/chart">
            <c:chart xmlns:r="http://schemas.openxmlformats.org/officeDocument/2006/relationships" xmlns:c="http://schemas.openxmlformats.org/drawingml/2006/chart" r:id="R10da81a55a2048e9"/>
          </a:graphicData>
        </a:graphic>
      </p:graphicFrame>
      <p:graphicFrame>
        <p:nvGraphicFramePr>
          <p:cNvPr id="14" name="Chart">
            <a:extLst xmlns:a="http://schemas.openxmlformats.org/drawingml/2006/main">
              <a:ext uri="{FF2B5EF4-FFF2-40B4-BE49-F238E27FC236}">
                <a16:creationId xmlns:a16="http://schemas.microsoft.com/office/drawing/2014/main" id="{85FDF4E9-6801-426F-969C-30C00C1AC4AC}"/>
              </a:ext>
            </a:extLst>
          </p:cNvPr>
          <p:cNvGraphicFramePr/>
          <p:nvPr/>
        </p:nvGraphicFramePr>
        <p:xfrm>
          <a:off xmlns:a="http://schemas.openxmlformats.org/drawingml/2006/main" x="6019800" y="3657600"/>
          <a:ext xmlns:a="http://schemas.openxmlformats.org/drawingml/2006/main" cx="5524500" cy="1943100"/>
        </p:xfrm>
        <a:graphic xmlns:a="http://schemas.openxmlformats.org/drawingml/2006/main">
          <a:graphicData uri="http://schemas.openxmlformats.org/drawingml/2006/chart">
            <c:chart xmlns:r="http://schemas.openxmlformats.org/officeDocument/2006/relationships" xmlns:c="http://schemas.openxmlformats.org/drawingml/2006/chart" r:id="R9245124b994d4b29"/>
          </a:graphicData>
        </a:graphic>
      </p:graphicFrame>
      <p:sp>
        <p:nvSpPr>
          <p:cNvPr id="15" name="">
            <a:extLst xmlns:a="http://schemas.openxmlformats.org/drawingml/2006/main">
              <a:ext uri="{FF2B5EF4-FFF2-40B4-BE49-F238E27FC236}">
                <a16:creationId xmlns:a16="http://schemas.microsoft.com/office/drawing/2014/main" id="{F08E75BF-DEAE-4942-8105-2F687BFEE475}"/>
              </a:ext>
            </a:extLst>
          </p:cNvPr>
          <p:cNvSpPr>
            <a:spLocks xmlns:a="http://schemas.openxmlformats.org/drawingml/2006/main" noGrp="1"/>
          </p:cNvSpPr>
          <p:nvPr/>
        </p:nvSpPr>
        <p:spPr>
          <a:xfrm xmlns:a="http://schemas.openxmlformats.org/drawingml/2006/main">
            <a:off x="6143625" y="5762625"/>
            <a:ext cx="5257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77B"/>
                </a:solidFill>
                <a:latin typeface="Arial"/>
                <a:ea typeface="Arial"/>
                <a:cs typeface="Arial"/>
              </a:defRPr>
            </a:defPPr>
          </a:lstStyle>
          <a:p xmlns:a="http://schemas.openxmlformats.org/drawingml/2006/main">
            <a:pPr>
              <a:buNone/>
              <a:defRPr sz="1575" b="0">
                <a:solidFill>
                  <a:srgbClr val="52677B"/>
                </a:solidFill>
                <a:latin typeface="Arial"/>
                <a:ea typeface="Arial"/>
                <a:cs typeface="Arial"/>
              </a:defRPr>
            </a:pPr>
            <a:r>
              <a:rPr sz="1575" b="0">
                <a:solidFill>
                  <a:srgbClr val="52677B"/>
                </a:solidFill>
                <a:latin typeface="Arial"/>
                <a:ea typeface="Arial"/>
                <a:cs typeface="Arial"/>
              </a:rPr>
              <a:t>SAFE5_TARGET_ONLY. New York uses its own calibration and strict source checks.</a:t>
            </a:r>
          </a:p>
        </p:txBody>
      </p:sp>
    </p:spTree>
    <p:extLst>
      <p:ext uri="{BB962C8B-B14F-4D97-AF65-F5344CB8AC3E}">
        <p14:creationId xmlns:p14="http://schemas.microsoft.com/office/powerpoint/2010/main" val="1255412679"/>
      </p:ext>
    </p:extLst>
  </p:cSld>
</p:sld>
</file>

<file path=ppt/slides/slide13.xml><?xml version="1.0" encoding="utf-8"?>
<p:sld xmlns:p="http://schemas.openxmlformats.org/presentationml/2006/main">
  <p:cSld>
    <p:bg>
      <p:bgPr>
        <a:solidFill xmlns:a="http://schemas.openxmlformats.org/drawingml/2006/main">
          <a:srgbClr val="EFF3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830DBA9-359F-4041-8D61-EC80394D33E4}"/>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4261A0"/>
          </a:solidFill>
          <a:ln xmlns:a="http://schemas.openxmlformats.org/drawingml/2006/main" w="0">
            <a:noFill/>
          </a:ln>
        </p:spPr>
        <p:txBody>
          <a:bodyPr xmlns:a="http://schemas.openxmlformats.org/drawingml/2006/main" lIns="609600" tIns="200025" rIns="609600" bIns="76200"/>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NEW YORK · SEPTEMBER RESULTS</a:t>
            </a:r>
          </a:p>
        </p:txBody>
      </p:sp>
      <p:sp>
        <p:nvSpPr>
          <p:cNvPr id="2" name="">
            <a:extLst xmlns:a="http://schemas.openxmlformats.org/drawingml/2006/main">
              <a:ext uri="{FF2B5EF4-FFF2-40B4-BE49-F238E27FC236}">
                <a16:creationId xmlns:a16="http://schemas.microsoft.com/office/drawing/2014/main" id="{FAB473FE-AE11-4AEA-8DE2-CE29CFCE33CC}"/>
              </a:ext>
            </a:extLst>
          </p:cNvPr>
          <p:cNvSpPr>
            <a:spLocks xmlns:a="http://schemas.openxmlformats.org/drawingml/2006/main" noGrp="1"/>
          </p:cNvSpPr>
          <p:nvPr/>
        </p:nvSpPr>
        <p:spPr>
          <a:xfrm xmlns:a="http://schemas.openxmlformats.org/drawingml/2006/main">
            <a:off x="609600" y="762000"/>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4261A0"/>
                </a:solidFill>
                <a:latin typeface="Arial"/>
                <a:ea typeface="Arial"/>
                <a:cs typeface="Arial"/>
              </a:defRPr>
            </a:defPPr>
          </a:lstStyle>
          <a:p xmlns:a="http://schemas.openxmlformats.org/drawingml/2006/main">
            <a:pPr>
              <a:defRPr sz="3300" b="1">
                <a:solidFill>
                  <a:srgbClr val="4261A0"/>
                </a:solidFill>
                <a:latin typeface="Arial"/>
                <a:ea typeface="Arial"/>
                <a:cs typeface="Arial"/>
              </a:defRPr>
            </a:pPr>
            <a:r>
              <a:rPr sz="3300" b="1">
                <a:solidFill>
                  <a:srgbClr val="4261A0"/>
                </a:solidFill>
                <a:latin typeface="Arial"/>
                <a:ea typeface="Arial"/>
                <a:cs typeface="Arial"/>
              </a:rPr>
              <a:t>September paper replay</a:t>
            </a:r>
          </a:p>
        </p:txBody>
      </p:sp>
      <p:sp>
        <p:nvSpPr>
          <p:cNvPr id="3" name="">
            <a:extLst xmlns:a="http://schemas.openxmlformats.org/drawingml/2006/main">
              <a:ext uri="{FF2B5EF4-FFF2-40B4-BE49-F238E27FC236}">
                <a16:creationId xmlns:a16="http://schemas.microsoft.com/office/drawing/2014/main" id="{E750A124-989E-4FFD-9CDE-A14AEFA8A076}"/>
              </a:ext>
            </a:extLst>
          </p:cNvPr>
          <p:cNvSpPr>
            <a:spLocks xmlns:a="http://schemas.openxmlformats.org/drawingml/2006/main" noGrp="1"/>
          </p:cNvSpPr>
          <p:nvPr/>
        </p:nvSpPr>
        <p:spPr>
          <a:xfrm xmlns:a="http://schemas.openxmlformats.org/drawingml/2006/main">
            <a:off x="609600" y="143827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2677B"/>
                </a:solidFill>
                <a:latin typeface="Arial"/>
                <a:ea typeface="Arial"/>
                <a:cs typeface="Arial"/>
              </a:defRPr>
            </a:defPPr>
          </a:lstStyle>
          <a:p xmlns:a="http://schemas.openxmlformats.org/drawingml/2006/main">
            <a:pPr>
              <a:defRPr sz="1875" b="0">
                <a:solidFill>
                  <a:srgbClr val="52677B"/>
                </a:solidFill>
                <a:latin typeface="Arial"/>
                <a:ea typeface="Arial"/>
                <a:cs typeface="Arial"/>
              </a:defRPr>
            </a:pPr>
            <a:r>
              <a:rPr sz="1875" b="0">
                <a:solidFill>
                  <a:srgbClr val="52677B"/>
                </a:solidFill>
                <a:latin typeface="Arial"/>
                <a:ea typeface="Arial"/>
                <a:cs typeface="Arial"/>
              </a:rPr>
              <a:t>September 1–30, 2026</a:t>
            </a:r>
          </a:p>
        </p:txBody>
      </p:sp>
      <p:sp>
        <p:nvSpPr>
          <p:cNvPr id="4" name="">
            <a:extLst xmlns:a="http://schemas.openxmlformats.org/drawingml/2006/main">
              <a:ext uri="{FF2B5EF4-FFF2-40B4-BE49-F238E27FC236}">
                <a16:creationId xmlns:a16="http://schemas.microsoft.com/office/drawing/2014/main" id="{B507440F-B2BD-49CD-9631-A60F369321F5}"/>
              </a:ext>
            </a:extLst>
          </p:cNvPr>
          <p:cNvSpPr>
            <a:spLocks xmlns:a="http://schemas.openxmlformats.org/drawingml/2006/main" noGrp="1"/>
          </p:cNvSpPr>
          <p:nvPr/>
        </p:nvSpPr>
        <p:spPr>
          <a:xfrm xmlns:a="http://schemas.openxmlformats.org/drawingml/2006/main">
            <a:off x="609600" y="2000250"/>
            <a:ext cx="5067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4261A0"/>
                </a:solidFill>
                <a:latin typeface="Arial"/>
                <a:ea typeface="Arial"/>
                <a:cs typeface="Arial"/>
              </a:defRPr>
            </a:defPPr>
          </a:lstStyle>
          <a:p xmlns:a="http://schemas.openxmlformats.org/drawingml/2006/main">
            <a:pPr>
              <a:defRPr sz="1425" b="1">
                <a:solidFill>
                  <a:srgbClr val="4261A0"/>
                </a:solidFill>
                <a:latin typeface="Arial"/>
                <a:ea typeface="Arial"/>
                <a:cs typeface="Arial"/>
              </a:defRPr>
            </a:pPr>
            <a:r>
              <a:rPr sz="1425" b="1">
                <a:solidFill>
                  <a:srgbClr val="4261A0"/>
                </a:solidFill>
                <a:latin typeface="Arial"/>
                <a:ea typeface="Arial"/>
                <a:cs typeface="Arial"/>
              </a:rPr>
              <a:t>CONSERVATIVE P09*</a:t>
            </a:r>
          </a:p>
        </p:txBody>
      </p:sp>
      <p:sp>
        <p:nvSpPr>
          <p:cNvPr id="5" name="">
            <a:extLst xmlns:a="http://schemas.openxmlformats.org/drawingml/2006/main">
              <a:ext uri="{FF2B5EF4-FFF2-40B4-BE49-F238E27FC236}">
                <a16:creationId xmlns:a16="http://schemas.microsoft.com/office/drawing/2014/main" id="{C0BDDB98-55B5-4994-8B4E-B1848DA3E196}"/>
              </a:ext>
            </a:extLst>
          </p:cNvPr>
          <p:cNvSpPr>
            <a:spLocks xmlns:a="http://schemas.openxmlformats.org/drawingml/2006/main" noGrp="1"/>
          </p:cNvSpPr>
          <p:nvPr/>
        </p:nvSpPr>
        <p:spPr>
          <a:xfrm xmlns:a="http://schemas.openxmlformats.org/drawingml/2006/main">
            <a:off x="609600" y="2295525"/>
            <a:ext cx="5067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Known cash $91.75. Full return unknown.</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2 profitable / 4 losing days.</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97 contracts.</a:t>
            </a:r>
          </a:p>
        </p:txBody>
      </p:sp>
      <p:sp>
        <p:nvSpPr>
          <p:cNvPr id="6" name="">
            <a:extLst xmlns:a="http://schemas.openxmlformats.org/drawingml/2006/main">
              <a:ext uri="{FF2B5EF4-FFF2-40B4-BE49-F238E27FC236}">
                <a16:creationId xmlns:a16="http://schemas.microsoft.com/office/drawing/2014/main" id="{7BE02CA6-F9A3-41E7-8170-306090EC87EA}"/>
              </a:ext>
            </a:extLst>
          </p:cNvPr>
          <p:cNvSpPr>
            <a:spLocks xmlns:a="http://schemas.openxmlformats.org/drawingml/2006/main" noGrp="1"/>
          </p:cNvSpPr>
          <p:nvPr/>
        </p:nvSpPr>
        <p:spPr>
          <a:xfrm xmlns:a="http://schemas.openxmlformats.org/drawingml/2006/main">
            <a:off x="609600" y="3571875"/>
            <a:ext cx="5067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4261A0"/>
                </a:solidFill>
                <a:latin typeface="Arial"/>
                <a:ea typeface="Arial"/>
                <a:cs typeface="Arial"/>
              </a:defRPr>
            </a:defPPr>
          </a:lstStyle>
          <a:p xmlns:a="http://schemas.openxmlformats.org/drawingml/2006/main">
            <a:pPr>
              <a:defRPr sz="1425" b="1">
                <a:solidFill>
                  <a:srgbClr val="4261A0"/>
                </a:solidFill>
                <a:latin typeface="Arial"/>
                <a:ea typeface="Arial"/>
                <a:cs typeface="Arial"/>
              </a:defRPr>
            </a:pPr>
            <a:r>
              <a:rPr sz="1425" b="1">
                <a:solidFill>
                  <a:srgbClr val="4261A0"/>
                </a:solidFill>
                <a:latin typeface="Arial"/>
                <a:ea typeface="Arial"/>
                <a:cs typeface="Arial"/>
              </a:rPr>
              <a:t>TARGETED SAFETY</a:t>
            </a:r>
          </a:p>
        </p:txBody>
      </p:sp>
      <p:sp>
        <p:nvSpPr>
          <p:cNvPr id="7" name="">
            <a:extLst xmlns:a="http://schemas.openxmlformats.org/drawingml/2006/main">
              <a:ext uri="{FF2B5EF4-FFF2-40B4-BE49-F238E27FC236}">
                <a16:creationId xmlns:a16="http://schemas.microsoft.com/office/drawing/2014/main" id="{872EFFEB-01C2-4F34-A0B4-BCB8FBC34C7A}"/>
              </a:ext>
            </a:extLst>
          </p:cNvPr>
          <p:cNvSpPr>
            <a:spLocks xmlns:a="http://schemas.openxmlformats.org/drawingml/2006/main" noGrp="1"/>
          </p:cNvSpPr>
          <p:nvPr/>
        </p:nvSpPr>
        <p:spPr>
          <a:xfrm xmlns:a="http://schemas.openxmlformats.org/drawingml/2006/main">
            <a:off x="609600" y="3867150"/>
            <a:ext cx="5067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$101.85 from $100 (+$1.85).</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1 profitable / 0 losing days.</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6 contracts.</a:t>
            </a:r>
          </a:p>
        </p:txBody>
      </p:sp>
      <p:sp>
        <p:nvSpPr>
          <p:cNvPr id="8" name="">
            <a:extLst xmlns:a="http://schemas.openxmlformats.org/drawingml/2006/main">
              <a:ext uri="{FF2B5EF4-FFF2-40B4-BE49-F238E27FC236}">
                <a16:creationId xmlns:a16="http://schemas.microsoft.com/office/drawing/2014/main" id="{FFA3E745-E5A8-42D4-8626-4033508DF596}"/>
              </a:ext>
            </a:extLst>
          </p:cNvPr>
          <p:cNvSpPr>
            <a:spLocks xmlns:a="http://schemas.openxmlformats.org/drawingml/2006/main" noGrp="1"/>
          </p:cNvSpPr>
          <p:nvPr/>
        </p:nvSpPr>
        <p:spPr>
          <a:xfrm xmlns:a="http://schemas.openxmlformats.org/drawingml/2006/main">
            <a:off x="609600" y="5095875"/>
            <a:ext cx="506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4261A0"/>
                </a:solidFill>
                <a:latin typeface="Arial"/>
                <a:ea typeface="Arial"/>
                <a:cs typeface="Arial"/>
              </a:defRPr>
            </a:defPPr>
          </a:lstStyle>
          <a:p xmlns:a="http://schemas.openxmlformats.org/drawingml/2006/main">
            <a:pPr>
              <a:defRPr sz="1425" b="1">
                <a:solidFill>
                  <a:srgbClr val="4261A0"/>
                </a:solidFill>
                <a:latin typeface="Arial"/>
                <a:ea typeface="Arial"/>
                <a:cs typeface="Arial"/>
              </a:defRPr>
            </a:pPr>
            <a:r>
              <a:rPr sz="1425" b="1">
                <a:solidFill>
                  <a:srgbClr val="4261A0"/>
                </a:solidFill>
                <a:latin typeface="Arial"/>
                <a:ea typeface="Arial"/>
                <a:cs typeface="Arial"/>
              </a:rPr>
              <a:t>WHAT THIS SHOWS</a:t>
            </a:r>
          </a:p>
        </p:txBody>
      </p:sp>
      <p:sp>
        <p:nvSpPr>
          <p:cNvPr id="9" name="">
            <a:extLst xmlns:a="http://schemas.openxmlformats.org/drawingml/2006/main">
              <a:ext uri="{FF2B5EF4-FFF2-40B4-BE49-F238E27FC236}">
                <a16:creationId xmlns:a16="http://schemas.microsoft.com/office/drawing/2014/main" id="{67285DDE-12C6-4F7B-8EF4-4A8B8AAE56F9}"/>
              </a:ext>
            </a:extLst>
          </p:cNvPr>
          <p:cNvSpPr>
            <a:spLocks xmlns:a="http://schemas.openxmlformats.org/drawingml/2006/main" noGrp="1"/>
          </p:cNvSpPr>
          <p:nvPr/>
        </p:nvSpPr>
        <p:spPr>
          <a:xfrm xmlns:a="http://schemas.openxmlformats.org/drawingml/2006/main">
            <a:off x="609600" y="5391150"/>
            <a:ext cx="50673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Safety’s $1.85 gain came from one profitable day. P09’s full-month result remains unknown.</a:t>
            </a:r>
          </a:p>
        </p:txBody>
      </p:sp>
      <p:graphicFrame>
        <p:nvGraphicFramePr>
          <p:cNvPr id="10" name="Chart">
            <a:extLst xmlns:a="http://schemas.openxmlformats.org/drawingml/2006/main">
              <a:ext uri="{FF2B5EF4-FFF2-40B4-BE49-F238E27FC236}">
                <a16:creationId xmlns:a16="http://schemas.microsoft.com/office/drawing/2014/main" id="{0A6B3FDC-FEF6-48B4-9ED3-BC975DAFFFD2}"/>
              </a:ext>
            </a:extLst>
          </p:cNvPr>
          <p:cNvGraphicFramePr/>
          <p:nvPr/>
        </p:nvGraphicFramePr>
        <p:xfrm>
          <a:off xmlns:a="http://schemas.openxmlformats.org/drawingml/2006/main" x="6019800" y="1981200"/>
          <a:ext xmlns:a="http://schemas.openxmlformats.org/drawingml/2006/main" cx="5524500" cy="3705225"/>
        </p:xfrm>
        <a:graphic xmlns:a="http://schemas.openxmlformats.org/drawingml/2006/main">
          <a:graphicData uri="http://schemas.openxmlformats.org/drawingml/2006/chart">
            <c:chart xmlns:r="http://schemas.openxmlformats.org/officeDocument/2006/relationships" xmlns:c="http://schemas.openxmlformats.org/drawingml/2006/chart" r:id="R7c474776faa147af"/>
          </a:graphicData>
        </a:graphic>
      </p:graphicFrame>
      <p:sp>
        <p:nvSpPr>
          <p:cNvPr id="11" name="">
            <a:extLst xmlns:a="http://schemas.openxmlformats.org/drawingml/2006/main">
              <a:ext uri="{FF2B5EF4-FFF2-40B4-BE49-F238E27FC236}">
                <a16:creationId xmlns:a16="http://schemas.microsoft.com/office/drawing/2014/main" id="{00A33087-699C-4D21-9D55-2CAE69202DCA}"/>
              </a:ext>
            </a:extLst>
          </p:cNvPr>
          <p:cNvSpPr>
            <a:spLocks xmlns:a="http://schemas.openxmlformats.org/drawingml/2006/main" noGrp="1"/>
          </p:cNvSpPr>
          <p:nvPr/>
        </p:nvSpPr>
        <p:spPr>
          <a:xfrm xmlns:a="http://schemas.openxmlformats.org/drawingml/2006/main">
            <a:off x="6143625" y="5800725"/>
            <a:ext cx="525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77B"/>
                </a:solidFill>
                <a:latin typeface="Arial"/>
                <a:ea typeface="Arial"/>
                <a:cs typeface="Arial"/>
              </a:defRPr>
            </a:defPPr>
          </a:lstStyle>
          <a:p xmlns:a="http://schemas.openxmlformats.org/drawingml/2006/main">
            <a:pPr>
              <a:defRPr sz="1575" b="0">
                <a:solidFill>
                  <a:srgbClr val="52677B"/>
                </a:solidFill>
                <a:latin typeface="Arial"/>
                <a:ea typeface="Arial"/>
                <a:cs typeface="Arial"/>
              </a:defRPr>
            </a:pPr>
            <a:r>
              <a:rPr sz="1575" b="0">
                <a:solidFill>
                  <a:srgbClr val="52677B"/>
                </a:solidFill>
                <a:latin typeface="Arial"/>
                <a:ea typeface="Arial"/>
                <a:cs typeface="Arial"/>
              </a:rPr>
              <a:t>*P09 remains incomplete. $8.88 is reserved after a missing arrival quote.</a:t>
            </a:r>
          </a:p>
        </p:txBody>
      </p:sp>
      <p:sp>
        <p:nvSpPr>
          <p:cNvPr id="12" name="">
            <a:extLst xmlns:a="http://schemas.openxmlformats.org/drawingml/2006/main">
              <a:ext uri="{FF2B5EF4-FFF2-40B4-BE49-F238E27FC236}">
                <a16:creationId xmlns:a16="http://schemas.microsoft.com/office/drawing/2014/main" id="{E31C32A6-B3A1-4398-BB43-C1F067109D7B}"/>
              </a:ext>
            </a:extLst>
          </p:cNvPr>
          <p:cNvSpPr>
            <a:spLocks xmlns:a="http://schemas.openxmlformats.org/drawingml/2006/main" noGrp="1"/>
          </p:cNvSpPr>
          <p:nvPr/>
        </p:nvSpPr>
        <p:spPr>
          <a:xfrm xmlns:a="http://schemas.openxmlformats.org/drawingml/2006/main">
            <a:off x="6096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B"/>
                </a:solidFill>
                <a:latin typeface="Arial"/>
                <a:ea typeface="Arial"/>
                <a:cs typeface="Arial"/>
              </a:defRPr>
            </a:defPPr>
          </a:lstStyle>
          <a:p xmlns:a="http://schemas.openxmlformats.org/drawingml/2006/main">
            <a:pPr>
              <a:defRPr sz="1125" b="0">
                <a:solidFill>
                  <a:srgbClr val="52677B"/>
                </a:solidFill>
                <a:latin typeface="Arial"/>
                <a:ea typeface="Arial"/>
                <a:cs typeface="Arial"/>
              </a:defRPr>
            </a:pPr>
            <a:r>
              <a:rPr sz="1125" b="0">
                <a:solidFill>
                  <a:srgbClr val="52677B"/>
                </a:solidFill>
                <a:latin typeface="Arial"/>
                <a:ea typeface="Arial"/>
                <a:cs typeface="Arial"/>
              </a:rPr>
              <a:t>Separate $100 per strategy and period. Fees included. Conditional archive replay.</a:t>
            </a:r>
          </a:p>
        </p:txBody>
      </p:sp>
      <p:sp>
        <p:nvSpPr>
          <p:cNvPr id="13" name="">
            <a:extLst xmlns:a="http://schemas.openxmlformats.org/drawingml/2006/main">
              <a:ext uri="{FF2B5EF4-FFF2-40B4-BE49-F238E27FC236}">
                <a16:creationId xmlns:a16="http://schemas.microsoft.com/office/drawing/2014/main" id="{820A4D34-339F-4856-8B93-01E2A197BEE7}"/>
              </a:ext>
            </a:extLst>
          </p:cNvPr>
          <p:cNvSpPr>
            <a:spLocks xmlns:a="http://schemas.openxmlformats.org/drawingml/2006/main" noGrp="1"/>
          </p:cNvSpPr>
          <p:nvPr/>
        </p:nvSpPr>
        <p:spPr>
          <a:xfrm xmlns:a="http://schemas.openxmlformats.org/drawingml/2006/main">
            <a:off x="11049000" y="6400800"/>
            <a:ext cx="495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77B"/>
                </a:solidFill>
                <a:latin typeface="Arial"/>
                <a:ea typeface="Arial"/>
                <a:cs typeface="Arial"/>
              </a:defRPr>
            </a:defPPr>
          </a:lstStyle>
          <a:p xmlns:a="http://schemas.openxmlformats.org/drawingml/2006/main">
            <a:pPr>
              <a:defRPr sz="1500" b="0">
                <a:solidFill>
                  <a:srgbClr val="52677B"/>
                </a:solidFill>
                <a:latin typeface="Arial"/>
                <a:ea typeface="Arial"/>
                <a:cs typeface="Arial"/>
              </a:defRPr>
            </a:pPr>
            <a:r>
              <a:rPr sz="1500" b="0">
                <a:solidFill>
                  <a:srgbClr val="52677B"/>
                </a:solidFill>
                <a:latin typeface="Arial"/>
                <a:ea typeface="Arial"/>
                <a:cs typeface="Arial"/>
              </a:rPr>
              <a:t>13</a:t>
            </a:r>
          </a:p>
        </p:txBody>
      </p:sp>
    </p:spTree>
    <p:extLst>
      <p:ext uri="{BB962C8B-B14F-4D97-AF65-F5344CB8AC3E}">
        <p14:creationId xmlns:p14="http://schemas.microsoft.com/office/powerpoint/2010/main" val="1141140517"/>
      </p:ext>
    </p:extLst>
  </p:cSld>
</p:sld>
</file>

<file path=ppt/slides/slide14.xml><?xml version="1.0" encoding="utf-8"?>
<p:sld xmlns:p="http://schemas.openxmlformats.org/presentationml/2006/main">
  <p:cSld>
    <p:bg>
      <p:bgPr>
        <a:solidFill xmlns:a="http://schemas.openxmlformats.org/drawingml/2006/main">
          <a:srgbClr val="EFF3FC"/>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27422A9-278F-4BC6-A7A0-ECBFCF944AA5}"/>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4261A0"/>
          </a:solidFill>
          <a:ln xmlns:a="http://schemas.openxmlformats.org/drawingml/2006/main" w="0">
            <a:noFill/>
          </a:ln>
        </p:spPr>
        <p:txBody>
          <a:bodyPr xmlns:a="http://schemas.openxmlformats.org/drawingml/2006/main" lIns="609600" tIns="200025" rIns="609600" bIns="76200"/>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NEW YORK · OCTOBER RESULTS</a:t>
            </a:r>
          </a:p>
        </p:txBody>
      </p:sp>
      <p:sp>
        <p:nvSpPr>
          <p:cNvPr id="2" name="">
            <a:extLst xmlns:a="http://schemas.openxmlformats.org/drawingml/2006/main">
              <a:ext uri="{FF2B5EF4-FFF2-40B4-BE49-F238E27FC236}">
                <a16:creationId xmlns:a16="http://schemas.microsoft.com/office/drawing/2014/main" id="{C267F26B-8154-46A3-A610-0075C8007830}"/>
              </a:ext>
            </a:extLst>
          </p:cNvPr>
          <p:cNvSpPr>
            <a:spLocks xmlns:a="http://schemas.openxmlformats.org/drawingml/2006/main" noGrp="1"/>
          </p:cNvSpPr>
          <p:nvPr/>
        </p:nvSpPr>
        <p:spPr>
          <a:xfrm xmlns:a="http://schemas.openxmlformats.org/drawingml/2006/main">
            <a:off x="609600" y="762000"/>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4261A0"/>
                </a:solidFill>
                <a:latin typeface="Arial"/>
                <a:ea typeface="Arial"/>
                <a:cs typeface="Arial"/>
              </a:defRPr>
            </a:defPPr>
          </a:lstStyle>
          <a:p xmlns:a="http://schemas.openxmlformats.org/drawingml/2006/main">
            <a:pPr>
              <a:defRPr sz="3300" b="1">
                <a:solidFill>
                  <a:srgbClr val="4261A0"/>
                </a:solidFill>
                <a:latin typeface="Arial"/>
                <a:ea typeface="Arial"/>
                <a:cs typeface="Arial"/>
              </a:defRPr>
            </a:pPr>
            <a:r>
              <a:rPr sz="3300" b="1">
                <a:solidFill>
                  <a:srgbClr val="4261A0"/>
                </a:solidFill>
                <a:latin typeface="Arial"/>
                <a:ea typeface="Arial"/>
                <a:cs typeface="Arial"/>
              </a:rPr>
              <a:t>October paper replay</a:t>
            </a:r>
          </a:p>
        </p:txBody>
      </p:sp>
      <p:sp>
        <p:nvSpPr>
          <p:cNvPr id="3" name="">
            <a:extLst xmlns:a="http://schemas.openxmlformats.org/drawingml/2006/main">
              <a:ext uri="{FF2B5EF4-FFF2-40B4-BE49-F238E27FC236}">
                <a16:creationId xmlns:a16="http://schemas.microsoft.com/office/drawing/2014/main" id="{C3F19B78-0014-47F7-8174-51CA4C4A87C5}"/>
              </a:ext>
            </a:extLst>
          </p:cNvPr>
          <p:cNvSpPr>
            <a:spLocks xmlns:a="http://schemas.openxmlformats.org/drawingml/2006/main" noGrp="1"/>
          </p:cNvSpPr>
          <p:nvPr/>
        </p:nvSpPr>
        <p:spPr>
          <a:xfrm xmlns:a="http://schemas.openxmlformats.org/drawingml/2006/main">
            <a:off x="609600" y="143827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2677B"/>
                </a:solidFill>
                <a:latin typeface="Arial"/>
                <a:ea typeface="Arial"/>
                <a:cs typeface="Arial"/>
              </a:defRPr>
            </a:defPPr>
          </a:lstStyle>
          <a:p xmlns:a="http://schemas.openxmlformats.org/drawingml/2006/main">
            <a:pPr>
              <a:defRPr sz="1875" b="0">
                <a:solidFill>
                  <a:srgbClr val="52677B"/>
                </a:solidFill>
                <a:latin typeface="Arial"/>
                <a:ea typeface="Arial"/>
                <a:cs typeface="Arial"/>
              </a:defRPr>
            </a:pPr>
            <a:r>
              <a:rPr sz="1875" b="0">
                <a:solidFill>
                  <a:srgbClr val="52677B"/>
                </a:solidFill>
                <a:latin typeface="Arial"/>
                <a:ea typeface="Arial"/>
                <a:cs typeface="Arial"/>
              </a:rPr>
              <a:t>October 1–11, 2026</a:t>
            </a:r>
          </a:p>
        </p:txBody>
      </p:sp>
      <p:sp>
        <p:nvSpPr>
          <p:cNvPr id="4" name="">
            <a:extLst xmlns:a="http://schemas.openxmlformats.org/drawingml/2006/main">
              <a:ext uri="{FF2B5EF4-FFF2-40B4-BE49-F238E27FC236}">
                <a16:creationId xmlns:a16="http://schemas.microsoft.com/office/drawing/2014/main" id="{9F785F3C-1E40-4B61-BCE4-0D3FD62DFAB1}"/>
              </a:ext>
            </a:extLst>
          </p:cNvPr>
          <p:cNvSpPr>
            <a:spLocks xmlns:a="http://schemas.openxmlformats.org/drawingml/2006/main" noGrp="1"/>
          </p:cNvSpPr>
          <p:nvPr/>
        </p:nvSpPr>
        <p:spPr>
          <a:xfrm xmlns:a="http://schemas.openxmlformats.org/drawingml/2006/main">
            <a:off x="609600" y="2000250"/>
            <a:ext cx="5067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4261A0"/>
                </a:solidFill>
                <a:latin typeface="Arial"/>
                <a:ea typeface="Arial"/>
                <a:cs typeface="Arial"/>
              </a:defRPr>
            </a:defPPr>
          </a:lstStyle>
          <a:p xmlns:a="http://schemas.openxmlformats.org/drawingml/2006/main">
            <a:pPr>
              <a:defRPr sz="1425" b="1">
                <a:solidFill>
                  <a:srgbClr val="4261A0"/>
                </a:solidFill>
                <a:latin typeface="Arial"/>
                <a:ea typeface="Arial"/>
                <a:cs typeface="Arial"/>
              </a:defRPr>
            </a:pPr>
            <a:r>
              <a:rPr sz="1425" b="1">
                <a:solidFill>
                  <a:srgbClr val="4261A0"/>
                </a:solidFill>
                <a:latin typeface="Arial"/>
                <a:ea typeface="Arial"/>
                <a:cs typeface="Arial"/>
              </a:rPr>
              <a:t>CONSERVATIVE P09</a:t>
            </a:r>
          </a:p>
        </p:txBody>
      </p:sp>
      <p:sp>
        <p:nvSpPr>
          <p:cNvPr id="5" name="">
            <a:extLst xmlns:a="http://schemas.openxmlformats.org/drawingml/2006/main">
              <a:ext uri="{FF2B5EF4-FFF2-40B4-BE49-F238E27FC236}">
                <a16:creationId xmlns:a16="http://schemas.microsoft.com/office/drawing/2014/main" id="{30D0B811-C81A-487E-96EC-DD2574F96327}"/>
              </a:ext>
            </a:extLst>
          </p:cNvPr>
          <p:cNvSpPr>
            <a:spLocks xmlns:a="http://schemas.openxmlformats.org/drawingml/2006/main" noGrp="1"/>
          </p:cNvSpPr>
          <p:nvPr/>
        </p:nvSpPr>
        <p:spPr>
          <a:xfrm xmlns:a="http://schemas.openxmlformats.org/drawingml/2006/main">
            <a:off x="609600" y="2295525"/>
            <a:ext cx="5067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$117.49 from $100 (+$17.49).</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2 profitable / 1 losing days.</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45 contracts.</a:t>
            </a:r>
          </a:p>
        </p:txBody>
      </p:sp>
      <p:sp>
        <p:nvSpPr>
          <p:cNvPr id="6" name="">
            <a:extLst xmlns:a="http://schemas.openxmlformats.org/drawingml/2006/main">
              <a:ext uri="{FF2B5EF4-FFF2-40B4-BE49-F238E27FC236}">
                <a16:creationId xmlns:a16="http://schemas.microsoft.com/office/drawing/2014/main" id="{4AAEB764-DCDC-4B2E-857D-CA942548DFE3}"/>
              </a:ext>
            </a:extLst>
          </p:cNvPr>
          <p:cNvSpPr>
            <a:spLocks xmlns:a="http://schemas.openxmlformats.org/drawingml/2006/main" noGrp="1"/>
          </p:cNvSpPr>
          <p:nvPr/>
        </p:nvSpPr>
        <p:spPr>
          <a:xfrm xmlns:a="http://schemas.openxmlformats.org/drawingml/2006/main">
            <a:off x="609600" y="3571875"/>
            <a:ext cx="5067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4261A0"/>
                </a:solidFill>
                <a:latin typeface="Arial"/>
                <a:ea typeface="Arial"/>
                <a:cs typeface="Arial"/>
              </a:defRPr>
            </a:defPPr>
          </a:lstStyle>
          <a:p xmlns:a="http://schemas.openxmlformats.org/drawingml/2006/main">
            <a:pPr>
              <a:defRPr sz="1425" b="1">
                <a:solidFill>
                  <a:srgbClr val="4261A0"/>
                </a:solidFill>
                <a:latin typeface="Arial"/>
                <a:ea typeface="Arial"/>
                <a:cs typeface="Arial"/>
              </a:defRPr>
            </a:pPr>
            <a:r>
              <a:rPr sz="1425" b="1">
                <a:solidFill>
                  <a:srgbClr val="4261A0"/>
                </a:solidFill>
                <a:latin typeface="Arial"/>
                <a:ea typeface="Arial"/>
                <a:cs typeface="Arial"/>
              </a:rPr>
              <a:t>TARGETED SAFETY</a:t>
            </a:r>
          </a:p>
        </p:txBody>
      </p:sp>
      <p:sp>
        <p:nvSpPr>
          <p:cNvPr id="7" name="">
            <a:extLst xmlns:a="http://schemas.openxmlformats.org/drawingml/2006/main">
              <a:ext uri="{FF2B5EF4-FFF2-40B4-BE49-F238E27FC236}">
                <a16:creationId xmlns:a16="http://schemas.microsoft.com/office/drawing/2014/main" id="{5E28A506-DB8F-4566-8EBF-748228EA30A4}"/>
              </a:ext>
            </a:extLst>
          </p:cNvPr>
          <p:cNvSpPr>
            <a:spLocks xmlns:a="http://schemas.openxmlformats.org/drawingml/2006/main" noGrp="1"/>
          </p:cNvSpPr>
          <p:nvPr/>
        </p:nvSpPr>
        <p:spPr>
          <a:xfrm xmlns:a="http://schemas.openxmlformats.org/drawingml/2006/main">
            <a:off x="609600" y="3867150"/>
            <a:ext cx="5067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$100.00 from $100. No trades.</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0 profitable / 0 losing days.</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0 contracts.</a:t>
            </a:r>
          </a:p>
        </p:txBody>
      </p:sp>
      <p:sp>
        <p:nvSpPr>
          <p:cNvPr id="8" name="">
            <a:extLst xmlns:a="http://schemas.openxmlformats.org/drawingml/2006/main">
              <a:ext uri="{FF2B5EF4-FFF2-40B4-BE49-F238E27FC236}">
                <a16:creationId xmlns:a16="http://schemas.microsoft.com/office/drawing/2014/main" id="{0D4583C4-EDC5-4443-871A-631CB82F1ADE}"/>
              </a:ext>
            </a:extLst>
          </p:cNvPr>
          <p:cNvSpPr>
            <a:spLocks xmlns:a="http://schemas.openxmlformats.org/drawingml/2006/main" noGrp="1"/>
          </p:cNvSpPr>
          <p:nvPr/>
        </p:nvSpPr>
        <p:spPr>
          <a:xfrm xmlns:a="http://schemas.openxmlformats.org/drawingml/2006/main">
            <a:off x="609600" y="5095875"/>
            <a:ext cx="506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4261A0"/>
                </a:solidFill>
                <a:latin typeface="Arial"/>
                <a:ea typeface="Arial"/>
                <a:cs typeface="Arial"/>
              </a:defRPr>
            </a:defPPr>
          </a:lstStyle>
          <a:p xmlns:a="http://schemas.openxmlformats.org/drawingml/2006/main">
            <a:pPr>
              <a:defRPr sz="1425" b="1">
                <a:solidFill>
                  <a:srgbClr val="4261A0"/>
                </a:solidFill>
                <a:latin typeface="Arial"/>
                <a:ea typeface="Arial"/>
                <a:cs typeface="Arial"/>
              </a:defRPr>
            </a:pPr>
            <a:r>
              <a:rPr sz="1425" b="1">
                <a:solidFill>
                  <a:srgbClr val="4261A0"/>
                </a:solidFill>
                <a:latin typeface="Arial"/>
                <a:ea typeface="Arial"/>
                <a:cs typeface="Arial"/>
              </a:rPr>
              <a:t>WHAT THIS SHOWS</a:t>
            </a:r>
          </a:p>
        </p:txBody>
      </p:sp>
      <p:sp>
        <p:nvSpPr>
          <p:cNvPr id="9" name="">
            <a:extLst xmlns:a="http://schemas.openxmlformats.org/drawingml/2006/main">
              <a:ext uri="{FF2B5EF4-FFF2-40B4-BE49-F238E27FC236}">
                <a16:creationId xmlns:a16="http://schemas.microsoft.com/office/drawing/2014/main" id="{D5934EE3-ADA5-4CD8-B3A8-F4B750599C1B}"/>
              </a:ext>
            </a:extLst>
          </p:cNvPr>
          <p:cNvSpPr>
            <a:spLocks xmlns:a="http://schemas.openxmlformats.org/drawingml/2006/main" noGrp="1"/>
          </p:cNvSpPr>
          <p:nvPr/>
        </p:nvSpPr>
        <p:spPr>
          <a:xfrm xmlns:a="http://schemas.openxmlformats.org/drawingml/2006/main">
            <a:off x="609600" y="5391150"/>
            <a:ext cx="50673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P09 earned money on the recorded trades. Safety made no qualifying purchases during these 11 days.</a:t>
            </a:r>
          </a:p>
        </p:txBody>
      </p:sp>
      <p:graphicFrame>
        <p:nvGraphicFramePr>
          <p:cNvPr id="10" name="Chart">
            <a:extLst xmlns:a="http://schemas.openxmlformats.org/drawingml/2006/main">
              <a:ext uri="{FF2B5EF4-FFF2-40B4-BE49-F238E27FC236}">
                <a16:creationId xmlns:a16="http://schemas.microsoft.com/office/drawing/2014/main" id="{7B882E43-29FC-47DB-9DEC-1C5392AD69D2}"/>
              </a:ext>
            </a:extLst>
          </p:cNvPr>
          <p:cNvGraphicFramePr/>
          <p:nvPr/>
        </p:nvGraphicFramePr>
        <p:xfrm>
          <a:off xmlns:a="http://schemas.openxmlformats.org/drawingml/2006/main" x="6019800" y="1981200"/>
          <a:ext xmlns:a="http://schemas.openxmlformats.org/drawingml/2006/main" cx="5524500" cy="3705225"/>
        </p:xfrm>
        <a:graphic xmlns:a="http://schemas.openxmlformats.org/drawingml/2006/main">
          <a:graphicData uri="http://schemas.openxmlformats.org/drawingml/2006/chart">
            <c:chart xmlns:r="http://schemas.openxmlformats.org/officeDocument/2006/relationships" xmlns:c="http://schemas.openxmlformats.org/drawingml/2006/chart" r:id="R4fde376a3fa148cd"/>
          </a:graphicData>
        </a:graphic>
      </p:graphicFrame>
      <p:sp>
        <p:nvSpPr>
          <p:cNvPr id="11" name="">
            <a:extLst xmlns:a="http://schemas.openxmlformats.org/drawingml/2006/main">
              <a:ext uri="{FF2B5EF4-FFF2-40B4-BE49-F238E27FC236}">
                <a16:creationId xmlns:a16="http://schemas.microsoft.com/office/drawing/2014/main" id="{2C36C772-01E8-4D39-B717-E87FBE8D5C4E}"/>
              </a:ext>
            </a:extLst>
          </p:cNvPr>
          <p:cNvSpPr>
            <a:spLocks xmlns:a="http://schemas.openxmlformats.org/drawingml/2006/main" noGrp="1"/>
          </p:cNvSpPr>
          <p:nvPr/>
        </p:nvSpPr>
        <p:spPr>
          <a:xfrm xmlns:a="http://schemas.openxmlformats.org/drawingml/2006/main">
            <a:off x="6143625" y="5800725"/>
            <a:ext cx="525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77B"/>
                </a:solidFill>
                <a:latin typeface="Arial"/>
                <a:ea typeface="Arial"/>
                <a:cs typeface="Arial"/>
              </a:defRPr>
            </a:defPPr>
          </a:lstStyle>
          <a:p xmlns:a="http://schemas.openxmlformats.org/drawingml/2006/main">
            <a:pPr>
              <a:defRPr sz="1575" b="0">
                <a:solidFill>
                  <a:srgbClr val="52677B"/>
                </a:solidFill>
                <a:latin typeface="Arial"/>
                <a:ea typeface="Arial"/>
                <a:cs typeface="Arial"/>
              </a:defRPr>
            </a:pPr>
            <a:r>
              <a:rPr sz="1575" b="0">
                <a:solidFill>
                  <a:srgbClr val="52677B"/>
                </a:solidFill>
                <a:latin typeface="Arial"/>
                <a:ea typeface="Arial"/>
                <a:cs typeface="Arial"/>
              </a:rPr>
              <a:t>Counts are profitable or losing trade days. This covers 11 days, rather than a full October.</a:t>
            </a:r>
          </a:p>
        </p:txBody>
      </p:sp>
      <p:sp>
        <p:nvSpPr>
          <p:cNvPr id="12" name="">
            <a:extLst xmlns:a="http://schemas.openxmlformats.org/drawingml/2006/main">
              <a:ext uri="{FF2B5EF4-FFF2-40B4-BE49-F238E27FC236}">
                <a16:creationId xmlns:a16="http://schemas.microsoft.com/office/drawing/2014/main" id="{456F80AE-0D39-4AF6-B0FB-C79D32B0E9D7}"/>
              </a:ext>
            </a:extLst>
          </p:cNvPr>
          <p:cNvSpPr>
            <a:spLocks xmlns:a="http://schemas.openxmlformats.org/drawingml/2006/main" noGrp="1"/>
          </p:cNvSpPr>
          <p:nvPr/>
        </p:nvSpPr>
        <p:spPr>
          <a:xfrm xmlns:a="http://schemas.openxmlformats.org/drawingml/2006/main">
            <a:off x="6096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B"/>
                </a:solidFill>
                <a:latin typeface="Arial"/>
                <a:ea typeface="Arial"/>
                <a:cs typeface="Arial"/>
              </a:defRPr>
            </a:defPPr>
          </a:lstStyle>
          <a:p xmlns:a="http://schemas.openxmlformats.org/drawingml/2006/main">
            <a:pPr>
              <a:defRPr sz="1125" b="0">
                <a:solidFill>
                  <a:srgbClr val="52677B"/>
                </a:solidFill>
                <a:latin typeface="Arial"/>
                <a:ea typeface="Arial"/>
                <a:cs typeface="Arial"/>
              </a:defRPr>
            </a:pPr>
            <a:r>
              <a:rPr sz="1125" b="0">
                <a:solidFill>
                  <a:srgbClr val="52677B"/>
                </a:solidFill>
                <a:latin typeface="Arial"/>
                <a:ea typeface="Arial"/>
                <a:cs typeface="Arial"/>
              </a:rPr>
              <a:t>Separate $100 per strategy and period. Fees included. Conditional archive replay.</a:t>
            </a:r>
          </a:p>
        </p:txBody>
      </p:sp>
      <p:sp>
        <p:nvSpPr>
          <p:cNvPr id="13" name="">
            <a:extLst xmlns:a="http://schemas.openxmlformats.org/drawingml/2006/main">
              <a:ext uri="{FF2B5EF4-FFF2-40B4-BE49-F238E27FC236}">
                <a16:creationId xmlns:a16="http://schemas.microsoft.com/office/drawing/2014/main" id="{5FE07404-EAB2-44C6-8A10-A3F368DF0957}"/>
              </a:ext>
            </a:extLst>
          </p:cNvPr>
          <p:cNvSpPr>
            <a:spLocks xmlns:a="http://schemas.openxmlformats.org/drawingml/2006/main" noGrp="1"/>
          </p:cNvSpPr>
          <p:nvPr/>
        </p:nvSpPr>
        <p:spPr>
          <a:xfrm xmlns:a="http://schemas.openxmlformats.org/drawingml/2006/main">
            <a:off x="11049000" y="6400800"/>
            <a:ext cx="495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77B"/>
                </a:solidFill>
                <a:latin typeface="Arial"/>
                <a:ea typeface="Arial"/>
                <a:cs typeface="Arial"/>
              </a:defRPr>
            </a:defPPr>
          </a:lstStyle>
          <a:p xmlns:a="http://schemas.openxmlformats.org/drawingml/2006/main">
            <a:pPr>
              <a:defRPr sz="1500" b="0">
                <a:solidFill>
                  <a:srgbClr val="52677B"/>
                </a:solidFill>
                <a:latin typeface="Arial"/>
                <a:ea typeface="Arial"/>
                <a:cs typeface="Arial"/>
              </a:defRPr>
            </a:pPr>
            <a:r>
              <a:rPr sz="1500" b="0">
                <a:solidFill>
                  <a:srgbClr val="52677B"/>
                </a:solidFill>
                <a:latin typeface="Arial"/>
                <a:ea typeface="Arial"/>
                <a:cs typeface="Arial"/>
              </a:rPr>
              <a:t>14</a:t>
            </a:r>
          </a:p>
        </p:txBody>
      </p:sp>
    </p:spTree>
    <p:extLst>
      <p:ext uri="{BB962C8B-B14F-4D97-AF65-F5344CB8AC3E}">
        <p14:creationId xmlns:p14="http://schemas.microsoft.com/office/powerpoint/2010/main" val="1158872083"/>
      </p:ext>
    </p:extLst>
  </p:cSld>
</p:sld>
</file>

<file path=ppt/slides/slide15.xml><?xml version="1.0" encoding="utf-8"?>
<p:sld xmlns:p="http://schemas.openxmlformats.org/presentationml/2006/main">
  <p:cSld>
    <p:bg>
      <p:bgPr>
        <a:solidFill xmlns:a="http://schemas.openxmlformats.org/drawingml/2006/main">
          <a:srgbClr val="FFF4E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6E402CA-8EF8-40AF-BAFC-54182F3D822C}"/>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B36832"/>
          </a:solidFill>
          <a:ln xmlns:a="http://schemas.openxmlformats.org/drawingml/2006/main" w="0">
            <a:noFill/>
          </a:ln>
        </p:spPr>
        <p:txBody>
          <a:bodyPr xmlns:a="http://schemas.openxmlformats.org/drawingml/2006/main" lIns="609600" tIns="200025" rIns="609600" bIns="76200"/>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MIAMI · STRATEGY 1 OF 2</a:t>
            </a:r>
          </a:p>
        </p:txBody>
      </p:sp>
      <p:sp>
        <p:nvSpPr>
          <p:cNvPr id="2" name="">
            <a:extLst xmlns:a="http://schemas.openxmlformats.org/drawingml/2006/main">
              <a:ext uri="{FF2B5EF4-FFF2-40B4-BE49-F238E27FC236}">
                <a16:creationId xmlns:a16="http://schemas.microsoft.com/office/drawing/2014/main" id="{57BD6DBF-193D-4CE3-8E04-8F0DB74A816C}"/>
              </a:ext>
            </a:extLst>
          </p:cNvPr>
          <p:cNvSpPr>
            <a:spLocks xmlns:a="http://schemas.openxmlformats.org/drawingml/2006/main" noGrp="1"/>
          </p:cNvSpPr>
          <p:nvPr/>
        </p:nvSpPr>
        <p:spPr>
          <a:xfrm xmlns:a="http://schemas.openxmlformats.org/drawingml/2006/main">
            <a:off x="609600" y="762000"/>
            <a:ext cx="10934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B36832"/>
                </a:solidFill>
                <a:latin typeface="Arial"/>
                <a:ea typeface="Arial"/>
                <a:cs typeface="Arial"/>
              </a:defRPr>
            </a:defPPr>
          </a:lstStyle>
          <a:p xmlns:a="http://schemas.openxmlformats.org/drawingml/2006/main">
            <a:pPr>
              <a:buNone/>
              <a:defRPr sz="3300" b="1">
                <a:solidFill>
                  <a:srgbClr val="B36832"/>
                </a:solidFill>
                <a:latin typeface="Arial"/>
                <a:ea typeface="Arial"/>
                <a:cs typeface="Arial"/>
              </a:defRPr>
            </a:pPr>
            <a:r>
              <a:rPr sz="3300" b="1">
                <a:solidFill>
                  <a:srgbClr val="B36832"/>
                </a:solidFill>
                <a:latin typeface="Arial"/>
                <a:ea typeface="Arial"/>
                <a:cs typeface="Arial"/>
              </a:rPr>
              <a:t>Selected calibrated model</a:t>
            </a:r>
          </a:p>
        </p:txBody>
      </p:sp>
      <p:sp>
        <p:nvSpPr>
          <p:cNvPr id="3" name="">
            <a:extLst xmlns:a="http://schemas.openxmlformats.org/drawingml/2006/main">
              <a:ext uri="{FF2B5EF4-FFF2-40B4-BE49-F238E27FC236}">
                <a16:creationId xmlns:a16="http://schemas.microsoft.com/office/drawing/2014/main" id="{C113A132-5115-4866-B5FC-FA12FEC77ECB}"/>
              </a:ext>
            </a:extLst>
          </p:cNvPr>
          <p:cNvSpPr>
            <a:spLocks xmlns:a="http://schemas.openxmlformats.org/drawingml/2006/main" noGrp="1"/>
          </p:cNvSpPr>
          <p:nvPr/>
        </p:nvSpPr>
        <p:spPr>
          <a:xfrm xmlns:a="http://schemas.openxmlformats.org/drawingml/2006/main">
            <a:off x="609600" y="64579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B"/>
                </a:solidFill>
                <a:latin typeface="Arial"/>
                <a:ea typeface="Arial"/>
                <a:cs typeface="Arial"/>
              </a:defRPr>
            </a:defPPr>
          </a:lstStyle>
          <a:p xmlns:a="http://schemas.openxmlformats.org/drawingml/2006/main">
            <a:pPr>
              <a:buNone/>
              <a:defRPr sz="1125" b="0">
                <a:solidFill>
                  <a:srgbClr val="52677B"/>
                </a:solidFill>
                <a:latin typeface="Arial"/>
                <a:ea typeface="Arial"/>
                <a:cs typeface="Arial"/>
              </a:defRPr>
            </a:pPr>
            <a:r>
              <a:rPr sz="1125" b="0">
                <a:solidFill>
                  <a:srgbClr val="52677B"/>
                </a:solidFill>
                <a:latin typeface="Arial"/>
                <a:ea typeface="Arial"/>
                <a:cs typeface="Arial"/>
              </a:rPr>
              <a:t>Four-city paper trading. Frozen October 12, 2026</a:t>
            </a:r>
          </a:p>
        </p:txBody>
      </p:sp>
      <p:sp>
        <p:nvSpPr>
          <p:cNvPr id="4" name="">
            <a:extLst xmlns:a="http://schemas.openxmlformats.org/drawingml/2006/main">
              <a:ext uri="{FF2B5EF4-FFF2-40B4-BE49-F238E27FC236}">
                <a16:creationId xmlns:a16="http://schemas.microsoft.com/office/drawing/2014/main" id="{68630997-584A-462E-A4DA-323B537C3C82}"/>
              </a:ext>
            </a:extLst>
          </p:cNvPr>
          <p:cNvSpPr>
            <a:spLocks xmlns:a="http://schemas.openxmlformats.org/drawingml/2006/main" noGrp="1"/>
          </p:cNvSpPr>
          <p:nvPr/>
        </p:nvSpPr>
        <p:spPr>
          <a:xfrm xmlns:a="http://schemas.openxmlformats.org/drawingml/2006/main">
            <a:off x="11049000" y="6400800"/>
            <a:ext cx="495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77B"/>
                </a:solidFill>
                <a:latin typeface="Arial"/>
                <a:ea typeface="Arial"/>
                <a:cs typeface="Arial"/>
              </a:defRPr>
            </a:defPPr>
          </a:lstStyle>
          <a:p xmlns:a="http://schemas.openxmlformats.org/drawingml/2006/main">
            <a:pPr>
              <a:buNone/>
              <a:defRPr sz="1500" b="0">
                <a:solidFill>
                  <a:srgbClr val="52677B"/>
                </a:solidFill>
                <a:latin typeface="Arial"/>
                <a:ea typeface="Arial"/>
                <a:cs typeface="Arial"/>
              </a:defRPr>
            </a:pPr>
            <a:r>
              <a:rPr sz="1500" b="0">
                <a:solidFill>
                  <a:srgbClr val="52677B"/>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FF8762F5-BA68-42B7-9D29-27376D157178}"/>
              </a:ext>
            </a:extLst>
          </p:cNvPr>
          <p:cNvSpPr>
            <a:spLocks xmlns:a="http://schemas.openxmlformats.org/drawingml/2006/main" noGrp="1"/>
          </p:cNvSpPr>
          <p:nvPr/>
        </p:nvSpPr>
        <p:spPr>
          <a:xfrm xmlns:a="http://schemas.openxmlformats.org/drawingml/2006/main">
            <a:off x="609600" y="1685925"/>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B36832"/>
                </a:solidFill>
                <a:latin typeface="Arial"/>
                <a:ea typeface="Arial"/>
                <a:cs typeface="Arial"/>
              </a:defRPr>
            </a:defPPr>
          </a:lstStyle>
          <a:p xmlns:a="http://schemas.openxmlformats.org/drawingml/2006/main">
            <a:pPr>
              <a:buNone/>
              <a:defRPr sz="1425" b="1">
                <a:solidFill>
                  <a:srgbClr val="B36832"/>
                </a:solidFill>
                <a:latin typeface="Arial"/>
                <a:ea typeface="Arial"/>
                <a:cs typeface="Arial"/>
              </a:defRPr>
            </a:pPr>
            <a:r>
              <a:rPr sz="1425" b="1">
                <a:solidFill>
                  <a:srgbClr val="B36832"/>
                </a:solidFill>
                <a:latin typeface="Arial"/>
                <a:ea typeface="Arial"/>
                <a:cs typeface="Arial"/>
              </a:rPr>
              <a:t>BUY WHEN</a:t>
            </a:r>
          </a:p>
        </p:txBody>
      </p:sp>
      <p:sp>
        <p:nvSpPr>
          <p:cNvPr id="6" name="">
            <a:extLst xmlns:a="http://schemas.openxmlformats.org/drawingml/2006/main">
              <a:ext uri="{FF2B5EF4-FFF2-40B4-BE49-F238E27FC236}">
                <a16:creationId xmlns:a16="http://schemas.microsoft.com/office/drawing/2014/main" id="{7B5D5D1B-B7E3-4728-BFC9-BE4FA28A6989}"/>
              </a:ext>
            </a:extLst>
          </p:cNvPr>
          <p:cNvSpPr>
            <a:spLocks xmlns:a="http://schemas.openxmlformats.org/drawingml/2006/main" noGrp="1"/>
          </p:cNvSpPr>
          <p:nvPr/>
        </p:nvSpPr>
        <p:spPr>
          <a:xfrm xmlns:a="http://schemas.openxmlformats.org/drawingml/2006/main">
            <a:off x="609600" y="1981200"/>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Make the scheduled decision at 10 am Miami time using the saved calibrated weather model.</a:t>
            </a:r>
          </a:p>
        </p:txBody>
      </p:sp>
      <p:sp>
        <p:nvSpPr>
          <p:cNvPr id="7" name="">
            <a:extLst xmlns:a="http://schemas.openxmlformats.org/drawingml/2006/main">
              <a:ext uri="{FF2B5EF4-FFF2-40B4-BE49-F238E27FC236}">
                <a16:creationId xmlns:a16="http://schemas.microsoft.com/office/drawing/2014/main" id="{08D7D3DC-F73A-40D1-83DC-787C11E4ACB8}"/>
              </a:ext>
            </a:extLst>
          </p:cNvPr>
          <p:cNvSpPr>
            <a:spLocks xmlns:a="http://schemas.openxmlformats.org/drawingml/2006/main" noGrp="1"/>
          </p:cNvSpPr>
          <p:nvPr/>
        </p:nvSpPr>
        <p:spPr>
          <a:xfrm xmlns:a="http://schemas.openxmlformats.org/drawingml/2006/main">
            <a:off x="609600" y="2857500"/>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B36832"/>
                </a:solidFill>
                <a:latin typeface="Arial"/>
                <a:ea typeface="Arial"/>
                <a:cs typeface="Arial"/>
              </a:defRPr>
            </a:defPPr>
          </a:lstStyle>
          <a:p xmlns:a="http://schemas.openxmlformats.org/drawingml/2006/main">
            <a:pPr>
              <a:buNone/>
              <a:defRPr sz="1425" b="1">
                <a:solidFill>
                  <a:srgbClr val="B36832"/>
                </a:solidFill>
                <a:latin typeface="Arial"/>
                <a:ea typeface="Arial"/>
                <a:cs typeface="Arial"/>
              </a:defRPr>
            </a:pPr>
            <a:r>
              <a:rPr sz="1425" b="1">
                <a:solidFill>
                  <a:srgbClr val="B36832"/>
                </a:solidFill>
                <a:latin typeface="Arial"/>
                <a:ea typeface="Arial"/>
                <a:cs typeface="Arial"/>
              </a:rPr>
              <a:t>BUY WHAT</a:t>
            </a:r>
          </a:p>
        </p:txBody>
      </p:sp>
      <p:sp>
        <p:nvSpPr>
          <p:cNvPr id="8" name="">
            <a:extLst xmlns:a="http://schemas.openxmlformats.org/drawingml/2006/main">
              <a:ext uri="{FF2B5EF4-FFF2-40B4-BE49-F238E27FC236}">
                <a16:creationId xmlns:a16="http://schemas.microsoft.com/office/drawing/2014/main" id="{B7C969E8-17AD-4D2E-83AC-BDC85F5C0C85}"/>
              </a:ext>
            </a:extLst>
          </p:cNvPr>
          <p:cNvSpPr>
            <a:spLocks xmlns:a="http://schemas.openxmlformats.org/drawingml/2006/main" noGrp="1"/>
          </p:cNvSpPr>
          <p:nvPr/>
        </p:nvSpPr>
        <p:spPr>
          <a:xfrm xmlns:a="http://schemas.openxmlformats.org/drawingml/2006/main">
            <a:off x="609600" y="3152775"/>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Buy qualifying NO contracts priced from 10¢ to 65¢. The expected return must clear 10% after fees.</a:t>
            </a:r>
          </a:p>
        </p:txBody>
      </p:sp>
      <p:sp>
        <p:nvSpPr>
          <p:cNvPr id="9" name="">
            <a:extLst xmlns:a="http://schemas.openxmlformats.org/drawingml/2006/main">
              <a:ext uri="{FF2B5EF4-FFF2-40B4-BE49-F238E27FC236}">
                <a16:creationId xmlns:a16="http://schemas.microsoft.com/office/drawing/2014/main" id="{426E0DC8-B22F-4B5E-B001-30D659C1823F}"/>
              </a:ext>
            </a:extLst>
          </p:cNvPr>
          <p:cNvSpPr>
            <a:spLocks xmlns:a="http://schemas.openxmlformats.org/drawingml/2006/main" noGrp="1"/>
          </p:cNvSpPr>
          <p:nvPr/>
        </p:nvSpPr>
        <p:spPr>
          <a:xfrm xmlns:a="http://schemas.openxmlformats.org/drawingml/2006/main">
            <a:off x="609600" y="4029075"/>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B36832"/>
                </a:solidFill>
                <a:latin typeface="Arial"/>
                <a:ea typeface="Arial"/>
                <a:cs typeface="Arial"/>
              </a:defRPr>
            </a:defPPr>
          </a:lstStyle>
          <a:p xmlns:a="http://schemas.openxmlformats.org/drawingml/2006/main">
            <a:pPr>
              <a:buNone/>
              <a:defRPr sz="1425" b="1">
                <a:solidFill>
                  <a:srgbClr val="B36832"/>
                </a:solidFill>
                <a:latin typeface="Arial"/>
                <a:ea typeface="Arial"/>
                <a:cs typeface="Arial"/>
              </a:defRPr>
            </a:pPr>
            <a:r>
              <a:rPr sz="1425" b="1">
                <a:solidFill>
                  <a:srgbClr val="B36832"/>
                </a:solidFill>
                <a:latin typeface="Arial"/>
                <a:ea typeface="Arial"/>
                <a:cs typeface="Arial"/>
              </a:rPr>
              <a:t>SPEND LIMIT</a:t>
            </a:r>
          </a:p>
        </p:txBody>
      </p:sp>
      <p:sp>
        <p:nvSpPr>
          <p:cNvPr id="10" name="">
            <a:extLst xmlns:a="http://schemas.openxmlformats.org/drawingml/2006/main">
              <a:ext uri="{FF2B5EF4-FFF2-40B4-BE49-F238E27FC236}">
                <a16:creationId xmlns:a16="http://schemas.microsoft.com/office/drawing/2014/main" id="{98FD9C16-0A7E-4EA2-9521-950464E52AA6}"/>
              </a:ext>
            </a:extLst>
          </p:cNvPr>
          <p:cNvSpPr>
            <a:spLocks xmlns:a="http://schemas.openxmlformats.org/drawingml/2006/main" noGrp="1"/>
          </p:cNvSpPr>
          <p:nvPr/>
        </p:nvSpPr>
        <p:spPr>
          <a:xfrm xmlns:a="http://schemas.openxmlformats.org/drawingml/2006/main">
            <a:off x="609600" y="4324350"/>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Share one 10% daily budget across the selected contracts. Rank opportunities by expected profit.</a:t>
            </a:r>
          </a:p>
        </p:txBody>
      </p:sp>
      <p:sp>
        <p:nvSpPr>
          <p:cNvPr id="11" name="">
            <a:extLst xmlns:a="http://schemas.openxmlformats.org/drawingml/2006/main">
              <a:ext uri="{FF2B5EF4-FFF2-40B4-BE49-F238E27FC236}">
                <a16:creationId xmlns:a16="http://schemas.microsoft.com/office/drawing/2014/main" id="{0EC29DC8-7B14-4D8D-82B8-DA0BF3E6AEDB}"/>
              </a:ext>
            </a:extLst>
          </p:cNvPr>
          <p:cNvSpPr>
            <a:spLocks xmlns:a="http://schemas.openxmlformats.org/drawingml/2006/main" noGrp="1"/>
          </p:cNvSpPr>
          <p:nvPr/>
        </p:nvSpPr>
        <p:spPr>
          <a:xfrm xmlns:a="http://schemas.openxmlformats.org/drawingml/2006/main">
            <a:off x="609600" y="5200650"/>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B36832"/>
                </a:solidFill>
                <a:latin typeface="Arial"/>
                <a:ea typeface="Arial"/>
                <a:cs typeface="Arial"/>
              </a:defRPr>
            </a:defPPr>
          </a:lstStyle>
          <a:p xmlns:a="http://schemas.openxmlformats.org/drawingml/2006/main">
            <a:pPr>
              <a:buNone/>
              <a:defRPr sz="1425" b="1">
                <a:solidFill>
                  <a:srgbClr val="B36832"/>
                </a:solidFill>
                <a:latin typeface="Arial"/>
                <a:ea typeface="Arial"/>
                <a:cs typeface="Arial"/>
              </a:defRPr>
            </a:pPr>
            <a:r>
              <a:rPr sz="1425" b="1">
                <a:solidFill>
                  <a:srgbClr val="B36832"/>
                </a:solidFill>
                <a:latin typeface="Arial"/>
                <a:ea typeface="Arial"/>
                <a:cs typeface="Arial"/>
              </a:rPr>
              <a:t>SELL WHEN</a:t>
            </a:r>
          </a:p>
        </p:txBody>
      </p:sp>
      <p:sp>
        <p:nvSpPr>
          <p:cNvPr id="12" name="">
            <a:extLst xmlns:a="http://schemas.openxmlformats.org/drawingml/2006/main">
              <a:ext uri="{FF2B5EF4-FFF2-40B4-BE49-F238E27FC236}">
                <a16:creationId xmlns:a16="http://schemas.microsoft.com/office/drawing/2014/main" id="{1905999C-ECDA-4F48-8C59-65932A1EA06C}"/>
              </a:ext>
            </a:extLst>
          </p:cNvPr>
          <p:cNvSpPr>
            <a:spLocks xmlns:a="http://schemas.openxmlformats.org/drawingml/2006/main" noGrp="1"/>
          </p:cNvSpPr>
          <p:nvPr/>
        </p:nvSpPr>
        <p:spPr>
          <a:xfrm xmlns:a="http://schemas.openxmlformats.org/drawingml/2006/main">
            <a:off x="609600" y="5495925"/>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Hold each filled contract to the official result. No take-profit sale runs during the day.</a:t>
            </a:r>
          </a:p>
        </p:txBody>
      </p:sp>
      <p:graphicFrame>
        <p:nvGraphicFramePr>
          <p:cNvPr id="13" name="Chart">
            <a:extLst xmlns:a="http://schemas.openxmlformats.org/drawingml/2006/main">
              <a:ext uri="{FF2B5EF4-FFF2-40B4-BE49-F238E27FC236}">
                <a16:creationId xmlns:a16="http://schemas.microsoft.com/office/drawing/2014/main" id="{22C02EB3-6552-4824-A4A3-43946D7B4915}"/>
              </a:ext>
            </a:extLst>
          </p:cNvPr>
          <p:cNvGraphicFramePr/>
          <p:nvPr/>
        </p:nvGraphicFramePr>
        <p:xfrm>
          <a:off xmlns:a="http://schemas.openxmlformats.org/drawingml/2006/main" x="6019800" y="1704975"/>
          <a:ext xmlns:a="http://schemas.openxmlformats.org/drawingml/2006/main" cx="5524500" cy="1838325"/>
        </p:xfrm>
        <a:graphic xmlns:a="http://schemas.openxmlformats.org/drawingml/2006/main">
          <a:graphicData uri="http://schemas.openxmlformats.org/drawingml/2006/chart">
            <c:chart xmlns:r="http://schemas.openxmlformats.org/officeDocument/2006/relationships" xmlns:c="http://schemas.openxmlformats.org/drawingml/2006/chart" r:id="R657ae93e5688493e"/>
          </a:graphicData>
        </a:graphic>
      </p:graphicFrame>
      <p:graphicFrame>
        <p:nvGraphicFramePr>
          <p:cNvPr id="14" name="Chart">
            <a:extLst xmlns:a="http://schemas.openxmlformats.org/drawingml/2006/main">
              <a:ext uri="{FF2B5EF4-FFF2-40B4-BE49-F238E27FC236}">
                <a16:creationId xmlns:a16="http://schemas.microsoft.com/office/drawing/2014/main" id="{F3D2F617-3DB8-4F83-AF84-6F67E730D578}"/>
              </a:ext>
            </a:extLst>
          </p:cNvPr>
          <p:cNvGraphicFramePr/>
          <p:nvPr/>
        </p:nvGraphicFramePr>
        <p:xfrm>
          <a:off xmlns:a="http://schemas.openxmlformats.org/drawingml/2006/main" x="6019800" y="3657600"/>
          <a:ext xmlns:a="http://schemas.openxmlformats.org/drawingml/2006/main" cx="5524500" cy="1943100"/>
        </p:xfrm>
        <a:graphic xmlns:a="http://schemas.openxmlformats.org/drawingml/2006/main">
          <a:graphicData uri="http://schemas.openxmlformats.org/drawingml/2006/chart">
            <c:chart xmlns:r="http://schemas.openxmlformats.org/officeDocument/2006/relationships" xmlns:c="http://schemas.openxmlformats.org/drawingml/2006/chart" r:id="R842ab2f846ad43e1"/>
          </a:graphicData>
        </a:graphic>
      </p:graphicFrame>
      <p:sp>
        <p:nvSpPr>
          <p:cNvPr id="15" name="">
            <a:extLst xmlns:a="http://schemas.openxmlformats.org/drawingml/2006/main">
              <a:ext uri="{FF2B5EF4-FFF2-40B4-BE49-F238E27FC236}">
                <a16:creationId xmlns:a16="http://schemas.microsoft.com/office/drawing/2014/main" id="{80DF8726-91D5-458F-BBF0-C1F2ACDBB273}"/>
              </a:ext>
            </a:extLst>
          </p:cNvPr>
          <p:cNvSpPr>
            <a:spLocks xmlns:a="http://schemas.openxmlformats.org/drawingml/2006/main" noGrp="1"/>
          </p:cNvSpPr>
          <p:nvPr/>
        </p:nvSpPr>
        <p:spPr>
          <a:xfrm xmlns:a="http://schemas.openxmlformats.org/drawingml/2006/main">
            <a:off x="6143625" y="5762625"/>
            <a:ext cx="5257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77B"/>
                </a:solidFill>
                <a:latin typeface="Arial"/>
                <a:ea typeface="Arial"/>
                <a:cs typeface="Arial"/>
              </a:defRPr>
            </a:defPPr>
          </a:lstStyle>
          <a:p xmlns:a="http://schemas.openxmlformats.org/drawingml/2006/main">
            <a:pPr>
              <a:buNone/>
              <a:defRPr sz="1575" b="0">
                <a:solidFill>
                  <a:srgbClr val="52677B"/>
                </a:solidFill>
                <a:latin typeface="Arial"/>
                <a:ea typeface="Arial"/>
                <a:cs typeface="Arial"/>
              </a:defRPr>
            </a:pPr>
            <a:r>
              <a:rPr sz="1575" b="0">
                <a:solidFill>
                  <a:srgbClr val="52677B"/>
                </a:solidFill>
                <a:latin typeface="Arial"/>
                <a:ea typeface="Arial"/>
                <a:cs typeface="Arial"/>
              </a:rPr>
              <a:t>SELECTED_CHAMPION. “Expected 10%” is an entry screen, not a promised return.</a:t>
            </a:r>
          </a:p>
        </p:txBody>
      </p:sp>
    </p:spTree>
    <p:extLst>
      <p:ext uri="{BB962C8B-B14F-4D97-AF65-F5344CB8AC3E}">
        <p14:creationId xmlns:p14="http://schemas.microsoft.com/office/powerpoint/2010/main" val="2124257584"/>
      </p:ext>
    </p:extLst>
  </p:cSld>
</p:sld>
</file>

<file path=ppt/slides/slide16.xml><?xml version="1.0" encoding="utf-8"?>
<p:sld xmlns:p="http://schemas.openxmlformats.org/presentationml/2006/main">
  <p:cSld>
    <p:bg>
      <p:bgPr>
        <a:solidFill xmlns:a="http://schemas.openxmlformats.org/drawingml/2006/main">
          <a:srgbClr val="FFF4E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4C2D8AC-DEBA-4F9B-B5E9-B766FBF7A4D2}"/>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B36832"/>
          </a:solidFill>
          <a:ln xmlns:a="http://schemas.openxmlformats.org/drawingml/2006/main" w="0">
            <a:noFill/>
          </a:ln>
        </p:spPr>
        <p:txBody>
          <a:bodyPr xmlns:a="http://schemas.openxmlformats.org/drawingml/2006/main" lIns="609600" tIns="200025" rIns="609600" bIns="76200"/>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MIAMI · STRATEGY 2 OF 2</a:t>
            </a:r>
          </a:p>
        </p:txBody>
      </p:sp>
      <p:sp>
        <p:nvSpPr>
          <p:cNvPr id="2" name="">
            <a:extLst xmlns:a="http://schemas.openxmlformats.org/drawingml/2006/main">
              <a:ext uri="{FF2B5EF4-FFF2-40B4-BE49-F238E27FC236}">
                <a16:creationId xmlns:a16="http://schemas.microsoft.com/office/drawing/2014/main" id="{9416D664-DE9F-4CD0-8118-289ABAD0DD01}"/>
              </a:ext>
            </a:extLst>
          </p:cNvPr>
          <p:cNvSpPr>
            <a:spLocks xmlns:a="http://schemas.openxmlformats.org/drawingml/2006/main" noGrp="1"/>
          </p:cNvSpPr>
          <p:nvPr/>
        </p:nvSpPr>
        <p:spPr>
          <a:xfrm xmlns:a="http://schemas.openxmlformats.org/drawingml/2006/main">
            <a:off x="609600" y="762000"/>
            <a:ext cx="10934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B36832"/>
                </a:solidFill>
                <a:latin typeface="Arial"/>
                <a:ea typeface="Arial"/>
                <a:cs typeface="Arial"/>
              </a:defRPr>
            </a:defPPr>
          </a:lstStyle>
          <a:p xmlns:a="http://schemas.openxmlformats.org/drawingml/2006/main">
            <a:pPr>
              <a:buNone/>
              <a:defRPr sz="3300" b="1">
                <a:solidFill>
                  <a:srgbClr val="B36832"/>
                </a:solidFill>
                <a:latin typeface="Arial"/>
                <a:ea typeface="Arial"/>
                <a:cs typeface="Arial"/>
              </a:defRPr>
            </a:pPr>
            <a:r>
              <a:rPr sz="3300" b="1">
                <a:solidFill>
                  <a:srgbClr val="B36832"/>
                </a:solidFill>
                <a:latin typeface="Arial"/>
                <a:ea typeface="Arial"/>
                <a:cs typeface="Arial"/>
              </a:rPr>
              <a:t>Original RAW model</a:t>
            </a:r>
          </a:p>
        </p:txBody>
      </p:sp>
      <p:sp>
        <p:nvSpPr>
          <p:cNvPr id="3" name="">
            <a:extLst xmlns:a="http://schemas.openxmlformats.org/drawingml/2006/main">
              <a:ext uri="{FF2B5EF4-FFF2-40B4-BE49-F238E27FC236}">
                <a16:creationId xmlns:a16="http://schemas.microsoft.com/office/drawing/2014/main" id="{1A6051E0-97A3-4319-9B03-15058DB1EF25}"/>
              </a:ext>
            </a:extLst>
          </p:cNvPr>
          <p:cNvSpPr>
            <a:spLocks xmlns:a="http://schemas.openxmlformats.org/drawingml/2006/main" noGrp="1"/>
          </p:cNvSpPr>
          <p:nvPr/>
        </p:nvSpPr>
        <p:spPr>
          <a:xfrm xmlns:a="http://schemas.openxmlformats.org/drawingml/2006/main">
            <a:off x="609600" y="64579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B"/>
                </a:solidFill>
                <a:latin typeface="Arial"/>
                <a:ea typeface="Arial"/>
                <a:cs typeface="Arial"/>
              </a:defRPr>
            </a:defPPr>
          </a:lstStyle>
          <a:p xmlns:a="http://schemas.openxmlformats.org/drawingml/2006/main">
            <a:pPr>
              <a:buNone/>
              <a:defRPr sz="1125" b="0">
                <a:solidFill>
                  <a:srgbClr val="52677B"/>
                </a:solidFill>
                <a:latin typeface="Arial"/>
                <a:ea typeface="Arial"/>
                <a:cs typeface="Arial"/>
              </a:defRPr>
            </a:pPr>
            <a:r>
              <a:rPr sz="1125" b="0">
                <a:solidFill>
                  <a:srgbClr val="52677B"/>
                </a:solidFill>
                <a:latin typeface="Arial"/>
                <a:ea typeface="Arial"/>
                <a:cs typeface="Arial"/>
              </a:rPr>
              <a:t>Four-city paper trading. Frozen October 12, 2026</a:t>
            </a:r>
          </a:p>
        </p:txBody>
      </p:sp>
      <p:sp>
        <p:nvSpPr>
          <p:cNvPr id="4" name="">
            <a:extLst xmlns:a="http://schemas.openxmlformats.org/drawingml/2006/main">
              <a:ext uri="{FF2B5EF4-FFF2-40B4-BE49-F238E27FC236}">
                <a16:creationId xmlns:a16="http://schemas.microsoft.com/office/drawing/2014/main" id="{1E96E917-FF19-4705-A8B0-D6F692667257}"/>
              </a:ext>
            </a:extLst>
          </p:cNvPr>
          <p:cNvSpPr>
            <a:spLocks xmlns:a="http://schemas.openxmlformats.org/drawingml/2006/main" noGrp="1"/>
          </p:cNvSpPr>
          <p:nvPr/>
        </p:nvSpPr>
        <p:spPr>
          <a:xfrm xmlns:a="http://schemas.openxmlformats.org/drawingml/2006/main">
            <a:off x="11049000" y="6400800"/>
            <a:ext cx="495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77B"/>
                </a:solidFill>
                <a:latin typeface="Arial"/>
                <a:ea typeface="Arial"/>
                <a:cs typeface="Arial"/>
              </a:defRPr>
            </a:defPPr>
          </a:lstStyle>
          <a:p xmlns:a="http://schemas.openxmlformats.org/drawingml/2006/main">
            <a:pPr>
              <a:buNone/>
              <a:defRPr sz="1500" b="0">
                <a:solidFill>
                  <a:srgbClr val="52677B"/>
                </a:solidFill>
                <a:latin typeface="Arial"/>
                <a:ea typeface="Arial"/>
                <a:cs typeface="Arial"/>
              </a:defRPr>
            </a:pPr>
            <a:r>
              <a:rPr sz="1500" b="0">
                <a:solidFill>
                  <a:srgbClr val="52677B"/>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383FB764-89EC-445C-914A-A053203BC840}"/>
              </a:ext>
            </a:extLst>
          </p:cNvPr>
          <p:cNvSpPr>
            <a:spLocks xmlns:a="http://schemas.openxmlformats.org/drawingml/2006/main" noGrp="1"/>
          </p:cNvSpPr>
          <p:nvPr/>
        </p:nvSpPr>
        <p:spPr>
          <a:xfrm xmlns:a="http://schemas.openxmlformats.org/drawingml/2006/main">
            <a:off x="609600" y="1685925"/>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B36832"/>
                </a:solidFill>
                <a:latin typeface="Arial"/>
                <a:ea typeface="Arial"/>
                <a:cs typeface="Arial"/>
              </a:defRPr>
            </a:defPPr>
          </a:lstStyle>
          <a:p xmlns:a="http://schemas.openxmlformats.org/drawingml/2006/main">
            <a:pPr>
              <a:buNone/>
              <a:defRPr sz="1425" b="1">
                <a:solidFill>
                  <a:srgbClr val="B36832"/>
                </a:solidFill>
                <a:latin typeface="Arial"/>
                <a:ea typeface="Arial"/>
                <a:cs typeface="Arial"/>
              </a:defRPr>
            </a:pPr>
            <a:r>
              <a:rPr sz="1425" b="1">
                <a:solidFill>
                  <a:srgbClr val="B36832"/>
                </a:solidFill>
                <a:latin typeface="Arial"/>
                <a:ea typeface="Arial"/>
                <a:cs typeface="Arial"/>
              </a:rPr>
              <a:t>BUY WHEN</a:t>
            </a:r>
          </a:p>
        </p:txBody>
      </p:sp>
      <p:sp>
        <p:nvSpPr>
          <p:cNvPr id="6" name="">
            <a:extLst xmlns:a="http://schemas.openxmlformats.org/drawingml/2006/main">
              <a:ext uri="{FF2B5EF4-FFF2-40B4-BE49-F238E27FC236}">
                <a16:creationId xmlns:a16="http://schemas.microsoft.com/office/drawing/2014/main" id="{25CA7385-F6B0-4B62-A46E-BC525523D5A0}"/>
              </a:ext>
            </a:extLst>
          </p:cNvPr>
          <p:cNvSpPr>
            <a:spLocks xmlns:a="http://schemas.openxmlformats.org/drawingml/2006/main" noGrp="1"/>
          </p:cNvSpPr>
          <p:nvPr/>
        </p:nvSpPr>
        <p:spPr>
          <a:xfrm xmlns:a="http://schemas.openxmlformats.org/drawingml/2006/main">
            <a:off x="609600" y="1981200"/>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Make the scheduled decision at 10 am, alongside the calibrated Miami version.</a:t>
            </a:r>
          </a:p>
        </p:txBody>
      </p:sp>
      <p:sp>
        <p:nvSpPr>
          <p:cNvPr id="7" name="">
            <a:extLst xmlns:a="http://schemas.openxmlformats.org/drawingml/2006/main">
              <a:ext uri="{FF2B5EF4-FFF2-40B4-BE49-F238E27FC236}">
                <a16:creationId xmlns:a16="http://schemas.microsoft.com/office/drawing/2014/main" id="{22B5E532-ED56-4AF8-B9A9-945A4AF99A30}"/>
              </a:ext>
            </a:extLst>
          </p:cNvPr>
          <p:cNvSpPr>
            <a:spLocks xmlns:a="http://schemas.openxmlformats.org/drawingml/2006/main" noGrp="1"/>
          </p:cNvSpPr>
          <p:nvPr/>
        </p:nvSpPr>
        <p:spPr>
          <a:xfrm xmlns:a="http://schemas.openxmlformats.org/drawingml/2006/main">
            <a:off x="609600" y="2857500"/>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B36832"/>
                </a:solidFill>
                <a:latin typeface="Arial"/>
                <a:ea typeface="Arial"/>
                <a:cs typeface="Arial"/>
              </a:defRPr>
            </a:defPPr>
          </a:lstStyle>
          <a:p xmlns:a="http://schemas.openxmlformats.org/drawingml/2006/main">
            <a:pPr>
              <a:buNone/>
              <a:defRPr sz="1425" b="1">
                <a:solidFill>
                  <a:srgbClr val="B36832"/>
                </a:solidFill>
                <a:latin typeface="Arial"/>
                <a:ea typeface="Arial"/>
                <a:cs typeface="Arial"/>
              </a:defRPr>
            </a:pPr>
            <a:r>
              <a:rPr sz="1425" b="1">
                <a:solidFill>
                  <a:srgbClr val="B36832"/>
                </a:solidFill>
                <a:latin typeface="Arial"/>
                <a:ea typeface="Arial"/>
                <a:cs typeface="Arial"/>
              </a:rPr>
              <a:t>BUY WHAT</a:t>
            </a:r>
          </a:p>
        </p:txBody>
      </p:sp>
      <p:sp>
        <p:nvSpPr>
          <p:cNvPr id="8" name="">
            <a:extLst xmlns:a="http://schemas.openxmlformats.org/drawingml/2006/main">
              <a:ext uri="{FF2B5EF4-FFF2-40B4-BE49-F238E27FC236}">
                <a16:creationId xmlns:a16="http://schemas.microsoft.com/office/drawing/2014/main" id="{07BFFEE5-2A92-43AF-9CF0-9B2909DC4395}"/>
              </a:ext>
            </a:extLst>
          </p:cNvPr>
          <p:cNvSpPr>
            <a:spLocks xmlns:a="http://schemas.openxmlformats.org/drawingml/2006/main" noGrp="1"/>
          </p:cNvSpPr>
          <p:nvPr/>
        </p:nvSpPr>
        <p:spPr>
          <a:xfrm xmlns:a="http://schemas.openxmlformats.org/drawingml/2006/main">
            <a:off x="609600" y="3152775"/>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Use the original RAW forecast. Buy NO within its wider 5¢–80¢ price range and original confidence screen.</a:t>
            </a:r>
          </a:p>
        </p:txBody>
      </p:sp>
      <p:sp>
        <p:nvSpPr>
          <p:cNvPr id="9" name="">
            <a:extLst xmlns:a="http://schemas.openxmlformats.org/drawingml/2006/main">
              <a:ext uri="{FF2B5EF4-FFF2-40B4-BE49-F238E27FC236}">
                <a16:creationId xmlns:a16="http://schemas.microsoft.com/office/drawing/2014/main" id="{7DD0EDDA-0486-4DF1-9903-78B63378FC12}"/>
              </a:ext>
            </a:extLst>
          </p:cNvPr>
          <p:cNvSpPr>
            <a:spLocks xmlns:a="http://schemas.openxmlformats.org/drawingml/2006/main" noGrp="1"/>
          </p:cNvSpPr>
          <p:nvPr/>
        </p:nvSpPr>
        <p:spPr>
          <a:xfrm xmlns:a="http://schemas.openxmlformats.org/drawingml/2006/main">
            <a:off x="609600" y="4029075"/>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B36832"/>
                </a:solidFill>
                <a:latin typeface="Arial"/>
                <a:ea typeface="Arial"/>
                <a:cs typeface="Arial"/>
              </a:defRPr>
            </a:defPPr>
          </a:lstStyle>
          <a:p xmlns:a="http://schemas.openxmlformats.org/drawingml/2006/main">
            <a:pPr>
              <a:buNone/>
              <a:defRPr sz="1425" b="1">
                <a:solidFill>
                  <a:srgbClr val="B36832"/>
                </a:solidFill>
                <a:latin typeface="Arial"/>
                <a:ea typeface="Arial"/>
                <a:cs typeface="Arial"/>
              </a:defRPr>
            </a:pPr>
            <a:r>
              <a:rPr sz="1425" b="1">
                <a:solidFill>
                  <a:srgbClr val="B36832"/>
                </a:solidFill>
                <a:latin typeface="Arial"/>
                <a:ea typeface="Arial"/>
                <a:cs typeface="Arial"/>
              </a:rPr>
              <a:t>SPEND LIMIT</a:t>
            </a:r>
          </a:p>
        </p:txBody>
      </p:sp>
      <p:sp>
        <p:nvSpPr>
          <p:cNvPr id="10" name="">
            <a:extLst xmlns:a="http://schemas.openxmlformats.org/drawingml/2006/main">
              <a:ext uri="{FF2B5EF4-FFF2-40B4-BE49-F238E27FC236}">
                <a16:creationId xmlns:a16="http://schemas.microsoft.com/office/drawing/2014/main" id="{D1E786A4-5768-4D88-BE3F-C27AE090C253}"/>
              </a:ext>
            </a:extLst>
          </p:cNvPr>
          <p:cNvSpPr>
            <a:spLocks xmlns:a="http://schemas.openxmlformats.org/drawingml/2006/main" noGrp="1"/>
          </p:cNvSpPr>
          <p:nvPr/>
        </p:nvSpPr>
        <p:spPr>
          <a:xfrm xmlns:a="http://schemas.openxmlformats.org/drawingml/2006/main">
            <a:off x="609600" y="4324350"/>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Up to 10% of opening available cash, including fees. Several qualifying brackets can share this budget.</a:t>
            </a:r>
          </a:p>
        </p:txBody>
      </p:sp>
      <p:sp>
        <p:nvSpPr>
          <p:cNvPr id="11" name="">
            <a:extLst xmlns:a="http://schemas.openxmlformats.org/drawingml/2006/main">
              <a:ext uri="{FF2B5EF4-FFF2-40B4-BE49-F238E27FC236}">
                <a16:creationId xmlns:a16="http://schemas.microsoft.com/office/drawing/2014/main" id="{C9641A5E-1C7A-4BE1-8D1A-50BE2709DDEE}"/>
              </a:ext>
            </a:extLst>
          </p:cNvPr>
          <p:cNvSpPr>
            <a:spLocks xmlns:a="http://schemas.openxmlformats.org/drawingml/2006/main" noGrp="1"/>
          </p:cNvSpPr>
          <p:nvPr/>
        </p:nvSpPr>
        <p:spPr>
          <a:xfrm xmlns:a="http://schemas.openxmlformats.org/drawingml/2006/main">
            <a:off x="609600" y="5200650"/>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B36832"/>
                </a:solidFill>
                <a:latin typeface="Arial"/>
                <a:ea typeface="Arial"/>
                <a:cs typeface="Arial"/>
              </a:defRPr>
            </a:defPPr>
          </a:lstStyle>
          <a:p xmlns:a="http://schemas.openxmlformats.org/drawingml/2006/main">
            <a:pPr>
              <a:buNone/>
              <a:defRPr sz="1425" b="1">
                <a:solidFill>
                  <a:srgbClr val="B36832"/>
                </a:solidFill>
                <a:latin typeface="Arial"/>
                <a:ea typeface="Arial"/>
                <a:cs typeface="Arial"/>
              </a:defRPr>
            </a:pPr>
            <a:r>
              <a:rPr sz="1425" b="1">
                <a:solidFill>
                  <a:srgbClr val="B36832"/>
                </a:solidFill>
                <a:latin typeface="Arial"/>
                <a:ea typeface="Arial"/>
                <a:cs typeface="Arial"/>
              </a:rPr>
              <a:t>SELL WHEN</a:t>
            </a:r>
          </a:p>
        </p:txBody>
      </p:sp>
      <p:sp>
        <p:nvSpPr>
          <p:cNvPr id="12" name="">
            <a:extLst xmlns:a="http://schemas.openxmlformats.org/drawingml/2006/main">
              <a:ext uri="{FF2B5EF4-FFF2-40B4-BE49-F238E27FC236}">
                <a16:creationId xmlns:a16="http://schemas.microsoft.com/office/drawing/2014/main" id="{E8FE36B5-4989-4790-8DCF-6904F045DB32}"/>
              </a:ext>
            </a:extLst>
          </p:cNvPr>
          <p:cNvSpPr>
            <a:spLocks xmlns:a="http://schemas.openxmlformats.org/drawingml/2006/main" noGrp="1"/>
          </p:cNvSpPr>
          <p:nvPr/>
        </p:nvSpPr>
        <p:spPr>
          <a:xfrm xmlns:a="http://schemas.openxmlformats.org/drawingml/2006/main">
            <a:off x="609600" y="5495925"/>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Hold to the official result. Compare its gains and losses with the calibrated version.</a:t>
            </a:r>
          </a:p>
        </p:txBody>
      </p:sp>
      <p:graphicFrame>
        <p:nvGraphicFramePr>
          <p:cNvPr id="13" name="Chart">
            <a:extLst xmlns:a="http://schemas.openxmlformats.org/drawingml/2006/main">
              <a:ext uri="{FF2B5EF4-FFF2-40B4-BE49-F238E27FC236}">
                <a16:creationId xmlns:a16="http://schemas.microsoft.com/office/drawing/2014/main" id="{B7217119-083C-40F3-A741-96F5653C5754}"/>
              </a:ext>
            </a:extLst>
          </p:cNvPr>
          <p:cNvGraphicFramePr/>
          <p:nvPr/>
        </p:nvGraphicFramePr>
        <p:xfrm>
          <a:off xmlns:a="http://schemas.openxmlformats.org/drawingml/2006/main" x="6019800" y="1704975"/>
          <a:ext xmlns:a="http://schemas.openxmlformats.org/drawingml/2006/main" cx="5524500" cy="1838325"/>
        </p:xfrm>
        <a:graphic xmlns:a="http://schemas.openxmlformats.org/drawingml/2006/main">
          <a:graphicData uri="http://schemas.openxmlformats.org/drawingml/2006/chart">
            <c:chart xmlns:r="http://schemas.openxmlformats.org/officeDocument/2006/relationships" xmlns:c="http://schemas.openxmlformats.org/drawingml/2006/chart" r:id="R4bf4bbce765e4737"/>
          </a:graphicData>
        </a:graphic>
      </p:graphicFrame>
      <p:graphicFrame>
        <p:nvGraphicFramePr>
          <p:cNvPr id="14" name="Chart">
            <a:extLst xmlns:a="http://schemas.openxmlformats.org/drawingml/2006/main">
              <a:ext uri="{FF2B5EF4-FFF2-40B4-BE49-F238E27FC236}">
                <a16:creationId xmlns:a16="http://schemas.microsoft.com/office/drawing/2014/main" id="{B9E36091-07F9-496B-873D-20DC5EFE8C31}"/>
              </a:ext>
            </a:extLst>
          </p:cNvPr>
          <p:cNvGraphicFramePr/>
          <p:nvPr/>
        </p:nvGraphicFramePr>
        <p:xfrm>
          <a:off xmlns:a="http://schemas.openxmlformats.org/drawingml/2006/main" x="6019800" y="3657600"/>
          <a:ext xmlns:a="http://schemas.openxmlformats.org/drawingml/2006/main" cx="5524500" cy="1943100"/>
        </p:xfrm>
        <a:graphic xmlns:a="http://schemas.openxmlformats.org/drawingml/2006/main">
          <a:graphicData uri="http://schemas.openxmlformats.org/drawingml/2006/chart">
            <c:chart xmlns:r="http://schemas.openxmlformats.org/officeDocument/2006/relationships" xmlns:c="http://schemas.openxmlformats.org/drawingml/2006/chart" r:id="R97c1c2794a074be5"/>
          </a:graphicData>
        </a:graphic>
      </p:graphicFrame>
      <p:sp>
        <p:nvSpPr>
          <p:cNvPr id="15" name="">
            <a:extLst xmlns:a="http://schemas.openxmlformats.org/drawingml/2006/main">
              <a:ext uri="{FF2B5EF4-FFF2-40B4-BE49-F238E27FC236}">
                <a16:creationId xmlns:a16="http://schemas.microsoft.com/office/drawing/2014/main" id="{5274784F-9796-4B08-88E8-E43C34CF3B99}"/>
              </a:ext>
            </a:extLst>
          </p:cNvPr>
          <p:cNvSpPr>
            <a:spLocks xmlns:a="http://schemas.openxmlformats.org/drawingml/2006/main" noGrp="1"/>
          </p:cNvSpPr>
          <p:nvPr/>
        </p:nvSpPr>
        <p:spPr>
          <a:xfrm xmlns:a="http://schemas.openxmlformats.org/drawingml/2006/main">
            <a:off x="6143625" y="5762625"/>
            <a:ext cx="5257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77B"/>
                </a:solidFill>
                <a:latin typeface="Arial"/>
                <a:ea typeface="Arial"/>
                <a:cs typeface="Arial"/>
              </a:defRPr>
            </a:defPPr>
          </a:lstStyle>
          <a:p xmlns:a="http://schemas.openxmlformats.org/drawingml/2006/main">
            <a:pPr>
              <a:buNone/>
              <a:defRPr sz="1575" b="0">
                <a:solidFill>
                  <a:srgbClr val="52677B"/>
                </a:solidFill>
                <a:latin typeface="Arial"/>
                <a:ea typeface="Arial"/>
                <a:cs typeface="Arial"/>
              </a:defRPr>
            </a:pPr>
            <a:r>
              <a:rPr sz="1575" b="0">
                <a:solidFill>
                  <a:srgbClr val="52677B"/>
                </a:solidFill>
                <a:latin typeface="Arial"/>
                <a:ea typeface="Arial"/>
                <a:cs typeface="Arial"/>
              </a:rPr>
              <a:t>RAW_ORIGINAL. Keeping the original model lets us test whether calibration actually helps.</a:t>
            </a:r>
          </a:p>
        </p:txBody>
      </p:sp>
    </p:spTree>
    <p:extLst>
      <p:ext uri="{BB962C8B-B14F-4D97-AF65-F5344CB8AC3E}">
        <p14:creationId xmlns:p14="http://schemas.microsoft.com/office/powerpoint/2010/main" val="510340948"/>
      </p:ext>
    </p:extLst>
  </p:cSld>
</p:sld>
</file>

<file path=ppt/slides/slide17.xml><?xml version="1.0" encoding="utf-8"?>
<p:sld xmlns:p="http://schemas.openxmlformats.org/presentationml/2006/main">
  <p:cSld>
    <p:bg>
      <p:bgPr>
        <a:solidFill xmlns:a="http://schemas.openxmlformats.org/drawingml/2006/main">
          <a:srgbClr val="FFF4E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775EE1C-6798-48B6-B279-6AC9E2EA4819}"/>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B36832"/>
          </a:solidFill>
          <a:ln xmlns:a="http://schemas.openxmlformats.org/drawingml/2006/main" w="0">
            <a:noFill/>
          </a:ln>
        </p:spPr>
        <p:txBody>
          <a:bodyPr xmlns:a="http://schemas.openxmlformats.org/drawingml/2006/main" lIns="609600" tIns="200025" rIns="609600" bIns="76200"/>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MIAMI · SEPTEMBER RESULTS</a:t>
            </a:r>
          </a:p>
        </p:txBody>
      </p:sp>
      <p:sp>
        <p:nvSpPr>
          <p:cNvPr id="2" name="">
            <a:extLst xmlns:a="http://schemas.openxmlformats.org/drawingml/2006/main">
              <a:ext uri="{FF2B5EF4-FFF2-40B4-BE49-F238E27FC236}">
                <a16:creationId xmlns:a16="http://schemas.microsoft.com/office/drawing/2014/main" id="{417D377B-2E7B-4A1C-B5E6-55D32E5CA82B}"/>
              </a:ext>
            </a:extLst>
          </p:cNvPr>
          <p:cNvSpPr>
            <a:spLocks xmlns:a="http://schemas.openxmlformats.org/drawingml/2006/main" noGrp="1"/>
          </p:cNvSpPr>
          <p:nvPr/>
        </p:nvSpPr>
        <p:spPr>
          <a:xfrm xmlns:a="http://schemas.openxmlformats.org/drawingml/2006/main">
            <a:off x="609600" y="762000"/>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B36832"/>
                </a:solidFill>
                <a:latin typeface="Arial"/>
                <a:ea typeface="Arial"/>
                <a:cs typeface="Arial"/>
              </a:defRPr>
            </a:defPPr>
          </a:lstStyle>
          <a:p xmlns:a="http://schemas.openxmlformats.org/drawingml/2006/main">
            <a:pPr>
              <a:defRPr sz="3300" b="1">
                <a:solidFill>
                  <a:srgbClr val="B36832"/>
                </a:solidFill>
                <a:latin typeface="Arial"/>
                <a:ea typeface="Arial"/>
                <a:cs typeface="Arial"/>
              </a:defRPr>
            </a:pPr>
            <a:r>
              <a:rPr sz="3300" b="1">
                <a:solidFill>
                  <a:srgbClr val="B36832"/>
                </a:solidFill>
                <a:latin typeface="Arial"/>
                <a:ea typeface="Arial"/>
                <a:cs typeface="Arial"/>
              </a:rPr>
              <a:t>September paper replay</a:t>
            </a:r>
          </a:p>
        </p:txBody>
      </p:sp>
      <p:sp>
        <p:nvSpPr>
          <p:cNvPr id="3" name="">
            <a:extLst xmlns:a="http://schemas.openxmlformats.org/drawingml/2006/main">
              <a:ext uri="{FF2B5EF4-FFF2-40B4-BE49-F238E27FC236}">
                <a16:creationId xmlns:a16="http://schemas.microsoft.com/office/drawing/2014/main" id="{85324AFB-7218-4B3F-8C6F-25A04889F80E}"/>
              </a:ext>
            </a:extLst>
          </p:cNvPr>
          <p:cNvSpPr>
            <a:spLocks xmlns:a="http://schemas.openxmlformats.org/drawingml/2006/main" noGrp="1"/>
          </p:cNvSpPr>
          <p:nvPr/>
        </p:nvSpPr>
        <p:spPr>
          <a:xfrm xmlns:a="http://schemas.openxmlformats.org/drawingml/2006/main">
            <a:off x="609600" y="143827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2677B"/>
                </a:solidFill>
                <a:latin typeface="Arial"/>
                <a:ea typeface="Arial"/>
                <a:cs typeface="Arial"/>
              </a:defRPr>
            </a:defPPr>
          </a:lstStyle>
          <a:p xmlns:a="http://schemas.openxmlformats.org/drawingml/2006/main">
            <a:pPr>
              <a:defRPr sz="1875" b="0">
                <a:solidFill>
                  <a:srgbClr val="52677B"/>
                </a:solidFill>
                <a:latin typeface="Arial"/>
                <a:ea typeface="Arial"/>
                <a:cs typeface="Arial"/>
              </a:defRPr>
            </a:pPr>
            <a:r>
              <a:rPr sz="1875" b="0">
                <a:solidFill>
                  <a:srgbClr val="52677B"/>
                </a:solidFill>
                <a:latin typeface="Arial"/>
                <a:ea typeface="Arial"/>
                <a:cs typeface="Arial"/>
              </a:rPr>
              <a:t>September 1–30, 2026</a:t>
            </a:r>
          </a:p>
        </p:txBody>
      </p:sp>
      <p:sp>
        <p:nvSpPr>
          <p:cNvPr id="4" name="">
            <a:extLst xmlns:a="http://schemas.openxmlformats.org/drawingml/2006/main">
              <a:ext uri="{FF2B5EF4-FFF2-40B4-BE49-F238E27FC236}">
                <a16:creationId xmlns:a16="http://schemas.microsoft.com/office/drawing/2014/main" id="{0973CE9F-FAF5-4CDA-9040-20BD42711A7F}"/>
              </a:ext>
            </a:extLst>
          </p:cNvPr>
          <p:cNvSpPr>
            <a:spLocks xmlns:a="http://schemas.openxmlformats.org/drawingml/2006/main" noGrp="1"/>
          </p:cNvSpPr>
          <p:nvPr/>
        </p:nvSpPr>
        <p:spPr>
          <a:xfrm xmlns:a="http://schemas.openxmlformats.org/drawingml/2006/main">
            <a:off x="609600" y="2000250"/>
            <a:ext cx="5067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B36832"/>
                </a:solidFill>
                <a:latin typeface="Arial"/>
                <a:ea typeface="Arial"/>
                <a:cs typeface="Arial"/>
              </a:defRPr>
            </a:defPPr>
          </a:lstStyle>
          <a:p xmlns:a="http://schemas.openxmlformats.org/drawingml/2006/main">
            <a:pPr>
              <a:defRPr sz="1425" b="1">
                <a:solidFill>
                  <a:srgbClr val="B36832"/>
                </a:solidFill>
                <a:latin typeface="Arial"/>
                <a:ea typeface="Arial"/>
                <a:cs typeface="Arial"/>
              </a:defRPr>
            </a:pPr>
            <a:r>
              <a:rPr sz="1425" b="1">
                <a:solidFill>
                  <a:srgbClr val="B36832"/>
                </a:solidFill>
                <a:latin typeface="Arial"/>
                <a:ea typeface="Arial"/>
                <a:cs typeface="Arial"/>
              </a:rPr>
              <a:t>SELECTED CALIBRATED MODEL</a:t>
            </a:r>
          </a:p>
        </p:txBody>
      </p:sp>
      <p:sp>
        <p:nvSpPr>
          <p:cNvPr id="5" name="">
            <a:extLst xmlns:a="http://schemas.openxmlformats.org/drawingml/2006/main">
              <a:ext uri="{FF2B5EF4-FFF2-40B4-BE49-F238E27FC236}">
                <a16:creationId xmlns:a16="http://schemas.microsoft.com/office/drawing/2014/main" id="{AFE6AFE7-9FFE-4F4A-88B9-0505A4755EBC}"/>
              </a:ext>
            </a:extLst>
          </p:cNvPr>
          <p:cNvSpPr>
            <a:spLocks xmlns:a="http://schemas.openxmlformats.org/drawingml/2006/main" noGrp="1"/>
          </p:cNvSpPr>
          <p:nvPr/>
        </p:nvSpPr>
        <p:spPr>
          <a:xfrm xmlns:a="http://schemas.openxmlformats.org/drawingml/2006/main">
            <a:off x="609600" y="2295525"/>
            <a:ext cx="5067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$190.88 from $100 (+$90.88).</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12 profitable / 1 losing days.</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276 contracts.</a:t>
            </a:r>
          </a:p>
        </p:txBody>
      </p:sp>
      <p:sp>
        <p:nvSpPr>
          <p:cNvPr id="6" name="">
            <a:extLst xmlns:a="http://schemas.openxmlformats.org/drawingml/2006/main">
              <a:ext uri="{FF2B5EF4-FFF2-40B4-BE49-F238E27FC236}">
                <a16:creationId xmlns:a16="http://schemas.microsoft.com/office/drawing/2014/main" id="{8188E421-4736-45B3-82D5-4CA2866E1055}"/>
              </a:ext>
            </a:extLst>
          </p:cNvPr>
          <p:cNvSpPr>
            <a:spLocks xmlns:a="http://schemas.openxmlformats.org/drawingml/2006/main" noGrp="1"/>
          </p:cNvSpPr>
          <p:nvPr/>
        </p:nvSpPr>
        <p:spPr>
          <a:xfrm xmlns:a="http://schemas.openxmlformats.org/drawingml/2006/main">
            <a:off x="609600" y="3571875"/>
            <a:ext cx="5067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B36832"/>
                </a:solidFill>
                <a:latin typeface="Arial"/>
                <a:ea typeface="Arial"/>
                <a:cs typeface="Arial"/>
              </a:defRPr>
            </a:defPPr>
          </a:lstStyle>
          <a:p xmlns:a="http://schemas.openxmlformats.org/drawingml/2006/main">
            <a:pPr>
              <a:defRPr sz="1425" b="1">
                <a:solidFill>
                  <a:srgbClr val="B36832"/>
                </a:solidFill>
                <a:latin typeface="Arial"/>
                <a:ea typeface="Arial"/>
                <a:cs typeface="Arial"/>
              </a:defRPr>
            </a:pPr>
            <a:r>
              <a:rPr sz="1425" b="1">
                <a:solidFill>
                  <a:srgbClr val="B36832"/>
                </a:solidFill>
                <a:latin typeface="Arial"/>
                <a:ea typeface="Arial"/>
                <a:cs typeface="Arial"/>
              </a:rPr>
              <a:t>ORIGINAL RAW MODEL</a:t>
            </a:r>
          </a:p>
        </p:txBody>
      </p:sp>
      <p:sp>
        <p:nvSpPr>
          <p:cNvPr id="7" name="">
            <a:extLst xmlns:a="http://schemas.openxmlformats.org/drawingml/2006/main">
              <a:ext uri="{FF2B5EF4-FFF2-40B4-BE49-F238E27FC236}">
                <a16:creationId xmlns:a16="http://schemas.microsoft.com/office/drawing/2014/main" id="{F7D46234-C220-475A-9ED3-9B53665E1F01}"/>
              </a:ext>
            </a:extLst>
          </p:cNvPr>
          <p:cNvSpPr>
            <a:spLocks xmlns:a="http://schemas.openxmlformats.org/drawingml/2006/main" noGrp="1"/>
          </p:cNvSpPr>
          <p:nvPr/>
        </p:nvSpPr>
        <p:spPr>
          <a:xfrm xmlns:a="http://schemas.openxmlformats.org/drawingml/2006/main">
            <a:off x="609600" y="3867150"/>
            <a:ext cx="5067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$159.66 from $100 (+$59.66).</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9 profitable / 2 losing days.</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197 contracts.</a:t>
            </a:r>
          </a:p>
        </p:txBody>
      </p:sp>
      <p:sp>
        <p:nvSpPr>
          <p:cNvPr id="8" name="">
            <a:extLst xmlns:a="http://schemas.openxmlformats.org/drawingml/2006/main">
              <a:ext uri="{FF2B5EF4-FFF2-40B4-BE49-F238E27FC236}">
                <a16:creationId xmlns:a16="http://schemas.microsoft.com/office/drawing/2014/main" id="{57A3F82F-E53C-42E9-B7DE-F9B66499278B}"/>
              </a:ext>
            </a:extLst>
          </p:cNvPr>
          <p:cNvSpPr>
            <a:spLocks xmlns:a="http://schemas.openxmlformats.org/drawingml/2006/main" noGrp="1"/>
          </p:cNvSpPr>
          <p:nvPr/>
        </p:nvSpPr>
        <p:spPr>
          <a:xfrm xmlns:a="http://schemas.openxmlformats.org/drawingml/2006/main">
            <a:off x="609600" y="5095875"/>
            <a:ext cx="506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B36832"/>
                </a:solidFill>
                <a:latin typeface="Arial"/>
                <a:ea typeface="Arial"/>
                <a:cs typeface="Arial"/>
              </a:defRPr>
            </a:defPPr>
          </a:lstStyle>
          <a:p xmlns:a="http://schemas.openxmlformats.org/drawingml/2006/main">
            <a:pPr>
              <a:defRPr sz="1425" b="1">
                <a:solidFill>
                  <a:srgbClr val="B36832"/>
                </a:solidFill>
                <a:latin typeface="Arial"/>
                <a:ea typeface="Arial"/>
                <a:cs typeface="Arial"/>
              </a:defRPr>
            </a:pPr>
            <a:r>
              <a:rPr sz="1425" b="1">
                <a:solidFill>
                  <a:srgbClr val="B36832"/>
                </a:solidFill>
                <a:latin typeface="Arial"/>
                <a:ea typeface="Arial"/>
                <a:cs typeface="Arial"/>
              </a:rPr>
              <a:t>WHAT THIS SHOWS</a:t>
            </a:r>
          </a:p>
        </p:txBody>
      </p:sp>
      <p:sp>
        <p:nvSpPr>
          <p:cNvPr id="9" name="">
            <a:extLst xmlns:a="http://schemas.openxmlformats.org/drawingml/2006/main">
              <a:ext uri="{FF2B5EF4-FFF2-40B4-BE49-F238E27FC236}">
                <a16:creationId xmlns:a16="http://schemas.microsoft.com/office/drawing/2014/main" id="{26ED57A7-7575-4C96-9005-E2BA20E9D3D9}"/>
              </a:ext>
            </a:extLst>
          </p:cNvPr>
          <p:cNvSpPr>
            <a:spLocks xmlns:a="http://schemas.openxmlformats.org/drawingml/2006/main" noGrp="1"/>
          </p:cNvSpPr>
          <p:nvPr/>
        </p:nvSpPr>
        <p:spPr>
          <a:xfrm xmlns:a="http://schemas.openxmlformats.org/drawingml/2006/main">
            <a:off x="609600" y="5391150"/>
            <a:ext cx="50673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The calibrated version earned more and had more profitable trade days. Both models lost on September 24.</a:t>
            </a:r>
          </a:p>
        </p:txBody>
      </p:sp>
      <p:graphicFrame>
        <p:nvGraphicFramePr>
          <p:cNvPr id="10" name="Chart">
            <a:extLst xmlns:a="http://schemas.openxmlformats.org/drawingml/2006/main">
              <a:ext uri="{FF2B5EF4-FFF2-40B4-BE49-F238E27FC236}">
                <a16:creationId xmlns:a16="http://schemas.microsoft.com/office/drawing/2014/main" id="{48C9B58D-4926-4B36-AE2E-BAE2E0E7AFC4}"/>
              </a:ext>
            </a:extLst>
          </p:cNvPr>
          <p:cNvGraphicFramePr/>
          <p:nvPr/>
        </p:nvGraphicFramePr>
        <p:xfrm>
          <a:off xmlns:a="http://schemas.openxmlformats.org/drawingml/2006/main" x="6019800" y="1981200"/>
          <a:ext xmlns:a="http://schemas.openxmlformats.org/drawingml/2006/main" cx="5524500" cy="3705225"/>
        </p:xfrm>
        <a:graphic xmlns:a="http://schemas.openxmlformats.org/drawingml/2006/main">
          <a:graphicData uri="http://schemas.openxmlformats.org/drawingml/2006/chart">
            <c:chart xmlns:r="http://schemas.openxmlformats.org/officeDocument/2006/relationships" xmlns:c="http://schemas.openxmlformats.org/drawingml/2006/chart" r:id="R2313b2da2bb143b9"/>
          </a:graphicData>
        </a:graphic>
      </p:graphicFrame>
      <p:sp>
        <p:nvSpPr>
          <p:cNvPr id="11" name="">
            <a:extLst xmlns:a="http://schemas.openxmlformats.org/drawingml/2006/main">
              <a:ext uri="{FF2B5EF4-FFF2-40B4-BE49-F238E27FC236}">
                <a16:creationId xmlns:a16="http://schemas.microsoft.com/office/drawing/2014/main" id="{2DF2D6C4-8054-465A-8C8B-48CCCA3D79C7}"/>
              </a:ext>
            </a:extLst>
          </p:cNvPr>
          <p:cNvSpPr>
            <a:spLocks xmlns:a="http://schemas.openxmlformats.org/drawingml/2006/main" noGrp="1"/>
          </p:cNvSpPr>
          <p:nvPr/>
        </p:nvSpPr>
        <p:spPr>
          <a:xfrm xmlns:a="http://schemas.openxmlformats.org/drawingml/2006/main">
            <a:off x="6143625" y="5800725"/>
            <a:ext cx="525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77B"/>
                </a:solidFill>
                <a:latin typeface="Arial"/>
                <a:ea typeface="Arial"/>
                <a:cs typeface="Arial"/>
              </a:defRPr>
            </a:defPPr>
          </a:lstStyle>
          <a:p xmlns:a="http://schemas.openxmlformats.org/drawingml/2006/main">
            <a:pPr>
              <a:defRPr sz="1575" b="0">
                <a:solidFill>
                  <a:srgbClr val="52677B"/>
                </a:solidFill>
                <a:latin typeface="Arial"/>
                <a:ea typeface="Arial"/>
                <a:cs typeface="Arial"/>
              </a:defRPr>
            </a:pPr>
            <a:r>
              <a:rPr sz="1575" b="0">
                <a:solidFill>
                  <a:srgbClr val="52677B"/>
                </a:solidFill>
                <a:latin typeface="Arial"/>
                <a:ea typeface="Arial"/>
                <a:cs typeface="Arial"/>
              </a:rPr>
              <a:t>Recorded trade balances after fees. Missing quotes can hide other opportunities.</a:t>
            </a:r>
          </a:p>
        </p:txBody>
      </p:sp>
      <p:sp>
        <p:nvSpPr>
          <p:cNvPr id="12" name="">
            <a:extLst xmlns:a="http://schemas.openxmlformats.org/drawingml/2006/main">
              <a:ext uri="{FF2B5EF4-FFF2-40B4-BE49-F238E27FC236}">
                <a16:creationId xmlns:a16="http://schemas.microsoft.com/office/drawing/2014/main" id="{BDF4CF4C-3645-4910-BCB0-68E551FB082A}"/>
              </a:ext>
            </a:extLst>
          </p:cNvPr>
          <p:cNvSpPr>
            <a:spLocks xmlns:a="http://schemas.openxmlformats.org/drawingml/2006/main" noGrp="1"/>
          </p:cNvSpPr>
          <p:nvPr/>
        </p:nvSpPr>
        <p:spPr>
          <a:xfrm xmlns:a="http://schemas.openxmlformats.org/drawingml/2006/main">
            <a:off x="6096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B"/>
                </a:solidFill>
                <a:latin typeface="Arial"/>
                <a:ea typeface="Arial"/>
                <a:cs typeface="Arial"/>
              </a:defRPr>
            </a:defPPr>
          </a:lstStyle>
          <a:p xmlns:a="http://schemas.openxmlformats.org/drawingml/2006/main">
            <a:pPr>
              <a:defRPr sz="1125" b="0">
                <a:solidFill>
                  <a:srgbClr val="52677B"/>
                </a:solidFill>
                <a:latin typeface="Arial"/>
                <a:ea typeface="Arial"/>
                <a:cs typeface="Arial"/>
              </a:defRPr>
            </a:pPr>
            <a:r>
              <a:rPr sz="1125" b="0">
                <a:solidFill>
                  <a:srgbClr val="52677B"/>
                </a:solidFill>
                <a:latin typeface="Arial"/>
                <a:ea typeface="Arial"/>
                <a:cs typeface="Arial"/>
              </a:rPr>
              <a:t>Separate $100 per strategy and period. Fees included. Conditional archive replay.</a:t>
            </a:r>
          </a:p>
        </p:txBody>
      </p:sp>
      <p:sp>
        <p:nvSpPr>
          <p:cNvPr id="13" name="">
            <a:extLst xmlns:a="http://schemas.openxmlformats.org/drawingml/2006/main">
              <a:ext uri="{FF2B5EF4-FFF2-40B4-BE49-F238E27FC236}">
                <a16:creationId xmlns:a16="http://schemas.microsoft.com/office/drawing/2014/main" id="{124B3DDD-B961-48AC-A4D6-1EEEB06196AA}"/>
              </a:ext>
            </a:extLst>
          </p:cNvPr>
          <p:cNvSpPr>
            <a:spLocks xmlns:a="http://schemas.openxmlformats.org/drawingml/2006/main" noGrp="1"/>
          </p:cNvSpPr>
          <p:nvPr/>
        </p:nvSpPr>
        <p:spPr>
          <a:xfrm xmlns:a="http://schemas.openxmlformats.org/drawingml/2006/main">
            <a:off x="11049000" y="6400800"/>
            <a:ext cx="495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77B"/>
                </a:solidFill>
                <a:latin typeface="Arial"/>
                <a:ea typeface="Arial"/>
                <a:cs typeface="Arial"/>
              </a:defRPr>
            </a:defPPr>
          </a:lstStyle>
          <a:p xmlns:a="http://schemas.openxmlformats.org/drawingml/2006/main">
            <a:pPr>
              <a:defRPr sz="1500" b="0">
                <a:solidFill>
                  <a:srgbClr val="52677B"/>
                </a:solidFill>
                <a:latin typeface="Arial"/>
                <a:ea typeface="Arial"/>
                <a:cs typeface="Arial"/>
              </a:defRPr>
            </a:pPr>
            <a:r>
              <a:rPr sz="1500" b="0">
                <a:solidFill>
                  <a:srgbClr val="52677B"/>
                </a:solidFill>
                <a:latin typeface="Arial"/>
                <a:ea typeface="Arial"/>
                <a:cs typeface="Arial"/>
              </a:rPr>
              <a:t>17</a:t>
            </a:r>
          </a:p>
        </p:txBody>
      </p:sp>
    </p:spTree>
    <p:extLst>
      <p:ext uri="{BB962C8B-B14F-4D97-AF65-F5344CB8AC3E}">
        <p14:creationId xmlns:p14="http://schemas.microsoft.com/office/powerpoint/2010/main" val="1478156465"/>
      </p:ext>
    </p:extLst>
  </p:cSld>
</p:sld>
</file>

<file path=ppt/slides/slide18.xml><?xml version="1.0" encoding="utf-8"?>
<p:sld xmlns:p="http://schemas.openxmlformats.org/presentationml/2006/main">
  <p:cSld>
    <p:bg>
      <p:bgPr>
        <a:solidFill xmlns:a="http://schemas.openxmlformats.org/drawingml/2006/main">
          <a:srgbClr val="FFF4E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1A357EF-496B-4702-B8CB-FE0C58C71613}"/>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B36832"/>
          </a:solidFill>
          <a:ln xmlns:a="http://schemas.openxmlformats.org/drawingml/2006/main" w="0">
            <a:noFill/>
          </a:ln>
        </p:spPr>
        <p:txBody>
          <a:bodyPr xmlns:a="http://schemas.openxmlformats.org/drawingml/2006/main" lIns="609600" tIns="200025" rIns="609600" bIns="76200"/>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MIAMI · OCTOBER RESULTS</a:t>
            </a:r>
          </a:p>
        </p:txBody>
      </p:sp>
      <p:sp>
        <p:nvSpPr>
          <p:cNvPr id="2" name="">
            <a:extLst xmlns:a="http://schemas.openxmlformats.org/drawingml/2006/main">
              <a:ext uri="{FF2B5EF4-FFF2-40B4-BE49-F238E27FC236}">
                <a16:creationId xmlns:a16="http://schemas.microsoft.com/office/drawing/2014/main" id="{496BBCD2-75A1-463E-993B-6EB7226BA248}"/>
              </a:ext>
            </a:extLst>
          </p:cNvPr>
          <p:cNvSpPr>
            <a:spLocks xmlns:a="http://schemas.openxmlformats.org/drawingml/2006/main" noGrp="1"/>
          </p:cNvSpPr>
          <p:nvPr/>
        </p:nvSpPr>
        <p:spPr>
          <a:xfrm xmlns:a="http://schemas.openxmlformats.org/drawingml/2006/main">
            <a:off x="609600" y="762000"/>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B36832"/>
                </a:solidFill>
                <a:latin typeface="Arial"/>
                <a:ea typeface="Arial"/>
                <a:cs typeface="Arial"/>
              </a:defRPr>
            </a:defPPr>
          </a:lstStyle>
          <a:p xmlns:a="http://schemas.openxmlformats.org/drawingml/2006/main">
            <a:pPr>
              <a:defRPr sz="3300" b="1">
                <a:solidFill>
                  <a:srgbClr val="B36832"/>
                </a:solidFill>
                <a:latin typeface="Arial"/>
                <a:ea typeface="Arial"/>
                <a:cs typeface="Arial"/>
              </a:defRPr>
            </a:pPr>
            <a:r>
              <a:rPr sz="3300" b="1">
                <a:solidFill>
                  <a:srgbClr val="B36832"/>
                </a:solidFill>
                <a:latin typeface="Arial"/>
                <a:ea typeface="Arial"/>
                <a:cs typeface="Arial"/>
              </a:rPr>
              <a:t>October paper replay</a:t>
            </a:r>
          </a:p>
        </p:txBody>
      </p:sp>
      <p:sp>
        <p:nvSpPr>
          <p:cNvPr id="3" name="">
            <a:extLst xmlns:a="http://schemas.openxmlformats.org/drawingml/2006/main">
              <a:ext uri="{FF2B5EF4-FFF2-40B4-BE49-F238E27FC236}">
                <a16:creationId xmlns:a16="http://schemas.microsoft.com/office/drawing/2014/main" id="{68C2E0AC-56A0-4488-8CB3-F6CB08BDBF9A}"/>
              </a:ext>
            </a:extLst>
          </p:cNvPr>
          <p:cNvSpPr>
            <a:spLocks xmlns:a="http://schemas.openxmlformats.org/drawingml/2006/main" noGrp="1"/>
          </p:cNvSpPr>
          <p:nvPr/>
        </p:nvSpPr>
        <p:spPr>
          <a:xfrm xmlns:a="http://schemas.openxmlformats.org/drawingml/2006/main">
            <a:off x="609600" y="143827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2677B"/>
                </a:solidFill>
                <a:latin typeface="Arial"/>
                <a:ea typeface="Arial"/>
                <a:cs typeface="Arial"/>
              </a:defRPr>
            </a:defPPr>
          </a:lstStyle>
          <a:p xmlns:a="http://schemas.openxmlformats.org/drawingml/2006/main">
            <a:pPr>
              <a:defRPr sz="1875" b="0">
                <a:solidFill>
                  <a:srgbClr val="52677B"/>
                </a:solidFill>
                <a:latin typeface="Arial"/>
                <a:ea typeface="Arial"/>
                <a:cs typeface="Arial"/>
              </a:defRPr>
            </a:pPr>
            <a:r>
              <a:rPr sz="1875" b="0">
                <a:solidFill>
                  <a:srgbClr val="52677B"/>
                </a:solidFill>
                <a:latin typeface="Arial"/>
                <a:ea typeface="Arial"/>
                <a:cs typeface="Arial"/>
              </a:rPr>
              <a:t>October 1–11, 2026</a:t>
            </a:r>
          </a:p>
        </p:txBody>
      </p:sp>
      <p:sp>
        <p:nvSpPr>
          <p:cNvPr id="4" name="">
            <a:extLst xmlns:a="http://schemas.openxmlformats.org/drawingml/2006/main">
              <a:ext uri="{FF2B5EF4-FFF2-40B4-BE49-F238E27FC236}">
                <a16:creationId xmlns:a16="http://schemas.microsoft.com/office/drawing/2014/main" id="{282B81CE-7F52-439D-B716-EC0E86D95C22}"/>
              </a:ext>
            </a:extLst>
          </p:cNvPr>
          <p:cNvSpPr>
            <a:spLocks xmlns:a="http://schemas.openxmlformats.org/drawingml/2006/main" noGrp="1"/>
          </p:cNvSpPr>
          <p:nvPr/>
        </p:nvSpPr>
        <p:spPr>
          <a:xfrm xmlns:a="http://schemas.openxmlformats.org/drawingml/2006/main">
            <a:off x="609600" y="2000250"/>
            <a:ext cx="5067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B36832"/>
                </a:solidFill>
                <a:latin typeface="Arial"/>
                <a:ea typeface="Arial"/>
                <a:cs typeface="Arial"/>
              </a:defRPr>
            </a:defPPr>
          </a:lstStyle>
          <a:p xmlns:a="http://schemas.openxmlformats.org/drawingml/2006/main">
            <a:pPr>
              <a:defRPr sz="1425" b="1">
                <a:solidFill>
                  <a:srgbClr val="B36832"/>
                </a:solidFill>
                <a:latin typeface="Arial"/>
                <a:ea typeface="Arial"/>
                <a:cs typeface="Arial"/>
              </a:defRPr>
            </a:pPr>
            <a:r>
              <a:rPr sz="1425" b="1">
                <a:solidFill>
                  <a:srgbClr val="B36832"/>
                </a:solidFill>
                <a:latin typeface="Arial"/>
                <a:ea typeface="Arial"/>
                <a:cs typeface="Arial"/>
              </a:rPr>
              <a:t>SELECTED CALIBRATED MODEL</a:t>
            </a:r>
          </a:p>
        </p:txBody>
      </p:sp>
      <p:sp>
        <p:nvSpPr>
          <p:cNvPr id="5" name="">
            <a:extLst xmlns:a="http://schemas.openxmlformats.org/drawingml/2006/main">
              <a:ext uri="{FF2B5EF4-FFF2-40B4-BE49-F238E27FC236}">
                <a16:creationId xmlns:a16="http://schemas.microsoft.com/office/drawing/2014/main" id="{18D12D31-D3D4-407B-93CB-570B07BE11F7}"/>
              </a:ext>
            </a:extLst>
          </p:cNvPr>
          <p:cNvSpPr>
            <a:spLocks xmlns:a="http://schemas.openxmlformats.org/drawingml/2006/main" noGrp="1"/>
          </p:cNvSpPr>
          <p:nvPr/>
        </p:nvSpPr>
        <p:spPr>
          <a:xfrm xmlns:a="http://schemas.openxmlformats.org/drawingml/2006/main">
            <a:off x="609600" y="2295525"/>
            <a:ext cx="5067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$130.01 from $100 (+$30.01).</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3 profitable / 3 losing days.</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89 contracts.</a:t>
            </a:r>
          </a:p>
        </p:txBody>
      </p:sp>
      <p:sp>
        <p:nvSpPr>
          <p:cNvPr id="6" name="">
            <a:extLst xmlns:a="http://schemas.openxmlformats.org/drawingml/2006/main">
              <a:ext uri="{FF2B5EF4-FFF2-40B4-BE49-F238E27FC236}">
                <a16:creationId xmlns:a16="http://schemas.microsoft.com/office/drawing/2014/main" id="{704F3AC2-0775-4467-961B-2E9B26D6DF09}"/>
              </a:ext>
            </a:extLst>
          </p:cNvPr>
          <p:cNvSpPr>
            <a:spLocks xmlns:a="http://schemas.openxmlformats.org/drawingml/2006/main" noGrp="1"/>
          </p:cNvSpPr>
          <p:nvPr/>
        </p:nvSpPr>
        <p:spPr>
          <a:xfrm xmlns:a="http://schemas.openxmlformats.org/drawingml/2006/main">
            <a:off x="609600" y="3571875"/>
            <a:ext cx="5067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B36832"/>
                </a:solidFill>
                <a:latin typeface="Arial"/>
                <a:ea typeface="Arial"/>
                <a:cs typeface="Arial"/>
              </a:defRPr>
            </a:defPPr>
          </a:lstStyle>
          <a:p xmlns:a="http://schemas.openxmlformats.org/drawingml/2006/main">
            <a:pPr>
              <a:defRPr sz="1425" b="1">
                <a:solidFill>
                  <a:srgbClr val="B36832"/>
                </a:solidFill>
                <a:latin typeface="Arial"/>
                <a:ea typeface="Arial"/>
                <a:cs typeface="Arial"/>
              </a:defRPr>
            </a:pPr>
            <a:r>
              <a:rPr sz="1425" b="1">
                <a:solidFill>
                  <a:srgbClr val="B36832"/>
                </a:solidFill>
                <a:latin typeface="Arial"/>
                <a:ea typeface="Arial"/>
                <a:cs typeface="Arial"/>
              </a:rPr>
              <a:t>ORIGINAL RAW MODEL</a:t>
            </a:r>
          </a:p>
        </p:txBody>
      </p:sp>
      <p:sp>
        <p:nvSpPr>
          <p:cNvPr id="7" name="">
            <a:extLst xmlns:a="http://schemas.openxmlformats.org/drawingml/2006/main">
              <a:ext uri="{FF2B5EF4-FFF2-40B4-BE49-F238E27FC236}">
                <a16:creationId xmlns:a16="http://schemas.microsoft.com/office/drawing/2014/main" id="{A9D7770C-933A-4DED-8003-61D4794A922E}"/>
              </a:ext>
            </a:extLst>
          </p:cNvPr>
          <p:cNvSpPr>
            <a:spLocks xmlns:a="http://schemas.openxmlformats.org/drawingml/2006/main" noGrp="1"/>
          </p:cNvSpPr>
          <p:nvPr/>
        </p:nvSpPr>
        <p:spPr>
          <a:xfrm xmlns:a="http://schemas.openxmlformats.org/drawingml/2006/main">
            <a:off x="609600" y="3867150"/>
            <a:ext cx="5067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$122.74 from $100 (+$22.74).</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2 profitable / 2 losing days.</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67 contracts.</a:t>
            </a:r>
          </a:p>
        </p:txBody>
      </p:sp>
      <p:sp>
        <p:nvSpPr>
          <p:cNvPr id="8" name="">
            <a:extLst xmlns:a="http://schemas.openxmlformats.org/drawingml/2006/main">
              <a:ext uri="{FF2B5EF4-FFF2-40B4-BE49-F238E27FC236}">
                <a16:creationId xmlns:a16="http://schemas.microsoft.com/office/drawing/2014/main" id="{DCE6D008-477D-426B-B2C3-22346D4059AA}"/>
              </a:ext>
            </a:extLst>
          </p:cNvPr>
          <p:cNvSpPr>
            <a:spLocks xmlns:a="http://schemas.openxmlformats.org/drawingml/2006/main" noGrp="1"/>
          </p:cNvSpPr>
          <p:nvPr/>
        </p:nvSpPr>
        <p:spPr>
          <a:xfrm xmlns:a="http://schemas.openxmlformats.org/drawingml/2006/main">
            <a:off x="609600" y="5095875"/>
            <a:ext cx="506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B36832"/>
                </a:solidFill>
                <a:latin typeface="Arial"/>
                <a:ea typeface="Arial"/>
                <a:cs typeface="Arial"/>
              </a:defRPr>
            </a:defPPr>
          </a:lstStyle>
          <a:p xmlns:a="http://schemas.openxmlformats.org/drawingml/2006/main">
            <a:pPr>
              <a:defRPr sz="1425" b="1">
                <a:solidFill>
                  <a:srgbClr val="B36832"/>
                </a:solidFill>
                <a:latin typeface="Arial"/>
                <a:ea typeface="Arial"/>
                <a:cs typeface="Arial"/>
              </a:defRPr>
            </a:pPr>
            <a:r>
              <a:rPr sz="1425" b="1">
                <a:solidFill>
                  <a:srgbClr val="B36832"/>
                </a:solidFill>
                <a:latin typeface="Arial"/>
                <a:ea typeface="Arial"/>
                <a:cs typeface="Arial"/>
              </a:rPr>
              <a:t>WHAT THIS SHOWS</a:t>
            </a:r>
          </a:p>
        </p:txBody>
      </p:sp>
      <p:sp>
        <p:nvSpPr>
          <p:cNvPr id="9" name="">
            <a:extLst xmlns:a="http://schemas.openxmlformats.org/drawingml/2006/main">
              <a:ext uri="{FF2B5EF4-FFF2-40B4-BE49-F238E27FC236}">
                <a16:creationId xmlns:a16="http://schemas.microsoft.com/office/drawing/2014/main" id="{DAAFF5B0-8175-4008-9E1D-C93CDC39B5AE}"/>
              </a:ext>
            </a:extLst>
          </p:cNvPr>
          <p:cNvSpPr>
            <a:spLocks xmlns:a="http://schemas.openxmlformats.org/drawingml/2006/main" noGrp="1"/>
          </p:cNvSpPr>
          <p:nvPr/>
        </p:nvSpPr>
        <p:spPr>
          <a:xfrm xmlns:a="http://schemas.openxmlformats.org/drawingml/2006/main">
            <a:off x="609600" y="5391150"/>
            <a:ext cx="50673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October 11 contributed $20.50 of the selected model’s $30.01 gain. Early gains were concentrated.</a:t>
            </a:r>
          </a:p>
        </p:txBody>
      </p:sp>
      <p:graphicFrame>
        <p:nvGraphicFramePr>
          <p:cNvPr id="10" name="Chart">
            <a:extLst xmlns:a="http://schemas.openxmlformats.org/drawingml/2006/main">
              <a:ext uri="{FF2B5EF4-FFF2-40B4-BE49-F238E27FC236}">
                <a16:creationId xmlns:a16="http://schemas.microsoft.com/office/drawing/2014/main" id="{C5FD407D-F64D-44C3-AB29-763AFFF2373E}"/>
              </a:ext>
            </a:extLst>
          </p:cNvPr>
          <p:cNvGraphicFramePr/>
          <p:nvPr/>
        </p:nvGraphicFramePr>
        <p:xfrm>
          <a:off xmlns:a="http://schemas.openxmlformats.org/drawingml/2006/main" x="6019800" y="1981200"/>
          <a:ext xmlns:a="http://schemas.openxmlformats.org/drawingml/2006/main" cx="5524500" cy="3705225"/>
        </p:xfrm>
        <a:graphic xmlns:a="http://schemas.openxmlformats.org/drawingml/2006/main">
          <a:graphicData uri="http://schemas.openxmlformats.org/drawingml/2006/chart">
            <c:chart xmlns:r="http://schemas.openxmlformats.org/officeDocument/2006/relationships" xmlns:c="http://schemas.openxmlformats.org/drawingml/2006/chart" r:id="Rc9719a064eeb4f6d"/>
          </a:graphicData>
        </a:graphic>
      </p:graphicFrame>
      <p:sp>
        <p:nvSpPr>
          <p:cNvPr id="11" name="">
            <a:extLst xmlns:a="http://schemas.openxmlformats.org/drawingml/2006/main">
              <a:ext uri="{FF2B5EF4-FFF2-40B4-BE49-F238E27FC236}">
                <a16:creationId xmlns:a16="http://schemas.microsoft.com/office/drawing/2014/main" id="{975F3130-ECE4-4C06-8F81-D3B5CAB2839C}"/>
              </a:ext>
            </a:extLst>
          </p:cNvPr>
          <p:cNvSpPr>
            <a:spLocks xmlns:a="http://schemas.openxmlformats.org/drawingml/2006/main" noGrp="1"/>
          </p:cNvSpPr>
          <p:nvPr/>
        </p:nvSpPr>
        <p:spPr>
          <a:xfrm xmlns:a="http://schemas.openxmlformats.org/drawingml/2006/main">
            <a:off x="6143625" y="5800725"/>
            <a:ext cx="525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77B"/>
                </a:solidFill>
                <a:latin typeface="Arial"/>
                <a:ea typeface="Arial"/>
                <a:cs typeface="Arial"/>
              </a:defRPr>
            </a:defPPr>
          </a:lstStyle>
          <a:p xmlns:a="http://schemas.openxmlformats.org/drawingml/2006/main">
            <a:pPr>
              <a:defRPr sz="1575" b="0">
                <a:solidFill>
                  <a:srgbClr val="52677B"/>
                </a:solidFill>
                <a:latin typeface="Arial"/>
                <a:ea typeface="Arial"/>
                <a:cs typeface="Arial"/>
              </a:defRPr>
            </a:pPr>
            <a:r>
              <a:rPr sz="1575" b="0">
                <a:solidFill>
                  <a:srgbClr val="52677B"/>
                </a:solidFill>
                <a:latin typeface="Arial"/>
                <a:ea typeface="Arial"/>
                <a:cs typeface="Arial"/>
              </a:rPr>
              <a:t>Balances include later official payouts. They differ from cash available at the cutoff.</a:t>
            </a:r>
          </a:p>
        </p:txBody>
      </p:sp>
      <p:sp>
        <p:nvSpPr>
          <p:cNvPr id="12" name="">
            <a:extLst xmlns:a="http://schemas.openxmlformats.org/drawingml/2006/main">
              <a:ext uri="{FF2B5EF4-FFF2-40B4-BE49-F238E27FC236}">
                <a16:creationId xmlns:a16="http://schemas.microsoft.com/office/drawing/2014/main" id="{02F44907-6C57-462C-AF7C-463BD6F01E03}"/>
              </a:ext>
            </a:extLst>
          </p:cNvPr>
          <p:cNvSpPr>
            <a:spLocks xmlns:a="http://schemas.openxmlformats.org/drawingml/2006/main" noGrp="1"/>
          </p:cNvSpPr>
          <p:nvPr/>
        </p:nvSpPr>
        <p:spPr>
          <a:xfrm xmlns:a="http://schemas.openxmlformats.org/drawingml/2006/main">
            <a:off x="6096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B"/>
                </a:solidFill>
                <a:latin typeface="Arial"/>
                <a:ea typeface="Arial"/>
                <a:cs typeface="Arial"/>
              </a:defRPr>
            </a:defPPr>
          </a:lstStyle>
          <a:p xmlns:a="http://schemas.openxmlformats.org/drawingml/2006/main">
            <a:pPr>
              <a:defRPr sz="1125" b="0">
                <a:solidFill>
                  <a:srgbClr val="52677B"/>
                </a:solidFill>
                <a:latin typeface="Arial"/>
                <a:ea typeface="Arial"/>
                <a:cs typeface="Arial"/>
              </a:defRPr>
            </a:pPr>
            <a:r>
              <a:rPr sz="1125" b="0">
                <a:solidFill>
                  <a:srgbClr val="52677B"/>
                </a:solidFill>
                <a:latin typeface="Arial"/>
                <a:ea typeface="Arial"/>
                <a:cs typeface="Arial"/>
              </a:rPr>
              <a:t>Separate $100 per strategy and period. Fees included. Conditional archive replay.</a:t>
            </a:r>
          </a:p>
        </p:txBody>
      </p:sp>
      <p:sp>
        <p:nvSpPr>
          <p:cNvPr id="13" name="">
            <a:extLst xmlns:a="http://schemas.openxmlformats.org/drawingml/2006/main">
              <a:ext uri="{FF2B5EF4-FFF2-40B4-BE49-F238E27FC236}">
                <a16:creationId xmlns:a16="http://schemas.microsoft.com/office/drawing/2014/main" id="{59682A67-12F2-4C24-8714-44753F14A527}"/>
              </a:ext>
            </a:extLst>
          </p:cNvPr>
          <p:cNvSpPr>
            <a:spLocks xmlns:a="http://schemas.openxmlformats.org/drawingml/2006/main" noGrp="1"/>
          </p:cNvSpPr>
          <p:nvPr/>
        </p:nvSpPr>
        <p:spPr>
          <a:xfrm xmlns:a="http://schemas.openxmlformats.org/drawingml/2006/main">
            <a:off x="11049000" y="6400800"/>
            <a:ext cx="495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77B"/>
                </a:solidFill>
                <a:latin typeface="Arial"/>
                <a:ea typeface="Arial"/>
                <a:cs typeface="Arial"/>
              </a:defRPr>
            </a:defPPr>
          </a:lstStyle>
          <a:p xmlns:a="http://schemas.openxmlformats.org/drawingml/2006/main">
            <a:pPr>
              <a:defRPr sz="1500" b="0">
                <a:solidFill>
                  <a:srgbClr val="52677B"/>
                </a:solidFill>
                <a:latin typeface="Arial"/>
                <a:ea typeface="Arial"/>
                <a:cs typeface="Arial"/>
              </a:defRPr>
            </a:pPr>
            <a:r>
              <a:rPr sz="1500" b="0">
                <a:solidFill>
                  <a:srgbClr val="52677B"/>
                </a:solidFill>
                <a:latin typeface="Arial"/>
                <a:ea typeface="Arial"/>
                <a:cs typeface="Arial"/>
              </a:rPr>
              <a:t>18</a:t>
            </a:r>
          </a:p>
        </p:txBody>
      </p:sp>
    </p:spTree>
    <p:extLst>
      <p:ext uri="{BB962C8B-B14F-4D97-AF65-F5344CB8AC3E}">
        <p14:creationId xmlns:p14="http://schemas.microsoft.com/office/powerpoint/2010/main" val="213269795"/>
      </p:ext>
    </p:extLst>
  </p:cSld>
</p:sld>
</file>

<file path=ppt/slides/slide19.xml><?xml version="1.0" encoding="utf-8"?>
<p:sld xmlns:p="http://schemas.openxmlformats.org/presentationml/2006/main">
  <p:cSld>
    <p:bg>
      <p:bgPr>
        <a:solidFill xmlns:a="http://schemas.openxmlformats.org/drawingml/2006/main">
          <a:srgbClr val="F4EF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7897C99-4104-4B7D-8753-23EB8DAB6F6E}"/>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77619A"/>
          </a:solidFill>
          <a:ln xmlns:a="http://schemas.openxmlformats.org/drawingml/2006/main" w="0">
            <a:noFill/>
          </a:ln>
        </p:spPr>
        <p:txBody>
          <a:bodyPr xmlns:a="http://schemas.openxmlformats.org/drawingml/2006/main" lIns="609600" tIns="200025" rIns="609600" bIns="76200"/>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PHOENIX · STRATEGY 1 OF 2</a:t>
            </a:r>
          </a:p>
        </p:txBody>
      </p:sp>
      <p:sp>
        <p:nvSpPr>
          <p:cNvPr id="2" name="">
            <a:extLst xmlns:a="http://schemas.openxmlformats.org/drawingml/2006/main">
              <a:ext uri="{FF2B5EF4-FFF2-40B4-BE49-F238E27FC236}">
                <a16:creationId xmlns:a16="http://schemas.microsoft.com/office/drawing/2014/main" id="{996AF6E6-8FE1-4E82-BBBB-983FF6CF52F3}"/>
              </a:ext>
            </a:extLst>
          </p:cNvPr>
          <p:cNvSpPr>
            <a:spLocks xmlns:a="http://schemas.openxmlformats.org/drawingml/2006/main" noGrp="1"/>
          </p:cNvSpPr>
          <p:nvPr/>
        </p:nvSpPr>
        <p:spPr>
          <a:xfrm xmlns:a="http://schemas.openxmlformats.org/drawingml/2006/main">
            <a:off x="609600" y="762000"/>
            <a:ext cx="10934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77619A"/>
                </a:solidFill>
                <a:latin typeface="Arial"/>
                <a:ea typeface="Arial"/>
                <a:cs typeface="Arial"/>
              </a:defRPr>
            </a:defPPr>
          </a:lstStyle>
          <a:p xmlns:a="http://schemas.openxmlformats.org/drawingml/2006/main">
            <a:pPr>
              <a:buNone/>
              <a:defRPr sz="3300" b="1">
                <a:solidFill>
                  <a:srgbClr val="77619A"/>
                </a:solidFill>
                <a:latin typeface="Arial"/>
                <a:ea typeface="Arial"/>
                <a:cs typeface="Arial"/>
              </a:defRPr>
            </a:pPr>
            <a:r>
              <a:rPr sz="3300" b="1">
                <a:solidFill>
                  <a:srgbClr val="77619A"/>
                </a:solidFill>
                <a:latin typeface="Arial"/>
                <a:ea typeface="Arial"/>
                <a:cs typeface="Arial"/>
              </a:rPr>
              <a:t>Four-law ensemble</a:t>
            </a:r>
          </a:p>
        </p:txBody>
      </p:sp>
      <p:sp>
        <p:nvSpPr>
          <p:cNvPr id="3" name="">
            <a:extLst xmlns:a="http://schemas.openxmlformats.org/drawingml/2006/main">
              <a:ext uri="{FF2B5EF4-FFF2-40B4-BE49-F238E27FC236}">
                <a16:creationId xmlns:a16="http://schemas.microsoft.com/office/drawing/2014/main" id="{8EAB586F-0CCF-4C76-9C95-68FB58841116}"/>
              </a:ext>
            </a:extLst>
          </p:cNvPr>
          <p:cNvSpPr>
            <a:spLocks xmlns:a="http://schemas.openxmlformats.org/drawingml/2006/main" noGrp="1"/>
          </p:cNvSpPr>
          <p:nvPr/>
        </p:nvSpPr>
        <p:spPr>
          <a:xfrm xmlns:a="http://schemas.openxmlformats.org/drawingml/2006/main">
            <a:off x="609600" y="64579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B"/>
                </a:solidFill>
                <a:latin typeface="Arial"/>
                <a:ea typeface="Arial"/>
                <a:cs typeface="Arial"/>
              </a:defRPr>
            </a:defPPr>
          </a:lstStyle>
          <a:p xmlns:a="http://schemas.openxmlformats.org/drawingml/2006/main">
            <a:pPr>
              <a:buNone/>
              <a:defRPr sz="1125" b="0">
                <a:solidFill>
                  <a:srgbClr val="52677B"/>
                </a:solidFill>
                <a:latin typeface="Arial"/>
                <a:ea typeface="Arial"/>
                <a:cs typeface="Arial"/>
              </a:defRPr>
            </a:pPr>
            <a:r>
              <a:rPr sz="1125" b="0">
                <a:solidFill>
                  <a:srgbClr val="52677B"/>
                </a:solidFill>
                <a:latin typeface="Arial"/>
                <a:ea typeface="Arial"/>
                <a:cs typeface="Arial"/>
              </a:rPr>
              <a:t>Four-city paper trading. Frozen October 12, 2026</a:t>
            </a:r>
          </a:p>
        </p:txBody>
      </p:sp>
      <p:sp>
        <p:nvSpPr>
          <p:cNvPr id="4" name="">
            <a:extLst xmlns:a="http://schemas.openxmlformats.org/drawingml/2006/main">
              <a:ext uri="{FF2B5EF4-FFF2-40B4-BE49-F238E27FC236}">
                <a16:creationId xmlns:a16="http://schemas.microsoft.com/office/drawing/2014/main" id="{E9EF0EF4-005F-4565-B66C-644F67B84B04}"/>
              </a:ext>
            </a:extLst>
          </p:cNvPr>
          <p:cNvSpPr>
            <a:spLocks xmlns:a="http://schemas.openxmlformats.org/drawingml/2006/main" noGrp="1"/>
          </p:cNvSpPr>
          <p:nvPr/>
        </p:nvSpPr>
        <p:spPr>
          <a:xfrm xmlns:a="http://schemas.openxmlformats.org/drawingml/2006/main">
            <a:off x="11049000" y="6400800"/>
            <a:ext cx="495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77B"/>
                </a:solidFill>
                <a:latin typeface="Arial"/>
                <a:ea typeface="Arial"/>
                <a:cs typeface="Arial"/>
              </a:defRPr>
            </a:defPPr>
          </a:lstStyle>
          <a:p xmlns:a="http://schemas.openxmlformats.org/drawingml/2006/main">
            <a:pPr>
              <a:buNone/>
              <a:defRPr sz="1500" b="0">
                <a:solidFill>
                  <a:srgbClr val="52677B"/>
                </a:solidFill>
                <a:latin typeface="Arial"/>
                <a:ea typeface="Arial"/>
                <a:cs typeface="Arial"/>
              </a:defRPr>
            </a:pPr>
            <a:r>
              <a:rPr sz="1500" b="0">
                <a:solidFill>
                  <a:srgbClr val="52677B"/>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FDACDDA8-C9C9-44D1-B109-044708D46BD6}"/>
              </a:ext>
            </a:extLst>
          </p:cNvPr>
          <p:cNvSpPr>
            <a:spLocks xmlns:a="http://schemas.openxmlformats.org/drawingml/2006/main" noGrp="1"/>
          </p:cNvSpPr>
          <p:nvPr/>
        </p:nvSpPr>
        <p:spPr>
          <a:xfrm xmlns:a="http://schemas.openxmlformats.org/drawingml/2006/main">
            <a:off x="609600" y="1685925"/>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77619A"/>
                </a:solidFill>
                <a:latin typeface="Arial"/>
                <a:ea typeface="Arial"/>
                <a:cs typeface="Arial"/>
              </a:defRPr>
            </a:defPPr>
          </a:lstStyle>
          <a:p xmlns:a="http://schemas.openxmlformats.org/drawingml/2006/main">
            <a:pPr>
              <a:buNone/>
              <a:defRPr sz="1425" b="1">
                <a:solidFill>
                  <a:srgbClr val="77619A"/>
                </a:solidFill>
                <a:latin typeface="Arial"/>
                <a:ea typeface="Arial"/>
                <a:cs typeface="Arial"/>
              </a:defRPr>
            </a:pPr>
            <a:r>
              <a:rPr sz="1425" b="1">
                <a:solidFill>
                  <a:srgbClr val="77619A"/>
                </a:solidFill>
                <a:latin typeface="Arial"/>
                <a:ea typeface="Arial"/>
                <a:cs typeface="Arial"/>
              </a:rPr>
              <a:t>BUY WHEN</a:t>
            </a:r>
          </a:p>
        </p:txBody>
      </p:sp>
      <p:sp>
        <p:nvSpPr>
          <p:cNvPr id="6" name="">
            <a:extLst xmlns:a="http://schemas.openxmlformats.org/drawingml/2006/main">
              <a:ext uri="{FF2B5EF4-FFF2-40B4-BE49-F238E27FC236}">
                <a16:creationId xmlns:a16="http://schemas.microsoft.com/office/drawing/2014/main" id="{FFA1F54C-20FC-4F0C-AF98-C342D88A5E08}"/>
              </a:ext>
            </a:extLst>
          </p:cNvPr>
          <p:cNvSpPr>
            <a:spLocks xmlns:a="http://schemas.openxmlformats.org/drawingml/2006/main" noGrp="1"/>
          </p:cNvSpPr>
          <p:nvPr/>
        </p:nvSpPr>
        <p:spPr>
          <a:xfrm xmlns:a="http://schemas.openxmlformats.org/drawingml/2006/main">
            <a:off x="609600" y="1981200"/>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Check at 10:00, 10:15, 10:30, 11:00 and noon. All checks use the saved 10 am forecast.</a:t>
            </a:r>
          </a:p>
        </p:txBody>
      </p:sp>
      <p:sp>
        <p:nvSpPr>
          <p:cNvPr id="7" name="">
            <a:extLst xmlns:a="http://schemas.openxmlformats.org/drawingml/2006/main">
              <a:ext uri="{FF2B5EF4-FFF2-40B4-BE49-F238E27FC236}">
                <a16:creationId xmlns:a16="http://schemas.microsoft.com/office/drawing/2014/main" id="{4A8C13ED-1CFE-4CD5-AFDC-86CDFFFC037F}"/>
              </a:ext>
            </a:extLst>
          </p:cNvPr>
          <p:cNvSpPr>
            <a:spLocks xmlns:a="http://schemas.openxmlformats.org/drawingml/2006/main" noGrp="1"/>
          </p:cNvSpPr>
          <p:nvPr/>
        </p:nvSpPr>
        <p:spPr>
          <a:xfrm xmlns:a="http://schemas.openxmlformats.org/drawingml/2006/main">
            <a:off x="609600" y="2857500"/>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77619A"/>
                </a:solidFill>
                <a:latin typeface="Arial"/>
                <a:ea typeface="Arial"/>
                <a:cs typeface="Arial"/>
              </a:defRPr>
            </a:defPPr>
          </a:lstStyle>
          <a:p xmlns:a="http://schemas.openxmlformats.org/drawingml/2006/main">
            <a:pPr>
              <a:buNone/>
              <a:defRPr sz="1425" b="1">
                <a:solidFill>
                  <a:srgbClr val="77619A"/>
                </a:solidFill>
                <a:latin typeface="Arial"/>
                <a:ea typeface="Arial"/>
                <a:cs typeface="Arial"/>
              </a:defRPr>
            </a:pPr>
            <a:r>
              <a:rPr sz="1425" b="1">
                <a:solidFill>
                  <a:srgbClr val="77619A"/>
                </a:solidFill>
                <a:latin typeface="Arial"/>
                <a:ea typeface="Arial"/>
                <a:cs typeface="Arial"/>
              </a:rPr>
              <a:t>BUY WHAT</a:t>
            </a:r>
          </a:p>
        </p:txBody>
      </p:sp>
      <p:sp>
        <p:nvSpPr>
          <p:cNvPr id="8" name="">
            <a:extLst xmlns:a="http://schemas.openxmlformats.org/drawingml/2006/main">
              <a:ext uri="{FF2B5EF4-FFF2-40B4-BE49-F238E27FC236}">
                <a16:creationId xmlns:a16="http://schemas.microsoft.com/office/drawing/2014/main" id="{369ABFCB-59BA-4ED8-BAC3-DF4EF5C09E21}"/>
              </a:ext>
            </a:extLst>
          </p:cNvPr>
          <p:cNvSpPr>
            <a:spLocks xmlns:a="http://schemas.openxmlformats.org/drawingml/2006/main" noGrp="1"/>
          </p:cNvSpPr>
          <p:nvPr/>
        </p:nvSpPr>
        <p:spPr>
          <a:xfrm xmlns:a="http://schemas.openxmlformats.org/drawingml/2006/main">
            <a:off x="609600" y="3152775"/>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Average four probability forecasts. Buy NO outside the most likely temperature bracket when the screens pass.</a:t>
            </a:r>
          </a:p>
        </p:txBody>
      </p:sp>
      <p:sp>
        <p:nvSpPr>
          <p:cNvPr id="9" name="">
            <a:extLst xmlns:a="http://schemas.openxmlformats.org/drawingml/2006/main">
              <a:ext uri="{FF2B5EF4-FFF2-40B4-BE49-F238E27FC236}">
                <a16:creationId xmlns:a16="http://schemas.microsoft.com/office/drawing/2014/main" id="{ACF88309-AD97-49B2-9D1D-EB30E5647D38}"/>
              </a:ext>
            </a:extLst>
          </p:cNvPr>
          <p:cNvSpPr>
            <a:spLocks xmlns:a="http://schemas.openxmlformats.org/drawingml/2006/main" noGrp="1"/>
          </p:cNvSpPr>
          <p:nvPr/>
        </p:nvSpPr>
        <p:spPr>
          <a:xfrm xmlns:a="http://schemas.openxmlformats.org/drawingml/2006/main">
            <a:off x="609600" y="4029075"/>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77619A"/>
                </a:solidFill>
                <a:latin typeface="Arial"/>
                <a:ea typeface="Arial"/>
                <a:cs typeface="Arial"/>
              </a:defRPr>
            </a:defPPr>
          </a:lstStyle>
          <a:p xmlns:a="http://schemas.openxmlformats.org/drawingml/2006/main">
            <a:pPr>
              <a:buNone/>
              <a:defRPr sz="1425" b="1">
                <a:solidFill>
                  <a:srgbClr val="77619A"/>
                </a:solidFill>
                <a:latin typeface="Arial"/>
                <a:ea typeface="Arial"/>
                <a:cs typeface="Arial"/>
              </a:defRPr>
            </a:pPr>
            <a:r>
              <a:rPr sz="1425" b="1">
                <a:solidFill>
                  <a:srgbClr val="77619A"/>
                </a:solidFill>
                <a:latin typeface="Arial"/>
                <a:ea typeface="Arial"/>
                <a:cs typeface="Arial"/>
              </a:rPr>
              <a:t>SPEND LIMIT</a:t>
            </a:r>
          </a:p>
        </p:txBody>
      </p:sp>
      <p:sp>
        <p:nvSpPr>
          <p:cNvPr id="10" name="">
            <a:extLst xmlns:a="http://schemas.openxmlformats.org/drawingml/2006/main">
              <a:ext uri="{FF2B5EF4-FFF2-40B4-BE49-F238E27FC236}">
                <a16:creationId xmlns:a16="http://schemas.microsoft.com/office/drawing/2014/main" id="{EE905B55-5B92-4383-B921-8F5158BE1B69}"/>
              </a:ext>
            </a:extLst>
          </p:cNvPr>
          <p:cNvSpPr>
            <a:spLocks xmlns:a="http://schemas.openxmlformats.org/drawingml/2006/main" noGrp="1"/>
          </p:cNvSpPr>
          <p:nvPr/>
        </p:nvSpPr>
        <p:spPr>
          <a:xfrm xmlns:a="http://schemas.openxmlformats.org/drawingml/2006/main">
            <a:off x="609600" y="4324350"/>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Use smaller bets based on the estimated advantage. All five checks share one daily cap of 10%.</a:t>
            </a:r>
          </a:p>
        </p:txBody>
      </p:sp>
      <p:sp>
        <p:nvSpPr>
          <p:cNvPr id="11" name="">
            <a:extLst xmlns:a="http://schemas.openxmlformats.org/drawingml/2006/main">
              <a:ext uri="{FF2B5EF4-FFF2-40B4-BE49-F238E27FC236}">
                <a16:creationId xmlns:a16="http://schemas.microsoft.com/office/drawing/2014/main" id="{BAF7E8F2-F9A3-4120-906D-91B79352CCDA}"/>
              </a:ext>
            </a:extLst>
          </p:cNvPr>
          <p:cNvSpPr>
            <a:spLocks xmlns:a="http://schemas.openxmlformats.org/drawingml/2006/main" noGrp="1"/>
          </p:cNvSpPr>
          <p:nvPr/>
        </p:nvSpPr>
        <p:spPr>
          <a:xfrm xmlns:a="http://schemas.openxmlformats.org/drawingml/2006/main">
            <a:off x="609600" y="5200650"/>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77619A"/>
                </a:solidFill>
                <a:latin typeface="Arial"/>
                <a:ea typeface="Arial"/>
                <a:cs typeface="Arial"/>
              </a:defRPr>
            </a:defPPr>
          </a:lstStyle>
          <a:p xmlns:a="http://schemas.openxmlformats.org/drawingml/2006/main">
            <a:pPr>
              <a:buNone/>
              <a:defRPr sz="1425" b="1">
                <a:solidFill>
                  <a:srgbClr val="77619A"/>
                </a:solidFill>
                <a:latin typeface="Arial"/>
                <a:ea typeface="Arial"/>
                <a:cs typeface="Arial"/>
              </a:defRPr>
            </a:pPr>
            <a:r>
              <a:rPr sz="1425" b="1">
                <a:solidFill>
                  <a:srgbClr val="77619A"/>
                </a:solidFill>
                <a:latin typeface="Arial"/>
                <a:ea typeface="Arial"/>
                <a:cs typeface="Arial"/>
              </a:rPr>
              <a:t>SELL WHEN</a:t>
            </a:r>
          </a:p>
        </p:txBody>
      </p:sp>
      <p:sp>
        <p:nvSpPr>
          <p:cNvPr id="12" name="">
            <a:extLst xmlns:a="http://schemas.openxmlformats.org/drawingml/2006/main">
              <a:ext uri="{FF2B5EF4-FFF2-40B4-BE49-F238E27FC236}">
                <a16:creationId xmlns:a16="http://schemas.microsoft.com/office/drawing/2014/main" id="{13E20CFF-9B53-4B25-A27F-6A648E8BFE47}"/>
              </a:ext>
            </a:extLst>
          </p:cNvPr>
          <p:cNvSpPr>
            <a:spLocks xmlns:a="http://schemas.openxmlformats.org/drawingml/2006/main" noGrp="1"/>
          </p:cNvSpPr>
          <p:nvPr/>
        </p:nvSpPr>
        <p:spPr>
          <a:xfrm xmlns:a="http://schemas.openxmlformats.org/drawingml/2006/main">
            <a:off x="609600" y="5495925"/>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Hold to the official result. The five checks do not create five separate 10% budgets.</a:t>
            </a:r>
          </a:p>
        </p:txBody>
      </p:sp>
      <p:graphicFrame>
        <p:nvGraphicFramePr>
          <p:cNvPr id="13" name="Chart">
            <a:extLst xmlns:a="http://schemas.openxmlformats.org/drawingml/2006/main">
              <a:ext uri="{FF2B5EF4-FFF2-40B4-BE49-F238E27FC236}">
                <a16:creationId xmlns:a16="http://schemas.microsoft.com/office/drawing/2014/main" id="{4EB7842A-E96B-4476-8959-7A8592EC8114}"/>
              </a:ext>
            </a:extLst>
          </p:cNvPr>
          <p:cNvGraphicFramePr/>
          <p:nvPr/>
        </p:nvGraphicFramePr>
        <p:xfrm>
          <a:off xmlns:a="http://schemas.openxmlformats.org/drawingml/2006/main" x="6019800" y="1704975"/>
          <a:ext xmlns:a="http://schemas.openxmlformats.org/drawingml/2006/main" cx="5524500" cy="1838325"/>
        </p:xfrm>
        <a:graphic xmlns:a="http://schemas.openxmlformats.org/drawingml/2006/main">
          <a:graphicData uri="http://schemas.openxmlformats.org/drawingml/2006/chart">
            <c:chart xmlns:r="http://schemas.openxmlformats.org/officeDocument/2006/relationships" xmlns:c="http://schemas.openxmlformats.org/drawingml/2006/chart" r:id="R58d4d8af71114ad9"/>
          </a:graphicData>
        </a:graphic>
      </p:graphicFrame>
      <p:graphicFrame>
        <p:nvGraphicFramePr>
          <p:cNvPr id="14" name="Chart">
            <a:extLst xmlns:a="http://schemas.openxmlformats.org/drawingml/2006/main">
              <a:ext uri="{FF2B5EF4-FFF2-40B4-BE49-F238E27FC236}">
                <a16:creationId xmlns:a16="http://schemas.microsoft.com/office/drawing/2014/main" id="{6A259477-1271-4B6F-AF1F-031E1DFCCBF3}"/>
              </a:ext>
            </a:extLst>
          </p:cNvPr>
          <p:cNvGraphicFramePr/>
          <p:nvPr/>
        </p:nvGraphicFramePr>
        <p:xfrm>
          <a:off xmlns:a="http://schemas.openxmlformats.org/drawingml/2006/main" x="6019800" y="3657600"/>
          <a:ext xmlns:a="http://schemas.openxmlformats.org/drawingml/2006/main" cx="5524500" cy="1943100"/>
        </p:xfrm>
        <a:graphic xmlns:a="http://schemas.openxmlformats.org/drawingml/2006/main">
          <a:graphicData uri="http://schemas.openxmlformats.org/drawingml/2006/chart">
            <c:chart xmlns:r="http://schemas.openxmlformats.org/officeDocument/2006/relationships" xmlns:c="http://schemas.openxmlformats.org/drawingml/2006/chart" r:id="Re075f2299e584031"/>
          </a:graphicData>
        </a:graphic>
      </p:graphicFrame>
      <p:sp>
        <p:nvSpPr>
          <p:cNvPr id="15" name="">
            <a:extLst xmlns:a="http://schemas.openxmlformats.org/drawingml/2006/main">
              <a:ext uri="{FF2B5EF4-FFF2-40B4-BE49-F238E27FC236}">
                <a16:creationId xmlns:a16="http://schemas.microsoft.com/office/drawing/2014/main" id="{8386F343-5EBE-4DE5-B368-74E63398A235}"/>
              </a:ext>
            </a:extLst>
          </p:cNvPr>
          <p:cNvSpPr>
            <a:spLocks xmlns:a="http://schemas.openxmlformats.org/drawingml/2006/main" noGrp="1"/>
          </p:cNvSpPr>
          <p:nvPr/>
        </p:nvSpPr>
        <p:spPr>
          <a:xfrm xmlns:a="http://schemas.openxmlformats.org/drawingml/2006/main">
            <a:off x="6143625" y="5762625"/>
            <a:ext cx="5257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77B"/>
                </a:solidFill>
                <a:latin typeface="Arial"/>
                <a:ea typeface="Arial"/>
                <a:cs typeface="Arial"/>
              </a:defRPr>
            </a:defPPr>
          </a:lstStyle>
          <a:p xmlns:a="http://schemas.openxmlformats.org/drawingml/2006/main">
            <a:pPr>
              <a:buNone/>
              <a:defRPr sz="1575" b="0">
                <a:solidFill>
                  <a:srgbClr val="52677B"/>
                </a:solidFill>
                <a:latin typeface="Arial"/>
                <a:ea typeface="Arial"/>
                <a:cs typeface="Arial"/>
              </a:defRPr>
            </a:pPr>
            <a:r>
              <a:rPr sz="1575" b="0">
                <a:solidFill>
                  <a:srgbClr val="52677B"/>
                </a:solidFill>
                <a:latin typeface="Arial"/>
                <a:ea typeface="Arial"/>
                <a:cs typeface="Arial"/>
              </a:rPr>
              <a:t>03-V10-Ensemble-Quarter-Kelly. Phoenix keeps UTC−7 throughout the year.</a:t>
            </a:r>
          </a:p>
        </p:txBody>
      </p:sp>
    </p:spTree>
    <p:extLst>
      <p:ext uri="{BB962C8B-B14F-4D97-AF65-F5344CB8AC3E}">
        <p14:creationId xmlns:p14="http://schemas.microsoft.com/office/powerpoint/2010/main" val="806362785"/>
      </p:ext>
    </p:extLst>
  </p:cSld>
</p:sld>
</file>

<file path=ppt/slides/slide20.xml><?xml version="1.0" encoding="utf-8"?>
<p:sld xmlns:p="http://schemas.openxmlformats.org/presentationml/2006/main">
  <p:cSld>
    <p:bg>
      <p:bgPr>
        <a:solidFill xmlns:a="http://schemas.openxmlformats.org/drawingml/2006/main">
          <a:srgbClr val="F4EF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8AD8945-C463-4113-A46E-C8D00255CE0E}"/>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77619A"/>
          </a:solidFill>
          <a:ln xmlns:a="http://schemas.openxmlformats.org/drawingml/2006/main" w="0">
            <a:noFill/>
          </a:ln>
        </p:spPr>
        <p:txBody>
          <a:bodyPr xmlns:a="http://schemas.openxmlformats.org/drawingml/2006/main" lIns="609600" tIns="200025" rIns="609600" bIns="76200"/>
          <a:lstStyle xmlns:a="http://schemas.openxmlformats.org/drawingml/2006/main">
            <a:defPPr>
              <a:defRPr sz="2025" b="1">
                <a:solidFill>
                  <a:srgbClr val="FFFFFF"/>
                </a:solidFill>
                <a:latin typeface="Arial"/>
                <a:ea typeface="Arial"/>
                <a:cs typeface="Arial"/>
              </a:defRPr>
            </a:defPPr>
          </a:lstStyle>
          <a:p xmlns:a="http://schemas.openxmlformats.org/drawingml/2006/main">
            <a:pPr>
              <a:buNone/>
              <a:defRPr sz="2025" b="1">
                <a:solidFill>
                  <a:srgbClr val="FFFFFF"/>
                </a:solidFill>
                <a:latin typeface="Arial"/>
                <a:ea typeface="Arial"/>
                <a:cs typeface="Arial"/>
              </a:defRPr>
            </a:pPr>
            <a:r>
              <a:rPr sz="2025" b="1">
                <a:solidFill>
                  <a:srgbClr val="FFFFFF"/>
                </a:solidFill>
                <a:latin typeface="Arial"/>
                <a:ea typeface="Arial"/>
                <a:cs typeface="Arial"/>
              </a:rPr>
              <a:t>PHOENIX · STRATEGY 2 OF 2</a:t>
            </a:r>
          </a:p>
        </p:txBody>
      </p:sp>
      <p:sp>
        <p:nvSpPr>
          <p:cNvPr id="2" name="">
            <a:extLst xmlns:a="http://schemas.openxmlformats.org/drawingml/2006/main">
              <a:ext uri="{FF2B5EF4-FFF2-40B4-BE49-F238E27FC236}">
                <a16:creationId xmlns:a16="http://schemas.microsoft.com/office/drawing/2014/main" id="{DCE24907-FD9F-46F5-8BCA-B5A1154C78AF}"/>
              </a:ext>
            </a:extLst>
          </p:cNvPr>
          <p:cNvSpPr>
            <a:spLocks xmlns:a="http://schemas.openxmlformats.org/drawingml/2006/main" noGrp="1"/>
          </p:cNvSpPr>
          <p:nvPr/>
        </p:nvSpPr>
        <p:spPr>
          <a:xfrm xmlns:a="http://schemas.openxmlformats.org/drawingml/2006/main">
            <a:off x="609600" y="762000"/>
            <a:ext cx="10934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77619A"/>
                </a:solidFill>
                <a:latin typeface="Arial"/>
                <a:ea typeface="Arial"/>
                <a:cs typeface="Arial"/>
              </a:defRPr>
            </a:defPPr>
          </a:lstStyle>
          <a:p xmlns:a="http://schemas.openxmlformats.org/drawingml/2006/main">
            <a:pPr>
              <a:buNone/>
              <a:defRPr sz="3300" b="1">
                <a:solidFill>
                  <a:srgbClr val="77619A"/>
                </a:solidFill>
                <a:latin typeface="Arial"/>
                <a:ea typeface="Arial"/>
                <a:cs typeface="Arial"/>
              </a:defRPr>
            </a:pPr>
            <a:r>
              <a:rPr sz="3300" b="1">
                <a:solidFill>
                  <a:srgbClr val="77619A"/>
                </a:solidFill>
                <a:latin typeface="Arial"/>
                <a:ea typeface="Arial"/>
                <a:cs typeface="Arial"/>
              </a:rPr>
              <a:t>V19 protected temperature range</a:t>
            </a:r>
          </a:p>
        </p:txBody>
      </p:sp>
      <p:sp>
        <p:nvSpPr>
          <p:cNvPr id="3" name="">
            <a:extLst xmlns:a="http://schemas.openxmlformats.org/drawingml/2006/main">
              <a:ext uri="{FF2B5EF4-FFF2-40B4-BE49-F238E27FC236}">
                <a16:creationId xmlns:a16="http://schemas.microsoft.com/office/drawing/2014/main" id="{B38E2442-7636-4421-B42C-63655EBAB724}"/>
              </a:ext>
            </a:extLst>
          </p:cNvPr>
          <p:cNvSpPr>
            <a:spLocks xmlns:a="http://schemas.openxmlformats.org/drawingml/2006/main" noGrp="1"/>
          </p:cNvSpPr>
          <p:nvPr/>
        </p:nvSpPr>
        <p:spPr>
          <a:xfrm xmlns:a="http://schemas.openxmlformats.org/drawingml/2006/main">
            <a:off x="609600" y="64579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B"/>
                </a:solidFill>
                <a:latin typeface="Arial"/>
                <a:ea typeface="Arial"/>
                <a:cs typeface="Arial"/>
              </a:defRPr>
            </a:defPPr>
          </a:lstStyle>
          <a:p xmlns:a="http://schemas.openxmlformats.org/drawingml/2006/main">
            <a:pPr>
              <a:buNone/>
              <a:defRPr sz="1125" b="0">
                <a:solidFill>
                  <a:srgbClr val="52677B"/>
                </a:solidFill>
                <a:latin typeface="Arial"/>
                <a:ea typeface="Arial"/>
                <a:cs typeface="Arial"/>
              </a:defRPr>
            </a:pPr>
            <a:r>
              <a:rPr sz="1125" b="0">
                <a:solidFill>
                  <a:srgbClr val="52677B"/>
                </a:solidFill>
                <a:latin typeface="Arial"/>
                <a:ea typeface="Arial"/>
                <a:cs typeface="Arial"/>
              </a:rPr>
              <a:t>Four-city paper trading. Frozen October 12, 2026</a:t>
            </a:r>
          </a:p>
        </p:txBody>
      </p:sp>
      <p:sp>
        <p:nvSpPr>
          <p:cNvPr id="4" name="">
            <a:extLst xmlns:a="http://schemas.openxmlformats.org/drawingml/2006/main">
              <a:ext uri="{FF2B5EF4-FFF2-40B4-BE49-F238E27FC236}">
                <a16:creationId xmlns:a16="http://schemas.microsoft.com/office/drawing/2014/main" id="{0773AB50-BC58-4DE2-AADB-C33F53314C74}"/>
              </a:ext>
            </a:extLst>
          </p:cNvPr>
          <p:cNvSpPr>
            <a:spLocks xmlns:a="http://schemas.openxmlformats.org/drawingml/2006/main" noGrp="1"/>
          </p:cNvSpPr>
          <p:nvPr/>
        </p:nvSpPr>
        <p:spPr>
          <a:xfrm xmlns:a="http://schemas.openxmlformats.org/drawingml/2006/main">
            <a:off x="11049000" y="6400800"/>
            <a:ext cx="495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77B"/>
                </a:solidFill>
                <a:latin typeface="Arial"/>
                <a:ea typeface="Arial"/>
                <a:cs typeface="Arial"/>
              </a:defRPr>
            </a:defPPr>
          </a:lstStyle>
          <a:p xmlns:a="http://schemas.openxmlformats.org/drawingml/2006/main">
            <a:pPr>
              <a:buNone/>
              <a:defRPr sz="1500" b="0">
                <a:solidFill>
                  <a:srgbClr val="52677B"/>
                </a:solidFill>
                <a:latin typeface="Arial"/>
                <a:ea typeface="Arial"/>
                <a:cs typeface="Arial"/>
              </a:defRPr>
            </a:pPr>
            <a:r>
              <a:rPr sz="1500" b="0">
                <a:solidFill>
                  <a:srgbClr val="52677B"/>
                </a:solidFill>
                <a:latin typeface="Arial"/>
                <a:ea typeface="Arial"/>
                <a:cs typeface="Arial"/>
              </a:rPr>
              <a:t>20</a:t>
            </a:r>
          </a:p>
        </p:txBody>
      </p:sp>
      <p:sp>
        <p:nvSpPr>
          <p:cNvPr id="5" name="">
            <a:extLst xmlns:a="http://schemas.openxmlformats.org/drawingml/2006/main">
              <a:ext uri="{FF2B5EF4-FFF2-40B4-BE49-F238E27FC236}">
                <a16:creationId xmlns:a16="http://schemas.microsoft.com/office/drawing/2014/main" id="{40510F96-D008-4D82-85D7-4678FF7645C2}"/>
              </a:ext>
            </a:extLst>
          </p:cNvPr>
          <p:cNvSpPr>
            <a:spLocks xmlns:a="http://schemas.openxmlformats.org/drawingml/2006/main" noGrp="1"/>
          </p:cNvSpPr>
          <p:nvPr/>
        </p:nvSpPr>
        <p:spPr>
          <a:xfrm xmlns:a="http://schemas.openxmlformats.org/drawingml/2006/main">
            <a:off x="609600" y="1685925"/>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77619A"/>
                </a:solidFill>
                <a:latin typeface="Arial"/>
                <a:ea typeface="Arial"/>
                <a:cs typeface="Arial"/>
              </a:defRPr>
            </a:defPPr>
          </a:lstStyle>
          <a:p xmlns:a="http://schemas.openxmlformats.org/drawingml/2006/main">
            <a:pPr>
              <a:buNone/>
              <a:defRPr sz="1425" b="1">
                <a:solidFill>
                  <a:srgbClr val="77619A"/>
                </a:solidFill>
                <a:latin typeface="Arial"/>
                <a:ea typeface="Arial"/>
                <a:cs typeface="Arial"/>
              </a:defRPr>
            </a:pPr>
            <a:r>
              <a:rPr sz="1425" b="1">
                <a:solidFill>
                  <a:srgbClr val="77619A"/>
                </a:solidFill>
                <a:latin typeface="Arial"/>
                <a:ea typeface="Arial"/>
                <a:cs typeface="Arial"/>
              </a:rPr>
              <a:t>BUY WHEN</a:t>
            </a:r>
          </a:p>
        </p:txBody>
      </p:sp>
      <p:sp>
        <p:nvSpPr>
          <p:cNvPr id="6" name="">
            <a:extLst xmlns:a="http://schemas.openxmlformats.org/drawingml/2006/main">
              <a:ext uri="{FF2B5EF4-FFF2-40B4-BE49-F238E27FC236}">
                <a16:creationId xmlns:a16="http://schemas.microsoft.com/office/drawing/2014/main" id="{B7F415BF-DDD7-4258-837C-DD66F55A785C}"/>
              </a:ext>
            </a:extLst>
          </p:cNvPr>
          <p:cNvSpPr>
            <a:spLocks xmlns:a="http://schemas.openxmlformats.org/drawingml/2006/main" noGrp="1"/>
          </p:cNvSpPr>
          <p:nvPr/>
        </p:nvSpPr>
        <p:spPr>
          <a:xfrm xmlns:a="http://schemas.openxmlformats.org/drawingml/2006/main">
            <a:off x="609600" y="1981200"/>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Use the same five morning checks as the ensemble, with a separate $100 comparison wallet.</a:t>
            </a:r>
          </a:p>
        </p:txBody>
      </p:sp>
      <p:sp>
        <p:nvSpPr>
          <p:cNvPr id="7" name="">
            <a:extLst xmlns:a="http://schemas.openxmlformats.org/drawingml/2006/main">
              <a:ext uri="{FF2B5EF4-FFF2-40B4-BE49-F238E27FC236}">
                <a16:creationId xmlns:a16="http://schemas.microsoft.com/office/drawing/2014/main" id="{C87C7F6C-76E9-4694-A4C3-4612C4A0FA31}"/>
              </a:ext>
            </a:extLst>
          </p:cNvPr>
          <p:cNvSpPr>
            <a:spLocks xmlns:a="http://schemas.openxmlformats.org/drawingml/2006/main" noGrp="1"/>
          </p:cNvSpPr>
          <p:nvPr/>
        </p:nvSpPr>
        <p:spPr>
          <a:xfrm xmlns:a="http://schemas.openxmlformats.org/drawingml/2006/main">
            <a:off x="609600" y="2857500"/>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77619A"/>
                </a:solidFill>
                <a:latin typeface="Arial"/>
                <a:ea typeface="Arial"/>
                <a:cs typeface="Arial"/>
              </a:defRPr>
            </a:defPPr>
          </a:lstStyle>
          <a:p xmlns:a="http://schemas.openxmlformats.org/drawingml/2006/main">
            <a:pPr>
              <a:buNone/>
              <a:defRPr sz="1425" b="1">
                <a:solidFill>
                  <a:srgbClr val="77619A"/>
                </a:solidFill>
                <a:latin typeface="Arial"/>
                <a:ea typeface="Arial"/>
                <a:cs typeface="Arial"/>
              </a:defRPr>
            </a:pPr>
            <a:r>
              <a:rPr sz="1425" b="1">
                <a:solidFill>
                  <a:srgbClr val="77619A"/>
                </a:solidFill>
                <a:latin typeface="Arial"/>
                <a:ea typeface="Arial"/>
                <a:cs typeface="Arial"/>
              </a:rPr>
              <a:t>BUY WHAT</a:t>
            </a:r>
          </a:p>
        </p:txBody>
      </p:sp>
      <p:sp>
        <p:nvSpPr>
          <p:cNvPr id="8" name="">
            <a:extLst xmlns:a="http://schemas.openxmlformats.org/drawingml/2006/main">
              <a:ext uri="{FF2B5EF4-FFF2-40B4-BE49-F238E27FC236}">
                <a16:creationId xmlns:a16="http://schemas.microsoft.com/office/drawing/2014/main" id="{F8BDDC0E-C157-411C-82D3-C08B6719F6F5}"/>
              </a:ext>
            </a:extLst>
          </p:cNvPr>
          <p:cNvSpPr>
            <a:spLocks xmlns:a="http://schemas.openxmlformats.org/drawingml/2006/main" noGrp="1"/>
          </p:cNvSpPr>
          <p:nvPr/>
        </p:nvSpPr>
        <p:spPr>
          <a:xfrm xmlns:a="http://schemas.openxmlformats.org/drawingml/2006/main">
            <a:off x="609600" y="3152775"/>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Protect a range of plausible high temperatures. Buy NO only outside that protected range when it qualifies.</a:t>
            </a:r>
          </a:p>
        </p:txBody>
      </p:sp>
      <p:sp>
        <p:nvSpPr>
          <p:cNvPr id="9" name="">
            <a:extLst xmlns:a="http://schemas.openxmlformats.org/drawingml/2006/main">
              <a:ext uri="{FF2B5EF4-FFF2-40B4-BE49-F238E27FC236}">
                <a16:creationId xmlns:a16="http://schemas.microsoft.com/office/drawing/2014/main" id="{C49186E3-C5C4-4AC5-9C6A-3067E116A8A4}"/>
              </a:ext>
            </a:extLst>
          </p:cNvPr>
          <p:cNvSpPr>
            <a:spLocks xmlns:a="http://schemas.openxmlformats.org/drawingml/2006/main" noGrp="1"/>
          </p:cNvSpPr>
          <p:nvPr/>
        </p:nvSpPr>
        <p:spPr>
          <a:xfrm xmlns:a="http://schemas.openxmlformats.org/drawingml/2006/main">
            <a:off x="609600" y="4029075"/>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77619A"/>
                </a:solidFill>
                <a:latin typeface="Arial"/>
                <a:ea typeface="Arial"/>
                <a:cs typeface="Arial"/>
              </a:defRPr>
            </a:defPPr>
          </a:lstStyle>
          <a:p xmlns:a="http://schemas.openxmlformats.org/drawingml/2006/main">
            <a:pPr>
              <a:buNone/>
              <a:defRPr sz="1425" b="1">
                <a:solidFill>
                  <a:srgbClr val="77619A"/>
                </a:solidFill>
                <a:latin typeface="Arial"/>
                <a:ea typeface="Arial"/>
                <a:cs typeface="Arial"/>
              </a:defRPr>
            </a:pPr>
            <a:r>
              <a:rPr sz="1425" b="1">
                <a:solidFill>
                  <a:srgbClr val="77619A"/>
                </a:solidFill>
                <a:latin typeface="Arial"/>
                <a:ea typeface="Arial"/>
                <a:cs typeface="Arial"/>
              </a:rPr>
              <a:t>SPEND LIMIT</a:t>
            </a:r>
          </a:p>
        </p:txBody>
      </p:sp>
      <p:sp>
        <p:nvSpPr>
          <p:cNvPr id="10" name="">
            <a:extLst xmlns:a="http://schemas.openxmlformats.org/drawingml/2006/main">
              <a:ext uri="{FF2B5EF4-FFF2-40B4-BE49-F238E27FC236}">
                <a16:creationId xmlns:a16="http://schemas.microsoft.com/office/drawing/2014/main" id="{2AA13656-93B9-4BC7-B227-936DD3D1BD67}"/>
              </a:ext>
            </a:extLst>
          </p:cNvPr>
          <p:cNvSpPr>
            <a:spLocks xmlns:a="http://schemas.openxmlformats.org/drawingml/2006/main" noGrp="1"/>
          </p:cNvSpPr>
          <p:nvPr/>
        </p:nvSpPr>
        <p:spPr>
          <a:xfrm xmlns:a="http://schemas.openxmlformats.org/drawingml/2006/main">
            <a:off x="609600" y="4324350"/>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Use smaller bets based on the estimated advantage. Keep one daily maximum of 10%, including fees.</a:t>
            </a:r>
          </a:p>
        </p:txBody>
      </p:sp>
      <p:sp>
        <p:nvSpPr>
          <p:cNvPr id="11" name="">
            <a:extLst xmlns:a="http://schemas.openxmlformats.org/drawingml/2006/main">
              <a:ext uri="{FF2B5EF4-FFF2-40B4-BE49-F238E27FC236}">
                <a16:creationId xmlns:a16="http://schemas.microsoft.com/office/drawing/2014/main" id="{7500CD47-4D2B-4754-8F7C-77931A8B5B98}"/>
              </a:ext>
            </a:extLst>
          </p:cNvPr>
          <p:cNvSpPr>
            <a:spLocks xmlns:a="http://schemas.openxmlformats.org/drawingml/2006/main" noGrp="1"/>
          </p:cNvSpPr>
          <p:nvPr/>
        </p:nvSpPr>
        <p:spPr>
          <a:xfrm xmlns:a="http://schemas.openxmlformats.org/drawingml/2006/main">
            <a:off x="609600" y="5200650"/>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77619A"/>
                </a:solidFill>
                <a:latin typeface="Arial"/>
                <a:ea typeface="Arial"/>
                <a:cs typeface="Arial"/>
              </a:defRPr>
            </a:defPPr>
          </a:lstStyle>
          <a:p xmlns:a="http://schemas.openxmlformats.org/drawingml/2006/main">
            <a:pPr>
              <a:buNone/>
              <a:defRPr sz="1425" b="1">
                <a:solidFill>
                  <a:srgbClr val="77619A"/>
                </a:solidFill>
                <a:latin typeface="Arial"/>
                <a:ea typeface="Arial"/>
                <a:cs typeface="Arial"/>
              </a:defRPr>
            </a:pPr>
            <a:r>
              <a:rPr sz="1425" b="1">
                <a:solidFill>
                  <a:srgbClr val="77619A"/>
                </a:solidFill>
                <a:latin typeface="Arial"/>
                <a:ea typeface="Arial"/>
                <a:cs typeface="Arial"/>
              </a:rPr>
              <a:t>SELL WHEN</a:t>
            </a:r>
          </a:p>
        </p:txBody>
      </p:sp>
      <p:sp>
        <p:nvSpPr>
          <p:cNvPr id="12" name="">
            <a:extLst xmlns:a="http://schemas.openxmlformats.org/drawingml/2006/main">
              <a:ext uri="{FF2B5EF4-FFF2-40B4-BE49-F238E27FC236}">
                <a16:creationId xmlns:a16="http://schemas.microsoft.com/office/drawing/2014/main" id="{86CFFB0F-023E-4045-A1EC-964672907729}"/>
              </a:ext>
            </a:extLst>
          </p:cNvPr>
          <p:cNvSpPr>
            <a:spLocks xmlns:a="http://schemas.openxmlformats.org/drawingml/2006/main" noGrp="1"/>
          </p:cNvSpPr>
          <p:nvPr/>
        </p:nvSpPr>
        <p:spPr>
          <a:xfrm xmlns:a="http://schemas.openxmlformats.org/drawingml/2006/main">
            <a:off x="609600" y="5495925"/>
            <a:ext cx="5029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buNone/>
              <a:defRPr sz="1800" b="0">
                <a:solidFill>
                  <a:srgbClr val="142D44"/>
                </a:solidFill>
                <a:latin typeface="Arial"/>
                <a:ea typeface="Arial"/>
                <a:cs typeface="Arial"/>
              </a:defRPr>
            </a:pPr>
            <a:r>
              <a:rPr sz="1800" b="0">
                <a:solidFill>
                  <a:srgbClr val="142D44"/>
                </a:solidFill>
                <a:latin typeface="Arial"/>
                <a:ea typeface="Arial"/>
                <a:cs typeface="Arial"/>
              </a:rPr>
              <a:t>Hold to the official result. This version also places NO purchases only.</a:t>
            </a:r>
          </a:p>
        </p:txBody>
      </p:sp>
      <p:graphicFrame>
        <p:nvGraphicFramePr>
          <p:cNvPr id="13" name="Chart">
            <a:extLst xmlns:a="http://schemas.openxmlformats.org/drawingml/2006/main">
              <a:ext uri="{FF2B5EF4-FFF2-40B4-BE49-F238E27FC236}">
                <a16:creationId xmlns:a16="http://schemas.microsoft.com/office/drawing/2014/main" id="{21ABBCD0-778D-4BC5-8B43-CBFA83366D7C}"/>
              </a:ext>
            </a:extLst>
          </p:cNvPr>
          <p:cNvGraphicFramePr/>
          <p:nvPr/>
        </p:nvGraphicFramePr>
        <p:xfrm>
          <a:off xmlns:a="http://schemas.openxmlformats.org/drawingml/2006/main" x="6019800" y="1704975"/>
          <a:ext xmlns:a="http://schemas.openxmlformats.org/drawingml/2006/main" cx="5524500" cy="1838325"/>
        </p:xfrm>
        <a:graphic xmlns:a="http://schemas.openxmlformats.org/drawingml/2006/main">
          <a:graphicData uri="http://schemas.openxmlformats.org/drawingml/2006/chart">
            <c:chart xmlns:r="http://schemas.openxmlformats.org/officeDocument/2006/relationships" xmlns:c="http://schemas.openxmlformats.org/drawingml/2006/chart" r:id="R3dde913d85674477"/>
          </a:graphicData>
        </a:graphic>
      </p:graphicFrame>
      <p:graphicFrame>
        <p:nvGraphicFramePr>
          <p:cNvPr id="14" name="Chart">
            <a:extLst xmlns:a="http://schemas.openxmlformats.org/drawingml/2006/main">
              <a:ext uri="{FF2B5EF4-FFF2-40B4-BE49-F238E27FC236}">
                <a16:creationId xmlns:a16="http://schemas.microsoft.com/office/drawing/2014/main" id="{74111ABA-E21F-4F7D-8203-D0F4D2E1024F}"/>
              </a:ext>
            </a:extLst>
          </p:cNvPr>
          <p:cNvGraphicFramePr/>
          <p:nvPr/>
        </p:nvGraphicFramePr>
        <p:xfrm>
          <a:off xmlns:a="http://schemas.openxmlformats.org/drawingml/2006/main" x="6019800" y="3657600"/>
          <a:ext xmlns:a="http://schemas.openxmlformats.org/drawingml/2006/main" cx="5524500" cy="1943100"/>
        </p:xfrm>
        <a:graphic xmlns:a="http://schemas.openxmlformats.org/drawingml/2006/main">
          <a:graphicData uri="http://schemas.openxmlformats.org/drawingml/2006/chart">
            <c:chart xmlns:r="http://schemas.openxmlformats.org/officeDocument/2006/relationships" xmlns:c="http://schemas.openxmlformats.org/drawingml/2006/chart" r:id="R8a2c148c95b74c25"/>
          </a:graphicData>
        </a:graphic>
      </p:graphicFrame>
      <p:sp>
        <p:nvSpPr>
          <p:cNvPr id="15" name="">
            <a:extLst xmlns:a="http://schemas.openxmlformats.org/drawingml/2006/main">
              <a:ext uri="{FF2B5EF4-FFF2-40B4-BE49-F238E27FC236}">
                <a16:creationId xmlns:a16="http://schemas.microsoft.com/office/drawing/2014/main" id="{4D2DEBEA-6E02-4298-B5DB-EE5918CBD00C}"/>
              </a:ext>
            </a:extLst>
          </p:cNvPr>
          <p:cNvSpPr>
            <a:spLocks xmlns:a="http://schemas.openxmlformats.org/drawingml/2006/main" noGrp="1"/>
          </p:cNvSpPr>
          <p:nvPr/>
        </p:nvSpPr>
        <p:spPr>
          <a:xfrm xmlns:a="http://schemas.openxmlformats.org/drawingml/2006/main">
            <a:off x="6143625" y="5762625"/>
            <a:ext cx="5257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77B"/>
                </a:solidFill>
                <a:latin typeface="Arial"/>
                <a:ea typeface="Arial"/>
                <a:cs typeface="Arial"/>
              </a:defRPr>
            </a:defPPr>
          </a:lstStyle>
          <a:p xmlns:a="http://schemas.openxmlformats.org/drawingml/2006/main">
            <a:pPr>
              <a:buNone/>
              <a:defRPr sz="1575" b="0">
                <a:solidFill>
                  <a:srgbClr val="52677B"/>
                </a:solidFill>
                <a:latin typeface="Arial"/>
                <a:ea typeface="Arial"/>
                <a:cs typeface="Arial"/>
              </a:defRPr>
            </a:pPr>
            <a:r>
              <a:rPr sz="1575" b="0">
                <a:solidFill>
                  <a:srgbClr val="52677B"/>
                </a:solidFill>
                <a:latin typeface="Arial"/>
                <a:ea typeface="Arial"/>
                <a:cs typeface="Arial"/>
              </a:rPr>
              <a:t>01-V19-Temperature-Set-Quarter-Kelly. It protects a range instead of just the likeliest bracket.</a:t>
            </a:r>
          </a:p>
        </p:txBody>
      </p:sp>
    </p:spTree>
    <p:extLst>
      <p:ext uri="{BB962C8B-B14F-4D97-AF65-F5344CB8AC3E}">
        <p14:creationId xmlns:p14="http://schemas.microsoft.com/office/powerpoint/2010/main" val="851235641"/>
      </p:ext>
    </p:extLst>
  </p:cSld>
</p:sld>
</file>

<file path=ppt/slides/slide21.xml><?xml version="1.0" encoding="utf-8"?>
<p:sld xmlns:p="http://schemas.openxmlformats.org/presentationml/2006/main">
  <p:cSld>
    <p:bg>
      <p:bgPr>
        <a:solidFill xmlns:a="http://schemas.openxmlformats.org/drawingml/2006/main">
          <a:srgbClr val="F4EF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EEBF0D5-6323-48FC-80D0-AFF5AB97B752}"/>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77619A"/>
          </a:solidFill>
          <a:ln xmlns:a="http://schemas.openxmlformats.org/drawingml/2006/main" w="0">
            <a:noFill/>
          </a:ln>
        </p:spPr>
        <p:txBody>
          <a:bodyPr xmlns:a="http://schemas.openxmlformats.org/drawingml/2006/main" lIns="609600" tIns="200025" rIns="609600" bIns="76200"/>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PHOENIX · SEPTEMBER RESULTS</a:t>
            </a:r>
          </a:p>
        </p:txBody>
      </p:sp>
      <p:sp>
        <p:nvSpPr>
          <p:cNvPr id="2" name="">
            <a:extLst xmlns:a="http://schemas.openxmlformats.org/drawingml/2006/main">
              <a:ext uri="{FF2B5EF4-FFF2-40B4-BE49-F238E27FC236}">
                <a16:creationId xmlns:a16="http://schemas.microsoft.com/office/drawing/2014/main" id="{212B29DB-4CA0-46E8-8626-1B568DCB435A}"/>
              </a:ext>
            </a:extLst>
          </p:cNvPr>
          <p:cNvSpPr>
            <a:spLocks xmlns:a="http://schemas.openxmlformats.org/drawingml/2006/main" noGrp="1"/>
          </p:cNvSpPr>
          <p:nvPr/>
        </p:nvSpPr>
        <p:spPr>
          <a:xfrm xmlns:a="http://schemas.openxmlformats.org/drawingml/2006/main">
            <a:off x="609600" y="762000"/>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77619A"/>
                </a:solidFill>
                <a:latin typeface="Arial"/>
                <a:ea typeface="Arial"/>
                <a:cs typeface="Arial"/>
              </a:defRPr>
            </a:defPPr>
          </a:lstStyle>
          <a:p xmlns:a="http://schemas.openxmlformats.org/drawingml/2006/main">
            <a:pPr>
              <a:defRPr sz="3300" b="1">
                <a:solidFill>
                  <a:srgbClr val="77619A"/>
                </a:solidFill>
                <a:latin typeface="Arial"/>
                <a:ea typeface="Arial"/>
                <a:cs typeface="Arial"/>
              </a:defRPr>
            </a:pPr>
            <a:r>
              <a:rPr sz="3300" b="1">
                <a:solidFill>
                  <a:srgbClr val="77619A"/>
                </a:solidFill>
                <a:latin typeface="Arial"/>
                <a:ea typeface="Arial"/>
                <a:cs typeface="Arial"/>
              </a:rPr>
              <a:t>September paper replay</a:t>
            </a:r>
          </a:p>
        </p:txBody>
      </p:sp>
      <p:sp>
        <p:nvSpPr>
          <p:cNvPr id="3" name="">
            <a:extLst xmlns:a="http://schemas.openxmlformats.org/drawingml/2006/main">
              <a:ext uri="{FF2B5EF4-FFF2-40B4-BE49-F238E27FC236}">
                <a16:creationId xmlns:a16="http://schemas.microsoft.com/office/drawing/2014/main" id="{A61C59B4-51A2-4340-A0A9-34F8A7937FA1}"/>
              </a:ext>
            </a:extLst>
          </p:cNvPr>
          <p:cNvSpPr>
            <a:spLocks xmlns:a="http://schemas.openxmlformats.org/drawingml/2006/main" noGrp="1"/>
          </p:cNvSpPr>
          <p:nvPr/>
        </p:nvSpPr>
        <p:spPr>
          <a:xfrm xmlns:a="http://schemas.openxmlformats.org/drawingml/2006/main">
            <a:off x="609600" y="143827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2677B"/>
                </a:solidFill>
                <a:latin typeface="Arial"/>
                <a:ea typeface="Arial"/>
                <a:cs typeface="Arial"/>
              </a:defRPr>
            </a:defPPr>
          </a:lstStyle>
          <a:p xmlns:a="http://schemas.openxmlformats.org/drawingml/2006/main">
            <a:pPr>
              <a:defRPr sz="1875" b="0">
                <a:solidFill>
                  <a:srgbClr val="52677B"/>
                </a:solidFill>
                <a:latin typeface="Arial"/>
                <a:ea typeface="Arial"/>
                <a:cs typeface="Arial"/>
              </a:defRPr>
            </a:pPr>
            <a:r>
              <a:rPr sz="1875" b="0">
                <a:solidFill>
                  <a:srgbClr val="52677B"/>
                </a:solidFill>
                <a:latin typeface="Arial"/>
                <a:ea typeface="Arial"/>
                <a:cs typeface="Arial"/>
              </a:rPr>
              <a:t>September 1–30, 2026</a:t>
            </a:r>
          </a:p>
        </p:txBody>
      </p:sp>
      <p:sp>
        <p:nvSpPr>
          <p:cNvPr id="4" name="">
            <a:extLst xmlns:a="http://schemas.openxmlformats.org/drawingml/2006/main">
              <a:ext uri="{FF2B5EF4-FFF2-40B4-BE49-F238E27FC236}">
                <a16:creationId xmlns:a16="http://schemas.microsoft.com/office/drawing/2014/main" id="{686F917D-F737-4FD8-956D-3D07F4F7DE06}"/>
              </a:ext>
            </a:extLst>
          </p:cNvPr>
          <p:cNvSpPr>
            <a:spLocks xmlns:a="http://schemas.openxmlformats.org/drawingml/2006/main" noGrp="1"/>
          </p:cNvSpPr>
          <p:nvPr/>
        </p:nvSpPr>
        <p:spPr>
          <a:xfrm xmlns:a="http://schemas.openxmlformats.org/drawingml/2006/main">
            <a:off x="609600" y="2000250"/>
            <a:ext cx="5067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77619A"/>
                </a:solidFill>
                <a:latin typeface="Arial"/>
                <a:ea typeface="Arial"/>
                <a:cs typeface="Arial"/>
              </a:defRPr>
            </a:defPPr>
          </a:lstStyle>
          <a:p xmlns:a="http://schemas.openxmlformats.org/drawingml/2006/main">
            <a:pPr>
              <a:defRPr sz="1425" b="1">
                <a:solidFill>
                  <a:srgbClr val="77619A"/>
                </a:solidFill>
                <a:latin typeface="Arial"/>
                <a:ea typeface="Arial"/>
                <a:cs typeface="Arial"/>
              </a:defRPr>
            </a:pPr>
            <a:r>
              <a:rPr sz="1425" b="1">
                <a:solidFill>
                  <a:srgbClr val="77619A"/>
                </a:solidFill>
                <a:latin typeface="Arial"/>
                <a:ea typeface="Arial"/>
                <a:cs typeface="Arial"/>
              </a:rPr>
              <a:t>FOUR-LAW ENSEMBLE</a:t>
            </a:r>
          </a:p>
        </p:txBody>
      </p:sp>
      <p:sp>
        <p:nvSpPr>
          <p:cNvPr id="5" name="">
            <a:extLst xmlns:a="http://schemas.openxmlformats.org/drawingml/2006/main">
              <a:ext uri="{FF2B5EF4-FFF2-40B4-BE49-F238E27FC236}">
                <a16:creationId xmlns:a16="http://schemas.microsoft.com/office/drawing/2014/main" id="{0F4507D6-38B1-4709-8641-D2E28428AD98}"/>
              </a:ext>
            </a:extLst>
          </p:cNvPr>
          <p:cNvSpPr>
            <a:spLocks xmlns:a="http://schemas.openxmlformats.org/drawingml/2006/main" noGrp="1"/>
          </p:cNvSpPr>
          <p:nvPr/>
        </p:nvSpPr>
        <p:spPr>
          <a:xfrm xmlns:a="http://schemas.openxmlformats.org/drawingml/2006/main">
            <a:off x="609600" y="2295525"/>
            <a:ext cx="5067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$100.85 from $100 (+$0.85).</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9 profitable / 6 losing days.</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125 contracts.</a:t>
            </a:r>
          </a:p>
        </p:txBody>
      </p:sp>
      <p:sp>
        <p:nvSpPr>
          <p:cNvPr id="6" name="">
            <a:extLst xmlns:a="http://schemas.openxmlformats.org/drawingml/2006/main">
              <a:ext uri="{FF2B5EF4-FFF2-40B4-BE49-F238E27FC236}">
                <a16:creationId xmlns:a16="http://schemas.microsoft.com/office/drawing/2014/main" id="{79E049BD-CB62-487F-A9FC-5FEFA80CCD6B}"/>
              </a:ext>
            </a:extLst>
          </p:cNvPr>
          <p:cNvSpPr>
            <a:spLocks xmlns:a="http://schemas.openxmlformats.org/drawingml/2006/main" noGrp="1"/>
          </p:cNvSpPr>
          <p:nvPr/>
        </p:nvSpPr>
        <p:spPr>
          <a:xfrm xmlns:a="http://schemas.openxmlformats.org/drawingml/2006/main">
            <a:off x="609600" y="3571875"/>
            <a:ext cx="5067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77619A"/>
                </a:solidFill>
                <a:latin typeface="Arial"/>
                <a:ea typeface="Arial"/>
                <a:cs typeface="Arial"/>
              </a:defRPr>
            </a:defPPr>
          </a:lstStyle>
          <a:p xmlns:a="http://schemas.openxmlformats.org/drawingml/2006/main">
            <a:pPr>
              <a:defRPr sz="1425" b="1">
                <a:solidFill>
                  <a:srgbClr val="77619A"/>
                </a:solidFill>
                <a:latin typeface="Arial"/>
                <a:ea typeface="Arial"/>
                <a:cs typeface="Arial"/>
              </a:defRPr>
            </a:pPr>
            <a:r>
              <a:rPr sz="1425" b="1">
                <a:solidFill>
                  <a:srgbClr val="77619A"/>
                </a:solidFill>
                <a:latin typeface="Arial"/>
                <a:ea typeface="Arial"/>
                <a:cs typeface="Arial"/>
              </a:rPr>
              <a:t>V19 PROTECTED RANGE</a:t>
            </a:r>
          </a:p>
        </p:txBody>
      </p:sp>
      <p:sp>
        <p:nvSpPr>
          <p:cNvPr id="7" name="">
            <a:extLst xmlns:a="http://schemas.openxmlformats.org/drawingml/2006/main">
              <a:ext uri="{FF2B5EF4-FFF2-40B4-BE49-F238E27FC236}">
                <a16:creationId xmlns:a16="http://schemas.microsoft.com/office/drawing/2014/main" id="{D8F6998E-234F-4071-B38C-58533CCDBA5A}"/>
              </a:ext>
            </a:extLst>
          </p:cNvPr>
          <p:cNvSpPr>
            <a:spLocks xmlns:a="http://schemas.openxmlformats.org/drawingml/2006/main" noGrp="1"/>
          </p:cNvSpPr>
          <p:nvPr/>
        </p:nvSpPr>
        <p:spPr>
          <a:xfrm xmlns:a="http://schemas.openxmlformats.org/drawingml/2006/main">
            <a:off x="609600" y="3867150"/>
            <a:ext cx="5067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$99.58 from $100 (−$0.42).</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7 profitable / 3 losing days.</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92 contracts.</a:t>
            </a:r>
          </a:p>
        </p:txBody>
      </p:sp>
      <p:sp>
        <p:nvSpPr>
          <p:cNvPr id="8" name="">
            <a:extLst xmlns:a="http://schemas.openxmlformats.org/drawingml/2006/main">
              <a:ext uri="{FF2B5EF4-FFF2-40B4-BE49-F238E27FC236}">
                <a16:creationId xmlns:a16="http://schemas.microsoft.com/office/drawing/2014/main" id="{32935E29-903B-42B9-A2A7-E43776EF202E}"/>
              </a:ext>
            </a:extLst>
          </p:cNvPr>
          <p:cNvSpPr>
            <a:spLocks xmlns:a="http://schemas.openxmlformats.org/drawingml/2006/main" noGrp="1"/>
          </p:cNvSpPr>
          <p:nvPr/>
        </p:nvSpPr>
        <p:spPr>
          <a:xfrm xmlns:a="http://schemas.openxmlformats.org/drawingml/2006/main">
            <a:off x="609600" y="5095875"/>
            <a:ext cx="506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77619A"/>
                </a:solidFill>
                <a:latin typeface="Arial"/>
                <a:ea typeface="Arial"/>
                <a:cs typeface="Arial"/>
              </a:defRPr>
            </a:defPPr>
          </a:lstStyle>
          <a:p xmlns:a="http://schemas.openxmlformats.org/drawingml/2006/main">
            <a:pPr>
              <a:defRPr sz="1425" b="1">
                <a:solidFill>
                  <a:srgbClr val="77619A"/>
                </a:solidFill>
                <a:latin typeface="Arial"/>
                <a:ea typeface="Arial"/>
                <a:cs typeface="Arial"/>
              </a:defRPr>
            </a:pPr>
            <a:r>
              <a:rPr sz="1425" b="1">
                <a:solidFill>
                  <a:srgbClr val="77619A"/>
                </a:solidFill>
                <a:latin typeface="Arial"/>
                <a:ea typeface="Arial"/>
                <a:cs typeface="Arial"/>
              </a:rPr>
              <a:t>WHAT THIS SHOWS</a:t>
            </a:r>
          </a:p>
        </p:txBody>
      </p:sp>
      <p:sp>
        <p:nvSpPr>
          <p:cNvPr id="9" name="">
            <a:extLst xmlns:a="http://schemas.openxmlformats.org/drawingml/2006/main">
              <a:ext uri="{FF2B5EF4-FFF2-40B4-BE49-F238E27FC236}">
                <a16:creationId xmlns:a16="http://schemas.microsoft.com/office/drawing/2014/main" id="{511D3AF1-0544-4469-9068-D82E3A2EC28E}"/>
              </a:ext>
            </a:extLst>
          </p:cNvPr>
          <p:cNvSpPr>
            <a:spLocks xmlns:a="http://schemas.openxmlformats.org/drawingml/2006/main" noGrp="1"/>
          </p:cNvSpPr>
          <p:nvPr/>
        </p:nvSpPr>
        <p:spPr>
          <a:xfrm xmlns:a="http://schemas.openxmlformats.org/drawingml/2006/main">
            <a:off x="609600" y="5391150"/>
            <a:ext cx="50673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At half the available depth, the ensemble fell to $97.71. September’s small gain was sensitive to liquidity.</a:t>
            </a:r>
          </a:p>
        </p:txBody>
      </p:sp>
      <p:graphicFrame>
        <p:nvGraphicFramePr>
          <p:cNvPr id="10" name="Chart">
            <a:extLst xmlns:a="http://schemas.openxmlformats.org/drawingml/2006/main">
              <a:ext uri="{FF2B5EF4-FFF2-40B4-BE49-F238E27FC236}">
                <a16:creationId xmlns:a16="http://schemas.microsoft.com/office/drawing/2014/main" id="{702CCCFA-DBCB-4B91-8889-DD0D775EE809}"/>
              </a:ext>
            </a:extLst>
          </p:cNvPr>
          <p:cNvGraphicFramePr/>
          <p:nvPr/>
        </p:nvGraphicFramePr>
        <p:xfrm>
          <a:off xmlns:a="http://schemas.openxmlformats.org/drawingml/2006/main" x="6019800" y="1981200"/>
          <a:ext xmlns:a="http://schemas.openxmlformats.org/drawingml/2006/main" cx="5524500" cy="3705225"/>
        </p:xfrm>
        <a:graphic xmlns:a="http://schemas.openxmlformats.org/drawingml/2006/main">
          <a:graphicData uri="http://schemas.openxmlformats.org/drawingml/2006/chart">
            <c:chart xmlns:r="http://schemas.openxmlformats.org/officeDocument/2006/relationships" xmlns:c="http://schemas.openxmlformats.org/drawingml/2006/chart" r:id="R1bc0ffb8ac5b4fc6"/>
          </a:graphicData>
        </a:graphic>
      </p:graphicFrame>
      <p:sp>
        <p:nvSpPr>
          <p:cNvPr id="11" name="">
            <a:extLst xmlns:a="http://schemas.openxmlformats.org/drawingml/2006/main">
              <a:ext uri="{FF2B5EF4-FFF2-40B4-BE49-F238E27FC236}">
                <a16:creationId xmlns:a16="http://schemas.microsoft.com/office/drawing/2014/main" id="{3F8F93E3-086E-4D2E-B2D1-B8F5A64D6F29}"/>
              </a:ext>
            </a:extLst>
          </p:cNvPr>
          <p:cNvSpPr>
            <a:spLocks xmlns:a="http://schemas.openxmlformats.org/drawingml/2006/main" noGrp="1"/>
          </p:cNvSpPr>
          <p:nvPr/>
        </p:nvSpPr>
        <p:spPr>
          <a:xfrm xmlns:a="http://schemas.openxmlformats.org/drawingml/2006/main">
            <a:off x="6143625" y="5800725"/>
            <a:ext cx="525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77B"/>
                </a:solidFill>
                <a:latin typeface="Arial"/>
                <a:ea typeface="Arial"/>
                <a:cs typeface="Arial"/>
              </a:defRPr>
            </a:defPPr>
          </a:lstStyle>
          <a:p xmlns:a="http://schemas.openxmlformats.org/drawingml/2006/main">
            <a:pPr>
              <a:defRPr sz="1575" b="0">
                <a:solidFill>
                  <a:srgbClr val="52677B"/>
                </a:solidFill>
                <a:latin typeface="Arial"/>
                <a:ea typeface="Arial"/>
                <a:cs typeface="Arial"/>
              </a:defRPr>
            </a:pPr>
            <a:r>
              <a:rPr sz="1575" b="0">
                <a:solidFill>
                  <a:srgbClr val="52677B"/>
                </a:solidFill>
                <a:latin typeface="Arial"/>
                <a:ea typeface="Arial"/>
                <a:cs typeface="Arial"/>
              </a:rPr>
              <a:t>Supported trades only. Many eligible-time quotes were missing or too old.</a:t>
            </a:r>
          </a:p>
        </p:txBody>
      </p:sp>
      <p:sp>
        <p:nvSpPr>
          <p:cNvPr id="12" name="">
            <a:extLst xmlns:a="http://schemas.openxmlformats.org/drawingml/2006/main">
              <a:ext uri="{FF2B5EF4-FFF2-40B4-BE49-F238E27FC236}">
                <a16:creationId xmlns:a16="http://schemas.microsoft.com/office/drawing/2014/main" id="{FDB795A0-C781-40EA-B0BA-3720CB4D0A24}"/>
              </a:ext>
            </a:extLst>
          </p:cNvPr>
          <p:cNvSpPr>
            <a:spLocks xmlns:a="http://schemas.openxmlformats.org/drawingml/2006/main" noGrp="1"/>
          </p:cNvSpPr>
          <p:nvPr/>
        </p:nvSpPr>
        <p:spPr>
          <a:xfrm xmlns:a="http://schemas.openxmlformats.org/drawingml/2006/main">
            <a:off x="6096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B"/>
                </a:solidFill>
                <a:latin typeface="Arial"/>
                <a:ea typeface="Arial"/>
                <a:cs typeface="Arial"/>
              </a:defRPr>
            </a:defPPr>
          </a:lstStyle>
          <a:p xmlns:a="http://schemas.openxmlformats.org/drawingml/2006/main">
            <a:pPr>
              <a:defRPr sz="1125" b="0">
                <a:solidFill>
                  <a:srgbClr val="52677B"/>
                </a:solidFill>
                <a:latin typeface="Arial"/>
                <a:ea typeface="Arial"/>
                <a:cs typeface="Arial"/>
              </a:defRPr>
            </a:pPr>
            <a:r>
              <a:rPr sz="1125" b="0">
                <a:solidFill>
                  <a:srgbClr val="52677B"/>
                </a:solidFill>
                <a:latin typeface="Arial"/>
                <a:ea typeface="Arial"/>
                <a:cs typeface="Arial"/>
              </a:rPr>
              <a:t>Separate $100 per strategy and period. Fees included. Conditional archive replay.</a:t>
            </a:r>
          </a:p>
        </p:txBody>
      </p:sp>
      <p:sp>
        <p:nvSpPr>
          <p:cNvPr id="13" name="">
            <a:extLst xmlns:a="http://schemas.openxmlformats.org/drawingml/2006/main">
              <a:ext uri="{FF2B5EF4-FFF2-40B4-BE49-F238E27FC236}">
                <a16:creationId xmlns:a16="http://schemas.microsoft.com/office/drawing/2014/main" id="{E230A51F-376C-4504-BBFA-2FF8E956355D}"/>
              </a:ext>
            </a:extLst>
          </p:cNvPr>
          <p:cNvSpPr>
            <a:spLocks xmlns:a="http://schemas.openxmlformats.org/drawingml/2006/main" noGrp="1"/>
          </p:cNvSpPr>
          <p:nvPr/>
        </p:nvSpPr>
        <p:spPr>
          <a:xfrm xmlns:a="http://schemas.openxmlformats.org/drawingml/2006/main">
            <a:off x="11049000" y="6400800"/>
            <a:ext cx="495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77B"/>
                </a:solidFill>
                <a:latin typeface="Arial"/>
                <a:ea typeface="Arial"/>
                <a:cs typeface="Arial"/>
              </a:defRPr>
            </a:defPPr>
          </a:lstStyle>
          <a:p xmlns:a="http://schemas.openxmlformats.org/drawingml/2006/main">
            <a:pPr>
              <a:defRPr sz="1500" b="0">
                <a:solidFill>
                  <a:srgbClr val="52677B"/>
                </a:solidFill>
                <a:latin typeface="Arial"/>
                <a:ea typeface="Arial"/>
                <a:cs typeface="Arial"/>
              </a:defRPr>
            </a:pPr>
            <a:r>
              <a:rPr sz="1500" b="0">
                <a:solidFill>
                  <a:srgbClr val="52677B"/>
                </a:solidFill>
                <a:latin typeface="Arial"/>
                <a:ea typeface="Arial"/>
                <a:cs typeface="Arial"/>
              </a:rPr>
              <a:t>21</a:t>
            </a:r>
          </a:p>
        </p:txBody>
      </p:sp>
    </p:spTree>
    <p:extLst>
      <p:ext uri="{BB962C8B-B14F-4D97-AF65-F5344CB8AC3E}">
        <p14:creationId xmlns:p14="http://schemas.microsoft.com/office/powerpoint/2010/main" val="1705205345"/>
      </p:ext>
    </p:extLst>
  </p:cSld>
</p:sld>
</file>

<file path=ppt/slides/slide22.xml><?xml version="1.0" encoding="utf-8"?>
<p:sld xmlns:p="http://schemas.openxmlformats.org/presentationml/2006/main">
  <p:cSld>
    <p:bg>
      <p:bgPr>
        <a:solidFill xmlns:a="http://schemas.openxmlformats.org/drawingml/2006/main">
          <a:srgbClr val="F4EFF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8FC9BA5-2667-423B-B0E3-2E4AA4D88D1B}"/>
              </a:ext>
            </a:extLst>
          </p:cNvPr>
          <p:cNvSpPr>
            <a:spLocks xmlns:a="http://schemas.openxmlformats.org/drawingml/2006/main" noGrp="1"/>
          </p:cNvSpPr>
          <p:nvPr/>
        </p:nvSpPr>
        <p:spPr>
          <a:xfrm xmlns:a="http://schemas.openxmlformats.org/drawingml/2006/main">
            <a:off x="0" y="0"/>
            <a:ext cx="12192000" cy="685800"/>
          </a:xfrm>
          <a:prstGeom xmlns:a="http://schemas.openxmlformats.org/drawingml/2006/main" prst="rect">
            <a:avLst/>
          </a:prstGeom>
          <a:solidFill xmlns:a="http://schemas.openxmlformats.org/drawingml/2006/main">
            <a:srgbClr val="77619A"/>
          </a:solidFill>
          <a:ln xmlns:a="http://schemas.openxmlformats.org/drawingml/2006/main" w="0">
            <a:noFill/>
          </a:ln>
        </p:spPr>
        <p:txBody>
          <a:bodyPr xmlns:a="http://schemas.openxmlformats.org/drawingml/2006/main" lIns="609600" tIns="200025" rIns="609600" bIns="76200"/>
          <a:lstStyle xmlns:a="http://schemas.openxmlformats.org/drawingml/2006/main">
            <a:defPPr>
              <a:defRPr sz="2025" b="1">
                <a:solidFill>
                  <a:srgbClr val="FFFFFF"/>
                </a:solidFill>
                <a:latin typeface="Arial"/>
                <a:ea typeface="Arial"/>
                <a:cs typeface="Arial"/>
              </a:defRPr>
            </a:defPPr>
          </a:lstStyle>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PHOENIX · OCTOBER RESULTS</a:t>
            </a:r>
          </a:p>
        </p:txBody>
      </p:sp>
      <p:sp>
        <p:nvSpPr>
          <p:cNvPr id="2" name="">
            <a:extLst xmlns:a="http://schemas.openxmlformats.org/drawingml/2006/main">
              <a:ext uri="{FF2B5EF4-FFF2-40B4-BE49-F238E27FC236}">
                <a16:creationId xmlns:a16="http://schemas.microsoft.com/office/drawing/2014/main" id="{5C74FE18-AA48-4590-BFB1-882C2614730F}"/>
              </a:ext>
            </a:extLst>
          </p:cNvPr>
          <p:cNvSpPr>
            <a:spLocks xmlns:a="http://schemas.openxmlformats.org/drawingml/2006/main" noGrp="1"/>
          </p:cNvSpPr>
          <p:nvPr/>
        </p:nvSpPr>
        <p:spPr>
          <a:xfrm xmlns:a="http://schemas.openxmlformats.org/drawingml/2006/main">
            <a:off x="609600" y="762000"/>
            <a:ext cx="109347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77619A"/>
                </a:solidFill>
                <a:latin typeface="Arial"/>
                <a:ea typeface="Arial"/>
                <a:cs typeface="Arial"/>
              </a:defRPr>
            </a:defPPr>
          </a:lstStyle>
          <a:p xmlns:a="http://schemas.openxmlformats.org/drawingml/2006/main">
            <a:pPr>
              <a:defRPr sz="3300" b="1">
                <a:solidFill>
                  <a:srgbClr val="77619A"/>
                </a:solidFill>
                <a:latin typeface="Arial"/>
                <a:ea typeface="Arial"/>
                <a:cs typeface="Arial"/>
              </a:defRPr>
            </a:pPr>
            <a:r>
              <a:rPr sz="3300" b="1">
                <a:solidFill>
                  <a:srgbClr val="77619A"/>
                </a:solidFill>
                <a:latin typeface="Arial"/>
                <a:ea typeface="Arial"/>
                <a:cs typeface="Arial"/>
              </a:rPr>
              <a:t>October paper replay</a:t>
            </a:r>
          </a:p>
        </p:txBody>
      </p:sp>
      <p:sp>
        <p:nvSpPr>
          <p:cNvPr id="3" name="">
            <a:extLst xmlns:a="http://schemas.openxmlformats.org/drawingml/2006/main">
              <a:ext uri="{FF2B5EF4-FFF2-40B4-BE49-F238E27FC236}">
                <a16:creationId xmlns:a16="http://schemas.microsoft.com/office/drawing/2014/main" id="{4AE3919E-288B-4492-94AE-20D9EBE5CC45}"/>
              </a:ext>
            </a:extLst>
          </p:cNvPr>
          <p:cNvSpPr>
            <a:spLocks xmlns:a="http://schemas.openxmlformats.org/drawingml/2006/main" noGrp="1"/>
          </p:cNvSpPr>
          <p:nvPr/>
        </p:nvSpPr>
        <p:spPr>
          <a:xfrm xmlns:a="http://schemas.openxmlformats.org/drawingml/2006/main">
            <a:off x="609600" y="143827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52677B"/>
                </a:solidFill>
                <a:latin typeface="Arial"/>
                <a:ea typeface="Arial"/>
                <a:cs typeface="Arial"/>
              </a:defRPr>
            </a:defPPr>
          </a:lstStyle>
          <a:p xmlns:a="http://schemas.openxmlformats.org/drawingml/2006/main">
            <a:pPr>
              <a:defRPr sz="1875" b="0">
                <a:solidFill>
                  <a:srgbClr val="52677B"/>
                </a:solidFill>
                <a:latin typeface="Arial"/>
                <a:ea typeface="Arial"/>
                <a:cs typeface="Arial"/>
              </a:defRPr>
            </a:pPr>
            <a:r>
              <a:rPr sz="1875" b="0">
                <a:solidFill>
                  <a:srgbClr val="52677B"/>
                </a:solidFill>
                <a:latin typeface="Arial"/>
                <a:ea typeface="Arial"/>
                <a:cs typeface="Arial"/>
              </a:rPr>
              <a:t>October 1–11, 2026</a:t>
            </a:r>
          </a:p>
        </p:txBody>
      </p:sp>
      <p:sp>
        <p:nvSpPr>
          <p:cNvPr id="4" name="">
            <a:extLst xmlns:a="http://schemas.openxmlformats.org/drawingml/2006/main">
              <a:ext uri="{FF2B5EF4-FFF2-40B4-BE49-F238E27FC236}">
                <a16:creationId xmlns:a16="http://schemas.microsoft.com/office/drawing/2014/main" id="{D5C78E0C-A3DE-4B82-B1A5-1B359A77F399}"/>
              </a:ext>
            </a:extLst>
          </p:cNvPr>
          <p:cNvSpPr>
            <a:spLocks xmlns:a="http://schemas.openxmlformats.org/drawingml/2006/main" noGrp="1"/>
          </p:cNvSpPr>
          <p:nvPr/>
        </p:nvSpPr>
        <p:spPr>
          <a:xfrm xmlns:a="http://schemas.openxmlformats.org/drawingml/2006/main">
            <a:off x="609600" y="2000250"/>
            <a:ext cx="5067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77619A"/>
                </a:solidFill>
                <a:latin typeface="Arial"/>
                <a:ea typeface="Arial"/>
                <a:cs typeface="Arial"/>
              </a:defRPr>
            </a:defPPr>
          </a:lstStyle>
          <a:p xmlns:a="http://schemas.openxmlformats.org/drawingml/2006/main">
            <a:pPr>
              <a:defRPr sz="1425" b="1">
                <a:solidFill>
                  <a:srgbClr val="77619A"/>
                </a:solidFill>
                <a:latin typeface="Arial"/>
                <a:ea typeface="Arial"/>
                <a:cs typeface="Arial"/>
              </a:defRPr>
            </a:pPr>
            <a:r>
              <a:rPr sz="1425" b="1">
                <a:solidFill>
                  <a:srgbClr val="77619A"/>
                </a:solidFill>
                <a:latin typeface="Arial"/>
                <a:ea typeface="Arial"/>
                <a:cs typeface="Arial"/>
              </a:rPr>
              <a:t>FOUR-LAW ENSEMBLE</a:t>
            </a:r>
          </a:p>
        </p:txBody>
      </p:sp>
      <p:sp>
        <p:nvSpPr>
          <p:cNvPr id="5" name="">
            <a:extLst xmlns:a="http://schemas.openxmlformats.org/drawingml/2006/main">
              <a:ext uri="{FF2B5EF4-FFF2-40B4-BE49-F238E27FC236}">
                <a16:creationId xmlns:a16="http://schemas.microsoft.com/office/drawing/2014/main" id="{A9845E19-0BAA-44E8-8EFC-D0B379ED3AC0}"/>
              </a:ext>
            </a:extLst>
          </p:cNvPr>
          <p:cNvSpPr>
            <a:spLocks xmlns:a="http://schemas.openxmlformats.org/drawingml/2006/main" noGrp="1"/>
          </p:cNvSpPr>
          <p:nvPr/>
        </p:nvSpPr>
        <p:spPr>
          <a:xfrm xmlns:a="http://schemas.openxmlformats.org/drawingml/2006/main">
            <a:off x="609600" y="2295525"/>
            <a:ext cx="5067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$104.88 from $100 (+$4.88).</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5 profitable / 2 losing days.</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72 contracts.</a:t>
            </a:r>
          </a:p>
        </p:txBody>
      </p:sp>
      <p:sp>
        <p:nvSpPr>
          <p:cNvPr id="6" name="">
            <a:extLst xmlns:a="http://schemas.openxmlformats.org/drawingml/2006/main">
              <a:ext uri="{FF2B5EF4-FFF2-40B4-BE49-F238E27FC236}">
                <a16:creationId xmlns:a16="http://schemas.microsoft.com/office/drawing/2014/main" id="{DDD6DAC2-4B58-4562-AFFB-D8DB3EE226DE}"/>
              </a:ext>
            </a:extLst>
          </p:cNvPr>
          <p:cNvSpPr>
            <a:spLocks xmlns:a="http://schemas.openxmlformats.org/drawingml/2006/main" noGrp="1"/>
          </p:cNvSpPr>
          <p:nvPr/>
        </p:nvSpPr>
        <p:spPr>
          <a:xfrm xmlns:a="http://schemas.openxmlformats.org/drawingml/2006/main">
            <a:off x="609600" y="3571875"/>
            <a:ext cx="5067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77619A"/>
                </a:solidFill>
                <a:latin typeface="Arial"/>
                <a:ea typeface="Arial"/>
                <a:cs typeface="Arial"/>
              </a:defRPr>
            </a:defPPr>
          </a:lstStyle>
          <a:p xmlns:a="http://schemas.openxmlformats.org/drawingml/2006/main">
            <a:pPr>
              <a:defRPr sz="1425" b="1">
                <a:solidFill>
                  <a:srgbClr val="77619A"/>
                </a:solidFill>
                <a:latin typeface="Arial"/>
                <a:ea typeface="Arial"/>
                <a:cs typeface="Arial"/>
              </a:defRPr>
            </a:pPr>
            <a:r>
              <a:rPr sz="1425" b="1">
                <a:solidFill>
                  <a:srgbClr val="77619A"/>
                </a:solidFill>
                <a:latin typeface="Arial"/>
                <a:ea typeface="Arial"/>
                <a:cs typeface="Arial"/>
              </a:rPr>
              <a:t>V19 PROTECTED RANGE</a:t>
            </a:r>
          </a:p>
        </p:txBody>
      </p:sp>
      <p:sp>
        <p:nvSpPr>
          <p:cNvPr id="7" name="">
            <a:extLst xmlns:a="http://schemas.openxmlformats.org/drawingml/2006/main">
              <a:ext uri="{FF2B5EF4-FFF2-40B4-BE49-F238E27FC236}">
                <a16:creationId xmlns:a16="http://schemas.microsoft.com/office/drawing/2014/main" id="{95D1D210-052F-49BE-905C-846837F1E551}"/>
              </a:ext>
            </a:extLst>
          </p:cNvPr>
          <p:cNvSpPr>
            <a:spLocks xmlns:a="http://schemas.openxmlformats.org/drawingml/2006/main" noGrp="1"/>
          </p:cNvSpPr>
          <p:nvPr/>
        </p:nvSpPr>
        <p:spPr>
          <a:xfrm xmlns:a="http://schemas.openxmlformats.org/drawingml/2006/main">
            <a:off x="609600" y="3867150"/>
            <a:ext cx="5067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$103.06 from $100 (+$3.06).</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2 profitable / 0 losing days.</a:t>
            </a:r>
          </a:p>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13 contracts.</a:t>
            </a:r>
          </a:p>
        </p:txBody>
      </p:sp>
      <p:sp>
        <p:nvSpPr>
          <p:cNvPr id="8" name="">
            <a:extLst xmlns:a="http://schemas.openxmlformats.org/drawingml/2006/main">
              <a:ext uri="{FF2B5EF4-FFF2-40B4-BE49-F238E27FC236}">
                <a16:creationId xmlns:a16="http://schemas.microsoft.com/office/drawing/2014/main" id="{89DFADC4-995E-4752-8781-486A4E16C9FB}"/>
              </a:ext>
            </a:extLst>
          </p:cNvPr>
          <p:cNvSpPr>
            <a:spLocks xmlns:a="http://schemas.openxmlformats.org/drawingml/2006/main" noGrp="1"/>
          </p:cNvSpPr>
          <p:nvPr/>
        </p:nvSpPr>
        <p:spPr>
          <a:xfrm xmlns:a="http://schemas.openxmlformats.org/drawingml/2006/main">
            <a:off x="609600" y="5095875"/>
            <a:ext cx="5067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77619A"/>
                </a:solidFill>
                <a:latin typeface="Arial"/>
                <a:ea typeface="Arial"/>
                <a:cs typeface="Arial"/>
              </a:defRPr>
            </a:defPPr>
          </a:lstStyle>
          <a:p xmlns:a="http://schemas.openxmlformats.org/drawingml/2006/main">
            <a:pPr>
              <a:defRPr sz="1425" b="1">
                <a:solidFill>
                  <a:srgbClr val="77619A"/>
                </a:solidFill>
                <a:latin typeface="Arial"/>
                <a:ea typeface="Arial"/>
                <a:cs typeface="Arial"/>
              </a:defRPr>
            </a:pPr>
            <a:r>
              <a:rPr sz="1425" b="1">
                <a:solidFill>
                  <a:srgbClr val="77619A"/>
                </a:solidFill>
                <a:latin typeface="Arial"/>
                <a:ea typeface="Arial"/>
                <a:cs typeface="Arial"/>
              </a:rPr>
              <a:t>WHAT THIS SHOWS</a:t>
            </a:r>
          </a:p>
        </p:txBody>
      </p:sp>
      <p:sp>
        <p:nvSpPr>
          <p:cNvPr id="9" name="">
            <a:extLst xmlns:a="http://schemas.openxmlformats.org/drawingml/2006/main">
              <a:ext uri="{FF2B5EF4-FFF2-40B4-BE49-F238E27FC236}">
                <a16:creationId xmlns:a16="http://schemas.microsoft.com/office/drawing/2014/main" id="{B58A42DC-168E-4F73-BAD9-A673A7E08350}"/>
              </a:ext>
            </a:extLst>
          </p:cNvPr>
          <p:cNvSpPr>
            <a:spLocks xmlns:a="http://schemas.openxmlformats.org/drawingml/2006/main" noGrp="1"/>
          </p:cNvSpPr>
          <p:nvPr/>
        </p:nvSpPr>
        <p:spPr>
          <a:xfrm xmlns:a="http://schemas.openxmlformats.org/drawingml/2006/main">
            <a:off x="609600" y="5391150"/>
            <a:ext cx="50673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42D44"/>
                </a:solidFill>
                <a:latin typeface="Arial"/>
                <a:ea typeface="Arial"/>
                <a:cs typeface="Arial"/>
              </a:defRPr>
            </a:defPPr>
          </a:lstStyle>
          <a:p xmlns:a="http://schemas.openxmlformats.org/drawingml/2006/main">
            <a:pPr>
              <a:defRPr sz="1800" b="0">
                <a:solidFill>
                  <a:srgbClr val="142D44"/>
                </a:solidFill>
                <a:latin typeface="Arial"/>
                <a:ea typeface="Arial"/>
                <a:cs typeface="Arial"/>
              </a:defRPr>
            </a:pPr>
            <a:r>
              <a:rPr sz="1800" b="0">
                <a:solidFill>
                  <a:srgbClr val="142D44"/>
                </a:solidFill>
                <a:latin typeface="Arial"/>
                <a:ea typeface="Arial"/>
                <a:cs typeface="Arial"/>
              </a:rPr>
              <a:t>Both recorded paths gained modestly. The protected range traded on only two profitable days.</a:t>
            </a:r>
          </a:p>
        </p:txBody>
      </p:sp>
      <p:graphicFrame>
        <p:nvGraphicFramePr>
          <p:cNvPr id="10" name="Chart">
            <a:extLst xmlns:a="http://schemas.openxmlformats.org/drawingml/2006/main">
              <a:ext uri="{FF2B5EF4-FFF2-40B4-BE49-F238E27FC236}">
                <a16:creationId xmlns:a16="http://schemas.microsoft.com/office/drawing/2014/main" id="{2F2FBEEB-F4AA-45EF-A159-782D4D6B84BC}"/>
              </a:ext>
            </a:extLst>
          </p:cNvPr>
          <p:cNvGraphicFramePr/>
          <p:nvPr/>
        </p:nvGraphicFramePr>
        <p:xfrm>
          <a:off xmlns:a="http://schemas.openxmlformats.org/drawingml/2006/main" x="6019800" y="1981200"/>
          <a:ext xmlns:a="http://schemas.openxmlformats.org/drawingml/2006/main" cx="5524500" cy="3705225"/>
        </p:xfrm>
        <a:graphic xmlns:a="http://schemas.openxmlformats.org/drawingml/2006/main">
          <a:graphicData uri="http://schemas.openxmlformats.org/drawingml/2006/chart">
            <c:chart xmlns:r="http://schemas.openxmlformats.org/officeDocument/2006/relationships" xmlns:c="http://schemas.openxmlformats.org/drawingml/2006/chart" r:id="Rf21fefc5ef1e413e"/>
          </a:graphicData>
        </a:graphic>
      </p:graphicFrame>
      <p:sp>
        <p:nvSpPr>
          <p:cNvPr id="11" name="">
            <a:extLst xmlns:a="http://schemas.openxmlformats.org/drawingml/2006/main">
              <a:ext uri="{FF2B5EF4-FFF2-40B4-BE49-F238E27FC236}">
                <a16:creationId xmlns:a16="http://schemas.microsoft.com/office/drawing/2014/main" id="{D1078C26-C0AD-4B92-B53E-4A4E5A37CF9A}"/>
              </a:ext>
            </a:extLst>
          </p:cNvPr>
          <p:cNvSpPr>
            <a:spLocks xmlns:a="http://schemas.openxmlformats.org/drawingml/2006/main" noGrp="1"/>
          </p:cNvSpPr>
          <p:nvPr/>
        </p:nvSpPr>
        <p:spPr>
          <a:xfrm xmlns:a="http://schemas.openxmlformats.org/drawingml/2006/main">
            <a:off x="6143625" y="5800725"/>
            <a:ext cx="525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77B"/>
                </a:solidFill>
                <a:latin typeface="Arial"/>
                <a:ea typeface="Arial"/>
                <a:cs typeface="Arial"/>
              </a:defRPr>
            </a:defPPr>
          </a:lstStyle>
          <a:p xmlns:a="http://schemas.openxmlformats.org/drawingml/2006/main">
            <a:pPr>
              <a:defRPr sz="1575" b="0">
                <a:solidFill>
                  <a:srgbClr val="52677B"/>
                </a:solidFill>
                <a:latin typeface="Arial"/>
                <a:ea typeface="Arial"/>
                <a:cs typeface="Arial"/>
              </a:defRPr>
            </a:pPr>
            <a:r>
              <a:rPr sz="1575" b="0">
                <a:solidFill>
                  <a:srgbClr val="52677B"/>
                </a:solidFill>
                <a:latin typeface="Arial"/>
                <a:ea typeface="Arial"/>
                <a:cs typeface="Arial"/>
              </a:rPr>
              <a:t>Includes later official payouts. Missing quotes can hide additional trades.</a:t>
            </a:r>
          </a:p>
        </p:txBody>
      </p:sp>
      <p:sp>
        <p:nvSpPr>
          <p:cNvPr id="12" name="">
            <a:extLst xmlns:a="http://schemas.openxmlformats.org/drawingml/2006/main">
              <a:ext uri="{FF2B5EF4-FFF2-40B4-BE49-F238E27FC236}">
                <a16:creationId xmlns:a16="http://schemas.microsoft.com/office/drawing/2014/main" id="{D9A8F5F0-0FAE-4515-82B9-3B76FD927CCB}"/>
              </a:ext>
            </a:extLst>
          </p:cNvPr>
          <p:cNvSpPr>
            <a:spLocks xmlns:a="http://schemas.openxmlformats.org/drawingml/2006/main" noGrp="1"/>
          </p:cNvSpPr>
          <p:nvPr/>
        </p:nvSpPr>
        <p:spPr>
          <a:xfrm xmlns:a="http://schemas.openxmlformats.org/drawingml/2006/main">
            <a:off x="609600" y="6457950"/>
            <a:ext cx="1009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B"/>
                </a:solidFill>
                <a:latin typeface="Arial"/>
                <a:ea typeface="Arial"/>
                <a:cs typeface="Arial"/>
              </a:defRPr>
            </a:defPPr>
          </a:lstStyle>
          <a:p xmlns:a="http://schemas.openxmlformats.org/drawingml/2006/main">
            <a:pPr>
              <a:defRPr sz="1125" b="0">
                <a:solidFill>
                  <a:srgbClr val="52677B"/>
                </a:solidFill>
                <a:latin typeface="Arial"/>
                <a:ea typeface="Arial"/>
                <a:cs typeface="Arial"/>
              </a:defRPr>
            </a:pPr>
            <a:r>
              <a:rPr sz="1125" b="0">
                <a:solidFill>
                  <a:srgbClr val="52677B"/>
                </a:solidFill>
                <a:latin typeface="Arial"/>
                <a:ea typeface="Arial"/>
                <a:cs typeface="Arial"/>
              </a:rPr>
              <a:t>Separate $100 per strategy and period. Fees included. Conditional archive replay.</a:t>
            </a:r>
          </a:p>
        </p:txBody>
      </p:sp>
      <p:sp>
        <p:nvSpPr>
          <p:cNvPr id="13" name="">
            <a:extLst xmlns:a="http://schemas.openxmlformats.org/drawingml/2006/main">
              <a:ext uri="{FF2B5EF4-FFF2-40B4-BE49-F238E27FC236}">
                <a16:creationId xmlns:a16="http://schemas.microsoft.com/office/drawing/2014/main" id="{0B4DA93C-762B-40C2-9163-78BCB9C55D1B}"/>
              </a:ext>
            </a:extLst>
          </p:cNvPr>
          <p:cNvSpPr>
            <a:spLocks xmlns:a="http://schemas.openxmlformats.org/drawingml/2006/main" noGrp="1"/>
          </p:cNvSpPr>
          <p:nvPr/>
        </p:nvSpPr>
        <p:spPr>
          <a:xfrm xmlns:a="http://schemas.openxmlformats.org/drawingml/2006/main">
            <a:off x="11049000" y="6400800"/>
            <a:ext cx="495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77B"/>
                </a:solidFill>
                <a:latin typeface="Arial"/>
                <a:ea typeface="Arial"/>
                <a:cs typeface="Arial"/>
              </a:defRPr>
            </a:defPPr>
          </a:lstStyle>
          <a:p xmlns:a="http://schemas.openxmlformats.org/drawingml/2006/main">
            <a:pPr>
              <a:defRPr sz="1500" b="0">
                <a:solidFill>
                  <a:srgbClr val="52677B"/>
                </a:solidFill>
                <a:latin typeface="Arial"/>
                <a:ea typeface="Arial"/>
                <a:cs typeface="Arial"/>
              </a:defRPr>
            </a:pPr>
            <a:r>
              <a:rPr sz="1500" b="0">
                <a:solidFill>
                  <a:srgbClr val="52677B"/>
                </a:solidFill>
                <a:latin typeface="Arial"/>
                <a:ea typeface="Arial"/>
                <a:cs typeface="Arial"/>
              </a:rPr>
              <a:t>22</a:t>
            </a:r>
          </a:p>
        </p:txBody>
      </p:sp>
    </p:spTree>
    <p:extLst>
      <p:ext uri="{BB962C8B-B14F-4D97-AF65-F5344CB8AC3E}">
        <p14:creationId xmlns:p14="http://schemas.microsoft.com/office/powerpoint/2010/main" val="1792790022"/>
      </p:ext>
    </p:extLst>
  </p:cSld>
</p:sld>
</file>

<file path=ppt/slides/slide2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E82809A-092E-44FE-9A6E-9291E5F3D56A}"/>
              </a:ext>
            </a:extLst>
          </p:cNvPr>
          <p:cNvSpPr>
            <a:spLocks xmlns:a="http://schemas.openxmlformats.org/drawingml/2006/main" noGrp="1"/>
          </p:cNvSpPr>
          <p:nvPr/>
        </p:nvSpPr>
        <p:spPr>
          <a:xfrm xmlns:a="http://schemas.openxmlformats.org/drawingml/2006/main">
            <a:off x="609600" y="381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7E89"/>
                </a:solidFill>
                <a:latin typeface="Arial"/>
                <a:ea typeface="Arial"/>
                <a:cs typeface="Arial"/>
              </a:defRPr>
            </a:defPPr>
          </a:lstStyle>
          <a:p xmlns:a="http://schemas.openxmlformats.org/drawingml/2006/main">
            <a:pPr>
              <a:buNone/>
              <a:defRPr sz="1500" b="1">
                <a:solidFill>
                  <a:srgbClr val="177E89"/>
                </a:solidFill>
                <a:latin typeface="Arial"/>
                <a:ea typeface="Arial"/>
                <a:cs typeface="Arial"/>
              </a:defRPr>
            </a:pPr>
            <a:r>
              <a:rPr sz="1500" b="1">
                <a:solidFill>
                  <a:srgbClr val="177E89"/>
                </a:solidFill>
                <a:latin typeface="Arial"/>
                <a:ea typeface="Arial"/>
                <a:cs typeface="Arial"/>
              </a:rPr>
              <a:t>FORWARD PAPER TESTING</a:t>
            </a:r>
          </a:p>
        </p:txBody>
      </p:sp>
      <p:sp>
        <p:nvSpPr>
          <p:cNvPr id="2" name="">
            <a:extLst xmlns:a="http://schemas.openxmlformats.org/drawingml/2006/main">
              <a:ext uri="{FF2B5EF4-FFF2-40B4-BE49-F238E27FC236}">
                <a16:creationId xmlns:a16="http://schemas.microsoft.com/office/drawing/2014/main" id="{2E7468C5-6F8B-4633-9CA2-0045ED612B19}"/>
              </a:ext>
            </a:extLst>
          </p:cNvPr>
          <p:cNvSpPr>
            <a:spLocks xmlns:a="http://schemas.openxmlformats.org/drawingml/2006/main" noGrp="1"/>
          </p:cNvSpPr>
          <p:nvPr/>
        </p:nvSpPr>
        <p:spPr>
          <a:xfrm xmlns:a="http://schemas.openxmlformats.org/drawingml/2006/main">
            <a:off x="609600" y="762000"/>
            <a:ext cx="10934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D44"/>
                </a:solidFill>
                <a:latin typeface="Arial"/>
                <a:ea typeface="Arial"/>
                <a:cs typeface="Arial"/>
              </a:defRPr>
            </a:defPPr>
          </a:lstStyle>
          <a:p xmlns:a="http://schemas.openxmlformats.org/drawingml/2006/main">
            <a:pPr>
              <a:buNone/>
              <a:defRPr sz="3300" b="1">
                <a:solidFill>
                  <a:srgbClr val="142D44"/>
                </a:solidFill>
                <a:latin typeface="Arial"/>
                <a:ea typeface="Arial"/>
                <a:cs typeface="Arial"/>
              </a:defRPr>
            </a:pPr>
            <a:r>
              <a:rPr sz="3300" b="1">
                <a:solidFill>
                  <a:srgbClr val="142D44"/>
                </a:solidFill>
                <a:latin typeface="Arial"/>
                <a:ea typeface="Arial"/>
                <a:cs typeface="Arial"/>
              </a:rPr>
              <a:t>Online mode follows the current market</a:t>
            </a:r>
          </a:p>
        </p:txBody>
      </p:sp>
      <p:sp>
        <p:nvSpPr>
          <p:cNvPr id="3" name="">
            <a:extLst xmlns:a="http://schemas.openxmlformats.org/drawingml/2006/main">
              <a:ext uri="{FF2B5EF4-FFF2-40B4-BE49-F238E27FC236}">
                <a16:creationId xmlns:a16="http://schemas.microsoft.com/office/drawing/2014/main" id="{255DCF63-69E7-4E70-BD52-8102D3E2C05D}"/>
              </a:ext>
            </a:extLst>
          </p:cNvPr>
          <p:cNvSpPr>
            <a:spLocks xmlns:a="http://schemas.openxmlformats.org/drawingml/2006/main" noGrp="1"/>
          </p:cNvSpPr>
          <p:nvPr/>
        </p:nvSpPr>
        <p:spPr>
          <a:xfrm xmlns:a="http://schemas.openxmlformats.org/drawingml/2006/main">
            <a:off x="609600" y="64579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B"/>
                </a:solidFill>
                <a:latin typeface="Arial"/>
                <a:ea typeface="Arial"/>
                <a:cs typeface="Arial"/>
              </a:defRPr>
            </a:defPPr>
          </a:lstStyle>
          <a:p xmlns:a="http://schemas.openxmlformats.org/drawingml/2006/main">
            <a:pPr>
              <a:buNone/>
              <a:defRPr sz="1125" b="0">
                <a:solidFill>
                  <a:srgbClr val="52677B"/>
                </a:solidFill>
                <a:latin typeface="Arial"/>
                <a:ea typeface="Arial"/>
                <a:cs typeface="Arial"/>
              </a:defRPr>
            </a:pPr>
            <a:r>
              <a:rPr sz="1125" b="0">
                <a:solidFill>
                  <a:srgbClr val="52677B"/>
                </a:solidFill>
                <a:latin typeface="Arial"/>
                <a:ea typeface="Arial"/>
                <a:cs typeface="Arial"/>
              </a:rPr>
              <a:t>Four-city paper trading. Frozen October 12, 2026</a:t>
            </a:r>
          </a:p>
        </p:txBody>
      </p:sp>
      <p:sp>
        <p:nvSpPr>
          <p:cNvPr id="4" name="">
            <a:extLst xmlns:a="http://schemas.openxmlformats.org/drawingml/2006/main">
              <a:ext uri="{FF2B5EF4-FFF2-40B4-BE49-F238E27FC236}">
                <a16:creationId xmlns:a16="http://schemas.microsoft.com/office/drawing/2014/main" id="{2717FEE3-6C90-4C79-BD82-24A4582D8CCD}"/>
              </a:ext>
            </a:extLst>
          </p:cNvPr>
          <p:cNvSpPr>
            <a:spLocks xmlns:a="http://schemas.openxmlformats.org/drawingml/2006/main" noGrp="1"/>
          </p:cNvSpPr>
          <p:nvPr/>
        </p:nvSpPr>
        <p:spPr>
          <a:xfrm xmlns:a="http://schemas.openxmlformats.org/drawingml/2006/main">
            <a:off x="11049000" y="6400800"/>
            <a:ext cx="495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77B"/>
                </a:solidFill>
                <a:latin typeface="Arial"/>
                <a:ea typeface="Arial"/>
                <a:cs typeface="Arial"/>
              </a:defRPr>
            </a:defPPr>
          </a:lstStyle>
          <a:p xmlns:a="http://schemas.openxmlformats.org/drawingml/2006/main">
            <a:pPr>
              <a:buNone/>
              <a:defRPr sz="1500" b="0">
                <a:solidFill>
                  <a:srgbClr val="52677B"/>
                </a:solidFill>
                <a:latin typeface="Arial"/>
                <a:ea typeface="Arial"/>
                <a:cs typeface="Arial"/>
              </a:defRPr>
            </a:pPr>
            <a:r>
              <a:rPr sz="1500" b="0">
                <a:solidFill>
                  <a:srgbClr val="52677B"/>
                </a:solidFill>
                <a:latin typeface="Arial"/>
                <a:ea typeface="Arial"/>
                <a:cs typeface="Arial"/>
              </a:rPr>
              <a:t>23</a:t>
            </a:r>
          </a:p>
        </p:txBody>
      </p:sp>
      <p:sp>
        <p:nvSpPr>
          <p:cNvPr id="5" name="">
            <a:extLst xmlns:a="http://schemas.openxmlformats.org/drawingml/2006/main">
              <a:ext uri="{FF2B5EF4-FFF2-40B4-BE49-F238E27FC236}">
                <a16:creationId xmlns:a16="http://schemas.microsoft.com/office/drawing/2014/main" id="{0F435F86-A977-400F-B972-0C85F6F0CA9B}"/>
              </a:ext>
            </a:extLst>
          </p:cNvPr>
          <p:cNvSpPr>
            <a:spLocks xmlns:a="http://schemas.openxmlformats.org/drawingml/2006/main" noGrp="1"/>
          </p:cNvSpPr>
          <p:nvPr/>
        </p:nvSpPr>
        <p:spPr>
          <a:xfrm xmlns:a="http://schemas.openxmlformats.org/drawingml/2006/main">
            <a:off x="609600" y="1724025"/>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52677B"/>
                </a:solidFill>
                <a:latin typeface="Arial"/>
                <a:ea typeface="Arial"/>
                <a:cs typeface="Arial"/>
              </a:defRPr>
            </a:defPPr>
          </a:lstStyle>
          <a:p xmlns:a="http://schemas.openxmlformats.org/drawingml/2006/main">
            <a:pPr>
              <a:buNone/>
              <a:defRPr sz="1425" b="1">
                <a:solidFill>
                  <a:srgbClr val="52677B"/>
                </a:solidFill>
                <a:latin typeface="Arial"/>
                <a:ea typeface="Arial"/>
                <a:cs typeface="Arial"/>
              </a:defRPr>
            </a:pPr>
            <a:r>
              <a:rPr sz="1425" b="1">
                <a:solidFill>
                  <a:srgbClr val="52677B"/>
                </a:solidFill>
                <a:latin typeface="Arial"/>
                <a:ea typeface="Arial"/>
                <a:cs typeface="Arial"/>
              </a:rPr>
              <a:t>CURRENT DATA, FROZEN METHODS</a:t>
            </a:r>
          </a:p>
        </p:txBody>
      </p:sp>
      <p:sp>
        <p:nvSpPr>
          <p:cNvPr id="6" name="">
            <a:extLst xmlns:a="http://schemas.openxmlformats.org/drawingml/2006/main">
              <a:ext uri="{FF2B5EF4-FFF2-40B4-BE49-F238E27FC236}">
                <a16:creationId xmlns:a16="http://schemas.microsoft.com/office/drawing/2014/main" id="{F3BB3E0B-9849-4075-9FD3-FF5A3B382440}"/>
              </a:ext>
            </a:extLst>
          </p:cNvPr>
          <p:cNvSpPr>
            <a:spLocks xmlns:a="http://schemas.openxmlformats.org/drawingml/2006/main" noGrp="1"/>
          </p:cNvSpPr>
          <p:nvPr/>
        </p:nvSpPr>
        <p:spPr>
          <a:xfrm xmlns:a="http://schemas.openxmlformats.org/drawingml/2006/main">
            <a:off x="609600" y="2019300"/>
            <a:ext cx="50292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2D44"/>
                </a:solidFill>
                <a:latin typeface="Arial"/>
                <a:ea typeface="Arial"/>
                <a:cs typeface="Arial"/>
              </a:defRPr>
            </a:defPPr>
          </a:lstStyle>
          <a:p xmlns:a="http://schemas.openxmlformats.org/drawingml/2006/main">
            <a:pPr>
              <a:buNone/>
              <a:defRPr sz="1950" b="0">
                <a:solidFill>
                  <a:srgbClr val="142D44"/>
                </a:solidFill>
                <a:latin typeface="Arial"/>
                <a:ea typeface="Arial"/>
                <a:cs typeface="Arial"/>
              </a:defRPr>
            </a:pPr>
            <a:r>
              <a:rPr sz="1950" b="0">
                <a:solidFill>
                  <a:srgbClr val="142D44"/>
                </a:solidFill>
                <a:latin typeface="Arial"/>
                <a:ea typeface="Arial"/>
                <a:cs typeface="Arial"/>
              </a:rPr>
              <a:t>Collect fresh weather and Kalshi quotes. Recompute forecasts using saved model weights and trading rules.</a:t>
            </a:r>
          </a:p>
        </p:txBody>
      </p:sp>
      <p:sp>
        <p:nvSpPr>
          <p:cNvPr id="7" name="">
            <a:extLst xmlns:a="http://schemas.openxmlformats.org/drawingml/2006/main">
              <a:ext uri="{FF2B5EF4-FFF2-40B4-BE49-F238E27FC236}">
                <a16:creationId xmlns:a16="http://schemas.microsoft.com/office/drawing/2014/main" id="{5258BD80-CEF0-4E38-AFF0-92E7DAF27E50}"/>
              </a:ext>
            </a:extLst>
          </p:cNvPr>
          <p:cNvSpPr>
            <a:spLocks xmlns:a="http://schemas.openxmlformats.org/drawingml/2006/main" noGrp="1"/>
          </p:cNvSpPr>
          <p:nvPr/>
        </p:nvSpPr>
        <p:spPr>
          <a:xfrm xmlns:a="http://schemas.openxmlformats.org/drawingml/2006/main">
            <a:off x="609600" y="3152775"/>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52677B"/>
                </a:solidFill>
                <a:latin typeface="Arial"/>
                <a:ea typeface="Arial"/>
                <a:cs typeface="Arial"/>
              </a:defRPr>
            </a:defPPr>
          </a:lstStyle>
          <a:p xmlns:a="http://schemas.openxmlformats.org/drawingml/2006/main">
            <a:pPr>
              <a:buNone/>
              <a:defRPr sz="1425" b="1">
                <a:solidFill>
                  <a:srgbClr val="52677B"/>
                </a:solidFill>
                <a:latin typeface="Arial"/>
                <a:ea typeface="Arial"/>
                <a:cs typeface="Arial"/>
              </a:defRPr>
            </a:pPr>
            <a:r>
              <a:rPr sz="1425" b="1">
                <a:solidFill>
                  <a:srgbClr val="52677B"/>
                </a:solidFill>
                <a:latin typeface="Arial"/>
                <a:ea typeface="Arial"/>
                <a:cs typeface="Arial"/>
              </a:rPr>
              <a:t>SEPARATE FAKE WALLETS</a:t>
            </a:r>
          </a:p>
        </p:txBody>
      </p:sp>
      <p:sp>
        <p:nvSpPr>
          <p:cNvPr id="8" name="">
            <a:extLst xmlns:a="http://schemas.openxmlformats.org/drawingml/2006/main">
              <a:ext uri="{FF2B5EF4-FFF2-40B4-BE49-F238E27FC236}">
                <a16:creationId xmlns:a16="http://schemas.microsoft.com/office/drawing/2014/main" id="{60B92B50-D143-42DD-B7AD-18E0FD07FA06}"/>
              </a:ext>
            </a:extLst>
          </p:cNvPr>
          <p:cNvSpPr>
            <a:spLocks xmlns:a="http://schemas.openxmlformats.org/drawingml/2006/main" noGrp="1"/>
          </p:cNvSpPr>
          <p:nvPr/>
        </p:nvSpPr>
        <p:spPr>
          <a:xfrm xmlns:a="http://schemas.openxmlformats.org/drawingml/2006/main">
            <a:off x="609600" y="3448050"/>
            <a:ext cx="50292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2D44"/>
                </a:solidFill>
                <a:latin typeface="Arial"/>
                <a:ea typeface="Arial"/>
                <a:cs typeface="Arial"/>
              </a:defRPr>
            </a:defPPr>
          </a:lstStyle>
          <a:p xmlns:a="http://schemas.openxmlformats.org/drawingml/2006/main">
            <a:pPr>
              <a:buNone/>
              <a:defRPr sz="1950" b="0">
                <a:solidFill>
                  <a:srgbClr val="142D44"/>
                </a:solidFill>
                <a:latin typeface="Arial"/>
                <a:ea typeface="Arial"/>
                <a:cs typeface="Arial"/>
              </a:defRPr>
            </a:pPr>
            <a:r>
              <a:rPr sz="1950" b="0">
                <a:solidFill>
                  <a:srgbClr val="142D44"/>
                </a:solidFill>
                <a:latin typeface="Arial"/>
                <a:ea typeface="Arial"/>
                <a:cs typeface="Arial"/>
              </a:rPr>
              <a:t>Track what each strategy would buy, its contracts and its gains or losses. The package sends no real orders.</a:t>
            </a:r>
          </a:p>
        </p:txBody>
      </p:sp>
      <p:sp>
        <p:nvSpPr>
          <p:cNvPr id="9" name="">
            <a:extLst xmlns:a="http://schemas.openxmlformats.org/drawingml/2006/main">
              <a:ext uri="{FF2B5EF4-FFF2-40B4-BE49-F238E27FC236}">
                <a16:creationId xmlns:a16="http://schemas.microsoft.com/office/drawing/2014/main" id="{DB1E79CD-F20A-485C-AC0D-4B5F470890C3}"/>
              </a:ext>
            </a:extLst>
          </p:cNvPr>
          <p:cNvSpPr>
            <a:spLocks xmlns:a="http://schemas.openxmlformats.org/drawingml/2006/main" noGrp="1"/>
          </p:cNvSpPr>
          <p:nvPr/>
        </p:nvSpPr>
        <p:spPr>
          <a:xfrm xmlns:a="http://schemas.openxmlformats.org/drawingml/2006/main">
            <a:off x="609600" y="4572000"/>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52677B"/>
                </a:solidFill>
                <a:latin typeface="Arial"/>
                <a:ea typeface="Arial"/>
                <a:cs typeface="Arial"/>
              </a:defRPr>
            </a:defPPr>
          </a:lstStyle>
          <a:p xmlns:a="http://schemas.openxmlformats.org/drawingml/2006/main">
            <a:pPr>
              <a:buNone/>
              <a:defRPr sz="1425" b="1">
                <a:solidFill>
                  <a:srgbClr val="52677B"/>
                </a:solidFill>
                <a:latin typeface="Arial"/>
                <a:ea typeface="Arial"/>
                <a:cs typeface="Arial"/>
              </a:defRPr>
            </a:pPr>
            <a:r>
              <a:rPr sz="1425" b="1">
                <a:solidFill>
                  <a:srgbClr val="52677B"/>
                </a:solidFill>
                <a:latin typeface="Arial"/>
                <a:ea typeface="Arial"/>
                <a:cs typeface="Arial"/>
              </a:rPr>
              <a:t>CURRENT STATUS</a:t>
            </a:r>
          </a:p>
        </p:txBody>
      </p:sp>
      <p:sp>
        <p:nvSpPr>
          <p:cNvPr id="10" name="">
            <a:extLst xmlns:a="http://schemas.openxmlformats.org/drawingml/2006/main">
              <a:ext uri="{FF2B5EF4-FFF2-40B4-BE49-F238E27FC236}">
                <a16:creationId xmlns:a16="http://schemas.microsoft.com/office/drawing/2014/main" id="{D604C6CC-FB5F-43F6-8193-242F3F7AB4F4}"/>
              </a:ext>
            </a:extLst>
          </p:cNvPr>
          <p:cNvSpPr>
            <a:spLocks xmlns:a="http://schemas.openxmlformats.org/drawingml/2006/main" noGrp="1"/>
          </p:cNvSpPr>
          <p:nvPr/>
        </p:nvSpPr>
        <p:spPr>
          <a:xfrm xmlns:a="http://schemas.openxmlformats.org/drawingml/2006/main">
            <a:off x="609600" y="4867275"/>
            <a:ext cx="50292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2D44"/>
                </a:solidFill>
                <a:latin typeface="Arial"/>
                <a:ea typeface="Arial"/>
                <a:cs typeface="Arial"/>
              </a:defRPr>
            </a:defPPr>
          </a:lstStyle>
          <a:p xmlns:a="http://schemas.openxmlformats.org/drawingml/2006/main">
            <a:pPr>
              <a:buNone/>
              <a:defRPr sz="1950" b="0">
                <a:solidFill>
                  <a:srgbClr val="142D44"/>
                </a:solidFill>
                <a:latin typeface="Arial"/>
                <a:ea typeface="Arial"/>
                <a:cs typeface="Arial"/>
              </a:defRPr>
            </a:pPr>
            <a:r>
              <a:rPr sz="1950" b="0">
                <a:solidFill>
                  <a:srgbClr val="142D44"/>
                </a:solidFill>
                <a:latin typeface="Arial"/>
                <a:ea typeface="Arial"/>
                <a:cs typeface="Arial"/>
              </a:rPr>
              <a:t>Monitoring runs. New paper buys wait until we verify that our models predict the temperature measure Kalshi uses to settle.</a:t>
            </a:r>
          </a:p>
        </p:txBody>
      </p:sp>
      <p:graphicFrame>
        <p:nvGraphicFramePr>
          <p:cNvPr id="11" name="Chart">
            <a:extLst xmlns:a="http://schemas.openxmlformats.org/drawingml/2006/main">
              <a:ext uri="{FF2B5EF4-FFF2-40B4-BE49-F238E27FC236}">
                <a16:creationId xmlns:a16="http://schemas.microsoft.com/office/drawing/2014/main" id="{9AC0B39E-3403-4362-9D33-A0D8766241D7}"/>
              </a:ext>
            </a:extLst>
          </p:cNvPr>
          <p:cNvGraphicFramePr/>
          <p:nvPr/>
        </p:nvGraphicFramePr>
        <p:xfrm>
          <a:off xmlns:a="http://schemas.openxmlformats.org/drawingml/2006/main" x="6019800" y="1704975"/>
          <a:ext xmlns:a="http://schemas.openxmlformats.org/drawingml/2006/main" cx="5524500" cy="3857625"/>
        </p:xfrm>
        <a:graphic xmlns:a="http://schemas.openxmlformats.org/drawingml/2006/main">
          <a:graphicData uri="http://schemas.openxmlformats.org/drawingml/2006/chart">
            <c:chart xmlns:r="http://schemas.openxmlformats.org/officeDocument/2006/relationships" xmlns:c="http://schemas.openxmlformats.org/drawingml/2006/chart" r:id="Ra2c1dd62e6c9415d"/>
          </a:graphicData>
        </a:graphic>
      </p:graphicFrame>
      <p:sp>
        <p:nvSpPr>
          <p:cNvPr id="12" name="">
            <a:extLst xmlns:a="http://schemas.openxmlformats.org/drawingml/2006/main">
              <a:ext uri="{FF2B5EF4-FFF2-40B4-BE49-F238E27FC236}">
                <a16:creationId xmlns:a16="http://schemas.microsoft.com/office/drawing/2014/main" id="{1D622BEA-C7DD-4875-8E11-D64951734A9D}"/>
              </a:ext>
            </a:extLst>
          </p:cNvPr>
          <p:cNvSpPr>
            <a:spLocks xmlns:a="http://schemas.openxmlformats.org/drawingml/2006/main" noGrp="1"/>
          </p:cNvSpPr>
          <p:nvPr/>
        </p:nvSpPr>
        <p:spPr>
          <a:xfrm xmlns:a="http://schemas.openxmlformats.org/drawingml/2006/main">
            <a:off x="6143625" y="5762625"/>
            <a:ext cx="5257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77B"/>
                </a:solidFill>
                <a:latin typeface="Arial"/>
                <a:ea typeface="Arial"/>
                <a:cs typeface="Arial"/>
              </a:defRPr>
            </a:defPPr>
          </a:lstStyle>
          <a:p xmlns:a="http://schemas.openxmlformats.org/drawingml/2006/main">
            <a:pPr>
              <a:buNone/>
              <a:defRPr sz="1575" b="0">
                <a:solidFill>
                  <a:srgbClr val="52677B"/>
                </a:solidFill>
                <a:latin typeface="Arial"/>
                <a:ea typeface="Arial"/>
                <a:cs typeface="Arial"/>
              </a:defRPr>
            </a:pPr>
            <a:r>
              <a:rPr sz="1575" b="0">
                <a:solidFill>
                  <a:srgbClr val="52677B"/>
                </a:solidFill>
                <a:latin typeface="Arial"/>
                <a:ea typeface="Arial"/>
                <a:cs typeface="Arial"/>
              </a:rPr>
              <a:t>Nine independent $100 wallets. These are starting amounts, not current trading returns.</a:t>
            </a:r>
          </a:p>
        </p:txBody>
      </p:sp>
    </p:spTree>
    <p:extLst>
      <p:ext uri="{BB962C8B-B14F-4D97-AF65-F5344CB8AC3E}">
        <p14:creationId xmlns:p14="http://schemas.microsoft.com/office/powerpoint/2010/main" val="412041307"/>
      </p:ext>
    </p:extLst>
  </p:cSld>
</p:sld>
</file>

<file path=ppt/slides/slide2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25C2F21-5EDF-4AD7-85C8-967D0C50AF33}"/>
              </a:ext>
            </a:extLst>
          </p:cNvPr>
          <p:cNvSpPr>
            <a:spLocks xmlns:a="http://schemas.openxmlformats.org/drawingml/2006/main" noGrp="1"/>
          </p:cNvSpPr>
          <p:nvPr/>
        </p:nvSpPr>
        <p:spPr>
          <a:xfrm xmlns:a="http://schemas.openxmlformats.org/drawingml/2006/main">
            <a:off x="609600" y="381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1">
                <a:solidFill>
                  <a:srgbClr val="177E89"/>
                </a:solidFill>
                <a:latin typeface="Arial"/>
                <a:ea typeface="Arial"/>
                <a:cs typeface="Arial"/>
              </a:defRPr>
            </a:defPPr>
          </a:lstStyle>
          <a:p xmlns:a="http://schemas.openxmlformats.org/drawingml/2006/main">
            <a:pPr>
              <a:buNone/>
              <a:defRPr sz="1500" b="1">
                <a:solidFill>
                  <a:srgbClr val="177E89"/>
                </a:solidFill>
                <a:latin typeface="Arial"/>
                <a:ea typeface="Arial"/>
                <a:cs typeface="Arial"/>
              </a:defRPr>
            </a:pPr>
            <a:r>
              <a:rPr sz="1500" b="1">
                <a:solidFill>
                  <a:srgbClr val="177E89"/>
                </a:solidFill>
                <a:latin typeface="Arial"/>
                <a:ea typeface="Arial"/>
                <a:cs typeface="Arial"/>
              </a:rPr>
              <a:t>OCTOBER 1 ONWARD</a:t>
            </a:r>
          </a:p>
        </p:txBody>
      </p:sp>
      <p:sp>
        <p:nvSpPr>
          <p:cNvPr id="2" name="">
            <a:extLst xmlns:a="http://schemas.openxmlformats.org/drawingml/2006/main">
              <a:ext uri="{FF2B5EF4-FFF2-40B4-BE49-F238E27FC236}">
                <a16:creationId xmlns:a16="http://schemas.microsoft.com/office/drawing/2014/main" id="{F2753471-08C8-41EA-98BC-43E15E37C5C1}"/>
              </a:ext>
            </a:extLst>
          </p:cNvPr>
          <p:cNvSpPr>
            <a:spLocks xmlns:a="http://schemas.openxmlformats.org/drawingml/2006/main" noGrp="1"/>
          </p:cNvSpPr>
          <p:nvPr/>
        </p:nvSpPr>
        <p:spPr>
          <a:xfrm xmlns:a="http://schemas.openxmlformats.org/drawingml/2006/main">
            <a:off x="609600" y="762000"/>
            <a:ext cx="10934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42D44"/>
                </a:solidFill>
                <a:latin typeface="Arial"/>
                <a:ea typeface="Arial"/>
                <a:cs typeface="Arial"/>
              </a:defRPr>
            </a:defPPr>
          </a:lstStyle>
          <a:p xmlns:a="http://schemas.openxmlformats.org/drawingml/2006/main">
            <a:pPr>
              <a:buNone/>
              <a:defRPr sz="3300" b="1">
                <a:solidFill>
                  <a:srgbClr val="142D44"/>
                </a:solidFill>
                <a:latin typeface="Arial"/>
                <a:ea typeface="Arial"/>
                <a:cs typeface="Arial"/>
              </a:defRPr>
            </a:pPr>
            <a:r>
              <a:rPr sz="3300" b="1">
                <a:solidFill>
                  <a:srgbClr val="142D44"/>
                </a:solidFill>
                <a:latin typeface="Arial"/>
                <a:ea typeface="Arial"/>
                <a:cs typeface="Arial"/>
              </a:rPr>
              <a:t>Offline History measures gains and losses</a:t>
            </a:r>
          </a:p>
        </p:txBody>
      </p:sp>
      <p:sp>
        <p:nvSpPr>
          <p:cNvPr id="3" name="">
            <a:extLst xmlns:a="http://schemas.openxmlformats.org/drawingml/2006/main">
              <a:ext uri="{FF2B5EF4-FFF2-40B4-BE49-F238E27FC236}">
                <a16:creationId xmlns:a16="http://schemas.microsoft.com/office/drawing/2014/main" id="{2149B24B-A205-4340-B941-434A10EADD4A}"/>
              </a:ext>
            </a:extLst>
          </p:cNvPr>
          <p:cNvSpPr>
            <a:spLocks xmlns:a="http://schemas.openxmlformats.org/drawingml/2006/main" noGrp="1"/>
          </p:cNvSpPr>
          <p:nvPr/>
        </p:nvSpPr>
        <p:spPr>
          <a:xfrm xmlns:a="http://schemas.openxmlformats.org/drawingml/2006/main">
            <a:off x="609600" y="645795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2677B"/>
                </a:solidFill>
                <a:latin typeface="Arial"/>
                <a:ea typeface="Arial"/>
                <a:cs typeface="Arial"/>
              </a:defRPr>
            </a:defPPr>
          </a:lstStyle>
          <a:p xmlns:a="http://schemas.openxmlformats.org/drawingml/2006/main">
            <a:pPr>
              <a:buNone/>
              <a:defRPr sz="1125" b="0">
                <a:solidFill>
                  <a:srgbClr val="52677B"/>
                </a:solidFill>
                <a:latin typeface="Arial"/>
                <a:ea typeface="Arial"/>
                <a:cs typeface="Arial"/>
              </a:defRPr>
            </a:pPr>
            <a:r>
              <a:rPr sz="1125" b="0">
                <a:solidFill>
                  <a:srgbClr val="52677B"/>
                </a:solidFill>
                <a:latin typeface="Arial"/>
                <a:ea typeface="Arial"/>
                <a:cs typeface="Arial"/>
              </a:rPr>
              <a:t>Four-city paper trading. Frozen October 12, 2026</a:t>
            </a:r>
          </a:p>
        </p:txBody>
      </p:sp>
      <p:sp>
        <p:nvSpPr>
          <p:cNvPr id="4" name="">
            <a:extLst xmlns:a="http://schemas.openxmlformats.org/drawingml/2006/main">
              <a:ext uri="{FF2B5EF4-FFF2-40B4-BE49-F238E27FC236}">
                <a16:creationId xmlns:a16="http://schemas.microsoft.com/office/drawing/2014/main" id="{10006263-D855-4456-9B19-7F0CAFD26540}"/>
              </a:ext>
            </a:extLst>
          </p:cNvPr>
          <p:cNvSpPr>
            <a:spLocks xmlns:a="http://schemas.openxmlformats.org/drawingml/2006/main" noGrp="1"/>
          </p:cNvSpPr>
          <p:nvPr/>
        </p:nvSpPr>
        <p:spPr>
          <a:xfrm xmlns:a="http://schemas.openxmlformats.org/drawingml/2006/main">
            <a:off x="11049000" y="6400800"/>
            <a:ext cx="495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2677B"/>
                </a:solidFill>
                <a:latin typeface="Arial"/>
                <a:ea typeface="Arial"/>
                <a:cs typeface="Arial"/>
              </a:defRPr>
            </a:defPPr>
          </a:lstStyle>
          <a:p xmlns:a="http://schemas.openxmlformats.org/drawingml/2006/main">
            <a:pPr>
              <a:buNone/>
              <a:defRPr sz="1500" b="0">
                <a:solidFill>
                  <a:srgbClr val="52677B"/>
                </a:solidFill>
                <a:latin typeface="Arial"/>
                <a:ea typeface="Arial"/>
                <a:cs typeface="Arial"/>
              </a:defRPr>
            </a:pPr>
            <a:r>
              <a:rPr sz="1500" b="0">
                <a:solidFill>
                  <a:srgbClr val="52677B"/>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DB09D6EF-68D2-4BE2-9911-E60747C10000}"/>
              </a:ext>
            </a:extLst>
          </p:cNvPr>
          <p:cNvSpPr>
            <a:spLocks xmlns:a="http://schemas.openxmlformats.org/drawingml/2006/main" noGrp="1"/>
          </p:cNvSpPr>
          <p:nvPr/>
        </p:nvSpPr>
        <p:spPr>
          <a:xfrm xmlns:a="http://schemas.openxmlformats.org/drawingml/2006/main">
            <a:off x="609600" y="1724025"/>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52677B"/>
                </a:solidFill>
                <a:latin typeface="Arial"/>
                <a:ea typeface="Arial"/>
                <a:cs typeface="Arial"/>
              </a:defRPr>
            </a:defPPr>
          </a:lstStyle>
          <a:p xmlns:a="http://schemas.openxmlformats.org/drawingml/2006/main">
            <a:pPr>
              <a:buNone/>
              <a:defRPr sz="1425" b="1">
                <a:solidFill>
                  <a:srgbClr val="52677B"/>
                </a:solidFill>
                <a:latin typeface="Arial"/>
                <a:ea typeface="Arial"/>
                <a:cs typeface="Arial"/>
              </a:defRPr>
            </a:pPr>
            <a:r>
              <a:rPr sz="1425" b="1">
                <a:solidFill>
                  <a:srgbClr val="52677B"/>
                </a:solidFill>
                <a:latin typeface="Arial"/>
                <a:ea typeface="Arial"/>
                <a:cs typeface="Arial"/>
              </a:rPr>
              <a:t>ONE BUTTON CHECKS MISSING DAYS</a:t>
            </a:r>
          </a:p>
        </p:txBody>
      </p:sp>
      <p:sp>
        <p:nvSpPr>
          <p:cNvPr id="6" name="">
            <a:extLst xmlns:a="http://schemas.openxmlformats.org/drawingml/2006/main">
              <a:ext uri="{FF2B5EF4-FFF2-40B4-BE49-F238E27FC236}">
                <a16:creationId xmlns:a16="http://schemas.microsoft.com/office/drawing/2014/main" id="{2B686C55-1D98-479D-9E7D-5FF9EAD696C2}"/>
              </a:ext>
            </a:extLst>
          </p:cNvPr>
          <p:cNvSpPr>
            <a:spLocks xmlns:a="http://schemas.openxmlformats.org/drawingml/2006/main" noGrp="1"/>
          </p:cNvSpPr>
          <p:nvPr/>
        </p:nvSpPr>
        <p:spPr>
          <a:xfrm xmlns:a="http://schemas.openxmlformats.org/drawingml/2006/main">
            <a:off x="609600" y="2019300"/>
            <a:ext cx="50292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2D44"/>
                </a:solidFill>
                <a:latin typeface="Arial"/>
                <a:ea typeface="Arial"/>
                <a:cs typeface="Arial"/>
              </a:defRPr>
            </a:defPPr>
          </a:lstStyle>
          <a:p xmlns:a="http://schemas.openxmlformats.org/drawingml/2006/main">
            <a:pPr>
              <a:buNone/>
              <a:defRPr sz="1950" b="0">
                <a:solidFill>
                  <a:srgbClr val="142D44"/>
                </a:solidFill>
                <a:latin typeface="Arial"/>
                <a:ea typeface="Arial"/>
                <a:cs typeface="Arial"/>
              </a:defRPr>
            </a:pPr>
            <a:r>
              <a:rPr sz="1950" b="0">
                <a:solidFill>
                  <a:srgbClr val="142D44"/>
                </a:solidFill>
                <a:latin typeface="Arial"/>
                <a:ea typeface="Arial"/>
                <a:cs typeface="Arial"/>
              </a:rPr>
              <a:t>“Download &amp; analyze missing days” checks the period from October 1, 2026 through the day you click.</a:t>
            </a:r>
          </a:p>
        </p:txBody>
      </p:sp>
      <p:sp>
        <p:nvSpPr>
          <p:cNvPr id="7" name="">
            <a:extLst xmlns:a="http://schemas.openxmlformats.org/drawingml/2006/main">
              <a:ext uri="{FF2B5EF4-FFF2-40B4-BE49-F238E27FC236}">
                <a16:creationId xmlns:a16="http://schemas.microsoft.com/office/drawing/2014/main" id="{67E42A7A-467A-4A0D-8384-D3902EAC2BD3}"/>
              </a:ext>
            </a:extLst>
          </p:cNvPr>
          <p:cNvSpPr>
            <a:spLocks xmlns:a="http://schemas.openxmlformats.org/drawingml/2006/main" noGrp="1"/>
          </p:cNvSpPr>
          <p:nvPr/>
        </p:nvSpPr>
        <p:spPr>
          <a:xfrm xmlns:a="http://schemas.openxmlformats.org/drawingml/2006/main">
            <a:off x="609600" y="3152775"/>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52677B"/>
                </a:solidFill>
                <a:latin typeface="Arial"/>
                <a:ea typeface="Arial"/>
                <a:cs typeface="Arial"/>
              </a:defRPr>
            </a:defPPr>
          </a:lstStyle>
          <a:p xmlns:a="http://schemas.openxmlformats.org/drawingml/2006/main">
            <a:pPr>
              <a:buNone/>
              <a:defRPr sz="1425" b="1">
                <a:solidFill>
                  <a:srgbClr val="52677B"/>
                </a:solidFill>
                <a:latin typeface="Arial"/>
                <a:ea typeface="Arial"/>
                <a:cs typeface="Arial"/>
              </a:defRPr>
            </a:pPr>
            <a:r>
              <a:rPr sz="1425" b="1">
                <a:solidFill>
                  <a:srgbClr val="52677B"/>
                </a:solidFill>
                <a:latin typeface="Arial"/>
                <a:ea typeface="Arial"/>
                <a:cs typeface="Arial"/>
              </a:rPr>
              <a:t>REPLAY IN DATE ORDER</a:t>
            </a:r>
          </a:p>
        </p:txBody>
      </p:sp>
      <p:sp>
        <p:nvSpPr>
          <p:cNvPr id="8" name="">
            <a:extLst xmlns:a="http://schemas.openxmlformats.org/drawingml/2006/main">
              <a:ext uri="{FF2B5EF4-FFF2-40B4-BE49-F238E27FC236}">
                <a16:creationId xmlns:a16="http://schemas.microsoft.com/office/drawing/2014/main" id="{EF710139-7B79-493A-B62F-870F0CEB887B}"/>
              </a:ext>
            </a:extLst>
          </p:cNvPr>
          <p:cNvSpPr>
            <a:spLocks xmlns:a="http://schemas.openxmlformats.org/drawingml/2006/main" noGrp="1"/>
          </p:cNvSpPr>
          <p:nvPr/>
        </p:nvSpPr>
        <p:spPr>
          <a:xfrm xmlns:a="http://schemas.openxmlformats.org/drawingml/2006/main">
            <a:off x="609600" y="3448050"/>
            <a:ext cx="50292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2D44"/>
                </a:solidFill>
                <a:latin typeface="Arial"/>
                <a:ea typeface="Arial"/>
                <a:cs typeface="Arial"/>
              </a:defRPr>
            </a:defPPr>
          </a:lstStyle>
          <a:p xmlns:a="http://schemas.openxmlformats.org/drawingml/2006/main">
            <a:pPr>
              <a:buNone/>
              <a:defRPr sz="1950" b="0">
                <a:solidFill>
                  <a:srgbClr val="142D44"/>
                </a:solidFill>
                <a:latin typeface="Arial"/>
                <a:ea typeface="Arial"/>
                <a:cs typeface="Arial"/>
              </a:defRPr>
            </a:pPr>
            <a:r>
              <a:rPr sz="1950" b="0">
                <a:solidFill>
                  <a:srgbClr val="142D44"/>
                </a:solidFill>
                <a:latin typeface="Arial"/>
                <a:ea typeface="Arial"/>
                <a:cs typeface="Arial"/>
              </a:rPr>
              <a:t>Each strategy starts with $100. Cash carries forward, fees count and official payout timing determines when cash is available again.</a:t>
            </a:r>
          </a:p>
        </p:txBody>
      </p:sp>
      <p:sp>
        <p:nvSpPr>
          <p:cNvPr id="9" name="">
            <a:extLst xmlns:a="http://schemas.openxmlformats.org/drawingml/2006/main">
              <a:ext uri="{FF2B5EF4-FFF2-40B4-BE49-F238E27FC236}">
                <a16:creationId xmlns:a16="http://schemas.microsoft.com/office/drawing/2014/main" id="{8A94CD2A-86B1-4AA1-B5EB-32ECF494DA3F}"/>
              </a:ext>
            </a:extLst>
          </p:cNvPr>
          <p:cNvSpPr>
            <a:spLocks xmlns:a="http://schemas.openxmlformats.org/drawingml/2006/main" noGrp="1"/>
          </p:cNvSpPr>
          <p:nvPr/>
        </p:nvSpPr>
        <p:spPr>
          <a:xfrm xmlns:a="http://schemas.openxmlformats.org/drawingml/2006/main">
            <a:off x="609600" y="4572000"/>
            <a:ext cx="5029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25" b="1">
                <a:solidFill>
                  <a:srgbClr val="52677B"/>
                </a:solidFill>
                <a:latin typeface="Arial"/>
                <a:ea typeface="Arial"/>
                <a:cs typeface="Arial"/>
              </a:defRPr>
            </a:defPPr>
          </a:lstStyle>
          <a:p xmlns:a="http://schemas.openxmlformats.org/drawingml/2006/main">
            <a:pPr>
              <a:buNone/>
              <a:defRPr sz="1425" b="1">
                <a:solidFill>
                  <a:srgbClr val="52677B"/>
                </a:solidFill>
                <a:latin typeface="Arial"/>
                <a:ea typeface="Arial"/>
                <a:cs typeface="Arial"/>
              </a:defRPr>
            </a:pPr>
            <a:r>
              <a:rPr sz="1425" b="1">
                <a:solidFill>
                  <a:srgbClr val="52677B"/>
                </a:solidFill>
                <a:latin typeface="Arial"/>
                <a:ea typeface="Arial"/>
                <a:cs typeface="Arial"/>
              </a:rPr>
              <a:t>READ THE WHOLE PICTURE</a:t>
            </a:r>
          </a:p>
        </p:txBody>
      </p:sp>
      <p:sp>
        <p:nvSpPr>
          <p:cNvPr id="10" name="">
            <a:extLst xmlns:a="http://schemas.openxmlformats.org/drawingml/2006/main">
              <a:ext uri="{FF2B5EF4-FFF2-40B4-BE49-F238E27FC236}">
                <a16:creationId xmlns:a16="http://schemas.microsoft.com/office/drawing/2014/main" id="{29C64ECB-DAC4-4F26-8A3C-22C6D8ED1CD9}"/>
              </a:ext>
            </a:extLst>
          </p:cNvPr>
          <p:cNvSpPr>
            <a:spLocks xmlns:a="http://schemas.openxmlformats.org/drawingml/2006/main" noGrp="1"/>
          </p:cNvSpPr>
          <p:nvPr/>
        </p:nvSpPr>
        <p:spPr>
          <a:xfrm xmlns:a="http://schemas.openxmlformats.org/drawingml/2006/main">
            <a:off x="609600" y="4867275"/>
            <a:ext cx="50292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42D44"/>
                </a:solidFill>
                <a:latin typeface="Arial"/>
                <a:ea typeface="Arial"/>
                <a:cs typeface="Arial"/>
              </a:defRPr>
            </a:defPPr>
          </a:lstStyle>
          <a:p xmlns:a="http://schemas.openxmlformats.org/drawingml/2006/main">
            <a:pPr>
              <a:buNone/>
              <a:defRPr sz="1950" b="0">
                <a:solidFill>
                  <a:srgbClr val="142D44"/>
                </a:solidFill>
                <a:latin typeface="Arial"/>
                <a:ea typeface="Arial"/>
                <a:cs typeface="Arial"/>
              </a:defRPr>
            </a:pPr>
            <a:r>
              <a:rPr sz="1950" b="0">
                <a:solidFill>
                  <a:srgbClr val="142D44"/>
                </a:solidFill>
                <a:latin typeface="Arial"/>
                <a:ea typeface="Arial"/>
                <a:cs typeface="Arial"/>
              </a:rPr>
              <a:t>The figures show balances, daily profit or loss, wins, losses and contracts. Pending days remain visible instead of becoming zero-profit days.</a:t>
            </a:r>
          </a:p>
        </p:txBody>
      </p:sp>
      <p:graphicFrame>
        <p:nvGraphicFramePr>
          <p:cNvPr id="11" name="Chart">
            <a:extLst xmlns:a="http://schemas.openxmlformats.org/drawingml/2006/main">
              <a:ext uri="{FF2B5EF4-FFF2-40B4-BE49-F238E27FC236}">
                <a16:creationId xmlns:a16="http://schemas.microsoft.com/office/drawing/2014/main" id="{F735A936-7552-4C23-BBA4-A51AE4CDF407}"/>
              </a:ext>
            </a:extLst>
          </p:cNvPr>
          <p:cNvGraphicFramePr/>
          <p:nvPr/>
        </p:nvGraphicFramePr>
        <p:xfrm>
          <a:off xmlns:a="http://schemas.openxmlformats.org/drawingml/2006/main" x="6019800" y="1704975"/>
          <a:ext xmlns:a="http://schemas.openxmlformats.org/drawingml/2006/main" cx="5524500" cy="3857625"/>
        </p:xfrm>
        <a:graphic xmlns:a="http://schemas.openxmlformats.org/drawingml/2006/main">
          <a:graphicData uri="http://schemas.openxmlformats.org/drawingml/2006/chart">
            <c:chart xmlns:r="http://schemas.openxmlformats.org/officeDocument/2006/relationships" xmlns:c="http://schemas.openxmlformats.org/drawingml/2006/chart" r:id="Rcee0098acbfc4f21"/>
          </a:graphicData>
        </a:graphic>
      </p:graphicFrame>
      <p:sp>
        <p:nvSpPr>
          <p:cNvPr id="12" name="">
            <a:extLst xmlns:a="http://schemas.openxmlformats.org/drawingml/2006/main">
              <a:ext uri="{FF2B5EF4-FFF2-40B4-BE49-F238E27FC236}">
                <a16:creationId xmlns:a16="http://schemas.microsoft.com/office/drawing/2014/main" id="{FA093C4B-0177-424F-B4EB-D9C770D28BB0}"/>
              </a:ext>
            </a:extLst>
          </p:cNvPr>
          <p:cNvSpPr>
            <a:spLocks xmlns:a="http://schemas.openxmlformats.org/drawingml/2006/main" noGrp="1"/>
          </p:cNvSpPr>
          <p:nvPr/>
        </p:nvSpPr>
        <p:spPr>
          <a:xfrm xmlns:a="http://schemas.openxmlformats.org/drawingml/2006/main">
            <a:off x="6143625" y="5762625"/>
            <a:ext cx="5257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2677B"/>
                </a:solidFill>
                <a:latin typeface="Arial"/>
                <a:ea typeface="Arial"/>
                <a:cs typeface="Arial"/>
              </a:defRPr>
            </a:defPPr>
          </a:lstStyle>
          <a:p xmlns:a="http://schemas.openxmlformats.org/drawingml/2006/main">
            <a:pPr>
              <a:buNone/>
              <a:defRPr sz="1575" b="0">
                <a:solidFill>
                  <a:srgbClr val="52677B"/>
                </a:solidFill>
                <a:latin typeface="Arial"/>
                <a:ea typeface="Arial"/>
                <a:cs typeface="Arial"/>
              </a:defRPr>
            </a:pPr>
            <a:r>
              <a:rPr sz="1575" b="0">
                <a:solidFill>
                  <a:srgbClr val="52677B"/>
                </a:solidFill>
                <a:latin typeface="Arial"/>
                <a:ea typeface="Arial"/>
                <a:cs typeface="Arial"/>
              </a:rPr>
              <a:t>108 strategy-days across nine wallets. Missing evidence leaves the complete ending balances unknown.</a:t>
            </a:r>
          </a:p>
        </p:txBody>
      </p:sp>
    </p:spTree>
    <p:extLst>
      <p:ext uri="{BB962C8B-B14F-4D97-AF65-F5344CB8AC3E}">
        <p14:creationId xmlns:p14="http://schemas.microsoft.com/office/powerpoint/2010/main" val="19663629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2026-10-13T16:05:33.9530000Z</dcterms:created>
  <dcterms:modified xsi:type="dcterms:W3CDTF">2026-10-13T16:05:33.9530000Z</dcterms:modified>
</coreProperties>
</file>